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cc326527304d9a" /><Relationship Type="http://schemas.openxmlformats.org/officeDocument/2006/relationships/extended-properties" Target="/docProps/app.xml" Id="Rf77f1f98d4af4db8" /><Relationship Type="http://schemas.openxmlformats.org/officeDocument/2006/relationships/officeDocument" Target="/ppt/presentation.xml" Id="R0eeed7aba5b448d0" /></Relationships>
</file>

<file path=ppt/presentation.xml><?xml version="1.0" encoding="utf-8"?>
<p:presentation xmlns:p="http://schemas.openxmlformats.org/presentationml/2006/main">
  <p:sldMasterIdLst>
    <p:sldMasterId xmlns:r="http://schemas.openxmlformats.org/officeDocument/2006/relationships" id="2147483648" r:id="R925ccbad36af47aa"/>
  </p:sldMasterIdLst>
  <p:notesMasterIdLst>
    <p:notesMasterId xmlns:r="http://schemas.openxmlformats.org/officeDocument/2006/relationships" r:id="R358ac96732d54c3a"/>
  </p:notesMasterIdLst>
  <p:sldIdLst>
    <p:sldId xmlns:r="http://schemas.openxmlformats.org/officeDocument/2006/relationships" id="256" r:id="R3cce12d3e11240fd"/>
    <p:sldId xmlns:r="http://schemas.openxmlformats.org/officeDocument/2006/relationships" id="257" r:id="Rb9729cee49564cf1"/>
    <p:sldId xmlns:r="http://schemas.openxmlformats.org/officeDocument/2006/relationships" id="258" r:id="R85a45638a4de4e68"/>
    <p:sldId xmlns:r="http://schemas.openxmlformats.org/officeDocument/2006/relationships" id="259" r:id="Rb03e7e4788204f31"/>
    <p:sldId xmlns:r="http://schemas.openxmlformats.org/officeDocument/2006/relationships" id="260" r:id="R196587c8f6b249bc"/>
    <p:sldId xmlns:r="http://schemas.openxmlformats.org/officeDocument/2006/relationships" id="261" r:id="R9e23794c33d64e84"/>
    <p:sldId xmlns:r="http://schemas.openxmlformats.org/officeDocument/2006/relationships" id="262" r:id="R7a0cd3a8598042e5"/>
    <p:sldId xmlns:r="http://schemas.openxmlformats.org/officeDocument/2006/relationships" id="263" r:id="Rcc012b9e1c6941b3"/>
    <p:sldId xmlns:r="http://schemas.openxmlformats.org/officeDocument/2006/relationships" id="264" r:id="Ra3fe6cec4db04864"/>
    <p:sldId xmlns:r="http://schemas.openxmlformats.org/officeDocument/2006/relationships" id="265" r:id="R1aec6ae40b6d4a50"/>
    <p:sldId xmlns:r="http://schemas.openxmlformats.org/officeDocument/2006/relationships" id="266" r:id="Rc32852cd15e442eb"/>
    <p:sldId xmlns:r="http://schemas.openxmlformats.org/officeDocument/2006/relationships" id="267" r:id="R61767172a97847d7"/>
    <p:sldId xmlns:r="http://schemas.openxmlformats.org/officeDocument/2006/relationships" id="268" r:id="Rffef8778adf84133"/>
    <p:sldId xmlns:r="http://schemas.openxmlformats.org/officeDocument/2006/relationships" id="269" r:id="R9a01af7487304a7c"/>
    <p:sldId xmlns:r="http://schemas.openxmlformats.org/officeDocument/2006/relationships" id="270" r:id="R71fb949ec31546ad"/>
    <p:sldId xmlns:r="http://schemas.openxmlformats.org/officeDocument/2006/relationships" id="271" r:id="R91bdb5df8bea44e5"/>
    <p:sldId xmlns:r="http://schemas.openxmlformats.org/officeDocument/2006/relationships" id="272" r:id="R3c957b9a686e44ab"/>
    <p:sldId xmlns:r="http://schemas.openxmlformats.org/officeDocument/2006/relationships" id="273" r:id="R17efc99e42a04090"/>
    <p:sldId xmlns:r="http://schemas.openxmlformats.org/officeDocument/2006/relationships" id="274" r:id="R4a26d5f0e1124cca"/>
    <p:sldId xmlns:r="http://schemas.openxmlformats.org/officeDocument/2006/relationships" id="275" r:id="R463d6808e6de405d"/>
    <p:sldId xmlns:r="http://schemas.openxmlformats.org/officeDocument/2006/relationships" id="276" r:id="R5eb89a6851ca4858"/>
    <p:sldId xmlns:r="http://schemas.openxmlformats.org/officeDocument/2006/relationships" id="277" r:id="R0a1cb723331d48b1"/>
    <p:sldId xmlns:r="http://schemas.openxmlformats.org/officeDocument/2006/relationships" id="278" r:id="R00d2f2a0e0f84071"/>
    <p:sldId xmlns:r="http://schemas.openxmlformats.org/officeDocument/2006/relationships" id="279" r:id="Rc2aa4fd78dc54e82"/>
    <p:sldId xmlns:r="http://schemas.openxmlformats.org/officeDocument/2006/relationships" id="280" r:id="R57094fbb48584406"/>
    <p:sldId xmlns:r="http://schemas.openxmlformats.org/officeDocument/2006/relationships" id="281" r:id="Rac5ca1f506204e40"/>
    <p:sldId xmlns:r="http://schemas.openxmlformats.org/officeDocument/2006/relationships" id="282" r:id="Ree662117984d4890"/>
    <p:sldId xmlns:r="http://schemas.openxmlformats.org/officeDocument/2006/relationships" id="283" r:id="R413df8fbc2ca4509"/>
    <p:sldId xmlns:r="http://schemas.openxmlformats.org/officeDocument/2006/relationships" id="284" r:id="R9d78fa3ccc9f454b"/>
    <p:sldId xmlns:r="http://schemas.openxmlformats.org/officeDocument/2006/relationships" id="285" r:id="R8173d471acc44068"/>
    <p:sldId xmlns:r="http://schemas.openxmlformats.org/officeDocument/2006/relationships" id="286" r:id="R1a82baa5d35e4767"/>
    <p:sldId xmlns:r="http://schemas.openxmlformats.org/officeDocument/2006/relationships" id="287" r:id="R9d99767911b54e50"/>
    <p:sldId xmlns:r="http://schemas.openxmlformats.org/officeDocument/2006/relationships" id="288" r:id="Rb08cbbedafa44d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d6d411177184a95" /><Relationship Type="http://schemas.openxmlformats.org/officeDocument/2006/relationships/slideMaster" Target="/ppt/slideMasters/slideMaster1.xml" Id="R925ccbad36af47aa" /><Relationship Type="http://schemas.openxmlformats.org/officeDocument/2006/relationships/notesMaster" Target="/ppt/notesMasters/notesMaster1.xml" Id="R358ac96732d54c3a" /><Relationship Type="http://schemas.openxmlformats.org/officeDocument/2006/relationships/presProps" Target="/ppt/presProps.xml" Id="R10a32f3fd7914644" /><Relationship Type="http://schemas.openxmlformats.org/officeDocument/2006/relationships/viewProps" Target="/ppt/viewProps.xml" Id="R5bd11c60010c45f8" /><Relationship Type="http://schemas.openxmlformats.org/officeDocument/2006/relationships/tableStyles" Target="/ppt/tableStyles.xml" Id="Rb5f875d8498d463d" /><Relationship Type="http://schemas.openxmlformats.org/officeDocument/2006/relationships/slide" Target="/ppt/slides/slide1.xml" Id="R3cce12d3e11240fd" /><Relationship Type="http://schemas.openxmlformats.org/officeDocument/2006/relationships/slide" Target="/ppt/slides/slide2.xml" Id="Rb9729cee49564cf1" /><Relationship Type="http://schemas.openxmlformats.org/officeDocument/2006/relationships/slide" Target="/ppt/slides/slide3.xml" Id="R85a45638a4de4e68" /><Relationship Type="http://schemas.openxmlformats.org/officeDocument/2006/relationships/slide" Target="/ppt/slides/slide4.xml" Id="Rb03e7e4788204f31" /><Relationship Type="http://schemas.openxmlformats.org/officeDocument/2006/relationships/slide" Target="/ppt/slides/slide5.xml" Id="R196587c8f6b249bc" /><Relationship Type="http://schemas.openxmlformats.org/officeDocument/2006/relationships/slide" Target="/ppt/slides/slide6.xml" Id="R9e23794c33d64e84" /><Relationship Type="http://schemas.openxmlformats.org/officeDocument/2006/relationships/slide" Target="/ppt/slides/slide7.xml" Id="R7a0cd3a8598042e5" /><Relationship Type="http://schemas.openxmlformats.org/officeDocument/2006/relationships/slide" Target="/ppt/slides/slide8.xml" Id="Rcc012b9e1c6941b3" /><Relationship Type="http://schemas.openxmlformats.org/officeDocument/2006/relationships/slide" Target="/ppt/slides/slide9.xml" Id="Ra3fe6cec4db04864" /><Relationship Type="http://schemas.openxmlformats.org/officeDocument/2006/relationships/slide" Target="/ppt/slides/slide10.xml" Id="R1aec6ae40b6d4a50" /><Relationship Type="http://schemas.openxmlformats.org/officeDocument/2006/relationships/slide" Target="/ppt/slides/slide11.xml" Id="Rc32852cd15e442eb" /><Relationship Type="http://schemas.openxmlformats.org/officeDocument/2006/relationships/slide" Target="/ppt/slides/slide12.xml" Id="R61767172a97847d7" /><Relationship Type="http://schemas.openxmlformats.org/officeDocument/2006/relationships/slide" Target="/ppt/slides/slide13.xml" Id="Rffef8778adf84133" /><Relationship Type="http://schemas.openxmlformats.org/officeDocument/2006/relationships/slide" Target="/ppt/slides/slide14.xml" Id="R9a01af7487304a7c" /><Relationship Type="http://schemas.openxmlformats.org/officeDocument/2006/relationships/slide" Target="/ppt/slides/slide15.xml" Id="R71fb949ec31546ad" /><Relationship Type="http://schemas.openxmlformats.org/officeDocument/2006/relationships/slide" Target="/ppt/slides/slide16.xml" Id="R91bdb5df8bea44e5" /><Relationship Type="http://schemas.openxmlformats.org/officeDocument/2006/relationships/slide" Target="/ppt/slides/slide17.xml" Id="R3c957b9a686e44ab" /><Relationship Type="http://schemas.openxmlformats.org/officeDocument/2006/relationships/slide" Target="/ppt/slides/slide18.xml" Id="R17efc99e42a04090" /><Relationship Type="http://schemas.openxmlformats.org/officeDocument/2006/relationships/slide" Target="/ppt/slides/slide19.xml" Id="R4a26d5f0e1124cca" /><Relationship Type="http://schemas.openxmlformats.org/officeDocument/2006/relationships/slide" Target="/ppt/slides/slide20.xml" Id="R463d6808e6de405d" /><Relationship Type="http://schemas.openxmlformats.org/officeDocument/2006/relationships/slide" Target="/ppt/slides/slide21.xml" Id="R5eb89a6851ca4858" /><Relationship Type="http://schemas.openxmlformats.org/officeDocument/2006/relationships/slide" Target="/ppt/slides/slide22.xml" Id="R0a1cb723331d48b1" /><Relationship Type="http://schemas.openxmlformats.org/officeDocument/2006/relationships/slide" Target="/ppt/slides/slide23.xml" Id="R00d2f2a0e0f84071" /><Relationship Type="http://schemas.openxmlformats.org/officeDocument/2006/relationships/slide" Target="/ppt/slides/slide24.xml" Id="Rc2aa4fd78dc54e82" /><Relationship Type="http://schemas.openxmlformats.org/officeDocument/2006/relationships/slide" Target="/ppt/slides/slide25.xml" Id="R57094fbb48584406" /><Relationship Type="http://schemas.openxmlformats.org/officeDocument/2006/relationships/slide" Target="/ppt/slides/slide26.xml" Id="Rac5ca1f506204e40" /><Relationship Type="http://schemas.openxmlformats.org/officeDocument/2006/relationships/slide" Target="/ppt/slides/slide27.xml" Id="Ree662117984d4890" /><Relationship Type="http://schemas.openxmlformats.org/officeDocument/2006/relationships/slide" Target="/ppt/slides/slide28.xml" Id="R413df8fbc2ca4509" /><Relationship Type="http://schemas.openxmlformats.org/officeDocument/2006/relationships/slide" Target="/ppt/slides/slide29.xml" Id="R9d78fa3ccc9f454b" /><Relationship Type="http://schemas.openxmlformats.org/officeDocument/2006/relationships/slide" Target="/ppt/slides/slide30.xml" Id="R8173d471acc44068" /><Relationship Type="http://schemas.openxmlformats.org/officeDocument/2006/relationships/slide" Target="/ppt/slides/slide31.xml" Id="R1a82baa5d35e4767" /><Relationship Type="http://schemas.openxmlformats.org/officeDocument/2006/relationships/slide" Target="/ppt/slides/slide32.xml" Id="R9d99767911b54e50" /><Relationship Type="http://schemas.openxmlformats.org/officeDocument/2006/relationships/slide" Target="/ppt/slides/slide33.xml" Id="Rb08cbbedafa44d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b1acbeb11343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b0948f0f8a49b4" /><Relationship Type="http://schemas.openxmlformats.org/officeDocument/2006/relationships/notesMaster" Target="/ppt/notesMasters/notesMaster1.xml" Id="R1f7b37c299b14a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64e2258e4f4a05" /><Relationship Type="http://schemas.openxmlformats.org/officeDocument/2006/relationships/notesMaster" Target="/ppt/notesMasters/notesMaster1.xml" Id="Rdc3571cd3ef547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82f346d98947a0" /><Relationship Type="http://schemas.openxmlformats.org/officeDocument/2006/relationships/notesMaster" Target="/ppt/notesMasters/notesMaster1.xml" Id="R82806f523aea4f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e48e6bc13a4285" /><Relationship Type="http://schemas.openxmlformats.org/officeDocument/2006/relationships/notesMaster" Target="/ppt/notesMasters/notesMaster1.xml" Id="R7a148811b86048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c034f60c8c4a3e" /><Relationship Type="http://schemas.openxmlformats.org/officeDocument/2006/relationships/notesMaster" Target="/ppt/notesMasters/notesMaster1.xml" Id="Re40d1b771fd840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d85f527dc94d97" /><Relationship Type="http://schemas.openxmlformats.org/officeDocument/2006/relationships/notesMaster" Target="/ppt/notesMasters/notesMaster1.xml" Id="R3d8d259dfbc848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c72ee8059a4c60" /><Relationship Type="http://schemas.openxmlformats.org/officeDocument/2006/relationships/notesMaster" Target="/ppt/notesMasters/notesMaster1.xml" Id="R2614171a06184b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96846e05424a80" /><Relationship Type="http://schemas.openxmlformats.org/officeDocument/2006/relationships/notesMaster" Target="/ppt/notesMasters/notesMaster1.xml" Id="R8c566ad9c33d43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61126fc7454103" /><Relationship Type="http://schemas.openxmlformats.org/officeDocument/2006/relationships/notesMaster" Target="/ppt/notesMasters/notesMaster1.xml" Id="R30a63cff81414b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d32c2cc08047db" /><Relationship Type="http://schemas.openxmlformats.org/officeDocument/2006/relationships/notesMaster" Target="/ppt/notesMasters/notesMaster1.xml" Id="R0c2c5dae25184c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7ef20cccf74370" /><Relationship Type="http://schemas.openxmlformats.org/officeDocument/2006/relationships/notesMaster" Target="/ppt/notesMasters/notesMaster1.xml" Id="Rb3215b28bbe944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a72e2a39974981" /><Relationship Type="http://schemas.openxmlformats.org/officeDocument/2006/relationships/notesMaster" Target="/ppt/notesMasters/notesMaster1.xml" Id="Rfcd0bac9921545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1d574166af4783" /><Relationship Type="http://schemas.openxmlformats.org/officeDocument/2006/relationships/notesMaster" Target="/ppt/notesMasters/notesMaster1.xml" Id="R69bc9790e64a4aa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7393eecf0314e82" /><Relationship Type="http://schemas.openxmlformats.org/officeDocument/2006/relationships/notesMaster" Target="/ppt/notesMasters/notesMaster1.xml" Id="Re6c76ccb32e4419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efbdb71ee843eb" /><Relationship Type="http://schemas.openxmlformats.org/officeDocument/2006/relationships/notesMaster" Target="/ppt/notesMasters/notesMaster1.xml" Id="Re0f38866073745b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3bec9433e74abc" /><Relationship Type="http://schemas.openxmlformats.org/officeDocument/2006/relationships/notesMaster" Target="/ppt/notesMasters/notesMaster1.xml" Id="R6e837f1245e64b5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0ffdf3792e1431f" /><Relationship Type="http://schemas.openxmlformats.org/officeDocument/2006/relationships/notesMaster" Target="/ppt/notesMasters/notesMaster1.xml" Id="Rf02416bde5d545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88624c6f6d74968" /><Relationship Type="http://schemas.openxmlformats.org/officeDocument/2006/relationships/notesMaster" Target="/ppt/notesMasters/notesMaster1.xml" Id="R10326e7c9ac046d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475ad16da9c4541" /><Relationship Type="http://schemas.openxmlformats.org/officeDocument/2006/relationships/notesMaster" Target="/ppt/notesMasters/notesMaster1.xml" Id="R796e4c0ab5424ac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0f13e2a12504501" /><Relationship Type="http://schemas.openxmlformats.org/officeDocument/2006/relationships/notesMaster" Target="/ppt/notesMasters/notesMaster1.xml" Id="R8a8c5148a0fc46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1899d635d48492f" /><Relationship Type="http://schemas.openxmlformats.org/officeDocument/2006/relationships/notesMaster" Target="/ppt/notesMasters/notesMaster1.xml" Id="R75d1e4d170db4c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1d0dcb537214601" /><Relationship Type="http://schemas.openxmlformats.org/officeDocument/2006/relationships/notesMaster" Target="/ppt/notesMasters/notesMaster1.xml" Id="R543549ab8fca426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bf2d2aef72e493b" /><Relationship Type="http://schemas.openxmlformats.org/officeDocument/2006/relationships/notesMaster" Target="/ppt/notesMasters/notesMaster1.xml" Id="Rc93428f6fce24b2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bd382cbddcb43b1" /><Relationship Type="http://schemas.openxmlformats.org/officeDocument/2006/relationships/notesMaster" Target="/ppt/notesMasters/notesMaster1.xml" Id="R48c5e7d832e84a4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ef7aa67296a42bd" /><Relationship Type="http://schemas.openxmlformats.org/officeDocument/2006/relationships/notesMaster" Target="/ppt/notesMasters/notesMaster1.xml" Id="R41991a7c334046f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09114091430486f" /><Relationship Type="http://schemas.openxmlformats.org/officeDocument/2006/relationships/notesMaster" Target="/ppt/notesMasters/notesMaster1.xml" Id="Rb4bfd03b1fe24e7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99b3a0ae01a4f0d" /><Relationship Type="http://schemas.openxmlformats.org/officeDocument/2006/relationships/notesMaster" Target="/ppt/notesMasters/notesMaster1.xml" Id="Rf55ef55304de4a6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bd5cb246b9c46f7" /><Relationship Type="http://schemas.openxmlformats.org/officeDocument/2006/relationships/notesMaster" Target="/ppt/notesMasters/notesMaster1.xml" Id="R199affdf662b496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e000e1f4288400f" /><Relationship Type="http://schemas.openxmlformats.org/officeDocument/2006/relationships/notesMaster" Target="/ppt/notesMasters/notesMaster1.xml" Id="R0ef23f6a4fdb4e4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914344ff82c4b2d" /><Relationship Type="http://schemas.openxmlformats.org/officeDocument/2006/relationships/notesMaster" Target="/ppt/notesMasters/notesMaster1.xml" Id="R4fdb847e0cfb477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6dcd1a0477a4036" /><Relationship Type="http://schemas.openxmlformats.org/officeDocument/2006/relationships/notesMaster" Target="/ppt/notesMasters/notesMaster1.xml" Id="R094bd19f5cef469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1553df193cc49df" /><Relationship Type="http://schemas.openxmlformats.org/officeDocument/2006/relationships/notesMaster" Target="/ppt/notesMasters/notesMaster1.xml" Id="R03bfd4483c58492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cb256d481b74d76" /><Relationship Type="http://schemas.openxmlformats.org/officeDocument/2006/relationships/notesMaster" Target="/ppt/notesMasters/notesMaster1.xml" Id="Rf6acae4ba7bc42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0,5 Min]</a:t>
            </a:r>
          </a:p>
          <a:p xmlns:a="http://schemas.openxmlformats.org/drawingml/2006/main">
            <a:r>
              <a:t/>
            </a:r>
          </a:p>
          <a:p xmlns:a="http://schemas.openxmlformats.org/drawingml/2006/main">
            <a:r>
              <a:t>WealthScope AI verbindet Finanzanalyse und Machine Learning. Der Vortrag konzentriert sich auf die Frage, ob historische Kursmerkmale in einem zeitlich sauberen Test ein belastbares Signal liefern.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 Min]</a:t>
            </a:r>
          </a:p>
          <a:p xmlns:a="http://schemas.openxmlformats.org/drawingml/2006/main">
            <a:r>
              <a:t/>
            </a:r>
          </a:p>
          <a:p xmlns:a="http://schemas.openxmlformats.org/drawingml/2006/main">
            <a:r>
              <a:t>Marktdaten sind leicht verfügbar. Schwieriger ist eine Einordnung, die Aussagekraft, Fehler und Grenzen sichtbar macht. Genau diese Lücke adressiert WealthScope.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 Min]</a:t>
            </a:r>
          </a:p>
          <a:p xmlns:a="http://schemas.openxmlformats.org/drawingml/2006/main">
            <a:r>
              <a:t/>
            </a:r>
          </a:p>
          <a:p xmlns:a="http://schemas.openxmlformats.org/drawingml/2006/main">
            <a:r>
              <a:t>Die App verbindet technische Marktanalyse, ein geprüftes ML-Signal und Risikoplanung. Sie ist ein Analysewerkzeug, kein Handelssystem und keine Anlageberatung.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1,5 Min]</a:t>
            </a:r>
          </a:p>
          <a:p xmlns:a="http://schemas.openxmlformats.org/drawingml/2006/main">
            <a:r>
              <a:t/>
            </a:r>
          </a:p>
          <a:p xmlns:a="http://schemas.openxmlformats.org/drawingml/2006/main">
            <a:r>
              <a:t>H1 ist die messbare Modellhypothese. Z1 ist ein überprüfbares Entwicklungsziel. O1 bleibt ohne Nutzerstudie bewusst offen.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 Min]</a:t>
            </a:r>
          </a:p>
          <a:p xmlns:a="http://schemas.openxmlformats.org/drawingml/2006/main">
            <a:r>
              <a:t/>
            </a:r>
          </a:p>
          <a:p xmlns:a="http://schemas.openxmlformats.org/drawingml/2006/main">
            <a:r>
              <a:t>Der Weg der Daten von links nach rechts — die Kette erklärt sich selbst.</a:t>
            </a:r>
          </a:p>
          <a:p xmlns:a="http://schemas.openxmlformats.org/drawingml/2006/main">
            <a:r>
              <a:t/>
            </a:r>
          </a:p>
          <a:p xmlns:a="http://schemas.openxmlformats.org/drawingml/2006/main">
            <a:r>
              <a:t>Ein Punkt ist wichtig: der Diagnostik-Cache. Alle Kennzahlen werden einmalig offline berechnet und als JSON abgelegt. Die App trainiert beim Seitenaufruf nichts. Deshalb können App, Ausarbeitung und Poster gar nicht auseinanderlaufen.</a:t>
            </a:r>
          </a:p>
          <a:p xmlns:a="http://schemas.openxmlformats.org/drawingml/2006/main">
            <a:r>
              <a:t/>
            </a:r>
          </a:p>
          <a:p xmlns:a="http://schemas.openxmlformats.org/drawingml/2006/main">
            <a:r>
              <a:t>„Jetzt zur Methode — dem roten Faden für den ganzen Rest.“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 Min]</a:t>
            </a:r>
          </a:p>
          <a:p xmlns:a="http://schemas.openxmlformats.org/drawingml/2006/main">
            <a:r>
              <a:t/>
            </a:r>
          </a:p>
          <a:p xmlns:a="http://schemas.openxmlformats.org/drawingml/2006/main">
            <a:r>
              <a:t>Der Datensatz ist umfangreich, aber nicht repräsentativ für den gesamten Markt. Besonders wichtig ist der Survivorship-Bias.</a:t>
            </a:r>
          </a:p>
          <a:p xmlns:a="http://schemas.openxmlformats.org/drawingml/2006/main">
            <a:r>
              <a:t/>
            </a:r>
          </a:p>
          <a:p xmlns:a="http://schemas.openxmlformats.org/drawingml/2006/main">
            <a:r>
              <a:t>[Sources]</a:t>
            </a:r>
          </a:p>
          <a:p xmlns:a="http://schemas.openxmlformats.org/drawingml/2006/main">
            <a:r>
              <a:t>- Kaggle: US Stocks &amp; ETFs, Boris Marjanovic, CC0 Public Domain.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1,5 Min]</a:t>
            </a:r>
          </a:p>
          <a:p xmlns:a="http://schemas.openxmlformats.org/drawingml/2006/main">
            <a:r>
              <a:t/>
            </a:r>
          </a:p>
          <a:p xmlns:a="http://schemas.openxmlformats.org/drawingml/2006/main">
            <a:r>
              <a:t>Explorative Datenanalyse ist der Schritt, in dem man die Daten anschaut, bevor man rechnet.</a:t>
            </a:r>
          </a:p>
          <a:p xmlns:a="http://schemas.openxmlformats.org/drawingml/2006/main">
            <a:r>
              <a:t/>
            </a:r>
          </a:p>
          <a:p xmlns:a="http://schemas.openxmlformats.org/drawingml/2006/main">
            <a:r>
              <a:t>Ich habe für alle acht Features Histogramme mit Dichteschätzung erstellt, Boxplots zur Ausreißer-Erkennung, Streudiagramme gegen die Zielvariable und zwei Korrelationsmatrizen — Pearson für lineare, Spearman für rangbasierte Zusammenhänge.</a:t>
            </a:r>
          </a:p>
          <a:p xmlns:a="http://schemas.openxmlformats.org/drawingml/2006/main">
            <a:r>
              <a:t/>
            </a:r>
          </a:p>
          <a:p xmlns:a="http://schemas.openxmlformats.org/drawingml/2006/main">
            <a:r>
              <a:t>Das Ergebnis in zwei Sätzen: Die Verteilungen sind leicht schief — deshalb fällt später die Entscheidung für den Median statt für den Mittelwert. Und die Korrelationen sind nur moderat, es gibt also kein Multikollinearitätsproblem: Keine zwei Features sagen im Kern dasselbe aus.</a:t>
            </a:r>
          </a:p>
          <a:p xmlns:a="http://schemas.openxmlformats.org/drawingml/2006/main">
            <a:r>
              <a:t/>
            </a:r>
          </a:p>
          <a:p xmlns:a="http://schemas.openxmlformats.org/drawingml/2006/main">
            <a:r>
              <a:t>„Ein Befund aus der EDA war aber wichtig genug für eine eigene Folie: fehlende Werte.“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1,5 Min]</a:t>
            </a:r>
          </a:p>
          <a:p xmlns:a="http://schemas.openxmlformats.org/drawingml/2006/main">
            <a:r>
              <a:t/>
            </a:r>
          </a:p>
          <a:p xmlns:a="http://schemas.openxmlformats.org/drawingml/2006/main">
            <a:r>
              <a:t>Die Startwerte der gleitenden Durchschnitte fehlen deterministisch, weil das jeweilige Zeitfenster noch nicht vollständig ist. Das ist nicht MCAR.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 Min]</a:t>
            </a:r>
          </a:p>
          <a:p xmlns:a="http://schemas.openxmlformats.org/drawingml/2006/main">
            <a:r>
              <a:t/>
            </a:r>
          </a:p>
          <a:p xmlns:a="http://schemas.openxmlformats.org/drawingml/2006/main">
            <a:r>
              <a:t>Die acht Merkmale bündeln Rendite, Trend und Risiko. Ziel ist nur die Kursrichtung nach 20 Handelstagen, nicht die exakte Kurshöhe.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1,5 Min]</a:t>
            </a:r>
          </a:p>
          <a:p xmlns:a="http://schemas.openxmlformats.org/drawingml/2006/main">
            <a:r>
              <a:t/>
            </a:r>
          </a:p>
          <a:p xmlns:a="http://schemas.openxmlformats.org/drawingml/2006/main">
            <a:r>
              <a:t>Ich benutze den StandardScaler. Der rechnet jedes Feature so um, dass es Mittelwert null und Standardabweichung eins hat — das nennt man Z-Score-Normierung. Ohne das würde ein Merkmal, das in Tausendern misst, ein Merkmal, das in Prozent misst, schlicht überstimmen. Pinheiro und Kollegen haben das 2025 systematisch vermessen — zwölf Skalierungsverfahren über vierzehn Algorithmen und sechzehn Datensätze. Ihr Befund: Ensembles wie der Random Forest bleiben weitgehend unbeeinflusst, während Logistische Regression, SVM und neuronale Netze stark auf die Wahl des Scalers reagieren. Genau deshalb skaliere ich nur die beiden linearen Modelle.</a:t>
            </a:r>
          </a:p>
          <a:p xmlns:a="http://schemas.openxmlformats.org/drawingml/2006/main">
            <a:r>
              <a:t/>
            </a:r>
          </a:p>
          <a:p xmlns:a="http://schemas.openxmlformats.org/drawingml/2006/main">
            <a:r>
              <a:t>Und jetzt der wichtigste Satz des Vortrags: Data Leakage. Das ist, wenn Information aus den Testdaten ins Training sickert — zum Beispiel, wenn man den Scaler auf dem Gesamtdatensatz anpasst. Dann kennt das Modell indirekt schon den Mittelwert der Zukunft.</a:t>
            </a:r>
          </a:p>
          <a:p xmlns:a="http://schemas.openxmlformats.org/drawingml/2006/main">
            <a:r>
              <a:t/>
            </a:r>
          </a:p>
          <a:p xmlns:a="http://schemas.openxmlformats.org/drawingml/2006/main">
            <a:r>
              <a:t>Deshalb wird der Scaler ausschließlich auf den Trainingsdaten gefittet. Nur auf X_train. Das ist der Unterschied zwischen einem Modell, das in der Realität funktioniert, und einem, das nur im Labor gut aussieht.</a:t>
            </a:r>
          </a:p>
          <a:p xmlns:a="http://schemas.openxmlformats.org/drawingml/2006/main">
            <a:r>
              <a:t/>
            </a:r>
          </a:p>
          <a:p xmlns:a="http://schemas.openxmlformats.org/drawingml/2006/main">
            <a:r>
              <a:t>Und weil das sonst wie eine Formalie klingt: Ich habe gegengerechnet, wie viel man sich ohne diese Disziplin erschwindeln würde. Die Zahl zeige ich euch bei den Ergebnissen — sie hat mich selbst überrascht.</a:t>
            </a:r>
          </a:p>
          <a:p xmlns:a="http://schemas.openxmlformats.org/drawingml/2006/main">
            <a:r>
              <a:t/>
            </a:r>
          </a:p>
          <a:p xmlns:a="http://schemas.openxmlformats.org/drawingml/2006/main">
            <a:r>
              <a:t>„Damit ist der Methodikteil durch. Kurzer Halt — was ist bis hierhin unklar?“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2 Min]</a:t>
            </a:r>
          </a:p>
          <a:p xmlns:a="http://schemas.openxmlformats.org/drawingml/2006/main">
            <a:r>
              <a:t/>
            </a:r>
          </a:p>
          <a:p xmlns:a="http://schemas.openxmlformats.org/drawingml/2006/main">
            <a:r>
              <a:t>Drei Schutzmechanismen verhindern Zukunftswissen: zeitliche Trennung, eine Sperrzone in Länge des Zielhorizonts und zusätzliche Walk-forward-Zeitfenster.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 Min]</a:t>
            </a:r>
          </a:p>
          <a:p xmlns:a="http://schemas.openxmlformats.org/drawingml/2006/main">
            <a:r>
              <a:t/>
            </a:r>
          </a:p>
          <a:p xmlns:a="http://schemas.openxmlformats.org/drawingml/2006/main">
            <a:r>
              <a:t>Die fünf Modelle prüfen dieselben Daten und Zeitfenster. So zeigt der Vergleich, ob lineare oder nichtlineare Regeln außerhalb der Trainingsdaten tragen.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1,5 Min]</a:t>
            </a:r>
          </a:p>
          <a:p xmlns:a="http://schemas.openxmlformats.org/drawingml/2006/main">
            <a:r>
              <a:t/>
            </a:r>
          </a:p>
          <a:p xmlns:a="http://schemas.openxmlformats.org/drawingml/2006/main">
            <a:r>
              <a:t>Alle fünf Ansätze wurden unter identischen Zeitfenstern geprüft. Linear SVM bezeichnet die Support Vector Machine; kein Modell erreicht einen belastbaren Trennwert.</a:t>
            </a:r>
          </a:p>
          <a:p xmlns:a="http://schemas.openxmlformats.org/drawingml/2006/main">
            <a:r>
              <a:t/>
            </a:r>
          </a:p>
          <a:p xmlns:a="http://schemas.openxmlformats.org/drawingml/2006/main">
            <a:r>
              <a:t>[Sources]</a:t>
            </a:r>
          </a:p>
          <a:p xmlns:a="http://schemas.openxmlformats.org/drawingml/2006/main">
            <a:r>
              <a:t>- Projektartefakte des Out-of-Time-Modellvergleichs.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1,5 Min]</a:t>
            </a:r>
          </a:p>
          <a:p xmlns:a="http://schemas.openxmlformats.org/drawingml/2006/main">
            <a:r>
              <a:t/>
            </a:r>
          </a:p>
          <a:p xmlns:a="http://schemas.openxmlformats.org/drawingml/2006/main">
            <a:r>
              <a:t>Das zentrale Ergebnis: Accuracy unter der Baseline, ROC-AUC nur knapp über 0,5. Das Signal ist auch über zusätzliche Zeitfenster stabil schwach.</a:t>
            </a:r>
          </a:p>
          <a:p xmlns:a="http://schemas.openxmlformats.org/drawingml/2006/main">
            <a:r>
              <a:t/>
            </a:r>
          </a:p>
          <a:p xmlns:a="http://schemas.openxmlformats.org/drawingml/2006/main">
            <a:r>
              <a:t>[Sources]</a:t>
            </a:r>
          </a:p>
          <a:p xmlns:a="http://schemas.openxmlformats.org/drawingml/2006/main">
            <a:r>
              <a:t>- Projektartefakte der Out-of-Time- und Walk-forward-Auswertung.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2 Min]</a:t>
            </a:r>
          </a:p>
          <a:p xmlns:a="http://schemas.openxmlformats.org/drawingml/2006/main">
            <a:r>
              <a:t/>
            </a:r>
          </a:p>
          <a:p xmlns:a="http://schemas.openxmlformats.org/drawingml/2006/main">
            <a:r>
              <a:t>Der naive Zufalls-Split lässt Zukunftsinformation in das Training gelangen. Dadurch erscheint das Signal über Zufallsniveau 4,2-mal größer.</a:t>
            </a:r>
          </a:p>
          <a:p xmlns:a="http://schemas.openxmlformats.org/drawingml/2006/main">
            <a:r>
              <a:t/>
            </a:r>
          </a:p>
          <a:p xmlns:a="http://schemas.openxmlformats.org/drawingml/2006/main">
            <a:r>
              <a:t>[Sources]</a:t>
            </a:r>
          </a:p>
          <a:p xmlns:a="http://schemas.openxmlformats.org/drawingml/2006/main">
            <a:r>
              <a:t>- scripts/validation_experiments.py im WealthScope-Projekt.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 Min]</a:t>
            </a:r>
          </a:p>
          <a:p xmlns:a="http://schemas.openxmlformats.org/drawingml/2006/main">
            <a:r>
              <a:t/>
            </a:r>
          </a:p>
          <a:p xmlns:a="http://schemas.openxmlformats.org/drawingml/2006/main">
            <a:r>
              <a:t>Feature Importance und SHAP erklären das Verhalten des Modells, nicht die Ursache der Kursbewegung.</a:t>
            </a:r>
          </a:p>
          <a:p xmlns:a="http://schemas.openxmlformats.org/drawingml/2006/main">
            <a:r>
              <a:t/>
            </a:r>
          </a:p>
          <a:p xmlns:a="http://schemas.openxmlformats.org/drawingml/2006/main">
            <a:r>
              <a:t>[Sources]</a:t>
            </a:r>
          </a:p>
          <a:p xmlns:a="http://schemas.openxmlformats.org/drawingml/2006/main">
            <a:r>
              <a:t>- Lundberg &amp; Lee (2017): A Unified Approach to Interpreting Model Predictions, NeurIPS.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5 Min]</a:t>
            </a:r>
          </a:p>
          <a:p xmlns:a="http://schemas.openxmlformats.org/drawingml/2006/main">
            <a:r>
              <a:t/>
            </a:r>
          </a:p>
          <a:p xmlns:a="http://schemas.openxmlformats.org/drawingml/2006/main">
            <a:r>
              <a:t>Die Live-Demo folgt sechs Fragen: Markt verstehen, Signal prüfen, Fehler sehen, Risiko begrenzen, Streuung prüfen und Ergebnis erklären.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 Min]</a:t>
            </a:r>
          </a:p>
          <a:p xmlns:a="http://schemas.openxmlformats.org/drawingml/2006/main">
            <a:r>
              <a:t/>
            </a:r>
          </a:p>
          <a:p xmlns:a="http://schemas.openxmlformats.org/drawingml/2006/main">
            <a:r>
              <a:t>Nur H1 wurde formal getestet und nicht bestätigt. Das Entwicklungsziel der gemeinsamen Oberfläche wurde umgesetzt. Verständlichkeit und praktischer Mehrwert bleiben ohne Nutzerstudie offen.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 Min]</a:t>
            </a:r>
          </a:p>
          <a:p xmlns:a="http://schemas.openxmlformats.org/drawingml/2006/main">
            <a:r>
              <a:t/>
            </a:r>
          </a:p>
          <a:p xmlns:a="http://schemas.openxmlformats.org/drawingml/2006/main">
            <a:r>
              <a:t>Die Grenzen betreffen Datenauswahl, Informationsumfang, fehlende Nutzerprüfung und die Übertragbarkeit historischer Ergebnisse.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 Min]</a:t>
            </a:r>
          </a:p>
          <a:p xmlns:a="http://schemas.openxmlformats.org/drawingml/2006/main">
            <a:r>
              <a:t/>
            </a:r>
          </a:p>
          <a:p xmlns:a="http://schemas.openxmlformats.org/drawingml/2006/main">
            <a:r>
              <a:t>Aus den vier Grenzen folgen vier priorisierte Arbeitspakete. Entscheidend ist, dass jedes Paket mit einem vorab definierten Kriterium und einem reproduzierbaren Nachweis endet.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[Zeit: 1 Min]</a:t>
            </a:r>
          </a:p>
          <a:p xmlns:a="http://schemas.openxmlformats.org/drawingml/2006/main">
            <a:r>
              <a:t/>
            </a:r>
          </a:p>
          <a:p xmlns:a="http://schemas.openxmlformats.org/drawingml/2006/main">
            <a:r>
              <a:t>Die Kernaussage ist methodisch: Ein schwaches, sauber gemessenes Ergebnis ist belastbarer als ein höherer Wert mit Zukunftswissen.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Rückfragen stehen ab Folie 23 Quellen und methodische Details bereit. Besonders relevant: Folie 25 ROC-Kurve, Folie 26 Lernkurve, Folie 27 typische Prüferfragen und Folie 32 Nachweislogik.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Quellen und Kursbezug der Arbeit.</a:t>
            </a:r>
          </a:p>
          <a:p xmlns:a="http://schemas.openxmlformats.org/drawingml/2006/main">
            <a:r>
              <a:t/>
            </a:r>
          </a:p>
          <a:p xmlns:a="http://schemas.openxmlformats.org/drawingml/2006/main">
            <a:r>
              <a:t>[Sources]</a:t>
            </a:r>
          </a:p>
          <a:p xmlns:a="http://schemas.openxmlformats.org/drawingml/2006/main">
            <a:r>
              <a:t>- Géron: Praxiseinstieg Machine Learning mit Scikit-Learn, Keras &amp; TensorFlow.</a:t>
            </a:r>
          </a:p>
          <a:p xmlns:a="http://schemas.openxmlformats.org/drawingml/2006/main">
            <a:r>
              <a:t>- Fama (1970): Efficient Capital Markets.</a:t>
            </a:r>
          </a:p>
          <a:p xmlns:a="http://schemas.openxmlformats.org/drawingml/2006/main">
            <a:r>
              <a:t>- Lundberg &amp; Lee (2017): SHAP.</a:t>
            </a:r>
          </a:p>
          <a:p xmlns:a="http://schemas.openxmlformats.org/drawingml/2006/main">
            <a:r>
              <a:t>- Stock et al. (2021): QUA³CK.</a:t>
            </a:r>
          </a:p>
          <a:p xmlns:a="http://schemas.openxmlformats.org/drawingml/2006/main">
            <a:r>
              <a:t>- Kaggle: US Stocks &amp; ETFs, Boris Marjanovic, CC0.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zum verwendeten Entwicklungsprozess.</a:t>
            </a:r>
          </a:p>
          <a:p xmlns:a="http://schemas.openxmlformats.org/drawingml/2006/main">
            <a:r>
              <a:t/>
            </a:r>
          </a:p>
          <a:p xmlns:a="http://schemas.openxmlformats.org/drawingml/2006/main">
            <a:r>
              <a:t>[Sources]</a:t>
            </a:r>
          </a:p>
          <a:p xmlns:a="http://schemas.openxmlformats.org/drawingml/2006/main">
            <a:r>
              <a:t>- Stock et al. (2021): QUA³CK – A Machine Learning Development Process, KIT ITIV.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Konfusionsmatrix zeigt, welche Art von Fehlern das Modell macht: Es tippt fast immer auf ‚steigend‘, weil 59,1 Prozent des Testzeitraums steigend waren. Genau deshalb ist Accuracy eine irreführende Kennzahl — sie belohnt das Nachplappern der Mehrheit. Die ROC-Kurve liegt fast auf der Diagonalen, und die Diagonale ist der reine Zufall.“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Antwort ist eindeutig Varianz: Trainings-AUC 0,637 gegen Validierung 0,525, Lücke 0,11 — das ist Overfitting, und die App weist es selbst so aus. Entscheidend ist aber, dass es hier nicht behebbar ist: Über die 2,3-fache Datenmenge bewegt sich die Validierung nicht von rund 0,51 weg, und über sieben Regularisierungsstufen bleibt der Test-AUC zwischen 0,512 und 0,519. Was overfittet wird, ist Rauschen — genau das erwartet die Effizienzmarkthypothese.“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ANTWORT · „Warum nur ROC-AUC 0,519?“</a:t>
            </a:r>
          </a:p>
          <a:p xmlns:a="http://schemas.openxmlformats.org/drawingml/2006/main"/>
          <a:p xmlns:a="http://schemas.openxmlformats.org/drawingml/2006/main">
            <a:r>
              <a:t>„Weil der Test zeitlich unangetastet ist. Sobald man Zukunftswissen entfernt, bleibt mit reinen historischen Kursmerkmalen gemäß Effizienzmarkthypothese nur ein sehr schwaches Signal übrig. 0,519 ist genau das — und die Walk-forward-Folds bestätigen es mit 0,514.“</a:t>
            </a:r>
          </a:p>
          <a:p xmlns:a="http://schemas.openxmlformats.org/drawingml/2006/main"/>
          <a:p xmlns:a="http://schemas.openxmlformats.org/drawingml/2006/main">
            <a:r>
              <a:t>ANTWORT · „Was ist Data Leakage und wie habt ihr es verhindert?“</a:t>
            </a:r>
          </a:p>
          <a:p xmlns:a="http://schemas.openxmlformats.org/drawingml/2006/main"/>
          <a:p xmlns:a="http://schemas.openxmlformats.org/drawingml/2006/main">
            <a:r>
              <a:t>„Leakage heißt, dass Information aus der Testperiode ins Training sickert. Drei Schutzmaßnahmen: strikte Zeitordnung, 20 Handelstage Sperrzone zwischen Training und Test, und eine Pipeline, in der Imputer und Scaler ausschließlich im jeweiligen Trainingsfenster gefittet werden.“</a:t>
            </a:r>
          </a:p>
          <a:p xmlns:a="http://schemas.openxmlformats.org/drawingml/2006/main"/>
          <a:p xmlns:a="http://schemas.openxmlformats.org/drawingml/2006/main">
            <a:r>
              <a:t>LEAKAGE-GEGENRECHNUNG  (Zahlen zum Zitieren)</a:t>
            </a:r>
          </a:p>
          <a:p xmlns:a="http://schemas.openxmlformats.org/drawingml/2006/main"/>
          <a:p xmlns:a="http://schemas.openxmlformats.org/drawingml/2006/main">
            <a:r>
              <a:t>Random Forest, identische Parameter und Datenbasis, nur die Aufteilung variiert:</a:t>
            </a:r>
          </a:p>
          <a:p xmlns:a="http://schemas.openxmlformats.org/drawingml/2006/main"/>
          <a:p xmlns:a="http://schemas.openxmlformats.org/drawingml/2006/main">
            <a:r>
              <a:t>zeitlich + 20 Tage Sperrzone (v1.0): AUC 0,5192 · BalAcc 0,5129 · Acc 0,5187 (Baseline 0,5915)   —   zeitlich ohne Sperrzone: AUC 0,5240 · BalAcc 0,5172 · Acc 0,5308   —   naiver Zufalls-Split 80/20: AUC 0,5813 · BalAcc 0,5512 · Acc 0,5467 (Baseline 0,5592)</a:t>
            </a:r>
          </a:p>
          <a:p xmlns:a="http://schemas.openxmlformats.org/drawingml/2006/main"/>
          <a:p xmlns:a="http://schemas.openxmlformats.org/drawingml/2006/main">
            <a:r>
              <a:t>Kernaussage: Gemessen am Zufallsniveau 0,5 erscheint das Signal beim Zufalls-Split mit 0,081 statt 0,019 — also 4,2-mal größer. Bemerkenswert: Selbst dort liegt die Accuracy mit 0,5467 noch unter ihrer Baseline von 0,5592. Die Sperrzone allein macht 0,005 aus, der Split-Typ 0,062.</a:t>
            </a:r>
          </a:p>
          <a:p xmlns:a="http://schemas.openxmlformats.org/drawingml/2006/main"/>
          <a:p xmlns:a="http://schemas.openxmlformats.org/drawingml/2006/main">
            <a:r>
              <a:t>ANTWORT · „Warum binäre Klassifikation statt Regression?“</a:t>
            </a:r>
          </a:p>
          <a:p xmlns:a="http://schemas.openxmlformats.org/drawingml/2006/main"/>
          <a:p xmlns:a="http://schemas.openxmlformats.org/drawingml/2006/main">
            <a:r>
              <a:t>„Weil die exakte Kurshöhe an effizienten Märkten praktisch nicht vorhersagbar ist. Die Richtungsfrage ist die realistischere Fragestellung und lässt sich mit Accuracy, Balanced Accuracy und ROC-AUC sauber bewerten.“</a:t>
            </a:r>
          </a:p>
          <a:p xmlns:a="http://schemas.openxmlformats.org/drawingml/2006/main"/>
          <a:p xmlns:a="http://schemas.openxmlformats.org/drawingml/2006/main">
            <a:r>
              <a:t>ANTWORT · „Warum Random Forest statt neuronalem Netz?“</a:t>
            </a:r>
          </a:p>
          <a:p xmlns:a="http://schemas.openxmlformats.org/drawingml/2006/main"/>
          <a:p xmlns:a="http://schemas.openxmlformats.org/drawingml/2006/main">
            <a:r>
              <a:t>„Ich habe bewusst fünf Modellgenerationen verglichen. Der Random Forest bringt Nichtlinearität und Erklärbarkeit zusammen. Kein Modell erzeugt aber ein belastbares Signal — und bei acht Features rechtfertigt das kein neuronales Netz. Occam’s Razor.“</a:t>
            </a:r>
          </a:p>
          <a:p xmlns:a="http://schemas.openxmlformats.org/drawingml/2006/main"/>
          <a:p xmlns:a="http://schemas.openxmlformats.org/drawingml/2006/main">
            <a:r>
              <a:t>ANTWORT · „Ihre Lernkurve zeigt doch klares Overfitting?“  (WICHTIG)</a:t>
            </a:r>
          </a:p>
          <a:p xmlns:a="http://schemas.openxmlformats.org/drawingml/2006/main"/>
          <a:p xmlns:a="http://schemas.openxmlformats.org/drawingml/2006/main">
            <a:r>
              <a:t>„Ja, völlig richtig — Trainings-AUC 0,637 gegen Validierung 0,525, Lücke 0,11. Die App weist das selbst als hohe Varianz aus. Der Punkt ist: Es ist hier nicht behebbar. Ich habe beide Standardhebel geprüft.“</a:t>
            </a:r>
          </a:p>
          <a:p xmlns:a="http://schemas.openxmlformats.org/drawingml/2006/main"/>
          <a:p xmlns:a="http://schemas.openxmlformats.org/drawingml/2006/main">
            <a:r>
              <a:t>„Erster Hebel, mehr Daten: Die Validierungskurve läuft über die 2,3-fache Datenmenge von 0,530 auf 0,525 — sie bewegt sich nicht. Die Lücke schließt sich nur, weil der Trainings-Score fällt.“</a:t>
            </a:r>
          </a:p>
          <a:p xmlns:a="http://schemas.openxmlformats.org/drawingml/2006/main"/>
          <a:p xmlns:a="http://schemas.openxmlformats.org/drawingml/2006/main">
            <a:r>
              <a:t>„Zweiter Hebel, stärkere Regularisierung: Ich habe sieben Konfigurationen auf demselben Out-of-Time-Fenster gerechnet. Ein unbeschränkter Forest erreicht Trainings-AUC 1,0 — er lernt alle 120.920 Zeilen perfekt auswendig — und im Test 0,512. Ganz am anderen Ende, bei Tiefe 2 und 200 Beobachtungen pro Blatt, schrumpft die Lücke auf 0,03, und der Test-AUC liegt bei 0,513. Über den kompletten Komplexitätsbereich bewegt sich der Test-AUC zwischen 0,512 und 0,519.“</a:t>
            </a:r>
          </a:p>
          <a:p xmlns:a="http://schemas.openxmlformats.org/drawingml/2006/main"/>
          <a:p xmlns:a="http://schemas.openxmlformats.org/drawingml/2006/main">
            <a:r>
              <a:t>„Das heißt: Die Obergrenze setzt der Informationsgehalt der Features, nicht die Modellkapazität. Was overfittet wird, ist Rauschen. Und die gewählten Parameter — Tiefe 8, 5 pro Blatt — sind in diesem Vergleich mit 0,5192 der beste Wert.“</a:t>
            </a:r>
          </a:p>
          <a:p xmlns:a="http://schemas.openxmlformats.org/drawingml/2006/main"/>
          <a:p xmlns:a="http://schemas.openxmlformats.org/drawingml/2006/main">
            <a:r>
              <a:t>ABLATIONSTABELLE  (Zahlen zum Zitieren)</a:t>
            </a:r>
          </a:p>
          <a:p xmlns:a="http://schemas.openxmlformats.org/drawingml/2006/main"/>
          <a:p xmlns:a="http://schemas.openxmlformats.org/drawingml/2006/main">
            <a:r>
              <a:t>Random Forest, 200 Bäume, identisches purged-OOT-Fenster — Train-AUC / Test-AUC / Lücke:</a:t>
            </a:r>
          </a:p>
          <a:p xmlns:a="http://schemas.openxmlformats.org/drawingml/2006/main"/>
          <a:p xmlns:a="http://schemas.openxmlformats.org/drawingml/2006/main">
            <a:r>
              <a:t>unbeschränkt: 1,0000 / 0,5121 / 0,488   ·   Tiefe 16, Blatt 2: 0,9044 / 0,5180 / 0,386   ·   Tiefe 8, Blatt 5 (v1.0): 0,6327 / 0,5192 / 0,114   ·   Tiefe 6, Blatt 20: 0,5948 / 0,5158 / 0,079   ·   Tiefe 4, Blatt 50: 0,5672 / 0,5146 / 0,053   ·   Tiefe 3, Blatt 100: 0,5548 / 0,5161 / 0,039   ·   Tiefe 2, Blatt 200: 0,5426 / 0,5129 / 0,030</a:t>
            </a:r>
          </a:p>
          <a:p xmlns:a="http://schemas.openxmlformats.org/drawingml/2006/main"/>
          <a:p xmlns:a="http://schemas.openxmlformats.org/drawingml/2006/main">
            <a:r>
              <a:t>Einschränkung, falls nachgefragt: gemessen auf dem OOT-Holdout, nicht zusätzlich über die vier Walk-forward-Folds. Bei einer Gesamtspanne von 0,007 ändert das die Aussage nicht.</a:t>
            </a:r>
          </a:p>
          <a:p xmlns:a="http://schemas.openxmlformats.org/drawingml/2006/main"/>
          <a:p xmlns:a="http://schemas.openxmlformats.org/drawingml/2006/main">
            <a:r>
              <a:t>WEITERE WAHRSCHEINLICHE FRAGEN</a:t>
            </a:r>
          </a:p>
          <a:p xmlns:a="http://schemas.openxmlformats.org/drawingml/2006/main"/>
          <a:p xmlns:a="http://schemas.openxmlformats.org/drawingml/2006/main">
            <a:r>
              <a:t>Survivorship-Bias: offen zugeben, siehe Folie 10.  ·  Warum 20 Handelstage Horizont: rund ein Handelsmonat — lang genug für Trendwirkung, kurz genug für genügend Beobachtungen.  ·  Warum kein Hyperparameter-Tuning per Grid Search: siehe Ablationstabelle oben — der Test-AUC ist über den gesamten Komplexitätsbereich flach, Tuning würde nur Rauschen optimieren.  ·  Warum ist der Entscheidungsbaum im Walk-forward besser (0,5153 gegen 0,5141)? Differenz im Rauschbereich; der Random Forest ist als Demonstrator gewählt wegen Erklärbarkeit und Varianzreduktion, nicht wegen der besten Einzelmetrik.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„SPY über ein Jahr, Schlusskurs mit den gleitenden Durchschnitten über 20, 50 und 200 Tage. Der Kurs liegt über allen dreien — ein intakter Aufwärtstrend, und genau der speist den hohen Trend-Score in der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„Links die Candlesticks: Jede Kerze ist ein Handelstag, Körper gleich Eröffnung bis Schluss, Dochte gleich Hoch und Tief. Rechts der Drawdown, also der Abstand zum letzten Allzeithoch — die Grundlage des Risiko-Scores.“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„Aus Kapital, Risikotoleranz und Stop-Loss-Distanz berechnet die App live den Risikobetrag und die maximale Positionsgröße — abgestimmt auf die Volatilitätsklasse der Aktie.“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„Kapital wird über mehrere Titel verteilt, die Allokation ist live editierbar. Tortendiagramm und Herfindahl-Index zeigen sofort, wie konzentriert das Portfolio 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Backupfolie zur Arbeits- und Bewertungslogik: Ein Finding führt zu einer priorisierten Maßnahme. Vor der Umsetzung werden Kriterium und erforderliche Evidenz festgelegt. Im Review werden Ergebnis, Grenzen und nächster Schritt aktualisiert.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Backup-Folie für die Frage „Womit hast du das gebaut?“. Python und Streamlit für die App, pandas und Parquet für die Daten, scikit-learn für die Modelle, Plotly für die Charts, SHAP für die Erklärbarkeit, pytest für die Tests. Alles Open Source, alles reproduzierbar.</a:t>
            </a:r>
          </a:p>
          <a:p xmlns:a="http://schemas.openxmlformats.org/drawingml/2006/main"/>
          <a:p xmlns:a="http://schemas.openxmlformats.org/drawingml/2006/main">
            <a:r>
              <a:t>Alles Open Source, alles reproduzierbar.</a:t>
            </a:r>
          </a:p>
          <a:p xmlns:a="http://schemas.openxmlformats.org/drawingml/2006/main"/>
          <a:p xmlns:a="http://schemas.openxmlformats.org/drawingml/2006/main">
            <a:r>
              <a:t>„Jetzt zur Methode — dem roten Faden für den ganzen Rest.“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f10fb512b44a3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154e8b15694e97" /><Relationship Type="http://schemas.openxmlformats.org/officeDocument/2006/relationships/slideLayout" Target="/ppt/slideLayouts/slideLayout1.xml" Id="Rcd4f7a0ae2a8446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4f7a0ae2a8446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2078a6955640b4" /><Relationship Type="http://schemas.openxmlformats.org/officeDocument/2006/relationships/image" Target="/ppt/media/image.png" Id="R61e7bb8e11c14cc2" /><Relationship Type="http://schemas.openxmlformats.org/officeDocument/2006/relationships/notesSlide" Target="/ppt/notesSlides/notesSlide1.xml" Id="R6f38424c028a45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b30dc79c4a4da6" /><Relationship Type="http://schemas.openxmlformats.org/officeDocument/2006/relationships/image" Target="/ppt/media/image2.png" Id="R382b89f03aea43ab" /><Relationship Type="http://schemas.openxmlformats.org/officeDocument/2006/relationships/notesSlide" Target="/ppt/notesSlides/notesSlide2.xml" Id="Rfa8c92c721f34d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eaceb77e594117" /><Relationship Type="http://schemas.openxmlformats.org/officeDocument/2006/relationships/image" Target="/ppt/media/image3.png" Id="Rd87ef65fe5424cb0" /><Relationship Type="http://schemas.openxmlformats.org/officeDocument/2006/relationships/image" Target="/ppt/media/image4.png" Id="R63005e77cf58400e" /><Relationship Type="http://schemas.openxmlformats.org/officeDocument/2006/relationships/notesSlide" Target="/ppt/notesSlides/notesSlide3.xml" Id="R99f7fec0b63340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be58929f9f4f81" /><Relationship Type="http://schemas.openxmlformats.org/officeDocument/2006/relationships/image" Target="/ppt/media/image5.png" Id="R771d88e191fd4954" /><Relationship Type="http://schemas.openxmlformats.org/officeDocument/2006/relationships/notesSlide" Target="/ppt/notesSlides/notesSlide4.xml" Id="R9b51318aecdc45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053c9df3904af3" /><Relationship Type="http://schemas.openxmlformats.org/officeDocument/2006/relationships/image" Target="/ppt/media/image6.png" Id="Rf078a3b4eca84cb3" /><Relationship Type="http://schemas.openxmlformats.org/officeDocument/2006/relationships/image" Target="/ppt/media/image7.png" Id="R92871473a3644f9d" /><Relationship Type="http://schemas.openxmlformats.org/officeDocument/2006/relationships/image" Target="/ppt/media/image8.png" Id="R49121825701c4515" /><Relationship Type="http://schemas.openxmlformats.org/officeDocument/2006/relationships/image" Target="/ppt/media/image9.png" Id="Red09cca901934e45" /><Relationship Type="http://schemas.openxmlformats.org/officeDocument/2006/relationships/image" Target="/ppt/media/image10.png" Id="Re9b5f81e31854721" /><Relationship Type="http://schemas.openxmlformats.org/officeDocument/2006/relationships/image" Target="/ppt/media/image11.png" Id="R87d1add7b7444f21" /><Relationship Type="http://schemas.openxmlformats.org/officeDocument/2006/relationships/notesSlide" Target="/ppt/notesSlides/notesSlide5.xml" Id="R8bd96f60f9c54d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039234564c4529" /><Relationship Type="http://schemas.openxmlformats.org/officeDocument/2006/relationships/image" Target="/ppt/media/image7.png" Id="Rccbd0f2188ab4d10" /><Relationship Type="http://schemas.openxmlformats.org/officeDocument/2006/relationships/notesSlide" Target="/ppt/notesSlides/notesSlide6.xml" Id="R9f93d6afbad644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3c78f08392426d" /><Relationship Type="http://schemas.openxmlformats.org/officeDocument/2006/relationships/image" Target="/ppt/media/image12.png" Id="R8a7fc5abb52c4e57" /><Relationship Type="http://schemas.openxmlformats.org/officeDocument/2006/relationships/image" Target="/ppt/media/image13.png" Id="R1309959330444db6" /><Relationship Type="http://schemas.openxmlformats.org/officeDocument/2006/relationships/notesSlide" Target="/ppt/notesSlides/notesSlide7.xml" Id="R7b40088bf6e144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3d39e701124491" /><Relationship Type="http://schemas.openxmlformats.org/officeDocument/2006/relationships/image" Target="/ppt/media/image14.png" Id="Rf68033e72c474f0d" /><Relationship Type="http://schemas.openxmlformats.org/officeDocument/2006/relationships/notesSlide" Target="/ppt/notesSlides/notesSlide8.xml" Id="R0bdc9ce2fc1847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9c7008758704ba3" /><Relationship Type="http://schemas.openxmlformats.org/officeDocument/2006/relationships/image" Target="/ppt/media/image8.png" Id="R1f645fcbc5d146eb" /><Relationship Type="http://schemas.openxmlformats.org/officeDocument/2006/relationships/notesSlide" Target="/ppt/notesSlides/notesSlide9.xml" Id="Re6fc1fd01f834c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0606081f87a4edd" /><Relationship Type="http://schemas.openxmlformats.org/officeDocument/2006/relationships/image" Target="/ppt/media/image15.png" Id="R6761c3c7fc3f499a" /><Relationship Type="http://schemas.openxmlformats.org/officeDocument/2006/relationships/notesSlide" Target="/ppt/notesSlides/notesSlide10.xml" Id="Rf979a99f2f2d4d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e6548ddf484f22" /><Relationship Type="http://schemas.openxmlformats.org/officeDocument/2006/relationships/image" Target="/ppt/media/image16.png" Id="Rd58b6e85767d41ff" /><Relationship Type="http://schemas.openxmlformats.org/officeDocument/2006/relationships/notesSlide" Target="/ppt/notesSlides/notesSlide11.xml" Id="R54c5c2f6671a4e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8114b5908564b26" /><Relationship Type="http://schemas.openxmlformats.org/officeDocument/2006/relationships/image" Target="/ppt/media/image9.png" Id="R6fe0e5d3bf904887" /><Relationship Type="http://schemas.openxmlformats.org/officeDocument/2006/relationships/notesSlide" Target="/ppt/notesSlides/notesSlide12.xml" Id="R064f59b47bb844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e1eccd518b0439f" /><Relationship Type="http://schemas.openxmlformats.org/officeDocument/2006/relationships/image" Target="/ppt/media/image17.png" Id="Rb5450c3a3a114d64" /><Relationship Type="http://schemas.openxmlformats.org/officeDocument/2006/relationships/image" Target="/ppt/media/image18.png" Id="Rdc670c58c9984f32" /><Relationship Type="http://schemas.openxmlformats.org/officeDocument/2006/relationships/image" Target="/ppt/media/image19.png" Id="R386945293b6e4656" /><Relationship Type="http://schemas.openxmlformats.org/officeDocument/2006/relationships/notesSlide" Target="/ppt/notesSlides/notesSlide13.xml" Id="R5f7a0e2230644f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8774dfa3d974bfd" /><Relationship Type="http://schemas.openxmlformats.org/officeDocument/2006/relationships/image" Target="/ppt/media/image12.png" Id="R8c6b0ff23a754683" /><Relationship Type="http://schemas.openxmlformats.org/officeDocument/2006/relationships/notesSlide" Target="/ppt/notesSlides/notesSlide14.xml" Id="Re8cb2f5f037e47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e253152c4af417d" /><Relationship Type="http://schemas.openxmlformats.org/officeDocument/2006/relationships/image" Target="/ppt/media/image12.png" Id="R3e01aea69f914ff0" /><Relationship Type="http://schemas.openxmlformats.org/officeDocument/2006/relationships/notesSlide" Target="/ppt/notesSlides/notesSlide15.xml" Id="Ra92390b0a32c49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d5d22d2b6044278" /><Relationship Type="http://schemas.openxmlformats.org/officeDocument/2006/relationships/image" Target="/ppt/media/image20.png" Id="Rffe621c9e0c44618" /><Relationship Type="http://schemas.openxmlformats.org/officeDocument/2006/relationships/image" Target="/ppt/media/image21.png" Id="R43827be4bc9c4654" /><Relationship Type="http://schemas.openxmlformats.org/officeDocument/2006/relationships/image" Target="/ppt/media/image22.png" Id="R4e1d3cce920f43aa" /><Relationship Type="http://schemas.openxmlformats.org/officeDocument/2006/relationships/notesSlide" Target="/ppt/notesSlides/notesSlide16.xml" Id="R93cf73a9e531463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0bdedbd991b4d56" /><Relationship Type="http://schemas.openxmlformats.org/officeDocument/2006/relationships/image" Target="/ppt/media/image23.png" Id="Rbdf8356e90684285" /><Relationship Type="http://schemas.openxmlformats.org/officeDocument/2006/relationships/image" Target="/ppt/media/image24.png" Id="Rdaef393b58c64bcc" /><Relationship Type="http://schemas.openxmlformats.org/officeDocument/2006/relationships/image" Target="/ppt/media/image.png" Id="R75ec22adfe154613" /><Relationship Type="http://schemas.openxmlformats.org/officeDocument/2006/relationships/image" Target="/ppt/media/image25.png" Id="Rb12a9daca84c4550" /><Relationship Type="http://schemas.openxmlformats.org/officeDocument/2006/relationships/image" Target="/ppt/media/image26.png" Id="R8283d5a6b16b418e" /><Relationship Type="http://schemas.openxmlformats.org/officeDocument/2006/relationships/image" Target="/ppt/media/image27.png" Id="R694e618e72fa47c0" /><Relationship Type="http://schemas.openxmlformats.org/officeDocument/2006/relationships/image" Target="/ppt/media/image28.png" Id="R0abeac461b1242d5" /><Relationship Type="http://schemas.openxmlformats.org/officeDocument/2006/relationships/notesSlide" Target="/ppt/notesSlides/notesSlide17.xml" Id="R80990b79df2a46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d1863eacbc84678" /><Relationship Type="http://schemas.openxmlformats.org/officeDocument/2006/relationships/image" Target="/ppt/media/image29.png" Id="R0aa8aab3cedc4536" /><Relationship Type="http://schemas.openxmlformats.org/officeDocument/2006/relationships/notesSlide" Target="/ppt/notesSlides/notesSlide18.xml" Id="R14b585e3863f43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5223c09acff4721" /><Relationship Type="http://schemas.openxmlformats.org/officeDocument/2006/relationships/image" Target="/ppt/media/image14.png" Id="R5ef2defd9c264f0d" /><Relationship Type="http://schemas.openxmlformats.org/officeDocument/2006/relationships/notesSlide" Target="/ppt/notesSlides/notesSlide19.xml" Id="R1b71adb41a6c43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f5c13b842514d98" /><Relationship Type="http://schemas.openxmlformats.org/officeDocument/2006/relationships/image" Target="/ppt/media/image14.png" Id="R21ba6facfea04702" /><Relationship Type="http://schemas.openxmlformats.org/officeDocument/2006/relationships/notesSlide" Target="/ppt/notesSlides/notesSlide20.xml" Id="R828078fe0a584aa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76770e16b314473" /><Relationship Type="http://schemas.openxmlformats.org/officeDocument/2006/relationships/image" Target="/ppt/media/image30.png" Id="R4f28b88954fe41a6" /><Relationship Type="http://schemas.openxmlformats.org/officeDocument/2006/relationships/notesSlide" Target="/ppt/notesSlides/notesSlide21.xml" Id="R0eb54cd2c079462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90a63f5557c4fb4" /><Relationship Type="http://schemas.openxmlformats.org/officeDocument/2006/relationships/image" Target="/ppt/media/image31.png" Id="Rd0bd8de05e72498b" /><Relationship Type="http://schemas.openxmlformats.org/officeDocument/2006/relationships/notesSlide" Target="/ppt/notesSlides/notesSlide22.xml" Id="Rdc5945bea5a74f2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bc0ce3abfd24ea9" /><Relationship Type="http://schemas.openxmlformats.org/officeDocument/2006/relationships/image" Target="/ppt/media/image32.png" Id="R1e45368a1d754c69" /><Relationship Type="http://schemas.openxmlformats.org/officeDocument/2006/relationships/notesSlide" Target="/ppt/notesSlides/notesSlide23.xml" Id="R094bbb483af742a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84bf707306c4350" /><Relationship Type="http://schemas.openxmlformats.org/officeDocument/2006/relationships/image" Target="/ppt/media/image33.png" Id="R0426d12668fd4160" /><Relationship Type="http://schemas.openxmlformats.org/officeDocument/2006/relationships/notesSlide" Target="/ppt/notesSlides/notesSlide24.xml" Id="Rf0da7ee56a86429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c62a20f3da147e0" /><Relationship Type="http://schemas.openxmlformats.org/officeDocument/2006/relationships/image" Target="/ppt/media/image34.png" Id="R9e2bbf5b30e044d2" /><Relationship Type="http://schemas.openxmlformats.org/officeDocument/2006/relationships/image" Target="/ppt/media/image35.png" Id="Rf77d440df1554835" /><Relationship Type="http://schemas.openxmlformats.org/officeDocument/2006/relationships/image" Target="/ppt/media/image36.png" Id="R9f6dcd3638ca40a4" /><Relationship Type="http://schemas.openxmlformats.org/officeDocument/2006/relationships/notesSlide" Target="/ppt/notesSlides/notesSlide25.xml" Id="R69389141a7e44fd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3a12ef204e94fda" /><Relationship Type="http://schemas.openxmlformats.org/officeDocument/2006/relationships/image" Target="/ppt/media/image17.png" Id="Rdd5155a4ef3e4378" /><Relationship Type="http://schemas.openxmlformats.org/officeDocument/2006/relationships/image" Target="/ppt/media/image37.png" Id="R25b1c13bae89479a" /><Relationship Type="http://schemas.openxmlformats.org/officeDocument/2006/relationships/notesSlide" Target="/ppt/notesSlides/notesSlide26.xml" Id="R5fb68dd36778461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f710ce40050468f" /><Relationship Type="http://schemas.openxmlformats.org/officeDocument/2006/relationships/image" Target="/ppt/media/image5.png" Id="R5742c3eafcff459e" /><Relationship Type="http://schemas.openxmlformats.org/officeDocument/2006/relationships/notesSlide" Target="/ppt/notesSlides/notesSlide27.xml" Id="Rb82ff739582b43d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4e5565f688f4ce3" /><Relationship Type="http://schemas.openxmlformats.org/officeDocument/2006/relationships/image" Target="/ppt/media/image11.png" Id="Rebe483b6ad094b4f" /><Relationship Type="http://schemas.openxmlformats.org/officeDocument/2006/relationships/image" Target="/ppt/media/image38.png" Id="R9824b54ae5b84f44" /><Relationship Type="http://schemas.openxmlformats.org/officeDocument/2006/relationships/notesSlide" Target="/ppt/notesSlides/notesSlide28.xml" Id="R31d86020edc54fa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51ce835f79b40fb" /><Relationship Type="http://schemas.openxmlformats.org/officeDocument/2006/relationships/image" Target="/ppt/media/image11.png" Id="Rd9b11999f4c64c11" /><Relationship Type="http://schemas.openxmlformats.org/officeDocument/2006/relationships/image" Target="/ppt/media/image39.png" Id="Re399cb9ed1034065" /><Relationship Type="http://schemas.openxmlformats.org/officeDocument/2006/relationships/image" Target="/ppt/media/image40.png" Id="Rc40323d3ae95486d" /><Relationship Type="http://schemas.openxmlformats.org/officeDocument/2006/relationships/notesSlide" Target="/ppt/notesSlides/notesSlide29.xml" Id="Rda8681101b2446b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68e641694c34050" /><Relationship Type="http://schemas.openxmlformats.org/officeDocument/2006/relationships/image" Target="/ppt/media/image41.png" Id="Ree306d6585a14f37" /><Relationship Type="http://schemas.openxmlformats.org/officeDocument/2006/relationships/image" Target="/ppt/media/image42.png" Id="Rc1aefab12a784c28" /><Relationship Type="http://schemas.openxmlformats.org/officeDocument/2006/relationships/notesSlide" Target="/ppt/notesSlides/notesSlide30.xml" Id="R7bc3f1aa6b0d410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03fe9dd88c14af8" /><Relationship Type="http://schemas.openxmlformats.org/officeDocument/2006/relationships/image" Target="/ppt/media/image43.png" Id="R8ef5b9552db74e12" /><Relationship Type="http://schemas.openxmlformats.org/officeDocument/2006/relationships/image" Target="/ppt/media/image44.png" Id="Rc4357aaee0934f43" /><Relationship Type="http://schemas.openxmlformats.org/officeDocument/2006/relationships/notesSlide" Target="/ppt/notesSlides/notesSlide31.xml" Id="R3a1dd8eed9bc4c7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77a5b0215434fe8" /><Relationship Type="http://schemas.openxmlformats.org/officeDocument/2006/relationships/image" Target="/ppt/media/image10.png" Id="R2b0d083b2cf74595" /><Relationship Type="http://schemas.openxmlformats.org/officeDocument/2006/relationships/image" Target="/ppt/media/image12.png" Id="R30c90604a41746d4" /><Relationship Type="http://schemas.openxmlformats.org/officeDocument/2006/relationships/image" Target="/ppt/media/image17.png" Id="Rc68b485bebc84153" /><Relationship Type="http://schemas.openxmlformats.org/officeDocument/2006/relationships/image" Target="/ppt/media/image41.png" Id="R59730a7e668740d7" /><Relationship Type="http://schemas.openxmlformats.org/officeDocument/2006/relationships/image" Target="/ppt/media/image43.png" Id="R79273c48f86e42a2" /><Relationship Type="http://schemas.openxmlformats.org/officeDocument/2006/relationships/image" Target="/ppt/media/image32.png" Id="R2136222673394160" /><Relationship Type="http://schemas.openxmlformats.org/officeDocument/2006/relationships/notesSlide" Target="/ppt/notesSlides/notesSlide32.xml" Id="R11b1a1e2693c40d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f74b2b618024339" /><Relationship Type="http://schemas.openxmlformats.org/officeDocument/2006/relationships/image" Target="/ppt/media/image8.png" Id="Rc8d2c1bd041c4129" /><Relationship Type="http://schemas.openxmlformats.org/officeDocument/2006/relationships/image" Target="/ppt/media/image11.png" Id="R768fb635ee6e49f7" /><Relationship Type="http://schemas.openxmlformats.org/officeDocument/2006/relationships/image" Target="/ppt/media/image7.png" Id="Rb193ac706f5149e7" /><Relationship Type="http://schemas.openxmlformats.org/officeDocument/2006/relationships/image" Target="/ppt/media/image9.png" Id="R0a7d3281c07a408e" /><Relationship Type="http://schemas.openxmlformats.org/officeDocument/2006/relationships/image" Target="/ppt/media/image12.png" Id="Reab5da673d784804" /><Relationship Type="http://schemas.openxmlformats.org/officeDocument/2006/relationships/image" Target="/ppt/media/image20.png" Id="R51d1646d96cc4be1" /><Relationship Type="http://schemas.openxmlformats.org/officeDocument/2006/relationships/image" Target="/ppt/media/image45.png" Id="Rfb7ffc14810046b0" /><Relationship Type="http://schemas.openxmlformats.org/officeDocument/2006/relationships/image" Target="/ppt/media/image29.png" Id="Rfcc7133815324368" /><Relationship Type="http://schemas.openxmlformats.org/officeDocument/2006/relationships/image" Target="/ppt/media/image32.png" Id="R0387dd1cd77c4ac2" /><Relationship Type="http://schemas.openxmlformats.org/officeDocument/2006/relationships/notesSlide" Target="/ppt/notesSlides/notesSlide33.xml" Id="R2f10287288a44a6a" /></Relationships>
</file>

<file path=ppt/slides/slide1.xml><?xml version="1.0" encoding="utf-8"?>
<p:sld xmlns:p="http://schemas.openxmlformats.org/presentationml/2006/main">
  <p:cSld>
    <p:bg>
      <p:bgPr>
        <a:solidFill xmlns:a="http://schemas.openxmlformats.org/drawingml/2006/main">
          <a:srgbClr val="10130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1EEA764-712D-489F-A1FE-1A5C74275E37}"/>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871BB07F-B114-425E-BC2B-6CEF01EE99E0}"/>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B917D8AC-14AE-4002-9B3E-EDB21C08544E}"/>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F665434B-79D8-4A60-9D22-4127743748D3}"/>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DA28284B-76FE-4DF1-BDA1-3468E133DBE3}"/>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0E44F93D-8734-4B1B-84D7-E52CAC40B46C}"/>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7E0478E4-E036-4216-B1E4-1C20462118AE}"/>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571E8E46-18A9-4610-BE57-367E15198357}"/>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0125CFAE-B545-4FE8-A201-1BE9347E5BAF}"/>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11" name="Shape 9">
            <a:extLst xmlns:a="http://schemas.openxmlformats.org/drawingml/2006/main">
              <a:ext uri="{FF2B5EF4-FFF2-40B4-BE49-F238E27FC236}">
                <a16:creationId xmlns:a16="http://schemas.microsoft.com/office/drawing/2014/main" id="{1CB11A98-5010-49F3-A4FF-2790D5003958}"/>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12" name="Shape 10">
            <a:extLst xmlns:a="http://schemas.openxmlformats.org/drawingml/2006/main">
              <a:ext uri="{FF2B5EF4-FFF2-40B4-BE49-F238E27FC236}">
                <a16:creationId xmlns:a16="http://schemas.microsoft.com/office/drawing/2014/main" id="{E8D41B4F-EA85-43C0-AD47-10E11F740844}"/>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13" name="Shape 11">
            <a:extLst xmlns:a="http://schemas.openxmlformats.org/drawingml/2006/main">
              <a:ext uri="{FF2B5EF4-FFF2-40B4-BE49-F238E27FC236}">
                <a16:creationId xmlns:a16="http://schemas.microsoft.com/office/drawing/2014/main" id="{324EA19D-817C-4AB6-A32F-CC97BC62A7DF}"/>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14" name="Shape 12">
            <a:extLst xmlns:a="http://schemas.openxmlformats.org/drawingml/2006/main">
              <a:ext uri="{FF2B5EF4-FFF2-40B4-BE49-F238E27FC236}">
                <a16:creationId xmlns:a16="http://schemas.microsoft.com/office/drawing/2014/main" id="{1EDA4C11-1EFC-4791-B87E-3334277B1688}"/>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15" name="Shape 13">
            <a:extLst xmlns:a="http://schemas.openxmlformats.org/drawingml/2006/main">
              <a:ext uri="{FF2B5EF4-FFF2-40B4-BE49-F238E27FC236}">
                <a16:creationId xmlns:a16="http://schemas.microsoft.com/office/drawing/2014/main" id="{2ED27118-5871-46C7-AC5A-5E2C43F6E3A0}"/>
              </a:ext>
            </a:extLst>
          </p:cNvPr>
          <p:cNvSpPr>
            <a:spLocks xmlns:a="http://schemas.openxmlformats.org/drawingml/2006/main" noGrp="1"/>
          </p:cNvSpPr>
          <p:nvPr/>
        </p:nvSpPr>
        <p:spPr>
          <a:xfrm xmlns:a="http://schemas.openxmlformats.org/drawingml/2006/main">
            <a:off x="822960" y="822960"/>
            <a:ext cx="640080" cy="640080"/>
          </a:xfrm>
          <a:prstGeom xmlns:a="http://schemas.openxmlformats.org/drawingml/2006/main" prst="ellipse">
            <a:avLst/>
          </a:prstGeom>
          <a:solidFill xmlns:a="http://schemas.openxmlformats.org/drawingml/2006/main">
            <a:srgbClr val="23302A"/>
          </a:solidFill>
        </p:spPr>
        <p:txBody>
          <a:bodyPr xmlns:a="http://schemas.openxmlformats.org/drawingml/2006/main"/>
          <a:lstStyle xmlns:a="http://schemas.openxmlformats.org/drawingml/2006/main"/>
          <a:p xmlns:a="http://schemas.openxmlformats.org/drawingml/2006/main"/>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61e7bb8e11c14cc2"/>
          <a:stretch xmlns:a="http://schemas.openxmlformats.org/drawingml/2006/main">
            <a:fillRect l="0" t="0" r="0" b="0"/>
          </a:stretch>
        </p:blipFill>
        <p:spPr>
          <a:xfrm xmlns:a="http://schemas.openxmlformats.org/drawingml/2006/main">
            <a:off x="893369" y="893369"/>
            <a:ext cx="499262" cy="499262"/>
          </a:xfrm>
          <a:prstGeom xmlns:a="http://schemas.openxmlformats.org/drawingml/2006/main" prst="rect">
            <a:avLst/>
          </a:prstGeom>
        </p:spPr>
      </p:pic>
      <p:sp>
        <p:nvSpPr>
          <p:cNvPr id="17" name="Text 14">
            <a:extLst xmlns:a="http://schemas.openxmlformats.org/drawingml/2006/main">
              <a:ext uri="{FF2B5EF4-FFF2-40B4-BE49-F238E27FC236}">
                <a16:creationId xmlns:a16="http://schemas.microsoft.com/office/drawing/2014/main" id="{D3E9087C-7593-4E0F-B760-A65622F70C49}"/>
              </a:ext>
            </a:extLst>
          </p:cNvPr>
          <p:cNvSpPr>
            <a:spLocks xmlns:a="http://schemas.openxmlformats.org/drawingml/2006/main" noGrp="1"/>
          </p:cNvSpPr>
          <p:nvPr/>
        </p:nvSpPr>
        <p:spPr>
          <a:xfrm xmlns:a="http://schemas.openxmlformats.org/drawingml/2006/main">
            <a:off x="777240" y="2377440"/>
            <a:ext cx="100584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4F5F0"/>
                </a:solidFill>
                <a:latin typeface="Cambria"/>
                <a:ea typeface="Cambria"/>
                <a:cs typeface="Cambria"/>
              </a:rPr>
              <a:t>WealthScope AI</a:t>
            </a:r>
          </a:p>
        </p:txBody>
      </p:sp>
      <p:sp>
        <p:nvSpPr>
          <p:cNvPr id="18" name="Text 15">
            <a:extLst xmlns:a="http://schemas.openxmlformats.org/drawingml/2006/main">
              <a:ext uri="{FF2B5EF4-FFF2-40B4-BE49-F238E27FC236}">
                <a16:creationId xmlns:a16="http://schemas.microsoft.com/office/drawing/2014/main" id="{F2D6B115-215E-4B6C-8EAC-795A5D9BC190}"/>
              </a:ext>
            </a:extLst>
          </p:cNvPr>
          <p:cNvSpPr>
            <a:spLocks xmlns:a="http://schemas.openxmlformats.org/drawingml/2006/main" noGrp="1"/>
          </p:cNvSpPr>
          <p:nvPr/>
        </p:nvSpPr>
        <p:spPr>
          <a:xfrm xmlns:a="http://schemas.openxmlformats.org/drawingml/2006/main">
            <a:off x="822960" y="3429000"/>
            <a:ext cx="91440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9FC2B4"/>
                </a:solidFill>
                <a:latin typeface="Calibri"/>
                <a:ea typeface="Calibri"/>
                <a:cs typeface="Calibri"/>
              </a:rPr>
              <a:t>Interaktive Finanzanalyse mit Machine Learning</a:t>
            </a:r>
          </a:p>
        </p:txBody>
      </p:sp>
      <p:sp>
        <p:nvSpPr>
          <p:cNvPr id="19" name="Shape 16">
            <a:extLst xmlns:a="http://schemas.openxmlformats.org/drawingml/2006/main">
              <a:ext uri="{FF2B5EF4-FFF2-40B4-BE49-F238E27FC236}">
                <a16:creationId xmlns:a16="http://schemas.microsoft.com/office/drawing/2014/main" id="{924DE9A2-C018-4859-BE05-51A420233AD9}"/>
              </a:ext>
            </a:extLst>
          </p:cNvPr>
          <p:cNvSpPr>
            <a:spLocks xmlns:a="http://schemas.openxmlformats.org/drawingml/2006/main" noGrp="1"/>
          </p:cNvSpPr>
          <p:nvPr/>
        </p:nvSpPr>
        <p:spPr>
          <a:xfrm xmlns:a="http://schemas.openxmlformats.org/drawingml/2006/main">
            <a:off x="822960" y="4297680"/>
            <a:ext cx="4343400" cy="402336"/>
          </a:xfrm>
          <a:prstGeom xmlns:a="http://schemas.openxmlformats.org/drawingml/2006/main" prst="roundRect">
            <a:avLst>
              <a:gd name="adj" fmla="val 20455"/>
            </a:avLst>
          </a:prstGeom>
          <a:solidFill xmlns:a="http://schemas.openxmlformats.org/drawingml/2006/main">
            <a:srgbClr val="1C231D"/>
          </a:solidFill>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A0947E6D-4CEF-4934-A005-2A30E9BDE6B2}"/>
              </a:ext>
            </a:extLst>
          </p:cNvPr>
          <p:cNvSpPr>
            <a:spLocks xmlns:a="http://schemas.openxmlformats.org/drawingml/2006/main" noGrp="1"/>
          </p:cNvSpPr>
          <p:nvPr/>
        </p:nvSpPr>
        <p:spPr>
          <a:xfrm xmlns:a="http://schemas.openxmlformats.org/drawingml/2006/main">
            <a:off x="822960" y="4297680"/>
            <a:ext cx="434340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C79A3C"/>
                </a:solidFill>
                <a:latin typeface="Calibri"/>
                <a:ea typeface="Calibri"/>
                <a:cs typeface="Calibri"/>
              </a:rPr>
              <a:t>Referat  ·  ca. 30 Minuten</a:t>
            </a:r>
          </a:p>
        </p:txBody>
      </p:sp>
      <p:sp>
        <p:nvSpPr>
          <p:cNvPr id="21" name="Text 18">
            <a:extLst xmlns:a="http://schemas.openxmlformats.org/drawingml/2006/main">
              <a:ext uri="{FF2B5EF4-FFF2-40B4-BE49-F238E27FC236}">
                <a16:creationId xmlns:a16="http://schemas.microsoft.com/office/drawing/2014/main" id="{53AC4124-3CA1-43B8-8DC9-1552548CE569}"/>
              </a:ext>
            </a:extLst>
          </p:cNvPr>
          <p:cNvSpPr>
            <a:spLocks xmlns:a="http://schemas.openxmlformats.org/drawingml/2006/main" noGrp="1"/>
          </p:cNvSpPr>
          <p:nvPr/>
        </p:nvSpPr>
        <p:spPr>
          <a:xfrm xmlns:a="http://schemas.openxmlformats.org/drawingml/2006/main">
            <a:off x="822960" y="5806440"/>
            <a:ext cx="105156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300"/>
              </a:spcAft>
              <a:buNone/>
            </a:pPr>
            <a:r>
              <a:rPr sz="1300" b="1">
                <a:solidFill>
                  <a:srgbClr val="C7CFC9"/>
                </a:solidFill>
                <a:latin typeface="Calibri"/>
                <a:ea typeface="Calibri"/>
                <a:cs typeface="Calibri"/>
              </a:rPr>
              <a:t>Soufiane Fedan</a:t>
            </a:r>
          </a:p>
          <a:p xmlns:a="http://schemas.openxmlformats.org/drawingml/2006/main">
            <a:pPr marL="0" indent="0">
              <a:spcAft>
                <a:spcPts val="300"/>
              </a:spcAft>
              <a:buNone/>
            </a:pPr>
            <a:r>
              <a:rPr sz="1300">
                <a:solidFill>
                  <a:srgbClr val="C7CFC9"/>
                </a:solidFill>
                <a:latin typeface="Calibri"/>
                <a:ea typeface="Calibri"/>
                <a:cs typeface="Calibri"/>
              </a:rPr>
              <a:t>Data Analytics und Big Data (DSDABD072501)  ·  Tutor: Klaus Quibeldey-Cirkel</a:t>
            </a:r>
          </a:p>
          <a:p xmlns:a="http://schemas.openxmlformats.org/drawingml/2006/main">
            <a:pPr marL="0" indent="0">
              <a:spcAft>
                <a:spcPts val="300"/>
              </a:spcAft>
              <a:buNone/>
            </a:pPr>
            <a:r>
              <a:rPr sz="1300">
                <a:solidFill>
                  <a:srgbClr val="C7CFC9"/>
                </a:solidFill>
                <a:latin typeface="Calibri"/>
                <a:ea typeface="Calibri"/>
                <a:cs typeface="Calibri"/>
              </a:rPr>
              <a:t>IU Internationale Hochschule  ·  Wirtschaftsinformatik (Duales Studium)</a:t>
            </a:r>
          </a:p>
        </p:txBody>
      </p:sp>
    </p:spTree>
    <p:extLst>
      <p:ext uri="{BB962C8B-B14F-4D97-AF65-F5344CB8AC3E}">
        <p14:creationId xmlns:p14="http://schemas.microsoft.com/office/powerpoint/2010/main" val="320723923"/>
      </p:ext>
    </p:extLst>
  </p:cSld>
</p:sld>
</file>

<file path=ppt/slides/slide2.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33A4B4F-9895-4329-AA5F-8B11B2920F3E}"/>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382b89f03aea43ab"/>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2F287C7F-1876-46CE-81E1-86FDFF629F56}"/>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EINSTIEG · PROBLEM</a:t>
            </a:r>
          </a:p>
        </p:txBody>
      </p:sp>
      <p:sp>
        <p:nvSpPr>
          <p:cNvPr id="5" name="Text 2">
            <a:extLst xmlns:a="http://schemas.openxmlformats.org/drawingml/2006/main">
              <a:ext uri="{FF2B5EF4-FFF2-40B4-BE49-F238E27FC236}">
                <a16:creationId xmlns:a16="http://schemas.microsoft.com/office/drawing/2014/main" id="{9303ED99-F810-4A21-B8AE-33A33592617B}"/>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Daten gibt es genug – Einordnung fehlt</a:t>
            </a:r>
          </a:p>
        </p:txBody>
      </p:sp>
      <p:sp>
        <p:nvSpPr>
          <p:cNvPr id="6" name="Shape 3">
            <a:extLst xmlns:a="http://schemas.openxmlformats.org/drawingml/2006/main">
              <a:ext uri="{FF2B5EF4-FFF2-40B4-BE49-F238E27FC236}">
                <a16:creationId xmlns:a16="http://schemas.microsoft.com/office/drawing/2014/main" id="{8339862E-2B20-4E14-A445-26C2C8360B6A}"/>
              </a:ext>
            </a:extLst>
          </p:cNvPr>
          <p:cNvSpPr>
            <a:spLocks xmlns:a="http://schemas.openxmlformats.org/drawingml/2006/main" noGrp="1"/>
          </p:cNvSpPr>
          <p:nvPr/>
        </p:nvSpPr>
        <p:spPr>
          <a:xfrm xmlns:a="http://schemas.openxmlformats.org/drawingml/2006/main">
            <a:off x="10643616" y="457200"/>
            <a:ext cx="1088136" cy="329184"/>
          </a:xfrm>
          <a:prstGeom xmlns:a="http://schemas.openxmlformats.org/drawingml/2006/main" prst="roundRect">
            <a:avLst>
              <a:gd name="adj" fmla="val 22222"/>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5C58FE2C-C2BA-4EEA-86BB-BC9E0876FE2E}"/>
              </a:ext>
            </a:extLst>
          </p:cNvPr>
          <p:cNvSpPr>
            <a:spLocks xmlns:a="http://schemas.openxmlformats.org/drawingml/2006/main" noGrp="1"/>
          </p:cNvSpPr>
          <p:nvPr/>
        </p:nvSpPr>
        <p:spPr>
          <a:xfrm xmlns:a="http://schemas.openxmlformats.org/drawingml/2006/main">
            <a:off x="10643616" y="457200"/>
            <a:ext cx="10881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F5D53"/>
                </a:solidFill>
                <a:latin typeface="Calibri"/>
                <a:ea typeface="Calibri"/>
                <a:cs typeface="Calibri"/>
              </a:rPr>
              <a:t>1,5 Min</a:t>
            </a:r>
          </a:p>
        </p:txBody>
      </p:sp>
      <p:sp>
        <p:nvSpPr>
          <p:cNvPr id="8" name="Text 5">
            <a:extLst xmlns:a="http://schemas.openxmlformats.org/drawingml/2006/main">
              <a:ext uri="{FF2B5EF4-FFF2-40B4-BE49-F238E27FC236}">
                <a16:creationId xmlns:a16="http://schemas.microsoft.com/office/drawing/2014/main" id="{B578AD17-C17A-4687-A5ED-79FF8DAEAF5E}"/>
              </a:ext>
            </a:extLst>
          </p:cNvPr>
          <p:cNvSpPr>
            <a:spLocks xmlns:a="http://schemas.openxmlformats.org/drawingml/2006/main" noGrp="1"/>
          </p:cNvSpPr>
          <p:nvPr/>
        </p:nvSpPr>
        <p:spPr>
          <a:xfrm xmlns:a="http://schemas.openxmlformats.org/drawingml/2006/main">
            <a:off x="640080" y="1417320"/>
            <a:ext cx="10881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2F5D53"/>
                </a:solidFill>
                <a:latin typeface="Cambria"/>
                <a:ea typeface="Cambria"/>
                <a:cs typeface="Cambria"/>
              </a:rPr>
              <a:t>Wer investieren will, findet schnell Daten – aber selten eine verständliche Einordnung ihrer Aussagekraft.</a:t>
            </a:r>
          </a:p>
        </p:txBody>
      </p:sp>
      <p:sp>
        <p:nvSpPr>
          <p:cNvPr id="9" name="Shape 6">
            <a:extLst xmlns:a="http://schemas.openxmlformats.org/drawingml/2006/main">
              <a:ext uri="{FF2B5EF4-FFF2-40B4-BE49-F238E27FC236}">
                <a16:creationId xmlns:a16="http://schemas.microsoft.com/office/drawing/2014/main" id="{696B3882-18D2-4987-BFC8-EDB53519A3C5}"/>
              </a:ext>
            </a:extLst>
          </p:cNvPr>
          <p:cNvSpPr>
            <a:spLocks xmlns:a="http://schemas.openxmlformats.org/drawingml/2006/main" noGrp="1"/>
          </p:cNvSpPr>
          <p:nvPr/>
        </p:nvSpPr>
        <p:spPr>
          <a:xfrm xmlns:a="http://schemas.openxmlformats.org/drawingml/2006/main">
            <a:off x="640080" y="2651760"/>
            <a:ext cx="2606040" cy="192024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2459E87C-4D5F-4C91-90A7-7001FB4D6BC5}"/>
              </a:ext>
            </a:extLst>
          </p:cNvPr>
          <p:cNvSpPr>
            <a:spLocks xmlns:a="http://schemas.openxmlformats.org/drawingml/2006/main" noGrp="1"/>
          </p:cNvSpPr>
          <p:nvPr/>
        </p:nvSpPr>
        <p:spPr>
          <a:xfrm xmlns:a="http://schemas.openxmlformats.org/drawingml/2006/main">
            <a:off x="841248" y="2834640"/>
            <a:ext cx="220370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71A17"/>
                </a:solidFill>
                <a:latin typeface="Cambria"/>
                <a:ea typeface="Cambria"/>
                <a:cs typeface="Cambria"/>
              </a:rPr>
              <a:t>Marktdaten</a:t>
            </a:r>
          </a:p>
        </p:txBody>
      </p:sp>
      <p:sp>
        <p:nvSpPr>
          <p:cNvPr id="11" name="Text 8">
            <a:extLst xmlns:a="http://schemas.openxmlformats.org/drawingml/2006/main">
              <a:ext uri="{FF2B5EF4-FFF2-40B4-BE49-F238E27FC236}">
                <a16:creationId xmlns:a16="http://schemas.microsoft.com/office/drawing/2014/main" id="{41852A5C-4CFB-4CCD-ACAC-8DDACB5829CD}"/>
              </a:ext>
            </a:extLst>
          </p:cNvPr>
          <p:cNvSpPr>
            <a:spLocks xmlns:a="http://schemas.openxmlformats.org/drawingml/2006/main" noGrp="1"/>
          </p:cNvSpPr>
          <p:nvPr/>
        </p:nvSpPr>
        <p:spPr>
          <a:xfrm xmlns:a="http://schemas.openxmlformats.org/drawingml/2006/main">
            <a:off x="841248" y="3337560"/>
            <a:ext cx="220370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Viele Kennzahlen, wenig Kontext</a:t>
            </a:r>
          </a:p>
        </p:txBody>
      </p:sp>
      <p:sp>
        <p:nvSpPr>
          <p:cNvPr id="12" name="Shape 9">
            <a:extLst xmlns:a="http://schemas.openxmlformats.org/drawingml/2006/main">
              <a:ext uri="{FF2B5EF4-FFF2-40B4-BE49-F238E27FC236}">
                <a16:creationId xmlns:a16="http://schemas.microsoft.com/office/drawing/2014/main" id="{85A49E56-88AB-47A8-A873-7459DEAE61DD}"/>
              </a:ext>
            </a:extLst>
          </p:cNvPr>
          <p:cNvSpPr>
            <a:spLocks xmlns:a="http://schemas.openxmlformats.org/drawingml/2006/main" noGrp="1"/>
          </p:cNvSpPr>
          <p:nvPr/>
        </p:nvSpPr>
        <p:spPr>
          <a:xfrm xmlns:a="http://schemas.openxmlformats.org/drawingml/2006/main">
            <a:off x="3502152" y="2651760"/>
            <a:ext cx="2606040" cy="192024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0B0E5C11-AD75-4582-85B7-C72D7CD7B673}"/>
              </a:ext>
            </a:extLst>
          </p:cNvPr>
          <p:cNvSpPr>
            <a:spLocks xmlns:a="http://schemas.openxmlformats.org/drawingml/2006/main" noGrp="1"/>
          </p:cNvSpPr>
          <p:nvPr/>
        </p:nvSpPr>
        <p:spPr>
          <a:xfrm xmlns:a="http://schemas.openxmlformats.org/drawingml/2006/main">
            <a:off x="3703320" y="2834640"/>
            <a:ext cx="220370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71A17"/>
                </a:solidFill>
                <a:latin typeface="Cambria"/>
                <a:ea typeface="Cambria"/>
                <a:cs typeface="Cambria"/>
              </a:rPr>
              <a:t>Profi-Werkzeuge</a:t>
            </a:r>
          </a:p>
        </p:txBody>
      </p:sp>
      <p:sp>
        <p:nvSpPr>
          <p:cNvPr id="14" name="Text 11">
            <a:extLst xmlns:a="http://schemas.openxmlformats.org/drawingml/2006/main">
              <a:ext uri="{FF2B5EF4-FFF2-40B4-BE49-F238E27FC236}">
                <a16:creationId xmlns:a16="http://schemas.microsoft.com/office/drawing/2014/main" id="{15B9E72F-0476-4A30-B66E-33188A6B6713}"/>
              </a:ext>
            </a:extLst>
          </p:cNvPr>
          <p:cNvSpPr>
            <a:spLocks xmlns:a="http://schemas.openxmlformats.org/drawingml/2006/main" noGrp="1"/>
          </p:cNvSpPr>
          <p:nvPr/>
        </p:nvSpPr>
        <p:spPr>
          <a:xfrm xmlns:a="http://schemas.openxmlformats.org/drawingml/2006/main">
            <a:off x="3703320" y="3337560"/>
            <a:ext cx="220370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Leistungsfähig, aber teuer und komplex</a:t>
            </a:r>
          </a:p>
        </p:txBody>
      </p:sp>
      <p:sp>
        <p:nvSpPr>
          <p:cNvPr id="15" name="Shape 12">
            <a:extLst xmlns:a="http://schemas.openxmlformats.org/drawingml/2006/main">
              <a:ext uri="{FF2B5EF4-FFF2-40B4-BE49-F238E27FC236}">
                <a16:creationId xmlns:a16="http://schemas.microsoft.com/office/drawing/2014/main" id="{E5CBA716-D5CD-47B1-9B6D-FC9605CDB32D}"/>
              </a:ext>
            </a:extLst>
          </p:cNvPr>
          <p:cNvSpPr>
            <a:spLocks xmlns:a="http://schemas.openxmlformats.org/drawingml/2006/main" noGrp="1"/>
          </p:cNvSpPr>
          <p:nvPr/>
        </p:nvSpPr>
        <p:spPr>
          <a:xfrm xmlns:a="http://schemas.openxmlformats.org/drawingml/2006/main">
            <a:off x="6364224" y="2651760"/>
            <a:ext cx="2606040" cy="192024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CA4EB369-0159-4DB6-BA17-B58AAFB06CA6}"/>
              </a:ext>
            </a:extLst>
          </p:cNvPr>
          <p:cNvSpPr>
            <a:spLocks xmlns:a="http://schemas.openxmlformats.org/drawingml/2006/main" noGrp="1"/>
          </p:cNvSpPr>
          <p:nvPr/>
        </p:nvSpPr>
        <p:spPr>
          <a:xfrm xmlns:a="http://schemas.openxmlformats.org/drawingml/2006/main">
            <a:off x="6565392" y="2834640"/>
            <a:ext cx="220370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71A17"/>
                </a:solidFill>
                <a:latin typeface="Cambria"/>
                <a:ea typeface="Cambria"/>
                <a:cs typeface="Cambria"/>
              </a:rPr>
              <a:t>Generative KI</a:t>
            </a:r>
          </a:p>
        </p:txBody>
      </p:sp>
      <p:sp>
        <p:nvSpPr>
          <p:cNvPr id="17" name="Text 14">
            <a:extLst xmlns:a="http://schemas.openxmlformats.org/drawingml/2006/main">
              <a:ext uri="{FF2B5EF4-FFF2-40B4-BE49-F238E27FC236}">
                <a16:creationId xmlns:a16="http://schemas.microsoft.com/office/drawing/2014/main" id="{DBB02653-CF84-4E01-82CA-611434056B01}"/>
              </a:ext>
            </a:extLst>
          </p:cNvPr>
          <p:cNvSpPr>
            <a:spLocks xmlns:a="http://schemas.openxmlformats.org/drawingml/2006/main" noGrp="1"/>
          </p:cNvSpPr>
          <p:nvPr/>
        </p:nvSpPr>
        <p:spPr>
          <a:xfrm xmlns:a="http://schemas.openxmlformats.org/drawingml/2006/main">
            <a:off x="6565392" y="3337560"/>
            <a:ext cx="220370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Erklärt Begriffe, prüft aber keine Strategie</a:t>
            </a:r>
          </a:p>
        </p:txBody>
      </p:sp>
      <p:sp>
        <p:nvSpPr>
          <p:cNvPr id="18" name="Shape 15">
            <a:extLst xmlns:a="http://schemas.openxmlformats.org/drawingml/2006/main">
              <a:ext uri="{FF2B5EF4-FFF2-40B4-BE49-F238E27FC236}">
                <a16:creationId xmlns:a16="http://schemas.microsoft.com/office/drawing/2014/main" id="{BF5B93A0-A1ED-4684-8842-B562F24E22A1}"/>
              </a:ext>
            </a:extLst>
          </p:cNvPr>
          <p:cNvSpPr>
            <a:spLocks xmlns:a="http://schemas.openxmlformats.org/drawingml/2006/main" noGrp="1"/>
          </p:cNvSpPr>
          <p:nvPr/>
        </p:nvSpPr>
        <p:spPr>
          <a:xfrm xmlns:a="http://schemas.openxmlformats.org/drawingml/2006/main">
            <a:off x="9226296" y="2651760"/>
            <a:ext cx="2606040" cy="192024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EBEC3E2B-EE7A-40A0-9F81-645D4F550C20}"/>
              </a:ext>
            </a:extLst>
          </p:cNvPr>
          <p:cNvSpPr>
            <a:spLocks xmlns:a="http://schemas.openxmlformats.org/drawingml/2006/main" noGrp="1"/>
          </p:cNvSpPr>
          <p:nvPr/>
        </p:nvSpPr>
        <p:spPr>
          <a:xfrm xmlns:a="http://schemas.openxmlformats.org/drawingml/2006/main">
            <a:off x="9427464" y="2834640"/>
            <a:ext cx="220370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71A17"/>
                </a:solidFill>
                <a:latin typeface="Cambria"/>
                <a:ea typeface="Cambria"/>
                <a:cs typeface="Cambria"/>
              </a:rPr>
              <a:t>Persönliche Beratung</a:t>
            </a:r>
          </a:p>
        </p:txBody>
      </p:sp>
      <p:sp>
        <p:nvSpPr>
          <p:cNvPr id="20" name="Text 17">
            <a:extLst xmlns:a="http://schemas.openxmlformats.org/drawingml/2006/main">
              <a:ext uri="{FF2B5EF4-FFF2-40B4-BE49-F238E27FC236}">
                <a16:creationId xmlns:a16="http://schemas.microsoft.com/office/drawing/2014/main" id="{72A60CFC-7213-4D11-B01F-0EE53321EC19}"/>
              </a:ext>
            </a:extLst>
          </p:cNvPr>
          <p:cNvSpPr>
            <a:spLocks xmlns:a="http://schemas.openxmlformats.org/drawingml/2006/main" noGrp="1"/>
          </p:cNvSpPr>
          <p:nvPr/>
        </p:nvSpPr>
        <p:spPr>
          <a:xfrm xmlns:a="http://schemas.openxmlformats.org/drawingml/2006/main">
            <a:off x="9427464" y="3337560"/>
            <a:ext cx="220370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Hilfreich, aber nicht immer unabhängig</a:t>
            </a:r>
          </a:p>
        </p:txBody>
      </p:sp>
      <p:sp>
        <p:nvSpPr>
          <p:cNvPr id="21" name="Shape 18">
            <a:extLst xmlns:a="http://schemas.openxmlformats.org/drawingml/2006/main">
              <a:ext uri="{FF2B5EF4-FFF2-40B4-BE49-F238E27FC236}">
                <a16:creationId xmlns:a16="http://schemas.microsoft.com/office/drawing/2014/main" id="{0235A0A3-4021-416B-9A52-D6F86456D8A6}"/>
              </a:ext>
            </a:extLst>
          </p:cNvPr>
          <p:cNvSpPr>
            <a:spLocks xmlns:a="http://schemas.openxmlformats.org/drawingml/2006/main" noGrp="1"/>
          </p:cNvSpPr>
          <p:nvPr/>
        </p:nvSpPr>
        <p:spPr>
          <a:xfrm xmlns:a="http://schemas.openxmlformats.org/drawingml/2006/main">
            <a:off x="640080" y="4892040"/>
            <a:ext cx="10881360" cy="1325880"/>
          </a:xfrm>
          <a:prstGeom xmlns:a="http://schemas.openxmlformats.org/drawingml/2006/main" prst="roundRect">
            <a:avLst>
              <a:gd name="adj" fmla="val 4138"/>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2" name="Text 19">
            <a:extLst xmlns:a="http://schemas.openxmlformats.org/drawingml/2006/main">
              <a:ext uri="{FF2B5EF4-FFF2-40B4-BE49-F238E27FC236}">
                <a16:creationId xmlns:a16="http://schemas.microsoft.com/office/drawing/2014/main" id="{454D70C4-BB3B-4BF7-90D2-A1AF8FF9BB92}"/>
              </a:ext>
            </a:extLst>
          </p:cNvPr>
          <p:cNvSpPr>
            <a:spLocks xmlns:a="http://schemas.openxmlformats.org/drawingml/2006/main" noGrp="1"/>
          </p:cNvSpPr>
          <p:nvPr/>
        </p:nvSpPr>
        <p:spPr>
          <a:xfrm xmlns:a="http://schemas.openxmlformats.org/drawingml/2006/main">
            <a:off x="914400" y="5074920"/>
            <a:ext cx="1033272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71A17"/>
                </a:solidFill>
                <a:latin typeface="Calibri"/>
                <a:ea typeface="Calibri"/>
                <a:cs typeface="Calibri"/>
              </a:rPr>
              <a:t>Die Lücke: ein zugängliches Werkzeug, das Marktdaten erklärt, Modellgrenzen offenlegt und Risikoentscheidungen nachvollziehbar macht.</a:t>
            </a:r>
          </a:p>
        </p:txBody>
      </p:sp>
      <p:sp>
        <p:nvSpPr>
          <p:cNvPr id="23" name="Text 20">
            <a:extLst xmlns:a="http://schemas.openxmlformats.org/drawingml/2006/main">
              <a:ext uri="{FF2B5EF4-FFF2-40B4-BE49-F238E27FC236}">
                <a16:creationId xmlns:a16="http://schemas.microsoft.com/office/drawing/2014/main" id="{8FD5DF14-9C5F-4E09-9E14-0BAC8848C7D4}"/>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24" name="Text 21">
            <a:extLst xmlns:a="http://schemas.openxmlformats.org/drawingml/2006/main">
              <a:ext uri="{FF2B5EF4-FFF2-40B4-BE49-F238E27FC236}">
                <a16:creationId xmlns:a16="http://schemas.microsoft.com/office/drawing/2014/main" id="{A8963DC2-45C4-4F24-B3E6-A96A1A22284A}"/>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2</a:t>
            </a:r>
          </a:p>
        </p:txBody>
      </p:sp>
    </p:spTree>
    <p:extLst>
      <p:ext uri="{BB962C8B-B14F-4D97-AF65-F5344CB8AC3E}">
        <p14:creationId xmlns:p14="http://schemas.microsoft.com/office/powerpoint/2010/main" val="635832203"/>
      </p:ext>
    </p:extLst>
  </p:cSld>
</p:sld>
</file>

<file path=ppt/slides/slide3.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F6FEF77-C9F4-4311-8DE5-862786E035CF}"/>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d87ef65fe5424cb0"/>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63D9287F-0D12-4DE5-8096-F7EE348F0270}"/>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LÖSUNG</a:t>
            </a:r>
          </a:p>
        </p:txBody>
      </p:sp>
      <p:sp>
        <p:nvSpPr>
          <p:cNvPr id="5" name="Text 2">
            <a:extLst xmlns:a="http://schemas.openxmlformats.org/drawingml/2006/main">
              <a:ext uri="{FF2B5EF4-FFF2-40B4-BE49-F238E27FC236}">
                <a16:creationId xmlns:a16="http://schemas.microsoft.com/office/drawing/2014/main" id="{B72E2801-ABE5-4418-B976-812DF09DAE93}"/>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WealthScope verbindet Analyse und Risiko</a:t>
            </a:r>
          </a:p>
        </p:txBody>
      </p:sp>
      <p:sp>
        <p:nvSpPr>
          <p:cNvPr id="6" name="Shape 3">
            <a:extLst xmlns:a="http://schemas.openxmlformats.org/drawingml/2006/main">
              <a:ext uri="{FF2B5EF4-FFF2-40B4-BE49-F238E27FC236}">
                <a16:creationId xmlns:a16="http://schemas.microsoft.com/office/drawing/2014/main" id="{E8F2B5AF-1A48-4175-BF7F-41BAFF7A214A}"/>
              </a:ext>
            </a:extLst>
          </p:cNvPr>
          <p:cNvSpPr>
            <a:spLocks xmlns:a="http://schemas.openxmlformats.org/drawingml/2006/main" noGrp="1"/>
          </p:cNvSpPr>
          <p:nvPr/>
        </p:nvSpPr>
        <p:spPr>
          <a:xfrm xmlns:a="http://schemas.openxmlformats.org/drawingml/2006/main">
            <a:off x="10643616" y="457200"/>
            <a:ext cx="1088136" cy="329184"/>
          </a:xfrm>
          <a:prstGeom xmlns:a="http://schemas.openxmlformats.org/drawingml/2006/main" prst="roundRect">
            <a:avLst>
              <a:gd name="adj" fmla="val 22222"/>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CAF6B811-95D9-47B0-8C26-237366823846}"/>
              </a:ext>
            </a:extLst>
          </p:cNvPr>
          <p:cNvSpPr>
            <a:spLocks xmlns:a="http://schemas.openxmlformats.org/drawingml/2006/main" noGrp="1"/>
          </p:cNvSpPr>
          <p:nvPr/>
        </p:nvSpPr>
        <p:spPr>
          <a:xfrm xmlns:a="http://schemas.openxmlformats.org/drawingml/2006/main">
            <a:off x="10643616" y="457200"/>
            <a:ext cx="10881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F5D53"/>
                </a:solidFill>
                <a:latin typeface="Calibri"/>
                <a:ea typeface="Calibri"/>
                <a:cs typeface="Calibri"/>
              </a:rPr>
              <a:t>1 Min</a:t>
            </a:r>
          </a:p>
        </p:txBody>
      </p:sp>
      <p:sp>
        <p:nvSpPr>
          <p:cNvPr id="8" name="Text 5">
            <a:extLst xmlns:a="http://schemas.openxmlformats.org/drawingml/2006/main">
              <a:ext uri="{FF2B5EF4-FFF2-40B4-BE49-F238E27FC236}">
                <a16:creationId xmlns:a16="http://schemas.microsoft.com/office/drawing/2014/main" id="{C4D5E1CE-8BBE-4176-90BC-57865507016F}"/>
              </a:ext>
            </a:extLst>
          </p:cNvPr>
          <p:cNvSpPr>
            <a:spLocks xmlns:a="http://schemas.openxmlformats.org/drawingml/2006/main" noGrp="1"/>
          </p:cNvSpPr>
          <p:nvPr/>
        </p:nvSpPr>
        <p:spPr>
          <a:xfrm xmlns:a="http://schemas.openxmlformats.org/drawingml/2006/main">
            <a:off x="640080" y="1417320"/>
            <a:ext cx="53949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800"/>
              </a:spcAft>
              <a:buNone/>
            </a:pPr>
            <a:r>
              <a:rPr sz="1500">
                <a:solidFill>
                  <a:srgbClr val="171A17"/>
                </a:solidFill>
                <a:latin typeface="Calibri"/>
                <a:ea typeface="Calibri"/>
                <a:cs typeface="Calibri"/>
              </a:rPr>
              <a:t>Die Web-App verbindet historische Marktdaten, technische Analyse und Machine Learning. Sie erklärt Signale und Unsicherheit, ohne Rendite zu versprechen oder Anlageberatung zu ersetzen.</a:t>
            </a:r>
          </a:p>
        </p:txBody>
      </p:sp>
      <p:sp>
        <p:nvSpPr>
          <p:cNvPr id="9" name="Shape 6">
            <a:extLst xmlns:a="http://schemas.openxmlformats.org/drawingml/2006/main">
              <a:ext uri="{FF2B5EF4-FFF2-40B4-BE49-F238E27FC236}">
                <a16:creationId xmlns:a16="http://schemas.microsoft.com/office/drawing/2014/main" id="{329111E1-1F40-4E2B-96C0-BF06A37DA531}"/>
              </a:ext>
            </a:extLst>
          </p:cNvPr>
          <p:cNvSpPr>
            <a:spLocks xmlns:a="http://schemas.openxmlformats.org/drawingml/2006/main" noGrp="1"/>
          </p:cNvSpPr>
          <p:nvPr/>
        </p:nvSpPr>
        <p:spPr>
          <a:xfrm xmlns:a="http://schemas.openxmlformats.org/drawingml/2006/main">
            <a:off x="640080" y="3200400"/>
            <a:ext cx="5394960" cy="3017520"/>
          </a:xfrm>
          <a:prstGeom xmlns:a="http://schemas.openxmlformats.org/drawingml/2006/main" prst="roundRect">
            <a:avLst>
              <a:gd name="adj" fmla="val 1818"/>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406D869C-C3D0-465D-B8B2-AC325CF976D8}"/>
              </a:ext>
            </a:extLst>
          </p:cNvPr>
          <p:cNvSpPr>
            <a:spLocks xmlns:a="http://schemas.openxmlformats.org/drawingml/2006/main" noGrp="1"/>
          </p:cNvSpPr>
          <p:nvPr/>
        </p:nvSpPr>
        <p:spPr>
          <a:xfrm xmlns:a="http://schemas.openxmlformats.org/drawingml/2006/main">
            <a:off x="868680" y="338328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F5D53"/>
                </a:solidFill>
                <a:latin typeface="Cambria"/>
                <a:ea typeface="Cambria"/>
                <a:cs typeface="Cambria"/>
              </a:rPr>
              <a:t>Die Datenbasis</a:t>
            </a:r>
          </a:p>
        </p:txBody>
      </p:sp>
      <p:sp>
        <p:nvSpPr>
          <p:cNvPr id="11" name="Text 8">
            <a:extLst xmlns:a="http://schemas.openxmlformats.org/drawingml/2006/main">
              <a:ext uri="{FF2B5EF4-FFF2-40B4-BE49-F238E27FC236}">
                <a16:creationId xmlns:a16="http://schemas.microsoft.com/office/drawing/2014/main" id="{B78E5E57-0853-4DD3-A189-190F2643064F}"/>
              </a:ext>
            </a:extLst>
          </p:cNvPr>
          <p:cNvSpPr>
            <a:spLocks xmlns:a="http://schemas.openxmlformats.org/drawingml/2006/main" noGrp="1"/>
          </p:cNvSpPr>
          <p:nvPr/>
        </p:nvSpPr>
        <p:spPr>
          <a:xfrm xmlns:a="http://schemas.openxmlformats.org/drawingml/2006/main">
            <a:off x="868680" y="3840480"/>
            <a:ext cx="2103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A97C1E"/>
                </a:solidFill>
                <a:latin typeface="Cambria"/>
                <a:ea typeface="Cambria"/>
                <a:cs typeface="Cambria"/>
              </a:rPr>
              <a:t>192.119</a:t>
            </a:r>
          </a:p>
        </p:txBody>
      </p:sp>
      <p:sp>
        <p:nvSpPr>
          <p:cNvPr id="12" name="Text 9">
            <a:extLst xmlns:a="http://schemas.openxmlformats.org/drawingml/2006/main">
              <a:ext uri="{FF2B5EF4-FFF2-40B4-BE49-F238E27FC236}">
                <a16:creationId xmlns:a16="http://schemas.microsoft.com/office/drawing/2014/main" id="{A780E1D4-F47F-4599-957E-91AEF9DC01EB}"/>
              </a:ext>
            </a:extLst>
          </p:cNvPr>
          <p:cNvSpPr>
            <a:spLocks xmlns:a="http://schemas.openxmlformats.org/drawingml/2006/main" noGrp="1"/>
          </p:cNvSpPr>
          <p:nvPr/>
        </p:nvSpPr>
        <p:spPr>
          <a:xfrm xmlns:a="http://schemas.openxmlformats.org/drawingml/2006/main">
            <a:off x="3017520" y="3977640"/>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5B6259"/>
                </a:solidFill>
                <a:latin typeface="Calibri"/>
                <a:ea typeface="Calibri"/>
                <a:cs typeface="Calibri"/>
              </a:rPr>
              <a:t>Datenpunkte</a:t>
            </a:r>
          </a:p>
        </p:txBody>
      </p:sp>
      <p:sp>
        <p:nvSpPr>
          <p:cNvPr id="13" name="Text 10">
            <a:extLst xmlns:a="http://schemas.openxmlformats.org/drawingml/2006/main">
              <a:ext uri="{FF2B5EF4-FFF2-40B4-BE49-F238E27FC236}">
                <a16:creationId xmlns:a16="http://schemas.microsoft.com/office/drawing/2014/main" id="{A231A538-74AD-4089-A9BC-DA20E08EA70F}"/>
              </a:ext>
            </a:extLst>
          </p:cNvPr>
          <p:cNvSpPr>
            <a:spLocks xmlns:a="http://schemas.openxmlformats.org/drawingml/2006/main" noGrp="1"/>
          </p:cNvSpPr>
          <p:nvPr/>
        </p:nvSpPr>
        <p:spPr>
          <a:xfrm xmlns:a="http://schemas.openxmlformats.org/drawingml/2006/main">
            <a:off x="868680" y="4617720"/>
            <a:ext cx="2103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A97C1E"/>
                </a:solidFill>
                <a:latin typeface="Cambria"/>
                <a:ea typeface="Cambria"/>
                <a:cs typeface="Cambria"/>
              </a:rPr>
              <a:t>26</a:t>
            </a:r>
          </a:p>
        </p:txBody>
      </p:sp>
      <p:sp>
        <p:nvSpPr>
          <p:cNvPr id="14" name="Text 11">
            <a:extLst xmlns:a="http://schemas.openxmlformats.org/drawingml/2006/main">
              <a:ext uri="{FF2B5EF4-FFF2-40B4-BE49-F238E27FC236}">
                <a16:creationId xmlns:a16="http://schemas.microsoft.com/office/drawing/2014/main" id="{9B5082F4-C682-4B9E-98FE-C1FDE7F21D8F}"/>
              </a:ext>
            </a:extLst>
          </p:cNvPr>
          <p:cNvSpPr>
            <a:spLocks xmlns:a="http://schemas.openxmlformats.org/drawingml/2006/main" noGrp="1"/>
          </p:cNvSpPr>
          <p:nvPr/>
        </p:nvSpPr>
        <p:spPr>
          <a:xfrm xmlns:a="http://schemas.openxmlformats.org/drawingml/2006/main">
            <a:off x="3017520" y="4754880"/>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5B6259"/>
                </a:solidFill>
                <a:latin typeface="Calibri"/>
                <a:ea typeface="Calibri"/>
                <a:cs typeface="Calibri"/>
              </a:rPr>
              <a:t>Blue-Chip-Ticker</a:t>
            </a:r>
          </a:p>
        </p:txBody>
      </p:sp>
      <p:sp>
        <p:nvSpPr>
          <p:cNvPr id="15" name="Text 12">
            <a:extLst xmlns:a="http://schemas.openxmlformats.org/drawingml/2006/main">
              <a:ext uri="{FF2B5EF4-FFF2-40B4-BE49-F238E27FC236}">
                <a16:creationId xmlns:a16="http://schemas.microsoft.com/office/drawing/2014/main" id="{BB0E2A73-5314-43F2-B704-F941466FFFFD}"/>
              </a:ext>
            </a:extLst>
          </p:cNvPr>
          <p:cNvSpPr>
            <a:spLocks xmlns:a="http://schemas.openxmlformats.org/drawingml/2006/main" noGrp="1"/>
          </p:cNvSpPr>
          <p:nvPr/>
        </p:nvSpPr>
        <p:spPr>
          <a:xfrm xmlns:a="http://schemas.openxmlformats.org/drawingml/2006/main">
            <a:off x="868680" y="5394960"/>
            <a:ext cx="2103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A97C1E"/>
                </a:solidFill>
                <a:latin typeface="Cambria"/>
                <a:ea typeface="Cambria"/>
                <a:cs typeface="Cambria"/>
              </a:rPr>
              <a:t>1962–2017</a:t>
            </a:r>
          </a:p>
        </p:txBody>
      </p:sp>
      <p:sp>
        <p:nvSpPr>
          <p:cNvPr id="16" name="Text 13">
            <a:extLst xmlns:a="http://schemas.openxmlformats.org/drawingml/2006/main">
              <a:ext uri="{FF2B5EF4-FFF2-40B4-BE49-F238E27FC236}">
                <a16:creationId xmlns:a16="http://schemas.microsoft.com/office/drawing/2014/main" id="{5F0E2F58-4434-4078-87A7-3355AB9E468C}"/>
              </a:ext>
            </a:extLst>
          </p:cNvPr>
          <p:cNvSpPr>
            <a:spLocks xmlns:a="http://schemas.openxmlformats.org/drawingml/2006/main" noGrp="1"/>
          </p:cNvSpPr>
          <p:nvPr/>
        </p:nvSpPr>
        <p:spPr>
          <a:xfrm xmlns:a="http://schemas.openxmlformats.org/drawingml/2006/main">
            <a:off x="3017520" y="5532120"/>
            <a:ext cx="2834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5B6259"/>
                </a:solidFill>
                <a:latin typeface="Calibri"/>
                <a:ea typeface="Calibri"/>
                <a:cs typeface="Calibri"/>
              </a:rPr>
              <a:t>+ live via yfinance</a:t>
            </a:r>
          </a:p>
        </p:txBody>
      </p:sp>
      <p:sp>
        <p:nvSpPr>
          <p:cNvPr id="17" name="Shape 14">
            <a:extLst xmlns:a="http://schemas.openxmlformats.org/drawingml/2006/main">
              <a:ext uri="{FF2B5EF4-FFF2-40B4-BE49-F238E27FC236}">
                <a16:creationId xmlns:a16="http://schemas.microsoft.com/office/drawing/2014/main" id="{7D442CD6-FDC0-4CF7-97AF-A264CFCBE55A}"/>
              </a:ext>
            </a:extLst>
          </p:cNvPr>
          <p:cNvSpPr>
            <a:spLocks xmlns:a="http://schemas.openxmlformats.org/drawingml/2006/main" noGrp="1"/>
          </p:cNvSpPr>
          <p:nvPr/>
        </p:nvSpPr>
        <p:spPr>
          <a:xfrm xmlns:a="http://schemas.openxmlformats.org/drawingml/2006/main">
            <a:off x="6263640" y="1417320"/>
            <a:ext cx="5285232" cy="4800600"/>
          </a:xfrm>
          <a:prstGeom xmlns:a="http://schemas.openxmlformats.org/drawingml/2006/main" prst="roundRect">
            <a:avLst>
              <a:gd name="adj" fmla="val 1143"/>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pic>
        <p:nvPicPr>
          <p:cNvPr id="39" name="Image 1"/>
          <p:cNvPicPr>
            <a:picLocks xmlns:a="http://schemas.openxmlformats.org/drawingml/2006/main" noChangeAspect="1"/>
          </p:cNvPicPr>
          <p:nvPr/>
        </p:nvPicPr>
        <p:blipFill>
          <a:blip xmlns:r="http://schemas.openxmlformats.org/officeDocument/2006/relationships" xmlns:a="http://schemas.openxmlformats.org/drawingml/2006/main" r:embed="R63005e77cf58400e"/>
          <a:srcRect xmlns:a="http://schemas.openxmlformats.org/drawingml/2006/main" l="0" t="0" r="0" b="0"/>
          <a:stretch xmlns:a="http://schemas.openxmlformats.org/drawingml/2006/main"/>
        </p:blipFill>
        <p:spPr>
          <a:xfrm xmlns:a="http://schemas.openxmlformats.org/drawingml/2006/main">
            <a:off x="6419088" y="1572768"/>
            <a:ext cx="4974336" cy="4489704"/>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20823A94-BFE2-4409-A015-688BA2B8FA6D}"/>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20" name="Text 16">
            <a:extLst xmlns:a="http://schemas.openxmlformats.org/drawingml/2006/main">
              <a:ext uri="{FF2B5EF4-FFF2-40B4-BE49-F238E27FC236}">
                <a16:creationId xmlns:a16="http://schemas.microsoft.com/office/drawing/2014/main" id="{44D03F06-D1C0-45CC-B405-9EA3EC3D550F}"/>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3</a:t>
            </a:r>
          </a:p>
        </p:txBody>
      </p:sp>
    </p:spTree>
    <p:extLst>
      <p:ext uri="{BB962C8B-B14F-4D97-AF65-F5344CB8AC3E}">
        <p14:creationId xmlns:p14="http://schemas.microsoft.com/office/powerpoint/2010/main" val="1935117130"/>
      </p:ext>
    </p:extLst>
  </p:cSld>
</p:sld>
</file>

<file path=ppt/slides/slide4.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F1E9D1E-AE6D-4533-A498-C7ED5A389550}"/>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771d88e191fd4954"/>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AFB01F11-68B9-4599-BA99-64A569FDE59C}"/>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FRAGE · PRÜFLOGIK</a:t>
            </a:r>
          </a:p>
        </p:txBody>
      </p:sp>
      <p:sp>
        <p:nvSpPr>
          <p:cNvPr id="5" name="Text 2">
            <a:extLst xmlns:a="http://schemas.openxmlformats.org/drawingml/2006/main">
              <a:ext uri="{FF2B5EF4-FFF2-40B4-BE49-F238E27FC236}">
                <a16:creationId xmlns:a16="http://schemas.microsoft.com/office/drawing/2014/main" id="{EC2165D6-141D-4428-976B-D93DDF016518}"/>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Was wird geprüft?</a:t>
            </a:r>
          </a:p>
        </p:txBody>
      </p:sp>
      <p:sp>
        <p:nvSpPr>
          <p:cNvPr id="6" name="Shape 3">
            <a:extLst xmlns:a="http://schemas.openxmlformats.org/drawingml/2006/main">
              <a:ext uri="{FF2B5EF4-FFF2-40B4-BE49-F238E27FC236}">
                <a16:creationId xmlns:a16="http://schemas.microsoft.com/office/drawing/2014/main" id="{617339BD-8A4B-49A0-96FB-2BCA8AE3500E}"/>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oundRect">
            <a:avLst>
              <a:gd name="adj" fmla="val 22222"/>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41C1F447-C764-46A3-A8A6-734C7521DA43}"/>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F5D53"/>
                </a:solidFill>
                <a:latin typeface="Calibri"/>
                <a:ea typeface="Calibri"/>
                <a:cs typeface="Calibri"/>
              </a:rPr>
              <a:t>1,5 Min</a:t>
            </a:r>
          </a:p>
        </p:txBody>
      </p:sp>
      <p:sp>
        <p:nvSpPr>
          <p:cNvPr id="8" name="Shape 5">
            <a:extLst xmlns:a="http://schemas.openxmlformats.org/drawingml/2006/main">
              <a:ext uri="{FF2B5EF4-FFF2-40B4-BE49-F238E27FC236}">
                <a16:creationId xmlns:a16="http://schemas.microsoft.com/office/drawing/2014/main" id="{141F98D8-4072-4348-912A-440A7402D605}"/>
              </a:ext>
            </a:extLst>
          </p:cNvPr>
          <p:cNvSpPr>
            <a:spLocks xmlns:a="http://schemas.openxmlformats.org/drawingml/2006/main" noGrp="1"/>
          </p:cNvSpPr>
          <p:nvPr/>
        </p:nvSpPr>
        <p:spPr>
          <a:xfrm xmlns:a="http://schemas.openxmlformats.org/drawingml/2006/main">
            <a:off x="640080" y="1417320"/>
            <a:ext cx="10881360" cy="1417320"/>
          </a:xfrm>
          <a:prstGeom xmlns:a="http://schemas.openxmlformats.org/drawingml/2006/main" prst="roundRect">
            <a:avLst>
              <a:gd name="adj" fmla="val 3871"/>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9" name="Text 6">
            <a:extLst xmlns:a="http://schemas.openxmlformats.org/drawingml/2006/main">
              <a:ext uri="{FF2B5EF4-FFF2-40B4-BE49-F238E27FC236}">
                <a16:creationId xmlns:a16="http://schemas.microsoft.com/office/drawing/2014/main" id="{1BADF500-8FD0-4390-8653-4BFF24E82F50}"/>
              </a:ext>
            </a:extLst>
          </p:cNvPr>
          <p:cNvSpPr>
            <a:spLocks xmlns:a="http://schemas.openxmlformats.org/drawingml/2006/main" noGrp="1"/>
          </p:cNvSpPr>
          <p:nvPr/>
        </p:nvSpPr>
        <p:spPr>
          <a:xfrm xmlns:a="http://schemas.openxmlformats.org/drawingml/2006/main">
            <a:off x="914400" y="1508760"/>
            <a:ext cx="1033272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i="1">
                <a:solidFill>
                  <a:srgbClr val="171A17"/>
                </a:solidFill>
                <a:latin typeface="Cambria"/>
                <a:ea typeface="Cambria"/>
                <a:cs typeface="Cambria"/>
              </a:rPr>
              <a:t>Wie lassen sich historische US-Aktienmarktdaten so aufbereiten, dass Analyse, ML-Signal und Risikoplanung nachvollziehbar zusammenwirken?</a:t>
            </a:r>
          </a:p>
        </p:txBody>
      </p:sp>
      <p:sp>
        <p:nvSpPr>
          <p:cNvPr id="10" name="Shape 7">
            <a:extLst xmlns:a="http://schemas.openxmlformats.org/drawingml/2006/main">
              <a:ext uri="{FF2B5EF4-FFF2-40B4-BE49-F238E27FC236}">
                <a16:creationId xmlns:a16="http://schemas.microsoft.com/office/drawing/2014/main" id="{DDFF1F03-CE88-4EF4-8483-B0307F1119ED}"/>
              </a:ext>
            </a:extLst>
          </p:cNvPr>
          <p:cNvSpPr>
            <a:spLocks xmlns:a="http://schemas.openxmlformats.org/drawingml/2006/main" noGrp="1"/>
          </p:cNvSpPr>
          <p:nvPr/>
        </p:nvSpPr>
        <p:spPr>
          <a:xfrm xmlns:a="http://schemas.openxmlformats.org/drawingml/2006/main">
            <a:off x="640080" y="3063240"/>
            <a:ext cx="566928" cy="566928"/>
          </a:xfrm>
          <a:prstGeom xmlns:a="http://schemas.openxmlformats.org/drawingml/2006/main" prst="ellipse">
            <a:avLst/>
          </a:prstGeom>
          <a:solidFill xmlns:a="http://schemas.openxmlformats.org/drawingml/2006/main">
            <a:srgbClr val="2F5D53"/>
          </a:solidFill>
        </p:spPr>
        <p:txBody>
          <a:bodyPr xmlns:a="http://schemas.openxmlformats.org/drawingml/2006/main"/>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E51FF309-7805-4F2B-B053-1117B1A07766}"/>
              </a:ext>
            </a:extLst>
          </p:cNvPr>
          <p:cNvSpPr>
            <a:spLocks xmlns:a="http://schemas.openxmlformats.org/drawingml/2006/main" noGrp="1"/>
          </p:cNvSpPr>
          <p:nvPr/>
        </p:nvSpPr>
        <p:spPr>
          <a:xfrm xmlns:a="http://schemas.openxmlformats.org/drawingml/2006/main">
            <a:off x="640080" y="3063240"/>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mbria"/>
                <a:ea typeface="Cambria"/>
                <a:cs typeface="Cambria"/>
              </a:rPr>
              <a:t>H1</a:t>
            </a:r>
          </a:p>
        </p:txBody>
      </p:sp>
      <p:sp>
        <p:nvSpPr>
          <p:cNvPr id="12" name="Text 9">
            <a:extLst xmlns:a="http://schemas.openxmlformats.org/drawingml/2006/main">
              <a:ext uri="{FF2B5EF4-FFF2-40B4-BE49-F238E27FC236}">
                <a16:creationId xmlns:a16="http://schemas.microsoft.com/office/drawing/2014/main" id="{4F5F6D83-A6FE-4B40-AB15-02895E6D3885}"/>
              </a:ext>
            </a:extLst>
          </p:cNvPr>
          <p:cNvSpPr>
            <a:spLocks xmlns:a="http://schemas.openxmlformats.org/drawingml/2006/main" noGrp="1"/>
          </p:cNvSpPr>
          <p:nvPr/>
        </p:nvSpPr>
        <p:spPr>
          <a:xfrm xmlns:a="http://schemas.openxmlformats.org/drawingml/2006/main">
            <a:off x="1417320" y="3063240"/>
            <a:ext cx="100584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71A17"/>
                </a:solidFill>
                <a:latin typeface="Calibri"/>
                <a:ea typeface="Calibri"/>
                <a:cs typeface="Calibri"/>
              </a:rPr>
              <a:t>Der Random Forest erreicht im zeitlich getrennten Test eine ROC-AUC über 0,5 und schlägt die Baseline.</a:t>
            </a:r>
          </a:p>
        </p:txBody>
      </p:sp>
      <p:sp>
        <p:nvSpPr>
          <p:cNvPr id="13" name="Shape 10">
            <a:extLst xmlns:a="http://schemas.openxmlformats.org/drawingml/2006/main">
              <a:ext uri="{FF2B5EF4-FFF2-40B4-BE49-F238E27FC236}">
                <a16:creationId xmlns:a16="http://schemas.microsoft.com/office/drawing/2014/main" id="{AEBB35C3-996B-456C-A359-5C860D364577}"/>
              </a:ext>
            </a:extLst>
          </p:cNvPr>
          <p:cNvSpPr>
            <a:spLocks xmlns:a="http://schemas.openxmlformats.org/drawingml/2006/main" noGrp="1"/>
          </p:cNvSpPr>
          <p:nvPr/>
        </p:nvSpPr>
        <p:spPr>
          <a:xfrm xmlns:a="http://schemas.openxmlformats.org/drawingml/2006/main">
            <a:off x="640080" y="3840480"/>
            <a:ext cx="566928" cy="566928"/>
          </a:xfrm>
          <a:prstGeom xmlns:a="http://schemas.openxmlformats.org/drawingml/2006/main" prst="ellipse">
            <a:avLst/>
          </a:prstGeom>
          <a:solidFill xmlns:a="http://schemas.openxmlformats.org/drawingml/2006/main">
            <a:srgbClr val="2F5D53"/>
          </a:solidFill>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C58C44BD-BAD6-401F-8D45-368492569036}"/>
              </a:ext>
            </a:extLst>
          </p:cNvPr>
          <p:cNvSpPr>
            <a:spLocks xmlns:a="http://schemas.openxmlformats.org/drawingml/2006/main" noGrp="1"/>
          </p:cNvSpPr>
          <p:nvPr/>
        </p:nvSpPr>
        <p:spPr>
          <a:xfrm xmlns:a="http://schemas.openxmlformats.org/drawingml/2006/main">
            <a:off x="640080" y="3840480"/>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mbria"/>
                <a:ea typeface="Cambria"/>
                <a:cs typeface="Cambria"/>
              </a:rPr>
              <a:t>Z1</a:t>
            </a:r>
          </a:p>
        </p:txBody>
      </p:sp>
      <p:sp>
        <p:nvSpPr>
          <p:cNvPr id="15" name="Text 12">
            <a:extLst xmlns:a="http://schemas.openxmlformats.org/drawingml/2006/main">
              <a:ext uri="{FF2B5EF4-FFF2-40B4-BE49-F238E27FC236}">
                <a16:creationId xmlns:a16="http://schemas.microsoft.com/office/drawing/2014/main" id="{022355DC-3B9F-41FC-A1EE-3EB27F908711}"/>
              </a:ext>
            </a:extLst>
          </p:cNvPr>
          <p:cNvSpPr>
            <a:spLocks xmlns:a="http://schemas.openxmlformats.org/drawingml/2006/main" noGrp="1"/>
          </p:cNvSpPr>
          <p:nvPr/>
        </p:nvSpPr>
        <p:spPr>
          <a:xfrm xmlns:a="http://schemas.openxmlformats.org/drawingml/2006/main">
            <a:off x="1417320" y="3840480"/>
            <a:ext cx="100584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71A17"/>
                </a:solidFill>
                <a:latin typeface="Calibri"/>
                <a:ea typeface="Calibri"/>
                <a:cs typeface="Calibri"/>
              </a:rPr>
              <a:t>Die App zeigt Daten, Modellgüte, Fehler und Grenzen in einer gemeinsamen, nachvollziehbaren Oberfläche.</a:t>
            </a:r>
          </a:p>
        </p:txBody>
      </p:sp>
      <p:sp>
        <p:nvSpPr>
          <p:cNvPr id="16" name="Shape 13">
            <a:extLst xmlns:a="http://schemas.openxmlformats.org/drawingml/2006/main">
              <a:ext uri="{FF2B5EF4-FFF2-40B4-BE49-F238E27FC236}">
                <a16:creationId xmlns:a16="http://schemas.microsoft.com/office/drawing/2014/main" id="{229498CC-BD81-48E7-A704-58E84A6814DC}"/>
              </a:ext>
            </a:extLst>
          </p:cNvPr>
          <p:cNvSpPr>
            <a:spLocks xmlns:a="http://schemas.openxmlformats.org/drawingml/2006/main" noGrp="1"/>
          </p:cNvSpPr>
          <p:nvPr/>
        </p:nvSpPr>
        <p:spPr>
          <a:xfrm xmlns:a="http://schemas.openxmlformats.org/drawingml/2006/main">
            <a:off x="640080" y="4617720"/>
            <a:ext cx="566928" cy="566928"/>
          </a:xfrm>
          <a:prstGeom xmlns:a="http://schemas.openxmlformats.org/drawingml/2006/main" prst="ellipse">
            <a:avLst/>
          </a:prstGeom>
          <a:solidFill xmlns:a="http://schemas.openxmlformats.org/drawingml/2006/main">
            <a:srgbClr val="2F5D53"/>
          </a:solidFill>
        </p:spPr>
        <p:txBody>
          <a:bodyPr xmlns:a="http://schemas.openxmlformats.org/drawingml/2006/main"/>
          <a:lstStyle xmlns:a="http://schemas.openxmlformats.org/drawingml/2006/main"/>
          <a:p xmlns:a="http://schemas.openxmlformats.org/drawingml/2006/main"/>
        </p:txBody>
      </p:sp>
      <p:sp>
        <p:nvSpPr>
          <p:cNvPr id="17" name="Text 14">
            <a:extLst xmlns:a="http://schemas.openxmlformats.org/drawingml/2006/main">
              <a:ext uri="{FF2B5EF4-FFF2-40B4-BE49-F238E27FC236}">
                <a16:creationId xmlns:a16="http://schemas.microsoft.com/office/drawing/2014/main" id="{52C21F17-4915-41C4-8790-BA2FD4E84D35}"/>
              </a:ext>
            </a:extLst>
          </p:cNvPr>
          <p:cNvSpPr>
            <a:spLocks xmlns:a="http://schemas.openxmlformats.org/drawingml/2006/main" noGrp="1"/>
          </p:cNvSpPr>
          <p:nvPr/>
        </p:nvSpPr>
        <p:spPr>
          <a:xfrm xmlns:a="http://schemas.openxmlformats.org/drawingml/2006/main">
            <a:off x="640080" y="4617720"/>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mbria"/>
                <a:ea typeface="Cambria"/>
                <a:cs typeface="Cambria"/>
              </a:rPr>
              <a:t>O1</a:t>
            </a:r>
          </a:p>
        </p:txBody>
      </p:sp>
      <p:sp>
        <p:nvSpPr>
          <p:cNvPr id="18" name="Text 15">
            <a:extLst xmlns:a="http://schemas.openxmlformats.org/drawingml/2006/main">
              <a:ext uri="{FF2B5EF4-FFF2-40B4-BE49-F238E27FC236}">
                <a16:creationId xmlns:a16="http://schemas.microsoft.com/office/drawing/2014/main" id="{BD271573-F534-419D-811D-DC4DC17233B0}"/>
              </a:ext>
            </a:extLst>
          </p:cNvPr>
          <p:cNvSpPr>
            <a:spLocks xmlns:a="http://schemas.openxmlformats.org/drawingml/2006/main" noGrp="1"/>
          </p:cNvSpPr>
          <p:nvPr/>
        </p:nvSpPr>
        <p:spPr>
          <a:xfrm xmlns:a="http://schemas.openxmlformats.org/drawingml/2006/main">
            <a:off x="1417320" y="4617720"/>
            <a:ext cx="100584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71A17"/>
                </a:solidFill>
                <a:latin typeface="Calibri"/>
                <a:ea typeface="Calibri"/>
                <a:cs typeface="Calibri"/>
              </a:rPr>
              <a:t>Offen bleibt, ob Nutzer die Kombination tatsächlich verständlicher oder nützlicher finden.</a:t>
            </a:r>
          </a:p>
        </p:txBody>
      </p:sp>
      <p:sp>
        <p:nvSpPr>
          <p:cNvPr id="19" name="Shape 16">
            <a:extLst xmlns:a="http://schemas.openxmlformats.org/drawingml/2006/main">
              <a:ext uri="{FF2B5EF4-FFF2-40B4-BE49-F238E27FC236}">
                <a16:creationId xmlns:a16="http://schemas.microsoft.com/office/drawing/2014/main" id="{D849E73B-2E29-4BF3-BA7F-20F008202167}"/>
              </a:ext>
            </a:extLst>
          </p:cNvPr>
          <p:cNvSpPr>
            <a:spLocks xmlns:a="http://schemas.openxmlformats.org/drawingml/2006/main" noGrp="1"/>
          </p:cNvSpPr>
          <p:nvPr/>
        </p:nvSpPr>
        <p:spPr>
          <a:xfrm xmlns:a="http://schemas.openxmlformats.org/drawingml/2006/main">
            <a:off x="640080" y="5486400"/>
            <a:ext cx="10881360" cy="822960"/>
          </a:xfrm>
          <a:prstGeom xmlns:a="http://schemas.openxmlformats.org/drawingml/2006/main" prst="roundRect">
            <a:avLst>
              <a:gd name="adj" fmla="val 6667"/>
            </a:avLst>
          </a:prstGeom>
          <a:solidFill xmlns:a="http://schemas.openxmlformats.org/drawingml/2006/main">
            <a:srgbClr val="F5E1DD"/>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739DB5F0-3257-42B8-A213-9BFBBC5176AD}"/>
              </a:ext>
            </a:extLst>
          </p:cNvPr>
          <p:cNvSpPr>
            <a:spLocks xmlns:a="http://schemas.openxmlformats.org/drawingml/2006/main" noGrp="1"/>
          </p:cNvSpPr>
          <p:nvPr/>
        </p:nvSpPr>
        <p:spPr>
          <a:xfrm xmlns:a="http://schemas.openxmlformats.org/drawingml/2006/main">
            <a:off x="914400" y="5486400"/>
            <a:ext cx="10332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i="1">
                <a:solidFill>
                  <a:srgbClr val="A83C30"/>
                </a:solidFill>
                <a:latin typeface="Calibri"/>
                <a:ea typeface="Calibri"/>
                <a:cs typeface="Calibri"/>
              </a:rPr>
              <a:t>Abgrenzung: kein Handelsbot, keine Anlageberatung und keine Garantie für zukünftige Kursbewegungen.</a:t>
            </a:r>
          </a:p>
        </p:txBody>
      </p:sp>
      <p:sp>
        <p:nvSpPr>
          <p:cNvPr id="21" name="Text 18">
            <a:extLst xmlns:a="http://schemas.openxmlformats.org/drawingml/2006/main">
              <a:ext uri="{FF2B5EF4-FFF2-40B4-BE49-F238E27FC236}">
                <a16:creationId xmlns:a16="http://schemas.microsoft.com/office/drawing/2014/main" id="{C1F45095-F4D6-408C-8778-EA0D0F667DC2}"/>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22" name="Text 19">
            <a:extLst xmlns:a="http://schemas.openxmlformats.org/drawingml/2006/main">
              <a:ext uri="{FF2B5EF4-FFF2-40B4-BE49-F238E27FC236}">
                <a16:creationId xmlns:a16="http://schemas.microsoft.com/office/drawing/2014/main" id="{8097E0F9-A0CB-4A30-897C-7E2163CE2CD9}"/>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4</a:t>
            </a:r>
          </a:p>
        </p:txBody>
      </p:sp>
    </p:spTree>
    <p:extLst>
      <p:ext uri="{BB962C8B-B14F-4D97-AF65-F5344CB8AC3E}">
        <p14:creationId xmlns:p14="http://schemas.microsoft.com/office/powerpoint/2010/main" val="1912417677"/>
      </p:ext>
    </p:extLst>
  </p:cSld>
</p:sld>
</file>

<file path=ppt/slides/slide5.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8023107-B3E2-4A7E-8FD9-E6BFADEFC7D2}"/>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f078a3b4eca84cb3"/>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098FC034-F4DC-42FD-9365-B2C5EFF1C686}"/>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ARCHITEKTUR · DATENFLUSS</a:t>
            </a:r>
          </a:p>
        </p:txBody>
      </p:sp>
      <p:sp>
        <p:nvSpPr>
          <p:cNvPr id="5" name="Text 2">
            <a:extLst xmlns:a="http://schemas.openxmlformats.org/drawingml/2006/main">
              <a:ext uri="{FF2B5EF4-FFF2-40B4-BE49-F238E27FC236}">
                <a16:creationId xmlns:a16="http://schemas.microsoft.com/office/drawing/2014/main" id="{400BD9B5-CE36-41FF-8AFA-07D899B6C2A4}"/>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Von den Rohdaten zur App</a:t>
            </a:r>
          </a:p>
        </p:txBody>
      </p:sp>
      <p:sp>
        <p:nvSpPr>
          <p:cNvPr id="6" name="Shape 3">
            <a:extLst xmlns:a="http://schemas.openxmlformats.org/drawingml/2006/main">
              <a:ext uri="{FF2B5EF4-FFF2-40B4-BE49-F238E27FC236}">
                <a16:creationId xmlns:a16="http://schemas.microsoft.com/office/drawing/2014/main" id="{DAE6D1E3-ECCD-49AE-9087-1FB90B40EC3A}"/>
              </a:ext>
            </a:extLst>
          </p:cNvPr>
          <p:cNvSpPr>
            <a:spLocks xmlns:a="http://schemas.openxmlformats.org/drawingml/2006/main" noGrp="1"/>
          </p:cNvSpPr>
          <p:nvPr/>
        </p:nvSpPr>
        <p:spPr>
          <a:xfrm xmlns:a="http://schemas.openxmlformats.org/drawingml/2006/main">
            <a:off x="548640" y="2286000"/>
            <a:ext cx="1874520" cy="228600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7" name="Shape 4">
            <a:extLst xmlns:a="http://schemas.openxmlformats.org/drawingml/2006/main">
              <a:ext uri="{FF2B5EF4-FFF2-40B4-BE49-F238E27FC236}">
                <a16:creationId xmlns:a16="http://schemas.microsoft.com/office/drawing/2014/main" id="{A468F876-E084-4D29-AA0A-15036333069F}"/>
              </a:ext>
            </a:extLst>
          </p:cNvPr>
          <p:cNvSpPr>
            <a:spLocks xmlns:a="http://schemas.openxmlformats.org/drawingml/2006/main" noGrp="1"/>
          </p:cNvSpPr>
          <p:nvPr/>
        </p:nvSpPr>
        <p:spPr>
          <a:xfrm xmlns:a="http://schemas.openxmlformats.org/drawingml/2006/main">
            <a:off x="1202436" y="2514600"/>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51" name="Image 1"/>
          <p:cNvPicPr>
            <a:picLocks xmlns:a="http://schemas.openxmlformats.org/drawingml/2006/main" noChangeAspect="1"/>
          </p:cNvPicPr>
          <p:nvPr/>
        </p:nvPicPr>
        <p:blipFill>
          <a:blip xmlns:r="http://schemas.openxmlformats.org/officeDocument/2006/relationships" xmlns:a="http://schemas.openxmlformats.org/drawingml/2006/main" r:embed="R92871473a3644f9d"/>
          <a:stretch xmlns:a="http://schemas.openxmlformats.org/drawingml/2006/main">
            <a:fillRect l="0" t="0" r="0" b="0"/>
          </a:stretch>
        </p:blipFill>
        <p:spPr>
          <a:xfrm xmlns:a="http://schemas.openxmlformats.org/drawingml/2006/main">
            <a:off x="1264798" y="2576962"/>
            <a:ext cx="442204" cy="442204"/>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8A5097B2-BF64-4380-B526-F652974F54AE}"/>
              </a:ext>
            </a:extLst>
          </p:cNvPr>
          <p:cNvSpPr>
            <a:spLocks xmlns:a="http://schemas.openxmlformats.org/drawingml/2006/main" noGrp="1"/>
          </p:cNvSpPr>
          <p:nvPr/>
        </p:nvSpPr>
        <p:spPr>
          <a:xfrm xmlns:a="http://schemas.openxmlformats.org/drawingml/2006/main">
            <a:off x="640080" y="3200400"/>
            <a:ext cx="1691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71A17"/>
                </a:solidFill>
                <a:latin typeface="Cambria"/>
                <a:ea typeface="Cambria"/>
                <a:cs typeface="Cambria"/>
              </a:rPr>
              <a:t>Kaggle-Rohdaten</a:t>
            </a:r>
          </a:p>
        </p:txBody>
      </p:sp>
      <p:sp>
        <p:nvSpPr>
          <p:cNvPr id="10" name="Text 6">
            <a:extLst xmlns:a="http://schemas.openxmlformats.org/drawingml/2006/main">
              <a:ext uri="{FF2B5EF4-FFF2-40B4-BE49-F238E27FC236}">
                <a16:creationId xmlns:a16="http://schemas.microsoft.com/office/drawing/2014/main" id="{5A4EAFFA-9427-485F-A3C5-2C723E0FBA4F}"/>
              </a:ext>
            </a:extLst>
          </p:cNvPr>
          <p:cNvSpPr>
            <a:spLocks xmlns:a="http://schemas.openxmlformats.org/drawingml/2006/main" noGrp="1"/>
          </p:cNvSpPr>
          <p:nvPr/>
        </p:nvSpPr>
        <p:spPr>
          <a:xfrm xmlns:a="http://schemas.openxmlformats.org/drawingml/2006/main">
            <a:off x="640080" y="3703320"/>
            <a:ext cx="16916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B6259"/>
                </a:solidFill>
                <a:latin typeface="Calibri"/>
                <a:ea typeface="Calibri"/>
                <a:cs typeface="Calibri"/>
              </a:rPr>
              <a:t>192.119 Zeilen</a:t>
            </a:r>
          </a:p>
          <a:p xmlns:a="http://schemas.openxmlformats.org/drawingml/2006/main">
            <a:pPr marL="0" indent="0" algn="ctr">
              <a:buNone/>
            </a:pPr>
            <a:r>
              <a:rPr sz="1050">
                <a:solidFill>
                  <a:srgbClr val="5B6259"/>
                </a:solidFill>
                <a:latin typeface="Calibri"/>
                <a:ea typeface="Calibri"/>
                <a:cs typeface="Calibri"/>
              </a:rPr>
              <a:t>26 Ticker · CC0</a:t>
            </a:r>
          </a:p>
        </p:txBody>
      </p:sp>
      <p:sp>
        <p:nvSpPr>
          <p:cNvPr id="11" name="Text 7">
            <a:extLst xmlns:a="http://schemas.openxmlformats.org/drawingml/2006/main">
              <a:ext uri="{FF2B5EF4-FFF2-40B4-BE49-F238E27FC236}">
                <a16:creationId xmlns:a16="http://schemas.microsoft.com/office/drawing/2014/main" id="{0EE5636E-D7EC-4B82-A971-ED1D4575747C}"/>
              </a:ext>
            </a:extLst>
          </p:cNvPr>
          <p:cNvSpPr>
            <a:spLocks xmlns:a="http://schemas.openxmlformats.org/drawingml/2006/main" noGrp="1"/>
          </p:cNvSpPr>
          <p:nvPr/>
        </p:nvSpPr>
        <p:spPr>
          <a:xfrm xmlns:a="http://schemas.openxmlformats.org/drawingml/2006/main">
            <a:off x="2377440" y="3154680"/>
            <a:ext cx="52120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A97C1E"/>
                </a:solidFill>
                <a:latin typeface="Calibri"/>
                <a:ea typeface="Calibri"/>
                <a:cs typeface="Calibri"/>
              </a:rPr>
              <a:t>→</a:t>
            </a:r>
          </a:p>
        </p:txBody>
      </p:sp>
      <p:sp>
        <p:nvSpPr>
          <p:cNvPr id="12" name="Shape 8">
            <a:extLst xmlns:a="http://schemas.openxmlformats.org/drawingml/2006/main">
              <a:ext uri="{FF2B5EF4-FFF2-40B4-BE49-F238E27FC236}">
                <a16:creationId xmlns:a16="http://schemas.microsoft.com/office/drawing/2014/main" id="{3814C75C-9CDC-43DE-B2CE-645A421C167F}"/>
              </a:ext>
            </a:extLst>
          </p:cNvPr>
          <p:cNvSpPr>
            <a:spLocks xmlns:a="http://schemas.openxmlformats.org/drawingml/2006/main" noGrp="1"/>
          </p:cNvSpPr>
          <p:nvPr/>
        </p:nvSpPr>
        <p:spPr>
          <a:xfrm xmlns:a="http://schemas.openxmlformats.org/drawingml/2006/main">
            <a:off x="2852928" y="2286000"/>
            <a:ext cx="1874520" cy="228600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3" name="Shape 9">
            <a:extLst xmlns:a="http://schemas.openxmlformats.org/drawingml/2006/main">
              <a:ext uri="{FF2B5EF4-FFF2-40B4-BE49-F238E27FC236}">
                <a16:creationId xmlns:a16="http://schemas.microsoft.com/office/drawing/2014/main" id="{8064FB75-1FBE-4669-9B40-D48FBB13F15D}"/>
              </a:ext>
            </a:extLst>
          </p:cNvPr>
          <p:cNvSpPr>
            <a:spLocks xmlns:a="http://schemas.openxmlformats.org/drawingml/2006/main" noGrp="1"/>
          </p:cNvSpPr>
          <p:nvPr/>
        </p:nvSpPr>
        <p:spPr>
          <a:xfrm xmlns:a="http://schemas.openxmlformats.org/drawingml/2006/main">
            <a:off x="3506724" y="2514600"/>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49121825701c4515"/>
          <a:stretch xmlns:a="http://schemas.openxmlformats.org/drawingml/2006/main">
            <a:fillRect l="0" t="0" r="0" b="0"/>
          </a:stretch>
        </p:blipFill>
        <p:spPr>
          <a:xfrm xmlns:a="http://schemas.openxmlformats.org/drawingml/2006/main">
            <a:off x="3569086" y="2576962"/>
            <a:ext cx="442204" cy="442204"/>
          </a:xfrm>
          <a:prstGeom xmlns:a="http://schemas.openxmlformats.org/drawingml/2006/main" prst="rect">
            <a:avLst/>
          </a:prstGeom>
        </p:spPr>
      </p:pic>
      <p:sp>
        <p:nvSpPr>
          <p:cNvPr id="15" name="Text 10">
            <a:extLst xmlns:a="http://schemas.openxmlformats.org/drawingml/2006/main">
              <a:ext uri="{FF2B5EF4-FFF2-40B4-BE49-F238E27FC236}">
                <a16:creationId xmlns:a16="http://schemas.microsoft.com/office/drawing/2014/main" id="{D5711F86-1AF8-499B-A8CC-4B8AC39991C1}"/>
              </a:ext>
            </a:extLst>
          </p:cNvPr>
          <p:cNvSpPr>
            <a:spLocks xmlns:a="http://schemas.openxmlformats.org/drawingml/2006/main" noGrp="1"/>
          </p:cNvSpPr>
          <p:nvPr/>
        </p:nvSpPr>
        <p:spPr>
          <a:xfrm xmlns:a="http://schemas.openxmlformats.org/drawingml/2006/main">
            <a:off x="2944368" y="3200400"/>
            <a:ext cx="1691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71A17"/>
                </a:solidFill>
                <a:latin typeface="Cambria"/>
                <a:ea typeface="Cambria"/>
                <a:cs typeface="Cambria"/>
              </a:rPr>
              <a:t>Feature Engineering</a:t>
            </a:r>
          </a:p>
        </p:txBody>
      </p:sp>
      <p:sp>
        <p:nvSpPr>
          <p:cNvPr id="16" name="Text 11">
            <a:extLst xmlns:a="http://schemas.openxmlformats.org/drawingml/2006/main">
              <a:ext uri="{FF2B5EF4-FFF2-40B4-BE49-F238E27FC236}">
                <a16:creationId xmlns:a16="http://schemas.microsoft.com/office/drawing/2014/main" id="{80E03F61-A3FF-4FFD-9525-927D977733A8}"/>
              </a:ext>
            </a:extLst>
          </p:cNvPr>
          <p:cNvSpPr>
            <a:spLocks xmlns:a="http://schemas.openxmlformats.org/drawingml/2006/main" noGrp="1"/>
          </p:cNvSpPr>
          <p:nvPr/>
        </p:nvSpPr>
        <p:spPr>
          <a:xfrm xmlns:a="http://schemas.openxmlformats.org/drawingml/2006/main">
            <a:off x="2944368" y="3703320"/>
            <a:ext cx="16916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B6259"/>
                </a:solidFill>
                <a:latin typeface="Calibri"/>
                <a:ea typeface="Calibri"/>
                <a:cs typeface="Calibri"/>
              </a:rPr>
              <a:t>8 Features</a:t>
            </a:r>
          </a:p>
          <a:p xmlns:a="http://schemas.openxmlformats.org/drawingml/2006/main">
            <a:pPr marL="0" indent="0" algn="ctr">
              <a:buNone/>
            </a:pPr>
            <a:r>
              <a:rPr sz="1050">
                <a:solidFill>
                  <a:srgbClr val="5B6259"/>
                </a:solidFill>
                <a:latin typeface="Calibri"/>
                <a:ea typeface="Calibri"/>
                <a:cs typeface="Calibri"/>
              </a:rPr>
              <a:t>Renditen · MAs · Vola</a:t>
            </a:r>
          </a:p>
        </p:txBody>
      </p:sp>
      <p:sp>
        <p:nvSpPr>
          <p:cNvPr id="17" name="Text 12">
            <a:extLst xmlns:a="http://schemas.openxmlformats.org/drawingml/2006/main">
              <a:ext uri="{FF2B5EF4-FFF2-40B4-BE49-F238E27FC236}">
                <a16:creationId xmlns:a16="http://schemas.microsoft.com/office/drawing/2014/main" id="{8FBB57F6-7A01-46AA-AC52-1270D228123E}"/>
              </a:ext>
            </a:extLst>
          </p:cNvPr>
          <p:cNvSpPr>
            <a:spLocks xmlns:a="http://schemas.openxmlformats.org/drawingml/2006/main" noGrp="1"/>
          </p:cNvSpPr>
          <p:nvPr/>
        </p:nvSpPr>
        <p:spPr>
          <a:xfrm xmlns:a="http://schemas.openxmlformats.org/drawingml/2006/main">
            <a:off x="4681728" y="3154680"/>
            <a:ext cx="52120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A97C1E"/>
                </a:solidFill>
                <a:latin typeface="Calibri"/>
                <a:ea typeface="Calibri"/>
                <a:cs typeface="Calibri"/>
              </a:rPr>
              <a:t>→</a:t>
            </a:r>
          </a:p>
        </p:txBody>
      </p:sp>
      <p:sp>
        <p:nvSpPr>
          <p:cNvPr id="18" name="Shape 13">
            <a:extLst xmlns:a="http://schemas.openxmlformats.org/drawingml/2006/main">
              <a:ext uri="{FF2B5EF4-FFF2-40B4-BE49-F238E27FC236}">
                <a16:creationId xmlns:a16="http://schemas.microsoft.com/office/drawing/2014/main" id="{B0A528B9-FF72-4C90-B0F0-22D97D55C63C}"/>
              </a:ext>
            </a:extLst>
          </p:cNvPr>
          <p:cNvSpPr>
            <a:spLocks xmlns:a="http://schemas.openxmlformats.org/drawingml/2006/main" noGrp="1"/>
          </p:cNvSpPr>
          <p:nvPr/>
        </p:nvSpPr>
        <p:spPr>
          <a:xfrm xmlns:a="http://schemas.openxmlformats.org/drawingml/2006/main">
            <a:off x="5157216" y="2286000"/>
            <a:ext cx="1874520" cy="228600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9" name="Shape 14">
            <a:extLst xmlns:a="http://schemas.openxmlformats.org/drawingml/2006/main">
              <a:ext uri="{FF2B5EF4-FFF2-40B4-BE49-F238E27FC236}">
                <a16:creationId xmlns:a16="http://schemas.microsoft.com/office/drawing/2014/main" id="{DC49BC2D-C136-4AB4-8B4D-DF4426087458}"/>
              </a:ext>
            </a:extLst>
          </p:cNvPr>
          <p:cNvSpPr>
            <a:spLocks xmlns:a="http://schemas.openxmlformats.org/drawingml/2006/main" noGrp="1"/>
          </p:cNvSpPr>
          <p:nvPr/>
        </p:nvSpPr>
        <p:spPr>
          <a:xfrm xmlns:a="http://schemas.openxmlformats.org/drawingml/2006/main">
            <a:off x="5811012" y="2514600"/>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d09cca901934e45"/>
          <a:stretch xmlns:a="http://schemas.openxmlformats.org/drawingml/2006/main">
            <a:fillRect l="0" t="0" r="0" b="0"/>
          </a:stretch>
        </p:blipFill>
        <p:spPr>
          <a:xfrm xmlns:a="http://schemas.openxmlformats.org/drawingml/2006/main">
            <a:off x="5873374" y="2576962"/>
            <a:ext cx="442204" cy="442204"/>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AC34ED2C-D81E-416C-B789-86DB12CE0CAF}"/>
              </a:ext>
            </a:extLst>
          </p:cNvPr>
          <p:cNvSpPr>
            <a:spLocks xmlns:a="http://schemas.openxmlformats.org/drawingml/2006/main" noGrp="1"/>
          </p:cNvSpPr>
          <p:nvPr/>
        </p:nvSpPr>
        <p:spPr>
          <a:xfrm xmlns:a="http://schemas.openxmlformats.org/drawingml/2006/main">
            <a:off x="5248656" y="3200400"/>
            <a:ext cx="1691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71A17"/>
                </a:solidFill>
                <a:latin typeface="Cambria"/>
                <a:ea typeface="Cambria"/>
                <a:cs typeface="Cambria"/>
              </a:rPr>
              <a:t>Modellvergleich</a:t>
            </a:r>
          </a:p>
        </p:txBody>
      </p:sp>
      <p:sp>
        <p:nvSpPr>
          <p:cNvPr id="22" name="Text 16">
            <a:extLst xmlns:a="http://schemas.openxmlformats.org/drawingml/2006/main">
              <a:ext uri="{FF2B5EF4-FFF2-40B4-BE49-F238E27FC236}">
                <a16:creationId xmlns:a16="http://schemas.microsoft.com/office/drawing/2014/main" id="{0B71695A-8636-4409-A824-D68F3086E0D8}"/>
              </a:ext>
            </a:extLst>
          </p:cNvPr>
          <p:cNvSpPr>
            <a:spLocks xmlns:a="http://schemas.openxmlformats.org/drawingml/2006/main" noGrp="1"/>
          </p:cNvSpPr>
          <p:nvPr/>
        </p:nvSpPr>
        <p:spPr>
          <a:xfrm xmlns:a="http://schemas.openxmlformats.org/drawingml/2006/main">
            <a:off x="5248656" y="3703320"/>
            <a:ext cx="16916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B6259"/>
                </a:solidFill>
                <a:latin typeface="Calibri"/>
                <a:ea typeface="Calibri"/>
                <a:cs typeface="Calibri"/>
              </a:rPr>
              <a:t>5 Modelle</a:t>
            </a:r>
          </a:p>
          <a:p xmlns:a="http://schemas.openxmlformats.org/drawingml/2006/main">
            <a:pPr marL="0" indent="0" algn="ctr">
              <a:buNone/>
            </a:pPr>
            <a:r>
              <a:rPr sz="1050">
                <a:solidFill>
                  <a:srgbClr val="5B6259"/>
                </a:solidFill>
                <a:latin typeface="Calibri"/>
                <a:ea typeface="Calibri"/>
                <a:cs typeface="Calibri"/>
              </a:rPr>
              <a:t>Out-of-Time-Test</a:t>
            </a:r>
          </a:p>
        </p:txBody>
      </p:sp>
      <p:sp>
        <p:nvSpPr>
          <p:cNvPr id="23" name="Text 17">
            <a:extLst xmlns:a="http://schemas.openxmlformats.org/drawingml/2006/main">
              <a:ext uri="{FF2B5EF4-FFF2-40B4-BE49-F238E27FC236}">
                <a16:creationId xmlns:a16="http://schemas.microsoft.com/office/drawing/2014/main" id="{7CB07EDF-0BCC-40FE-A0B0-6BD38F8F449A}"/>
              </a:ext>
            </a:extLst>
          </p:cNvPr>
          <p:cNvSpPr>
            <a:spLocks xmlns:a="http://schemas.openxmlformats.org/drawingml/2006/main" noGrp="1"/>
          </p:cNvSpPr>
          <p:nvPr/>
        </p:nvSpPr>
        <p:spPr>
          <a:xfrm xmlns:a="http://schemas.openxmlformats.org/drawingml/2006/main">
            <a:off x="6986016" y="3154680"/>
            <a:ext cx="52120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A97C1E"/>
                </a:solidFill>
                <a:latin typeface="Calibri"/>
                <a:ea typeface="Calibri"/>
                <a:cs typeface="Calibri"/>
              </a:rPr>
              <a:t>→</a:t>
            </a:r>
          </a:p>
        </p:txBody>
      </p:sp>
      <p:sp>
        <p:nvSpPr>
          <p:cNvPr id="24" name="Shape 18">
            <a:extLst xmlns:a="http://schemas.openxmlformats.org/drawingml/2006/main">
              <a:ext uri="{FF2B5EF4-FFF2-40B4-BE49-F238E27FC236}">
                <a16:creationId xmlns:a16="http://schemas.microsoft.com/office/drawing/2014/main" id="{0A056024-E022-4310-A868-06C890FBAA10}"/>
              </a:ext>
            </a:extLst>
          </p:cNvPr>
          <p:cNvSpPr>
            <a:spLocks xmlns:a="http://schemas.openxmlformats.org/drawingml/2006/main" noGrp="1"/>
          </p:cNvSpPr>
          <p:nvPr/>
        </p:nvSpPr>
        <p:spPr>
          <a:xfrm xmlns:a="http://schemas.openxmlformats.org/drawingml/2006/main">
            <a:off x="7461504" y="2286000"/>
            <a:ext cx="1874520" cy="228600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5" name="Shape 19">
            <a:extLst xmlns:a="http://schemas.openxmlformats.org/drawingml/2006/main">
              <a:ext uri="{FF2B5EF4-FFF2-40B4-BE49-F238E27FC236}">
                <a16:creationId xmlns:a16="http://schemas.microsoft.com/office/drawing/2014/main" id="{C7D2D8DF-4CE7-4838-A644-B1C0500DD245}"/>
              </a:ext>
            </a:extLst>
          </p:cNvPr>
          <p:cNvSpPr>
            <a:spLocks xmlns:a="http://schemas.openxmlformats.org/drawingml/2006/main" noGrp="1"/>
          </p:cNvSpPr>
          <p:nvPr/>
        </p:nvSpPr>
        <p:spPr>
          <a:xfrm xmlns:a="http://schemas.openxmlformats.org/drawingml/2006/main">
            <a:off x="8115300" y="2514600"/>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69" name="Image 4"/>
          <p:cNvPicPr>
            <a:picLocks xmlns:a="http://schemas.openxmlformats.org/drawingml/2006/main" noChangeAspect="1"/>
          </p:cNvPicPr>
          <p:nvPr/>
        </p:nvPicPr>
        <p:blipFill>
          <a:blip xmlns:r="http://schemas.openxmlformats.org/officeDocument/2006/relationships" xmlns:a="http://schemas.openxmlformats.org/drawingml/2006/main" r:embed="Re9b5f81e31854721"/>
          <a:stretch xmlns:a="http://schemas.openxmlformats.org/drawingml/2006/main">
            <a:fillRect l="0" t="0" r="0" b="0"/>
          </a:stretch>
        </p:blipFill>
        <p:spPr>
          <a:xfrm xmlns:a="http://schemas.openxmlformats.org/drawingml/2006/main">
            <a:off x="8177662" y="2576962"/>
            <a:ext cx="442204" cy="442204"/>
          </a:xfrm>
          <a:prstGeom xmlns:a="http://schemas.openxmlformats.org/drawingml/2006/main" prst="rect">
            <a:avLst/>
          </a:prstGeom>
        </p:spPr>
      </p:pic>
      <p:sp>
        <p:nvSpPr>
          <p:cNvPr id="27" name="Text 20">
            <a:extLst xmlns:a="http://schemas.openxmlformats.org/drawingml/2006/main">
              <a:ext uri="{FF2B5EF4-FFF2-40B4-BE49-F238E27FC236}">
                <a16:creationId xmlns:a16="http://schemas.microsoft.com/office/drawing/2014/main" id="{A50D27E5-CCFD-4651-9081-758ED52A5C3F}"/>
              </a:ext>
            </a:extLst>
          </p:cNvPr>
          <p:cNvSpPr>
            <a:spLocks xmlns:a="http://schemas.openxmlformats.org/drawingml/2006/main" noGrp="1"/>
          </p:cNvSpPr>
          <p:nvPr/>
        </p:nvSpPr>
        <p:spPr>
          <a:xfrm xmlns:a="http://schemas.openxmlformats.org/drawingml/2006/main">
            <a:off x="7552944" y="3200400"/>
            <a:ext cx="1691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71A17"/>
                </a:solidFill>
                <a:latin typeface="Cambria"/>
                <a:ea typeface="Cambria"/>
                <a:cs typeface="Cambria"/>
              </a:rPr>
              <a:t>Diagnostik-Cache</a:t>
            </a:r>
          </a:p>
        </p:txBody>
      </p:sp>
      <p:sp>
        <p:nvSpPr>
          <p:cNvPr id="28" name="Text 21">
            <a:extLst xmlns:a="http://schemas.openxmlformats.org/drawingml/2006/main">
              <a:ext uri="{FF2B5EF4-FFF2-40B4-BE49-F238E27FC236}">
                <a16:creationId xmlns:a16="http://schemas.microsoft.com/office/drawing/2014/main" id="{E68B5945-EDBB-4601-803F-6C5BF108A039}"/>
              </a:ext>
            </a:extLst>
          </p:cNvPr>
          <p:cNvSpPr>
            <a:spLocks xmlns:a="http://schemas.openxmlformats.org/drawingml/2006/main" noGrp="1"/>
          </p:cNvSpPr>
          <p:nvPr/>
        </p:nvSpPr>
        <p:spPr>
          <a:xfrm xmlns:a="http://schemas.openxmlformats.org/drawingml/2006/main">
            <a:off x="7552944" y="3703320"/>
            <a:ext cx="16916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B6259"/>
                </a:solidFill>
                <a:latin typeface="Calibri"/>
                <a:ea typeface="Calibri"/>
                <a:cs typeface="Calibri"/>
              </a:rPr>
              <a:t>JSON — einmal</a:t>
            </a:r>
          </a:p>
          <a:p xmlns:a="http://schemas.openxmlformats.org/drawingml/2006/main">
            <a:pPr marL="0" indent="0" algn="ctr">
              <a:buNone/>
            </a:pPr>
            <a:r>
              <a:rPr sz="1050">
                <a:solidFill>
                  <a:srgbClr val="5B6259"/>
                </a:solidFill>
                <a:latin typeface="Calibri"/>
                <a:ea typeface="Calibri"/>
                <a:cs typeface="Calibri"/>
              </a:rPr>
              <a:t>vorberechnet</a:t>
            </a:r>
          </a:p>
        </p:txBody>
      </p:sp>
      <p:sp>
        <p:nvSpPr>
          <p:cNvPr id="29" name="Text 22">
            <a:extLst xmlns:a="http://schemas.openxmlformats.org/drawingml/2006/main">
              <a:ext uri="{FF2B5EF4-FFF2-40B4-BE49-F238E27FC236}">
                <a16:creationId xmlns:a16="http://schemas.microsoft.com/office/drawing/2014/main" id="{3A31D96E-012D-4872-A3ED-F9C20278B651}"/>
              </a:ext>
            </a:extLst>
          </p:cNvPr>
          <p:cNvSpPr>
            <a:spLocks xmlns:a="http://schemas.openxmlformats.org/drawingml/2006/main" noGrp="1"/>
          </p:cNvSpPr>
          <p:nvPr/>
        </p:nvSpPr>
        <p:spPr>
          <a:xfrm xmlns:a="http://schemas.openxmlformats.org/drawingml/2006/main">
            <a:off x="9290304" y="3154680"/>
            <a:ext cx="52120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A97C1E"/>
                </a:solidFill>
                <a:latin typeface="Calibri"/>
                <a:ea typeface="Calibri"/>
                <a:cs typeface="Calibri"/>
              </a:rPr>
              <a:t>→</a:t>
            </a:r>
          </a:p>
        </p:txBody>
      </p:sp>
      <p:sp>
        <p:nvSpPr>
          <p:cNvPr id="30" name="Shape 23">
            <a:extLst xmlns:a="http://schemas.openxmlformats.org/drawingml/2006/main">
              <a:ext uri="{FF2B5EF4-FFF2-40B4-BE49-F238E27FC236}">
                <a16:creationId xmlns:a16="http://schemas.microsoft.com/office/drawing/2014/main" id="{47F89278-7411-4188-93A1-9EAFAF974E48}"/>
              </a:ext>
            </a:extLst>
          </p:cNvPr>
          <p:cNvSpPr>
            <a:spLocks xmlns:a="http://schemas.openxmlformats.org/drawingml/2006/main" noGrp="1"/>
          </p:cNvSpPr>
          <p:nvPr/>
        </p:nvSpPr>
        <p:spPr>
          <a:xfrm xmlns:a="http://schemas.openxmlformats.org/drawingml/2006/main">
            <a:off x="9765792" y="2286000"/>
            <a:ext cx="1874520" cy="2286000"/>
          </a:xfrm>
          <a:prstGeom xmlns:a="http://schemas.openxmlformats.org/drawingml/2006/main" prst="roundRect">
            <a:avLst>
              <a:gd name="adj" fmla="val 2927"/>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31" name="Shape 24">
            <a:extLst xmlns:a="http://schemas.openxmlformats.org/drawingml/2006/main">
              <a:ext uri="{FF2B5EF4-FFF2-40B4-BE49-F238E27FC236}">
                <a16:creationId xmlns:a16="http://schemas.microsoft.com/office/drawing/2014/main" id="{3297C77B-DA0D-4F01-9211-26565A0116BB}"/>
              </a:ext>
            </a:extLst>
          </p:cNvPr>
          <p:cNvSpPr>
            <a:spLocks xmlns:a="http://schemas.openxmlformats.org/drawingml/2006/main" noGrp="1"/>
          </p:cNvSpPr>
          <p:nvPr/>
        </p:nvSpPr>
        <p:spPr>
          <a:xfrm xmlns:a="http://schemas.openxmlformats.org/drawingml/2006/main">
            <a:off x="10419588" y="2514600"/>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75" name="Image 5"/>
          <p:cNvPicPr>
            <a:picLocks xmlns:a="http://schemas.openxmlformats.org/drawingml/2006/main" noChangeAspect="1"/>
          </p:cNvPicPr>
          <p:nvPr/>
        </p:nvPicPr>
        <p:blipFill>
          <a:blip xmlns:r="http://schemas.openxmlformats.org/officeDocument/2006/relationships" xmlns:a="http://schemas.openxmlformats.org/drawingml/2006/main" r:embed="R87d1add7b7444f21"/>
          <a:stretch xmlns:a="http://schemas.openxmlformats.org/drawingml/2006/main">
            <a:fillRect l="0" t="0" r="0" b="0"/>
          </a:stretch>
        </p:blipFill>
        <p:spPr>
          <a:xfrm xmlns:a="http://schemas.openxmlformats.org/drawingml/2006/main">
            <a:off x="10481950" y="2576962"/>
            <a:ext cx="442204" cy="442204"/>
          </a:xfrm>
          <a:prstGeom xmlns:a="http://schemas.openxmlformats.org/drawingml/2006/main" prst="rect">
            <a:avLst/>
          </a:prstGeom>
        </p:spPr>
      </p:pic>
      <p:sp>
        <p:nvSpPr>
          <p:cNvPr id="33" name="Text 25">
            <a:extLst xmlns:a="http://schemas.openxmlformats.org/drawingml/2006/main">
              <a:ext uri="{FF2B5EF4-FFF2-40B4-BE49-F238E27FC236}">
                <a16:creationId xmlns:a16="http://schemas.microsoft.com/office/drawing/2014/main" id="{F3F4EFD1-1F46-4F30-9108-D6A39576FAF3}"/>
              </a:ext>
            </a:extLst>
          </p:cNvPr>
          <p:cNvSpPr>
            <a:spLocks xmlns:a="http://schemas.openxmlformats.org/drawingml/2006/main" noGrp="1"/>
          </p:cNvSpPr>
          <p:nvPr/>
        </p:nvSpPr>
        <p:spPr>
          <a:xfrm xmlns:a="http://schemas.openxmlformats.org/drawingml/2006/main">
            <a:off x="9857232" y="3200400"/>
            <a:ext cx="1691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71A17"/>
                </a:solidFill>
                <a:latin typeface="Cambria"/>
                <a:ea typeface="Cambria"/>
                <a:cs typeface="Cambria"/>
              </a:rPr>
              <a:t>Streamlit-App</a:t>
            </a:r>
          </a:p>
        </p:txBody>
      </p:sp>
      <p:sp>
        <p:nvSpPr>
          <p:cNvPr id="34" name="Text 26">
            <a:extLst xmlns:a="http://schemas.openxmlformats.org/drawingml/2006/main">
              <a:ext uri="{FF2B5EF4-FFF2-40B4-BE49-F238E27FC236}">
                <a16:creationId xmlns:a16="http://schemas.microsoft.com/office/drawing/2014/main" id="{5703A5AE-CDB1-4A38-8986-47B3DE3A735F}"/>
              </a:ext>
            </a:extLst>
          </p:cNvPr>
          <p:cNvSpPr>
            <a:spLocks xmlns:a="http://schemas.openxmlformats.org/drawingml/2006/main" noGrp="1"/>
          </p:cNvSpPr>
          <p:nvPr/>
        </p:nvSpPr>
        <p:spPr>
          <a:xfrm xmlns:a="http://schemas.openxmlformats.org/drawingml/2006/main">
            <a:off x="9857232" y="3703320"/>
            <a:ext cx="16916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5B6259"/>
                </a:solidFill>
                <a:latin typeface="Calibri"/>
                <a:ea typeface="Calibri"/>
                <a:cs typeface="Calibri"/>
              </a:rPr>
              <a:t>16 Seiten</a:t>
            </a:r>
          </a:p>
          <a:p xmlns:a="http://schemas.openxmlformats.org/drawingml/2006/main">
            <a:pPr marL="0" indent="0" algn="ctr">
              <a:buNone/>
            </a:pPr>
            <a:r>
              <a:rPr sz="1050">
                <a:solidFill>
                  <a:srgbClr val="5B6259"/>
                </a:solidFill>
                <a:latin typeface="Calibri"/>
                <a:ea typeface="Calibri"/>
                <a:cs typeface="Calibri"/>
              </a:rPr>
              <a:t>live &amp; interaktiv</a:t>
            </a:r>
          </a:p>
        </p:txBody>
      </p:sp>
      <p:sp>
        <p:nvSpPr>
          <p:cNvPr id="35" name="Shape 27">
            <a:extLst xmlns:a="http://schemas.openxmlformats.org/drawingml/2006/main">
              <a:ext uri="{FF2B5EF4-FFF2-40B4-BE49-F238E27FC236}">
                <a16:creationId xmlns:a16="http://schemas.microsoft.com/office/drawing/2014/main" id="{97D6AE32-E592-4350-AF32-4C70E7D1BCCA}"/>
              </a:ext>
            </a:extLst>
          </p:cNvPr>
          <p:cNvSpPr>
            <a:spLocks xmlns:a="http://schemas.openxmlformats.org/drawingml/2006/main" noGrp="1"/>
          </p:cNvSpPr>
          <p:nvPr/>
        </p:nvSpPr>
        <p:spPr>
          <a:xfrm xmlns:a="http://schemas.openxmlformats.org/drawingml/2006/main">
            <a:off x="548640" y="5074920"/>
            <a:ext cx="11091672" cy="1097280"/>
          </a:xfrm>
          <a:prstGeom xmlns:a="http://schemas.openxmlformats.org/drawingml/2006/main" prst="roundRect">
            <a:avLst>
              <a:gd name="adj" fmla="val 5000"/>
            </a:avLst>
          </a:prstGeom>
          <a:solidFill xmlns:a="http://schemas.openxmlformats.org/drawingml/2006/main">
            <a:srgbClr val="F3E7C9"/>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36" name="Text 28">
            <a:extLst xmlns:a="http://schemas.openxmlformats.org/drawingml/2006/main">
              <a:ext uri="{FF2B5EF4-FFF2-40B4-BE49-F238E27FC236}">
                <a16:creationId xmlns:a16="http://schemas.microsoft.com/office/drawing/2014/main" id="{C7FA576D-3BF1-4C7E-BFC3-7ACB1D0EFC51}"/>
              </a:ext>
            </a:extLst>
          </p:cNvPr>
          <p:cNvSpPr>
            <a:spLocks xmlns:a="http://schemas.openxmlformats.org/drawingml/2006/main" noGrp="1"/>
          </p:cNvSpPr>
          <p:nvPr/>
        </p:nvSpPr>
        <p:spPr>
          <a:xfrm xmlns:a="http://schemas.openxmlformats.org/drawingml/2006/main">
            <a:off x="822960" y="5074920"/>
            <a:ext cx="10543032"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A97C1E"/>
                </a:solidFill>
                <a:latin typeface="Calibri"/>
                <a:ea typeface="Calibri"/>
                <a:cs typeface="Calibri"/>
              </a:rPr>
              <a:t>Warum ein Diagnostik-Cache?  Out-of-Time-Metriken, ROC/PR und vier Walk-forward-Folds werden reproduzierbar offline berechnet. Die App liest nur validierte JSON-Artefakte — schnell, transparent und ohne Training beim Seitenaufruf.</a:t>
            </a:r>
          </a:p>
        </p:txBody>
      </p:sp>
      <p:sp>
        <p:nvSpPr>
          <p:cNvPr id="37" name="Text 29">
            <a:extLst xmlns:a="http://schemas.openxmlformats.org/drawingml/2006/main">
              <a:ext uri="{FF2B5EF4-FFF2-40B4-BE49-F238E27FC236}">
                <a16:creationId xmlns:a16="http://schemas.microsoft.com/office/drawing/2014/main" id="{2ED47655-95EE-4B15-A17D-1478E35BBB97}"/>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38" name="Text 30">
            <a:extLst xmlns:a="http://schemas.openxmlformats.org/drawingml/2006/main">
              <a:ext uri="{FF2B5EF4-FFF2-40B4-BE49-F238E27FC236}">
                <a16:creationId xmlns:a16="http://schemas.microsoft.com/office/drawing/2014/main" id="{F7C9BE6D-76E7-4203-8F9D-1F190874A1D2}"/>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5</a:t>
            </a:r>
          </a:p>
        </p:txBody>
      </p:sp>
    </p:spTree>
    <p:extLst>
      <p:ext uri="{BB962C8B-B14F-4D97-AF65-F5344CB8AC3E}">
        <p14:creationId xmlns:p14="http://schemas.microsoft.com/office/powerpoint/2010/main" val="1269444325"/>
      </p:ext>
    </p:extLst>
  </p:cSld>
</p:sld>
</file>

<file path=ppt/slides/slide6.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20112D7-BEDF-4267-93CC-E69FDBDE854B}"/>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ccbd0f2188ab4d10"/>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9513269C-DBBA-4696-B301-7CC49AD481B1}"/>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DATEN · GRUNDLAGE</a:t>
            </a:r>
          </a:p>
        </p:txBody>
      </p:sp>
      <p:sp>
        <p:nvSpPr>
          <p:cNvPr id="5" name="Text 2">
            <a:extLst xmlns:a="http://schemas.openxmlformats.org/drawingml/2006/main">
              <a:ext uri="{FF2B5EF4-FFF2-40B4-BE49-F238E27FC236}">
                <a16:creationId xmlns:a16="http://schemas.microsoft.com/office/drawing/2014/main" id="{9AB80D50-24BB-477A-A092-E3EE54C9C8E7}"/>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Große Datenbasis, klare Einschränkung</a:t>
            </a:r>
          </a:p>
        </p:txBody>
      </p:sp>
      <p:sp>
        <p:nvSpPr>
          <p:cNvPr id="6" name="Shape 3">
            <a:extLst xmlns:a="http://schemas.openxmlformats.org/drawingml/2006/main">
              <a:ext uri="{FF2B5EF4-FFF2-40B4-BE49-F238E27FC236}">
                <a16:creationId xmlns:a16="http://schemas.microsoft.com/office/drawing/2014/main" id="{DFC463C1-4E68-42FC-990C-96AE0CE2DAEF}"/>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oundRect">
            <a:avLst>
              <a:gd name="adj" fmla="val 22222"/>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AF8FF192-E2DB-4616-89DB-CD6B7D74CB1E}"/>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F5D53"/>
                </a:solidFill>
                <a:latin typeface="Calibri"/>
                <a:ea typeface="Calibri"/>
                <a:cs typeface="Calibri"/>
              </a:rPr>
              <a:t>1,5 Min</a:t>
            </a:r>
          </a:p>
        </p:txBody>
      </p:sp>
      <p:sp>
        <p:nvSpPr>
          <p:cNvPr id="8" name="Text 5">
            <a:extLst xmlns:a="http://schemas.openxmlformats.org/drawingml/2006/main">
              <a:ext uri="{FF2B5EF4-FFF2-40B4-BE49-F238E27FC236}">
                <a16:creationId xmlns:a16="http://schemas.microsoft.com/office/drawing/2014/main" id="{66D86E4E-1A1B-4A7D-B0A9-D7B28A362C4B}"/>
              </a:ext>
            </a:extLst>
          </p:cNvPr>
          <p:cNvSpPr>
            <a:spLocks xmlns:a="http://schemas.openxmlformats.org/drawingml/2006/main" noGrp="1"/>
          </p:cNvSpPr>
          <p:nvPr/>
        </p:nvSpPr>
        <p:spPr>
          <a:xfrm xmlns:a="http://schemas.openxmlformats.org/drawingml/2006/main">
            <a:off x="640080" y="1463040"/>
            <a:ext cx="10881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a:solidFill>
                  <a:srgbClr val="171A17"/>
                </a:solidFill>
                <a:latin typeface="Calibri"/>
                <a:ea typeface="Calibri"/>
                <a:cs typeface="Calibri"/>
              </a:rPr>
              <a:t>Historische US-Aktienkurse aus dem Kaggle-Datensatz „US Stocks &amp; ETFs“, offen als CC0 veröffentlicht.</a:t>
            </a:r>
          </a:p>
        </p:txBody>
      </p:sp>
      <p:sp>
        <p:nvSpPr>
          <p:cNvPr id="9" name="Shape 6">
            <a:extLst xmlns:a="http://schemas.openxmlformats.org/drawingml/2006/main">
              <a:ext uri="{FF2B5EF4-FFF2-40B4-BE49-F238E27FC236}">
                <a16:creationId xmlns:a16="http://schemas.microsoft.com/office/drawing/2014/main" id="{882ECD74-4830-4095-A5A1-01992D1B5150}"/>
              </a:ext>
            </a:extLst>
          </p:cNvPr>
          <p:cNvSpPr>
            <a:spLocks xmlns:a="http://schemas.openxmlformats.org/drawingml/2006/main" noGrp="1"/>
          </p:cNvSpPr>
          <p:nvPr/>
        </p:nvSpPr>
        <p:spPr>
          <a:xfrm xmlns:a="http://schemas.openxmlformats.org/drawingml/2006/main">
            <a:off x="640080" y="2240280"/>
            <a:ext cx="2606040" cy="1417320"/>
          </a:xfrm>
          <a:prstGeom xmlns:a="http://schemas.openxmlformats.org/drawingml/2006/main" prst="roundRect">
            <a:avLst>
              <a:gd name="adj" fmla="val 3871"/>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5311C945-CB63-42CC-9E3E-7448F51D7716}"/>
              </a:ext>
            </a:extLst>
          </p:cNvPr>
          <p:cNvSpPr>
            <a:spLocks xmlns:a="http://schemas.openxmlformats.org/drawingml/2006/main" noGrp="1"/>
          </p:cNvSpPr>
          <p:nvPr/>
        </p:nvSpPr>
        <p:spPr>
          <a:xfrm xmlns:a="http://schemas.openxmlformats.org/drawingml/2006/main">
            <a:off x="640080" y="2377440"/>
            <a:ext cx="2606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A97C1E"/>
                </a:solidFill>
                <a:latin typeface="Cambria"/>
                <a:ea typeface="Cambria"/>
                <a:cs typeface="Cambria"/>
              </a:rPr>
              <a:t>192.119</a:t>
            </a:r>
          </a:p>
        </p:txBody>
      </p:sp>
      <p:sp>
        <p:nvSpPr>
          <p:cNvPr id="11" name="Text 8">
            <a:extLst xmlns:a="http://schemas.openxmlformats.org/drawingml/2006/main">
              <a:ext uri="{FF2B5EF4-FFF2-40B4-BE49-F238E27FC236}">
                <a16:creationId xmlns:a16="http://schemas.microsoft.com/office/drawing/2014/main" id="{EECC7DCE-6637-48A4-8254-DBF0FD5CCEBF}"/>
              </a:ext>
            </a:extLst>
          </p:cNvPr>
          <p:cNvSpPr>
            <a:spLocks xmlns:a="http://schemas.openxmlformats.org/drawingml/2006/main" noGrp="1"/>
          </p:cNvSpPr>
          <p:nvPr/>
        </p:nvSpPr>
        <p:spPr>
          <a:xfrm xmlns:a="http://schemas.openxmlformats.org/drawingml/2006/main">
            <a:off x="777240" y="3017520"/>
            <a:ext cx="2331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B6259"/>
                </a:solidFill>
                <a:latin typeface="Calibri"/>
                <a:ea typeface="Calibri"/>
                <a:cs typeface="Calibri"/>
              </a:rPr>
              <a:t>Feature-Datenpunkte</a:t>
            </a:r>
          </a:p>
        </p:txBody>
      </p:sp>
      <p:sp>
        <p:nvSpPr>
          <p:cNvPr id="12" name="Shape 9">
            <a:extLst xmlns:a="http://schemas.openxmlformats.org/drawingml/2006/main">
              <a:ext uri="{FF2B5EF4-FFF2-40B4-BE49-F238E27FC236}">
                <a16:creationId xmlns:a16="http://schemas.microsoft.com/office/drawing/2014/main" id="{51D1C386-9682-41C7-B2B2-DE147575725C}"/>
              </a:ext>
            </a:extLst>
          </p:cNvPr>
          <p:cNvSpPr>
            <a:spLocks xmlns:a="http://schemas.openxmlformats.org/drawingml/2006/main" noGrp="1"/>
          </p:cNvSpPr>
          <p:nvPr/>
        </p:nvSpPr>
        <p:spPr>
          <a:xfrm xmlns:a="http://schemas.openxmlformats.org/drawingml/2006/main">
            <a:off x="3502152" y="2240280"/>
            <a:ext cx="2606040" cy="1417320"/>
          </a:xfrm>
          <a:prstGeom xmlns:a="http://schemas.openxmlformats.org/drawingml/2006/main" prst="roundRect">
            <a:avLst>
              <a:gd name="adj" fmla="val 3871"/>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2C48F66E-1210-46F5-B96E-B0D641979409}"/>
              </a:ext>
            </a:extLst>
          </p:cNvPr>
          <p:cNvSpPr>
            <a:spLocks xmlns:a="http://schemas.openxmlformats.org/drawingml/2006/main" noGrp="1"/>
          </p:cNvSpPr>
          <p:nvPr/>
        </p:nvSpPr>
        <p:spPr>
          <a:xfrm xmlns:a="http://schemas.openxmlformats.org/drawingml/2006/main">
            <a:off x="3502152" y="2377440"/>
            <a:ext cx="2606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A97C1E"/>
                </a:solidFill>
                <a:latin typeface="Cambria"/>
                <a:ea typeface="Cambria"/>
                <a:cs typeface="Cambria"/>
              </a:rPr>
              <a:t>26</a:t>
            </a:r>
          </a:p>
        </p:txBody>
      </p:sp>
      <p:sp>
        <p:nvSpPr>
          <p:cNvPr id="14" name="Text 11">
            <a:extLst xmlns:a="http://schemas.openxmlformats.org/drawingml/2006/main">
              <a:ext uri="{FF2B5EF4-FFF2-40B4-BE49-F238E27FC236}">
                <a16:creationId xmlns:a16="http://schemas.microsoft.com/office/drawing/2014/main" id="{6B81DD5F-9099-4936-B816-4433407C3B22}"/>
              </a:ext>
            </a:extLst>
          </p:cNvPr>
          <p:cNvSpPr>
            <a:spLocks xmlns:a="http://schemas.openxmlformats.org/drawingml/2006/main" noGrp="1"/>
          </p:cNvSpPr>
          <p:nvPr/>
        </p:nvSpPr>
        <p:spPr>
          <a:xfrm xmlns:a="http://schemas.openxmlformats.org/drawingml/2006/main">
            <a:off x="3639312" y="3017520"/>
            <a:ext cx="2331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B6259"/>
                </a:solidFill>
                <a:latin typeface="Calibri"/>
                <a:ea typeface="Calibri"/>
                <a:cs typeface="Calibri"/>
              </a:rPr>
              <a:t>Blue-Chip-Ticker</a:t>
            </a:r>
          </a:p>
        </p:txBody>
      </p:sp>
      <p:sp>
        <p:nvSpPr>
          <p:cNvPr id="15" name="Shape 12">
            <a:extLst xmlns:a="http://schemas.openxmlformats.org/drawingml/2006/main">
              <a:ext uri="{FF2B5EF4-FFF2-40B4-BE49-F238E27FC236}">
                <a16:creationId xmlns:a16="http://schemas.microsoft.com/office/drawing/2014/main" id="{7F0B8AFC-94E8-4418-A6D6-ED1B03188AA6}"/>
              </a:ext>
            </a:extLst>
          </p:cNvPr>
          <p:cNvSpPr>
            <a:spLocks xmlns:a="http://schemas.openxmlformats.org/drawingml/2006/main" noGrp="1"/>
          </p:cNvSpPr>
          <p:nvPr/>
        </p:nvSpPr>
        <p:spPr>
          <a:xfrm xmlns:a="http://schemas.openxmlformats.org/drawingml/2006/main">
            <a:off x="6364224" y="2240280"/>
            <a:ext cx="2606040" cy="1417320"/>
          </a:xfrm>
          <a:prstGeom xmlns:a="http://schemas.openxmlformats.org/drawingml/2006/main" prst="roundRect">
            <a:avLst>
              <a:gd name="adj" fmla="val 3871"/>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C392E0F0-089C-4248-BFFD-78EB975E171B}"/>
              </a:ext>
            </a:extLst>
          </p:cNvPr>
          <p:cNvSpPr>
            <a:spLocks xmlns:a="http://schemas.openxmlformats.org/drawingml/2006/main" noGrp="1"/>
          </p:cNvSpPr>
          <p:nvPr/>
        </p:nvSpPr>
        <p:spPr>
          <a:xfrm xmlns:a="http://schemas.openxmlformats.org/drawingml/2006/main">
            <a:off x="6364224" y="2377440"/>
            <a:ext cx="2606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A97C1E"/>
                </a:solidFill>
                <a:latin typeface="Cambria"/>
                <a:ea typeface="Cambria"/>
                <a:cs typeface="Cambria"/>
              </a:rPr>
              <a:t>1962–2017</a:t>
            </a:r>
          </a:p>
        </p:txBody>
      </p:sp>
      <p:sp>
        <p:nvSpPr>
          <p:cNvPr id="17" name="Text 14">
            <a:extLst xmlns:a="http://schemas.openxmlformats.org/drawingml/2006/main">
              <a:ext uri="{FF2B5EF4-FFF2-40B4-BE49-F238E27FC236}">
                <a16:creationId xmlns:a16="http://schemas.microsoft.com/office/drawing/2014/main" id="{21EB17DE-A988-4CE2-B49C-A8C576BC3623}"/>
              </a:ext>
            </a:extLst>
          </p:cNvPr>
          <p:cNvSpPr>
            <a:spLocks xmlns:a="http://schemas.openxmlformats.org/drawingml/2006/main" noGrp="1"/>
          </p:cNvSpPr>
          <p:nvPr/>
        </p:nvSpPr>
        <p:spPr>
          <a:xfrm xmlns:a="http://schemas.openxmlformats.org/drawingml/2006/main">
            <a:off x="6501384" y="3017520"/>
            <a:ext cx="2331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B6259"/>
                </a:solidFill>
                <a:latin typeface="Calibri"/>
                <a:ea typeface="Calibri"/>
                <a:cs typeface="Calibri"/>
              </a:rPr>
              <a:t>Zeitraum (+ live)</a:t>
            </a:r>
          </a:p>
        </p:txBody>
      </p:sp>
      <p:sp>
        <p:nvSpPr>
          <p:cNvPr id="18" name="Shape 15">
            <a:extLst xmlns:a="http://schemas.openxmlformats.org/drawingml/2006/main">
              <a:ext uri="{FF2B5EF4-FFF2-40B4-BE49-F238E27FC236}">
                <a16:creationId xmlns:a16="http://schemas.microsoft.com/office/drawing/2014/main" id="{02A9FBE2-1D4E-40FC-9162-0C8C04647024}"/>
              </a:ext>
            </a:extLst>
          </p:cNvPr>
          <p:cNvSpPr>
            <a:spLocks xmlns:a="http://schemas.openxmlformats.org/drawingml/2006/main" noGrp="1"/>
          </p:cNvSpPr>
          <p:nvPr/>
        </p:nvSpPr>
        <p:spPr>
          <a:xfrm xmlns:a="http://schemas.openxmlformats.org/drawingml/2006/main">
            <a:off x="9226296" y="2240280"/>
            <a:ext cx="2606040" cy="1417320"/>
          </a:xfrm>
          <a:prstGeom xmlns:a="http://schemas.openxmlformats.org/drawingml/2006/main" prst="roundRect">
            <a:avLst>
              <a:gd name="adj" fmla="val 3871"/>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9B01C922-2CD8-4A5C-A343-BD9546327003}"/>
              </a:ext>
            </a:extLst>
          </p:cNvPr>
          <p:cNvSpPr>
            <a:spLocks xmlns:a="http://schemas.openxmlformats.org/drawingml/2006/main" noGrp="1"/>
          </p:cNvSpPr>
          <p:nvPr/>
        </p:nvSpPr>
        <p:spPr>
          <a:xfrm xmlns:a="http://schemas.openxmlformats.org/drawingml/2006/main">
            <a:off x="9226296" y="2377440"/>
            <a:ext cx="2606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A97C1E"/>
                </a:solidFill>
                <a:latin typeface="Cambria"/>
                <a:ea typeface="Cambria"/>
                <a:cs typeface="Cambria"/>
              </a:rPr>
              <a:t>CC0</a:t>
            </a:r>
          </a:p>
        </p:txBody>
      </p:sp>
      <p:sp>
        <p:nvSpPr>
          <p:cNvPr id="20" name="Text 17">
            <a:extLst xmlns:a="http://schemas.openxmlformats.org/drawingml/2006/main">
              <a:ext uri="{FF2B5EF4-FFF2-40B4-BE49-F238E27FC236}">
                <a16:creationId xmlns:a16="http://schemas.microsoft.com/office/drawing/2014/main" id="{CE997EA3-1AA7-43D6-A52B-4971C629B539}"/>
              </a:ext>
            </a:extLst>
          </p:cNvPr>
          <p:cNvSpPr>
            <a:spLocks xmlns:a="http://schemas.openxmlformats.org/drawingml/2006/main" noGrp="1"/>
          </p:cNvSpPr>
          <p:nvPr/>
        </p:nvSpPr>
        <p:spPr>
          <a:xfrm xmlns:a="http://schemas.openxmlformats.org/drawingml/2006/main">
            <a:off x="9363456" y="3017520"/>
            <a:ext cx="2331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5B6259"/>
                </a:solidFill>
                <a:latin typeface="Calibri"/>
                <a:ea typeface="Calibri"/>
                <a:cs typeface="Calibri"/>
              </a:rPr>
              <a:t>offen lizenziert</a:t>
            </a:r>
          </a:p>
        </p:txBody>
      </p:sp>
      <p:sp>
        <p:nvSpPr>
          <p:cNvPr id="21" name="Text 18">
            <a:extLst xmlns:a="http://schemas.openxmlformats.org/drawingml/2006/main">
              <a:ext uri="{FF2B5EF4-FFF2-40B4-BE49-F238E27FC236}">
                <a16:creationId xmlns:a16="http://schemas.microsoft.com/office/drawing/2014/main" id="{1976C886-E202-4780-A443-B481BF45F51D}"/>
              </a:ext>
            </a:extLst>
          </p:cNvPr>
          <p:cNvSpPr>
            <a:spLocks xmlns:a="http://schemas.openxmlformats.org/drawingml/2006/main" noGrp="1"/>
          </p:cNvSpPr>
          <p:nvPr/>
        </p:nvSpPr>
        <p:spPr>
          <a:xfrm xmlns:a="http://schemas.openxmlformats.org/drawingml/2006/main">
            <a:off x="640080" y="397764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F5D53"/>
                </a:solidFill>
                <a:latin typeface="Cambria"/>
                <a:ea typeface="Cambria"/>
                <a:cs typeface="Cambria"/>
              </a:rPr>
              <a:t>Was leisten 26 Titel?</a:t>
            </a:r>
          </a:p>
        </p:txBody>
      </p:sp>
      <p:sp>
        <p:nvSpPr>
          <p:cNvPr id="22" name="Text 19">
            <a:extLst xmlns:a="http://schemas.openxmlformats.org/drawingml/2006/main">
              <a:ext uri="{FF2B5EF4-FFF2-40B4-BE49-F238E27FC236}">
                <a16:creationId xmlns:a16="http://schemas.microsoft.com/office/drawing/2014/main" id="{10643741-7088-4B69-B266-41B0E55C1A01}"/>
              </a:ext>
            </a:extLst>
          </p:cNvPr>
          <p:cNvSpPr>
            <a:spLocks xmlns:a="http://schemas.openxmlformats.org/drawingml/2006/main" noGrp="1"/>
          </p:cNvSpPr>
          <p:nvPr/>
        </p:nvSpPr>
        <p:spPr>
          <a:xfrm xmlns:a="http://schemas.openxmlformats.org/drawingml/2006/main">
            <a:off x="640080" y="4434840"/>
            <a:ext cx="108813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spcAft>
                <a:spcPts val="1000"/>
              </a:spcAft>
              <a:buSzPct val="100000"/>
              <a:buChar char="▪"/>
            </a:pPr>
            <a:r>
              <a:rPr sz="1400">
                <a:solidFill>
                  <a:srgbClr val="171A17"/>
                </a:solidFill>
                <a:latin typeface="Calibri"/>
                <a:ea typeface="Calibri"/>
                <a:cs typeface="Calibri"/>
              </a:rPr>
              <a:t>Die Titel decken mehrere Branchen und Marktphasen ab. Sie verbreitern den Vergleich, bilden den Gesamtmarkt aber nicht repräsentativ ab.</a:t>
            </a:r>
          </a:p>
        </p:txBody>
      </p:sp>
      <p:sp>
        <p:nvSpPr>
          <p:cNvPr id="23" name="Shape 20">
            <a:extLst xmlns:a="http://schemas.openxmlformats.org/drawingml/2006/main">
              <a:ext uri="{FF2B5EF4-FFF2-40B4-BE49-F238E27FC236}">
                <a16:creationId xmlns:a16="http://schemas.microsoft.com/office/drawing/2014/main" id="{FFF1B8AD-4D95-427E-BEAA-60487F90AC7A}"/>
              </a:ext>
            </a:extLst>
          </p:cNvPr>
          <p:cNvSpPr>
            <a:spLocks xmlns:a="http://schemas.openxmlformats.org/drawingml/2006/main" noGrp="1"/>
          </p:cNvSpPr>
          <p:nvPr/>
        </p:nvSpPr>
        <p:spPr>
          <a:xfrm xmlns:a="http://schemas.openxmlformats.org/drawingml/2006/main">
            <a:off x="640080" y="5806440"/>
            <a:ext cx="10881360" cy="594360"/>
          </a:xfrm>
          <a:prstGeom xmlns:a="http://schemas.openxmlformats.org/drawingml/2006/main" prst="roundRect">
            <a:avLst>
              <a:gd name="adj" fmla="val 9231"/>
            </a:avLst>
          </a:prstGeom>
          <a:solidFill xmlns:a="http://schemas.openxmlformats.org/drawingml/2006/main">
            <a:srgbClr val="F3E7C9"/>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4" name="Text 21">
            <a:extLst xmlns:a="http://schemas.openxmlformats.org/drawingml/2006/main">
              <a:ext uri="{FF2B5EF4-FFF2-40B4-BE49-F238E27FC236}">
                <a16:creationId xmlns:a16="http://schemas.microsoft.com/office/drawing/2014/main" id="{7502EFD3-A867-4F88-8FFB-CC7039D40A01}"/>
              </a:ext>
            </a:extLst>
          </p:cNvPr>
          <p:cNvSpPr>
            <a:spLocks xmlns:a="http://schemas.openxmlformats.org/drawingml/2006/main" noGrp="1"/>
          </p:cNvSpPr>
          <p:nvPr/>
        </p:nvSpPr>
        <p:spPr>
          <a:xfrm xmlns:a="http://schemas.openxmlformats.org/drawingml/2006/main">
            <a:off x="914400" y="5806440"/>
            <a:ext cx="103327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A97C1E"/>
                </a:solidFill>
                <a:latin typeface="Calibri"/>
                <a:ea typeface="Calibri"/>
                <a:cs typeface="Calibri"/>
              </a:rPr>
              <a:t>Survivorship-Bias: Ausgeschiedene Unternehmen fehlen; dadurch können Ergebnisse zu positiv wirken.</a:t>
            </a:r>
          </a:p>
        </p:txBody>
      </p:sp>
      <p:sp>
        <p:nvSpPr>
          <p:cNvPr id="25" name="Text 22">
            <a:extLst xmlns:a="http://schemas.openxmlformats.org/drawingml/2006/main">
              <a:ext uri="{FF2B5EF4-FFF2-40B4-BE49-F238E27FC236}">
                <a16:creationId xmlns:a16="http://schemas.microsoft.com/office/drawing/2014/main" id="{0C9FB0B7-F349-4053-A0BD-B43FBCFCCFC5}"/>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26" name="Text 23">
            <a:extLst xmlns:a="http://schemas.openxmlformats.org/drawingml/2006/main">
              <a:ext uri="{FF2B5EF4-FFF2-40B4-BE49-F238E27FC236}">
                <a16:creationId xmlns:a16="http://schemas.microsoft.com/office/drawing/2014/main" id="{28DBC017-1EE5-40D6-A9CA-6FC60BC56BBB}"/>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6</a:t>
            </a:r>
          </a:p>
        </p:txBody>
      </p:sp>
    </p:spTree>
    <p:extLst>
      <p:ext uri="{BB962C8B-B14F-4D97-AF65-F5344CB8AC3E}">
        <p14:creationId xmlns:p14="http://schemas.microsoft.com/office/powerpoint/2010/main" val="1651428458"/>
      </p:ext>
    </p:extLst>
  </p:cSld>
</p:sld>
</file>

<file path=ppt/slides/slide7.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1C4565E-2D15-47E6-9AB2-D6DA7AB15CC4}"/>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8a7fc5abb52c4e57"/>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E8536B3F-98A5-4AAF-95F0-B164F1148944}"/>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EXPLORATION</a:t>
            </a:r>
          </a:p>
        </p:txBody>
      </p:sp>
      <p:sp>
        <p:nvSpPr>
          <p:cNvPr id="5" name="Text 2">
            <a:extLst xmlns:a="http://schemas.openxmlformats.org/drawingml/2006/main">
              <a:ext uri="{FF2B5EF4-FFF2-40B4-BE49-F238E27FC236}">
                <a16:creationId xmlns:a16="http://schemas.microsoft.com/office/drawing/2014/main" id="{A9A9D3CE-D305-4AA0-874D-159D9B883B11}"/>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Explorative Datenanalyse</a:t>
            </a:r>
          </a:p>
        </p:txBody>
      </p:sp>
      <p:sp>
        <p:nvSpPr>
          <p:cNvPr id="6" name="Text 3">
            <a:extLst xmlns:a="http://schemas.openxmlformats.org/drawingml/2006/main">
              <a:ext uri="{FF2B5EF4-FFF2-40B4-BE49-F238E27FC236}">
                <a16:creationId xmlns:a16="http://schemas.microsoft.com/office/drawing/2014/main" id="{CADE2AB1-75F3-49C1-BE71-6E3F16DF815E}"/>
              </a:ext>
            </a:extLst>
          </p:cNvPr>
          <p:cNvSpPr>
            <a:spLocks xmlns:a="http://schemas.openxmlformats.org/drawingml/2006/main" noGrp="1"/>
          </p:cNvSpPr>
          <p:nvPr/>
        </p:nvSpPr>
        <p:spPr>
          <a:xfrm xmlns:a="http://schemas.openxmlformats.org/drawingml/2006/main">
            <a:off x="640080" y="1463040"/>
            <a:ext cx="502920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spcAft>
                <a:spcPts val="1400"/>
              </a:spcAft>
              <a:buSzPct val="100000"/>
              <a:buChar char="▪"/>
            </a:pPr>
            <a:r>
              <a:rPr sz="1450">
                <a:solidFill>
                  <a:srgbClr val="171A17"/>
                </a:solidFill>
                <a:latin typeface="Calibri"/>
                <a:ea typeface="Calibri"/>
                <a:cs typeface="Calibri"/>
              </a:rPr>
              <a:t>Histogramme mit Kernel-Dichte-Schätzung für alle acht ML-Features</a:t>
            </a:r>
          </a:p>
          <a:p xmlns:a="http://schemas.openxmlformats.org/drawingml/2006/main">
            <a:pPr marL="228600" indent="-228600">
              <a:spcAft>
                <a:spcPts val="1400"/>
              </a:spcAft>
              <a:buSzPct val="100000"/>
              <a:buChar char="▪"/>
            </a:pPr>
            <a:r>
              <a:rPr sz="1450">
                <a:solidFill>
                  <a:srgbClr val="171A17"/>
                </a:solidFill>
                <a:latin typeface="Calibri"/>
                <a:ea typeface="Calibri"/>
                <a:cs typeface="Calibri"/>
              </a:rPr>
              <a:t>Boxplots zur Ausreißer-Identifikation (IQR-Methode)</a:t>
            </a:r>
          </a:p>
          <a:p xmlns:a="http://schemas.openxmlformats.org/drawingml/2006/main">
            <a:pPr marL="228600" indent="-228600">
              <a:spcAft>
                <a:spcPts val="1400"/>
              </a:spcAft>
              <a:buSzPct val="100000"/>
              <a:buChar char="▪"/>
            </a:pPr>
            <a:r>
              <a:rPr sz="1450">
                <a:solidFill>
                  <a:srgbClr val="171A17"/>
                </a:solidFill>
                <a:latin typeface="Calibri"/>
                <a:ea typeface="Calibri"/>
                <a:cs typeface="Calibri"/>
              </a:rPr>
              <a:t>Scatterplots zwischen Features und Zielvariable</a:t>
            </a:r>
          </a:p>
          <a:p xmlns:a="http://schemas.openxmlformats.org/drawingml/2006/main">
            <a:pPr marL="228600" indent="-228600">
              <a:spcAft>
                <a:spcPts val="1400"/>
              </a:spcAft>
              <a:buSzPct val="100000"/>
              <a:buChar char="▪"/>
            </a:pPr>
            <a:r>
              <a:rPr sz="1450">
                <a:solidFill>
                  <a:srgbClr val="171A17"/>
                </a:solidFill>
                <a:latin typeface="Calibri"/>
                <a:ea typeface="Calibri"/>
                <a:cs typeface="Calibri"/>
              </a:rPr>
              <a:t>Pearson- und Spearman-Korrelationsmatrizen</a:t>
            </a:r>
          </a:p>
        </p:txBody>
      </p:sp>
      <p:sp>
        <p:nvSpPr>
          <p:cNvPr id="7" name="Shape 4">
            <a:extLst xmlns:a="http://schemas.openxmlformats.org/drawingml/2006/main">
              <a:ext uri="{FF2B5EF4-FFF2-40B4-BE49-F238E27FC236}">
                <a16:creationId xmlns:a16="http://schemas.microsoft.com/office/drawing/2014/main" id="{C2242B27-9AC3-4B5E-9F9F-6E14A0FFA54A}"/>
              </a:ext>
            </a:extLst>
          </p:cNvPr>
          <p:cNvSpPr>
            <a:spLocks xmlns:a="http://schemas.openxmlformats.org/drawingml/2006/main" noGrp="1"/>
          </p:cNvSpPr>
          <p:nvPr/>
        </p:nvSpPr>
        <p:spPr>
          <a:xfrm xmlns:a="http://schemas.openxmlformats.org/drawingml/2006/main">
            <a:off x="640080" y="3977640"/>
            <a:ext cx="5029200" cy="1783080"/>
          </a:xfrm>
          <a:prstGeom xmlns:a="http://schemas.openxmlformats.org/drawingml/2006/main" prst="roundRect">
            <a:avLst>
              <a:gd name="adj" fmla="val 3077"/>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197B51B9-B17B-4DB4-A050-46B902310A69}"/>
              </a:ext>
            </a:extLst>
          </p:cNvPr>
          <p:cNvSpPr>
            <a:spLocks xmlns:a="http://schemas.openxmlformats.org/drawingml/2006/main" noGrp="1"/>
          </p:cNvSpPr>
          <p:nvPr/>
        </p:nvSpPr>
        <p:spPr>
          <a:xfrm xmlns:a="http://schemas.openxmlformats.org/drawingml/2006/main">
            <a:off x="868680" y="4160520"/>
            <a:ext cx="45720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71A17"/>
                </a:solidFill>
                <a:latin typeface="Calibri"/>
                <a:ea typeface="Calibri"/>
                <a:cs typeface="Calibri"/>
              </a:rPr>
              <a:t>Ergebnis: Features sind leicht schiefsymmetrisch (→ Median-Imputation), Korrelationen moderat — kein extremes Multikollinearitätsproblem.</a:t>
            </a:r>
          </a:p>
        </p:txBody>
      </p:sp>
      <p:sp>
        <p:nvSpPr>
          <p:cNvPr id="9" name="Shape 6">
            <a:extLst xmlns:a="http://schemas.openxmlformats.org/drawingml/2006/main">
              <a:ext uri="{FF2B5EF4-FFF2-40B4-BE49-F238E27FC236}">
                <a16:creationId xmlns:a16="http://schemas.microsoft.com/office/drawing/2014/main" id="{98C9CBA0-4746-4819-A787-5DB8D0AFFE5A}"/>
              </a:ext>
            </a:extLst>
          </p:cNvPr>
          <p:cNvSpPr>
            <a:spLocks xmlns:a="http://schemas.openxmlformats.org/drawingml/2006/main" noGrp="1"/>
          </p:cNvSpPr>
          <p:nvPr/>
        </p:nvSpPr>
        <p:spPr>
          <a:xfrm xmlns:a="http://schemas.openxmlformats.org/drawingml/2006/main">
            <a:off x="5989320" y="1463040"/>
            <a:ext cx="5559552" cy="4297680"/>
          </a:xfrm>
          <a:prstGeom xmlns:a="http://schemas.openxmlformats.org/drawingml/2006/main" prst="roundRect">
            <a:avLst>
              <a:gd name="adj" fmla="val 127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1309959330444db6"/>
          <a:srcRect xmlns:a="http://schemas.openxmlformats.org/drawingml/2006/main" l="0" t="0" r="0" b="0"/>
          <a:stretch xmlns:a="http://schemas.openxmlformats.org/drawingml/2006/main"/>
        </p:blipFill>
        <p:spPr>
          <a:xfrm xmlns:a="http://schemas.openxmlformats.org/drawingml/2006/main">
            <a:off x="6172200" y="1645920"/>
            <a:ext cx="5193792" cy="393192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7B94F3C5-11FD-4926-921F-42FF906F885E}"/>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2" name="Text 8">
            <a:extLst xmlns:a="http://schemas.openxmlformats.org/drawingml/2006/main">
              <a:ext uri="{FF2B5EF4-FFF2-40B4-BE49-F238E27FC236}">
                <a16:creationId xmlns:a16="http://schemas.microsoft.com/office/drawing/2014/main" id="{6C5A1424-0D60-4628-ABCB-3EE1DEEA4203}"/>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7</a:t>
            </a:r>
          </a:p>
        </p:txBody>
      </p:sp>
    </p:spTree>
    <p:extLst>
      <p:ext uri="{BB962C8B-B14F-4D97-AF65-F5344CB8AC3E}">
        <p14:creationId xmlns:p14="http://schemas.microsoft.com/office/powerpoint/2010/main" val="672500598"/>
      </p:ext>
    </p:extLst>
  </p:cSld>
</p:sld>
</file>

<file path=ppt/slides/slide8.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BFA5EB5-7E51-4920-84D5-BCDAC6A41821}"/>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f68033e72c474f0d"/>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3E6DA419-AFCB-4D68-96A2-32E2D4F713A9}"/>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DATEN · QUALITÄT</a:t>
            </a:r>
          </a:p>
        </p:txBody>
      </p:sp>
      <p:sp>
        <p:nvSpPr>
          <p:cNvPr id="5" name="Text 2">
            <a:extLst xmlns:a="http://schemas.openxmlformats.org/drawingml/2006/main">
              <a:ext uri="{FF2B5EF4-FFF2-40B4-BE49-F238E27FC236}">
                <a16:creationId xmlns:a16="http://schemas.microsoft.com/office/drawing/2014/main" id="{D224752B-EC8B-4D45-A074-5E8A9F506F51}"/>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Fehlende Werte entstehen systematisch</a:t>
            </a:r>
          </a:p>
        </p:txBody>
      </p:sp>
      <p:sp>
        <p:nvSpPr>
          <p:cNvPr id="6" name="Text 3">
            <a:extLst xmlns:a="http://schemas.openxmlformats.org/drawingml/2006/main">
              <a:ext uri="{FF2B5EF4-FFF2-40B4-BE49-F238E27FC236}">
                <a16:creationId xmlns:a16="http://schemas.microsoft.com/office/drawing/2014/main" id="{85897D35-8444-4A63-88CE-39136AFD28C3}"/>
              </a:ext>
            </a:extLst>
          </p:cNvPr>
          <p:cNvSpPr>
            <a:spLocks xmlns:a="http://schemas.openxmlformats.org/drawingml/2006/main" noGrp="1"/>
          </p:cNvSpPr>
          <p:nvPr/>
        </p:nvSpPr>
        <p:spPr>
          <a:xfrm xmlns:a="http://schemas.openxmlformats.org/drawingml/2006/main">
            <a:off x="640080" y="1463040"/>
            <a:ext cx="108813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a:solidFill>
                  <a:srgbClr val="171A17"/>
                </a:solidFill>
                <a:latin typeface="Calibri"/>
                <a:ea typeface="Calibri"/>
                <a:cs typeface="Calibri"/>
              </a:rPr>
              <a:t>Bei gleitenden Durchschnitten fehlen die ersten 20 bis 200 Handelstage je Ticker, weil zunächst noch kein vollständiges Zeitfenster existiert.</a:t>
            </a:r>
          </a:p>
        </p:txBody>
      </p:sp>
      <p:sp>
        <p:nvSpPr>
          <p:cNvPr id="7" name="Shape 4">
            <a:extLst xmlns:a="http://schemas.openxmlformats.org/drawingml/2006/main">
              <a:ext uri="{FF2B5EF4-FFF2-40B4-BE49-F238E27FC236}">
                <a16:creationId xmlns:a16="http://schemas.microsoft.com/office/drawing/2014/main" id="{8A67A981-9C16-4BB9-9085-511C743FD39E}"/>
              </a:ext>
            </a:extLst>
          </p:cNvPr>
          <p:cNvSpPr>
            <a:spLocks xmlns:a="http://schemas.openxmlformats.org/drawingml/2006/main" noGrp="1"/>
          </p:cNvSpPr>
          <p:nvPr/>
        </p:nvSpPr>
        <p:spPr>
          <a:xfrm xmlns:a="http://schemas.openxmlformats.org/drawingml/2006/main">
            <a:off x="640080" y="2377440"/>
            <a:ext cx="5349240" cy="1783080"/>
          </a:xfrm>
          <a:prstGeom xmlns:a="http://schemas.openxmlformats.org/drawingml/2006/main" prst="roundRect">
            <a:avLst>
              <a:gd name="adj" fmla="val 3077"/>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ADA43F9B-0FDE-4D76-8D75-00DD3C8D6C41}"/>
              </a:ext>
            </a:extLst>
          </p:cNvPr>
          <p:cNvSpPr>
            <a:spLocks xmlns:a="http://schemas.openxmlformats.org/drawingml/2006/main" noGrp="1"/>
          </p:cNvSpPr>
          <p:nvPr/>
        </p:nvSpPr>
        <p:spPr>
          <a:xfrm xmlns:a="http://schemas.openxmlformats.org/drawingml/2006/main">
            <a:off x="868680" y="2542032"/>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F5D53"/>
                </a:solidFill>
                <a:latin typeface="Cambria"/>
                <a:ea typeface="Cambria"/>
                <a:cs typeface="Cambria"/>
              </a:rPr>
              <a:t>Strukturell fehlend – nicht zufällig</a:t>
            </a:r>
          </a:p>
        </p:txBody>
      </p:sp>
      <p:sp>
        <p:nvSpPr>
          <p:cNvPr id="9" name="Text 6">
            <a:extLst xmlns:a="http://schemas.openxmlformats.org/drawingml/2006/main">
              <a:ext uri="{FF2B5EF4-FFF2-40B4-BE49-F238E27FC236}">
                <a16:creationId xmlns:a16="http://schemas.microsoft.com/office/drawing/2014/main" id="{BCD70F65-82B9-458E-B159-B1402BBE06A4}"/>
              </a:ext>
            </a:extLst>
          </p:cNvPr>
          <p:cNvSpPr>
            <a:spLocks xmlns:a="http://schemas.openxmlformats.org/drawingml/2006/main" noGrp="1"/>
          </p:cNvSpPr>
          <p:nvPr/>
        </p:nvSpPr>
        <p:spPr>
          <a:xfrm xmlns:a="http://schemas.openxmlformats.org/drawingml/2006/main">
            <a:off x="868680" y="2944368"/>
            <a:ext cx="4892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71A17"/>
                </a:solidFill>
                <a:latin typeface="Calibri"/>
                <a:ea typeface="Calibri"/>
                <a:cs typeface="Calibri"/>
              </a:rPr>
              <a:t>Das Fehlen hängt direkt von der Position in der Zeitreihe ab. Es ist vorhersehbar und deshalb nicht MCAR.</a:t>
            </a:r>
          </a:p>
        </p:txBody>
      </p:sp>
      <p:sp>
        <p:nvSpPr>
          <p:cNvPr id="10" name="Shape 7">
            <a:extLst xmlns:a="http://schemas.openxmlformats.org/drawingml/2006/main">
              <a:ext uri="{FF2B5EF4-FFF2-40B4-BE49-F238E27FC236}">
                <a16:creationId xmlns:a16="http://schemas.microsoft.com/office/drawing/2014/main" id="{3C4F9FE9-A505-4A47-B2E7-EE006C3DE5D3}"/>
              </a:ext>
            </a:extLst>
          </p:cNvPr>
          <p:cNvSpPr>
            <a:spLocks xmlns:a="http://schemas.openxmlformats.org/drawingml/2006/main" noGrp="1"/>
          </p:cNvSpPr>
          <p:nvPr/>
        </p:nvSpPr>
        <p:spPr>
          <a:xfrm xmlns:a="http://schemas.openxmlformats.org/drawingml/2006/main">
            <a:off x="6172200" y="2377440"/>
            <a:ext cx="5349240" cy="178308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6606FABA-91F8-48D6-8E95-92659AA60BA3}"/>
              </a:ext>
            </a:extLst>
          </p:cNvPr>
          <p:cNvSpPr>
            <a:spLocks xmlns:a="http://schemas.openxmlformats.org/drawingml/2006/main" noGrp="1"/>
          </p:cNvSpPr>
          <p:nvPr/>
        </p:nvSpPr>
        <p:spPr>
          <a:xfrm xmlns:a="http://schemas.openxmlformats.org/drawingml/2006/main">
            <a:off x="6400800" y="2542032"/>
            <a:ext cx="4892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F5D53"/>
                </a:solidFill>
                <a:latin typeface="Cambria"/>
                <a:ea typeface="Cambria"/>
                <a:cs typeface="Cambria"/>
              </a:rPr>
              <a:t>Drei Strategien verglichen</a:t>
            </a:r>
          </a:p>
        </p:txBody>
      </p:sp>
      <p:sp>
        <p:nvSpPr>
          <p:cNvPr id="12" name="Text 9">
            <a:extLst xmlns:a="http://schemas.openxmlformats.org/drawingml/2006/main">
              <a:ext uri="{FF2B5EF4-FFF2-40B4-BE49-F238E27FC236}">
                <a16:creationId xmlns:a16="http://schemas.microsoft.com/office/drawing/2014/main" id="{414E2AF6-59CF-42A3-9844-D193360A2863}"/>
              </a:ext>
            </a:extLst>
          </p:cNvPr>
          <p:cNvSpPr>
            <a:spLocks xmlns:a="http://schemas.openxmlformats.org/drawingml/2006/main" noGrp="1"/>
          </p:cNvSpPr>
          <p:nvPr/>
        </p:nvSpPr>
        <p:spPr>
          <a:xfrm xmlns:a="http://schemas.openxmlformats.org/drawingml/2006/main">
            <a:off x="6400800" y="2999232"/>
            <a:ext cx="16002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71A17"/>
                </a:solidFill>
                <a:latin typeface="Calibri"/>
                <a:ea typeface="Calibri"/>
                <a:cs typeface="Calibri"/>
              </a:rPr>
              <a:t>Mean</a:t>
            </a:r>
          </a:p>
        </p:txBody>
      </p:sp>
      <p:sp>
        <p:nvSpPr>
          <p:cNvPr id="13" name="Text 10">
            <a:extLst xmlns:a="http://schemas.openxmlformats.org/drawingml/2006/main">
              <a:ext uri="{FF2B5EF4-FFF2-40B4-BE49-F238E27FC236}">
                <a16:creationId xmlns:a16="http://schemas.microsoft.com/office/drawing/2014/main" id="{AC9EAC83-2D78-4717-A55F-57036789985B}"/>
              </a:ext>
            </a:extLst>
          </p:cNvPr>
          <p:cNvSpPr>
            <a:spLocks xmlns:a="http://schemas.openxmlformats.org/drawingml/2006/main" noGrp="1"/>
          </p:cNvSpPr>
          <p:nvPr/>
        </p:nvSpPr>
        <p:spPr>
          <a:xfrm xmlns:a="http://schemas.openxmlformats.org/drawingml/2006/main">
            <a:off x="8001000" y="2999232"/>
            <a:ext cx="3383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einfach, anfällig für Ausreißer</a:t>
            </a:r>
          </a:p>
        </p:txBody>
      </p:sp>
      <p:sp>
        <p:nvSpPr>
          <p:cNvPr id="14" name="Text 11">
            <a:extLst xmlns:a="http://schemas.openxmlformats.org/drawingml/2006/main">
              <a:ext uri="{FF2B5EF4-FFF2-40B4-BE49-F238E27FC236}">
                <a16:creationId xmlns:a16="http://schemas.microsoft.com/office/drawing/2014/main" id="{7FA809ED-5483-40AE-B989-D3518CF8C84F}"/>
              </a:ext>
            </a:extLst>
          </p:cNvPr>
          <p:cNvSpPr>
            <a:spLocks xmlns:a="http://schemas.openxmlformats.org/drawingml/2006/main" noGrp="1"/>
          </p:cNvSpPr>
          <p:nvPr/>
        </p:nvSpPr>
        <p:spPr>
          <a:xfrm xmlns:a="http://schemas.openxmlformats.org/drawingml/2006/main">
            <a:off x="6400800" y="3364992"/>
            <a:ext cx="16002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A97C1E"/>
                </a:solidFill>
                <a:latin typeface="Calibri"/>
                <a:ea typeface="Calibri"/>
                <a:cs typeface="Calibri"/>
              </a:rPr>
              <a:t>Median</a:t>
            </a:r>
          </a:p>
        </p:txBody>
      </p:sp>
      <p:sp>
        <p:nvSpPr>
          <p:cNvPr id="15" name="Text 12">
            <a:extLst xmlns:a="http://schemas.openxmlformats.org/drawingml/2006/main">
              <a:ext uri="{FF2B5EF4-FFF2-40B4-BE49-F238E27FC236}">
                <a16:creationId xmlns:a16="http://schemas.microsoft.com/office/drawing/2014/main" id="{951403CA-04DA-4C44-B41B-47E631EA357B}"/>
              </a:ext>
            </a:extLst>
          </p:cNvPr>
          <p:cNvSpPr>
            <a:spLocks xmlns:a="http://schemas.openxmlformats.org/drawingml/2006/main" noGrp="1"/>
          </p:cNvSpPr>
          <p:nvPr/>
        </p:nvSpPr>
        <p:spPr>
          <a:xfrm xmlns:a="http://schemas.openxmlformats.org/drawingml/2006/main">
            <a:off x="8001000" y="3364992"/>
            <a:ext cx="3383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robust — gewählt</a:t>
            </a:r>
          </a:p>
        </p:txBody>
      </p:sp>
      <p:sp>
        <p:nvSpPr>
          <p:cNvPr id="16" name="Text 13">
            <a:extLst xmlns:a="http://schemas.openxmlformats.org/drawingml/2006/main">
              <a:ext uri="{FF2B5EF4-FFF2-40B4-BE49-F238E27FC236}">
                <a16:creationId xmlns:a16="http://schemas.microsoft.com/office/drawing/2014/main" id="{2632BFFE-84B9-4247-B02A-1A3449A8CD26}"/>
              </a:ext>
            </a:extLst>
          </p:cNvPr>
          <p:cNvSpPr>
            <a:spLocks xmlns:a="http://schemas.openxmlformats.org/drawingml/2006/main" noGrp="1"/>
          </p:cNvSpPr>
          <p:nvPr/>
        </p:nvSpPr>
        <p:spPr>
          <a:xfrm xmlns:a="http://schemas.openxmlformats.org/drawingml/2006/main">
            <a:off x="6400800" y="3730752"/>
            <a:ext cx="16002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71A17"/>
                </a:solidFill>
                <a:latin typeface="Calibri"/>
                <a:ea typeface="Calibri"/>
                <a:cs typeface="Calibri"/>
              </a:rPr>
              <a:t>KNN (k=5)</a:t>
            </a:r>
          </a:p>
        </p:txBody>
      </p:sp>
      <p:sp>
        <p:nvSpPr>
          <p:cNvPr id="17" name="Text 14">
            <a:extLst xmlns:a="http://schemas.openxmlformats.org/drawingml/2006/main">
              <a:ext uri="{FF2B5EF4-FFF2-40B4-BE49-F238E27FC236}">
                <a16:creationId xmlns:a16="http://schemas.microsoft.com/office/drawing/2014/main" id="{8788F7AB-CE20-4442-8157-55CFC8147AAB}"/>
              </a:ext>
            </a:extLst>
          </p:cNvPr>
          <p:cNvSpPr>
            <a:spLocks xmlns:a="http://schemas.openxmlformats.org/drawingml/2006/main" noGrp="1"/>
          </p:cNvSpPr>
          <p:nvPr/>
        </p:nvSpPr>
        <p:spPr>
          <a:xfrm xmlns:a="http://schemas.openxmlformats.org/drawingml/2006/main">
            <a:off x="8001000" y="3730752"/>
            <a:ext cx="3383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gleichwertig, aber teurer</a:t>
            </a:r>
          </a:p>
        </p:txBody>
      </p:sp>
      <p:sp>
        <p:nvSpPr>
          <p:cNvPr id="18" name="Shape 15">
            <a:extLst xmlns:a="http://schemas.openxmlformats.org/drawingml/2006/main">
              <a:ext uri="{FF2B5EF4-FFF2-40B4-BE49-F238E27FC236}">
                <a16:creationId xmlns:a16="http://schemas.microsoft.com/office/drawing/2014/main" id="{C2A6C24E-29EE-45BF-AB21-88BB92A26C9C}"/>
              </a:ext>
            </a:extLst>
          </p:cNvPr>
          <p:cNvSpPr>
            <a:spLocks xmlns:a="http://schemas.openxmlformats.org/drawingml/2006/main" noGrp="1"/>
          </p:cNvSpPr>
          <p:nvPr/>
        </p:nvSpPr>
        <p:spPr>
          <a:xfrm xmlns:a="http://schemas.openxmlformats.org/drawingml/2006/main">
            <a:off x="640080" y="4434840"/>
            <a:ext cx="10881360" cy="1691640"/>
          </a:xfrm>
          <a:prstGeom xmlns:a="http://schemas.openxmlformats.org/drawingml/2006/main" prst="roundRect">
            <a:avLst>
              <a:gd name="adj" fmla="val 3243"/>
            </a:avLst>
          </a:prstGeom>
          <a:solidFill xmlns:a="http://schemas.openxmlformats.org/drawingml/2006/main">
            <a:srgbClr val="F3E7C9"/>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892DFDB4-F221-4532-AE89-60D2D0851DC3}"/>
              </a:ext>
            </a:extLst>
          </p:cNvPr>
          <p:cNvSpPr>
            <a:spLocks xmlns:a="http://schemas.openxmlformats.org/drawingml/2006/main" noGrp="1"/>
          </p:cNvSpPr>
          <p:nvPr/>
        </p:nvSpPr>
        <p:spPr>
          <a:xfrm xmlns:a="http://schemas.openxmlformats.org/drawingml/2006/main">
            <a:off x="914400" y="4709160"/>
            <a:ext cx="10332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A97C1E"/>
                </a:solidFill>
                <a:latin typeface="Cambria"/>
                <a:ea typeface="Cambria"/>
                <a:cs typeface="Cambria"/>
              </a:rPr>
              <a:t>Pragmatische Entscheidung für die Modellpipeline</a:t>
            </a:r>
          </a:p>
        </p:txBody>
      </p:sp>
      <p:sp>
        <p:nvSpPr>
          <p:cNvPr id="20" name="Text 17">
            <a:extLst xmlns:a="http://schemas.openxmlformats.org/drawingml/2006/main">
              <a:ext uri="{FF2B5EF4-FFF2-40B4-BE49-F238E27FC236}">
                <a16:creationId xmlns:a16="http://schemas.microsoft.com/office/drawing/2014/main" id="{6EC5E04F-45FA-43EC-8313-048D9FAB55F2}"/>
              </a:ext>
            </a:extLst>
          </p:cNvPr>
          <p:cNvSpPr>
            <a:spLocks xmlns:a="http://schemas.openxmlformats.org/drawingml/2006/main" noGrp="1"/>
          </p:cNvSpPr>
          <p:nvPr/>
        </p:nvSpPr>
        <p:spPr>
          <a:xfrm xmlns:a="http://schemas.openxmlformats.org/drawingml/2006/main">
            <a:off x="914400" y="5166360"/>
            <a:ext cx="10332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i="1">
                <a:solidFill>
                  <a:srgbClr val="171A17"/>
                </a:solidFill>
                <a:latin typeface="Calibri"/>
                <a:ea typeface="Calibri"/>
                <a:cs typeface="Calibri"/>
              </a:rPr>
              <a:t>Mean, Median und KNN wurden verglichen. Der Median ist robust gegen Ausreißer, günstig zu berechnen und wird ausschließlich im Trainingsfenster bestimmt.</a:t>
            </a:r>
          </a:p>
        </p:txBody>
      </p:sp>
      <p:sp>
        <p:nvSpPr>
          <p:cNvPr id="21" name="Text 18">
            <a:extLst xmlns:a="http://schemas.openxmlformats.org/drawingml/2006/main">
              <a:ext uri="{FF2B5EF4-FFF2-40B4-BE49-F238E27FC236}">
                <a16:creationId xmlns:a16="http://schemas.microsoft.com/office/drawing/2014/main" id="{7C021D94-CEB1-4823-82B5-41D60423C192}"/>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22" name="Text 19">
            <a:extLst xmlns:a="http://schemas.openxmlformats.org/drawingml/2006/main">
              <a:ext uri="{FF2B5EF4-FFF2-40B4-BE49-F238E27FC236}">
                <a16:creationId xmlns:a16="http://schemas.microsoft.com/office/drawing/2014/main" id="{0748FA33-3987-4DAC-9A46-ECD0B0E8C767}"/>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8</a:t>
            </a:r>
          </a:p>
        </p:txBody>
      </p:sp>
    </p:spTree>
    <p:extLst>
      <p:ext uri="{BB962C8B-B14F-4D97-AF65-F5344CB8AC3E}">
        <p14:creationId xmlns:p14="http://schemas.microsoft.com/office/powerpoint/2010/main" val="1147072283"/>
      </p:ext>
    </p:extLst>
  </p:cSld>
</p:sld>
</file>

<file path=ppt/slides/slide9.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448088E-5534-4310-B481-D8E5CC082840}"/>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1f645fcbc5d146eb"/>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1EFDFCF0-FB67-4DDD-98E5-DA4DB67AF3E3}"/>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ANALYSE · MERKMALE</a:t>
            </a:r>
          </a:p>
        </p:txBody>
      </p:sp>
      <p:sp>
        <p:nvSpPr>
          <p:cNvPr id="5" name="Text 2">
            <a:extLst xmlns:a="http://schemas.openxmlformats.org/drawingml/2006/main">
              <a:ext uri="{FF2B5EF4-FFF2-40B4-BE49-F238E27FC236}">
                <a16:creationId xmlns:a16="http://schemas.microsoft.com/office/drawing/2014/main" id="{7CBE725E-FA0B-457E-8831-84F816EE5402}"/>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Acht Merkmale: Rendite, Trend und Risiko</a:t>
            </a:r>
          </a:p>
        </p:txBody>
      </p:sp>
      <p:sp>
        <p:nvSpPr>
          <p:cNvPr id="6" name="Shape 3">
            <a:extLst xmlns:a="http://schemas.openxmlformats.org/drawingml/2006/main">
              <a:ext uri="{FF2B5EF4-FFF2-40B4-BE49-F238E27FC236}">
                <a16:creationId xmlns:a16="http://schemas.microsoft.com/office/drawing/2014/main" id="{E4BD1C2A-8680-4FE4-8133-D69329D25A22}"/>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oundRect">
            <a:avLst>
              <a:gd name="adj" fmla="val 22222"/>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C1131EFD-0640-4FB2-BD24-8EFF1DA79339}"/>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F5D53"/>
                </a:solidFill>
                <a:latin typeface="Calibri"/>
                <a:ea typeface="Calibri"/>
                <a:cs typeface="Calibri"/>
              </a:rPr>
              <a:t>1,5 Min</a:t>
            </a:r>
          </a:p>
        </p:txBody>
      </p:sp>
      <p:sp>
        <p:nvSpPr>
          <p:cNvPr id="8" name="Text 5">
            <a:extLst xmlns:a="http://schemas.openxmlformats.org/drawingml/2006/main">
              <a:ext uri="{FF2B5EF4-FFF2-40B4-BE49-F238E27FC236}">
                <a16:creationId xmlns:a16="http://schemas.microsoft.com/office/drawing/2014/main" id="{875E631A-4D73-4954-AC23-11145143B803}"/>
              </a:ext>
            </a:extLst>
          </p:cNvPr>
          <p:cNvSpPr>
            <a:spLocks xmlns:a="http://schemas.openxmlformats.org/drawingml/2006/main" noGrp="1"/>
          </p:cNvSpPr>
          <p:nvPr/>
        </p:nvSpPr>
        <p:spPr>
          <a:xfrm xmlns:a="http://schemas.openxmlformats.org/drawingml/2006/main">
            <a:off x="640080" y="141732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171A17"/>
                </a:solidFill>
                <a:latin typeface="Calibri"/>
                <a:ea typeface="Calibri"/>
                <a:cs typeface="Calibri"/>
              </a:rPr>
              <a:t>Aus täglichen Kurs- und Volumendaten entstehen acht vergleichbare Merkmale:</a:t>
            </a:r>
          </a:p>
        </p:txBody>
      </p:sp>
      <p:sp>
        <p:nvSpPr>
          <p:cNvPr id="9" name="Shape 6">
            <a:extLst xmlns:a="http://schemas.openxmlformats.org/drawingml/2006/main">
              <a:ext uri="{FF2B5EF4-FFF2-40B4-BE49-F238E27FC236}">
                <a16:creationId xmlns:a16="http://schemas.microsoft.com/office/drawing/2014/main" id="{0D9871DE-7787-48A3-8FA9-FD7290068A05}"/>
              </a:ext>
            </a:extLst>
          </p:cNvPr>
          <p:cNvSpPr>
            <a:spLocks xmlns:a="http://schemas.openxmlformats.org/drawingml/2006/main" noGrp="1"/>
          </p:cNvSpPr>
          <p:nvPr/>
        </p:nvSpPr>
        <p:spPr>
          <a:xfrm xmlns:a="http://schemas.openxmlformats.org/drawingml/2006/main">
            <a:off x="640080" y="1965960"/>
            <a:ext cx="10881360" cy="86868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3AC51C09-4F96-4B84-A92F-0D277BDA0E9C}"/>
              </a:ext>
            </a:extLst>
          </p:cNvPr>
          <p:cNvSpPr>
            <a:spLocks xmlns:a="http://schemas.openxmlformats.org/drawingml/2006/main" noGrp="1"/>
          </p:cNvSpPr>
          <p:nvPr/>
        </p:nvSpPr>
        <p:spPr>
          <a:xfrm xmlns:a="http://schemas.openxmlformats.org/drawingml/2006/main">
            <a:off x="868680" y="1965960"/>
            <a:ext cx="24688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Rendite</a:t>
            </a:r>
          </a:p>
        </p:txBody>
      </p:sp>
      <p:sp>
        <p:nvSpPr>
          <p:cNvPr id="11" name="Text 8">
            <a:extLst xmlns:a="http://schemas.openxmlformats.org/drawingml/2006/main">
              <a:ext uri="{FF2B5EF4-FFF2-40B4-BE49-F238E27FC236}">
                <a16:creationId xmlns:a16="http://schemas.microsoft.com/office/drawing/2014/main" id="{30757880-D034-41E4-B7CC-D90F80C3E21A}"/>
              </a:ext>
            </a:extLst>
          </p:cNvPr>
          <p:cNvSpPr>
            <a:spLocks xmlns:a="http://schemas.openxmlformats.org/drawingml/2006/main" noGrp="1"/>
          </p:cNvSpPr>
          <p:nvPr/>
        </p:nvSpPr>
        <p:spPr>
          <a:xfrm xmlns:a="http://schemas.openxmlformats.org/drawingml/2006/main">
            <a:off x="3429000" y="1965960"/>
            <a:ext cx="374904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7C1E"/>
                </a:solidFill>
                <a:latin typeface="Calibri"/>
                <a:ea typeface="Calibri"/>
                <a:cs typeface="Calibri"/>
              </a:rPr>
              <a:t>1 Tag · 5 Tage · 20 Tage</a:t>
            </a:r>
          </a:p>
        </p:txBody>
      </p:sp>
      <p:sp>
        <p:nvSpPr>
          <p:cNvPr id="12" name="Text 9">
            <a:extLst xmlns:a="http://schemas.openxmlformats.org/drawingml/2006/main">
              <a:ext uri="{FF2B5EF4-FFF2-40B4-BE49-F238E27FC236}">
                <a16:creationId xmlns:a16="http://schemas.microsoft.com/office/drawing/2014/main" id="{151A67F1-78B1-43EF-91FA-BDCF79E7C2CD}"/>
              </a:ext>
            </a:extLst>
          </p:cNvPr>
          <p:cNvSpPr>
            <a:spLocks xmlns:a="http://schemas.openxmlformats.org/drawingml/2006/main" noGrp="1"/>
          </p:cNvSpPr>
          <p:nvPr/>
        </p:nvSpPr>
        <p:spPr>
          <a:xfrm xmlns:a="http://schemas.openxmlformats.org/drawingml/2006/main">
            <a:off x="7269480" y="1965960"/>
            <a:ext cx="41148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Kursentwicklung über drei Zeiträume</a:t>
            </a:r>
          </a:p>
        </p:txBody>
      </p:sp>
      <p:sp>
        <p:nvSpPr>
          <p:cNvPr id="13" name="Shape 10">
            <a:extLst xmlns:a="http://schemas.openxmlformats.org/drawingml/2006/main">
              <a:ext uri="{FF2B5EF4-FFF2-40B4-BE49-F238E27FC236}">
                <a16:creationId xmlns:a16="http://schemas.microsoft.com/office/drawing/2014/main" id="{EFD77320-5B94-43E4-8A60-C68DDA74B83C}"/>
              </a:ext>
            </a:extLst>
          </p:cNvPr>
          <p:cNvSpPr>
            <a:spLocks xmlns:a="http://schemas.openxmlformats.org/drawingml/2006/main" noGrp="1"/>
          </p:cNvSpPr>
          <p:nvPr/>
        </p:nvSpPr>
        <p:spPr>
          <a:xfrm xmlns:a="http://schemas.openxmlformats.org/drawingml/2006/main">
            <a:off x="640080" y="2971800"/>
            <a:ext cx="10881360" cy="86868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87AA88F4-C8C4-4F6E-9072-F79B8FC3772E}"/>
              </a:ext>
            </a:extLst>
          </p:cNvPr>
          <p:cNvSpPr>
            <a:spLocks xmlns:a="http://schemas.openxmlformats.org/drawingml/2006/main" noGrp="1"/>
          </p:cNvSpPr>
          <p:nvPr/>
        </p:nvSpPr>
        <p:spPr>
          <a:xfrm xmlns:a="http://schemas.openxmlformats.org/drawingml/2006/main">
            <a:off x="868680" y="2971800"/>
            <a:ext cx="24688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Trend</a:t>
            </a:r>
          </a:p>
        </p:txBody>
      </p:sp>
      <p:sp>
        <p:nvSpPr>
          <p:cNvPr id="15" name="Text 12">
            <a:extLst xmlns:a="http://schemas.openxmlformats.org/drawingml/2006/main">
              <a:ext uri="{FF2B5EF4-FFF2-40B4-BE49-F238E27FC236}">
                <a16:creationId xmlns:a16="http://schemas.microsoft.com/office/drawing/2014/main" id="{F0F98E8B-3BD2-48D2-A2F1-77CAE81D817C}"/>
              </a:ext>
            </a:extLst>
          </p:cNvPr>
          <p:cNvSpPr>
            <a:spLocks xmlns:a="http://schemas.openxmlformats.org/drawingml/2006/main" noGrp="1"/>
          </p:cNvSpPr>
          <p:nvPr/>
        </p:nvSpPr>
        <p:spPr>
          <a:xfrm xmlns:a="http://schemas.openxmlformats.org/drawingml/2006/main">
            <a:off x="3429000" y="2971800"/>
            <a:ext cx="374904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7C1E"/>
                </a:solidFill>
                <a:latin typeface="Calibri"/>
                <a:ea typeface="Calibri"/>
                <a:cs typeface="Calibri"/>
              </a:rPr>
              <a:t>Abstand zu MA-20 · MA-50 · MA-200</a:t>
            </a:r>
          </a:p>
        </p:txBody>
      </p:sp>
      <p:sp>
        <p:nvSpPr>
          <p:cNvPr id="16" name="Text 13">
            <a:extLst xmlns:a="http://schemas.openxmlformats.org/drawingml/2006/main">
              <a:ext uri="{FF2B5EF4-FFF2-40B4-BE49-F238E27FC236}">
                <a16:creationId xmlns:a16="http://schemas.microsoft.com/office/drawing/2014/main" id="{702EC4C1-6DD1-4E4F-927A-A23FB005CF95}"/>
              </a:ext>
            </a:extLst>
          </p:cNvPr>
          <p:cNvSpPr>
            <a:spLocks xmlns:a="http://schemas.openxmlformats.org/drawingml/2006/main" noGrp="1"/>
          </p:cNvSpPr>
          <p:nvPr/>
        </p:nvSpPr>
        <p:spPr>
          <a:xfrm xmlns:a="http://schemas.openxmlformats.org/drawingml/2006/main">
            <a:off x="7269480" y="2971800"/>
            <a:ext cx="41148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Abstand zu kurz-, mittel- und langfristigen Durchschnitten</a:t>
            </a:r>
          </a:p>
        </p:txBody>
      </p:sp>
      <p:sp>
        <p:nvSpPr>
          <p:cNvPr id="17" name="Shape 14">
            <a:extLst xmlns:a="http://schemas.openxmlformats.org/drawingml/2006/main">
              <a:ext uri="{FF2B5EF4-FFF2-40B4-BE49-F238E27FC236}">
                <a16:creationId xmlns:a16="http://schemas.microsoft.com/office/drawing/2014/main" id="{A33A9AB8-1782-4C8E-8C10-A22F9544D665}"/>
              </a:ext>
            </a:extLst>
          </p:cNvPr>
          <p:cNvSpPr>
            <a:spLocks xmlns:a="http://schemas.openxmlformats.org/drawingml/2006/main" noGrp="1"/>
          </p:cNvSpPr>
          <p:nvPr/>
        </p:nvSpPr>
        <p:spPr>
          <a:xfrm xmlns:a="http://schemas.openxmlformats.org/drawingml/2006/main">
            <a:off x="640080" y="3977640"/>
            <a:ext cx="10881360" cy="86868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BF251C70-101C-4E0B-B73D-513BFB021F83}"/>
              </a:ext>
            </a:extLst>
          </p:cNvPr>
          <p:cNvSpPr>
            <a:spLocks xmlns:a="http://schemas.openxmlformats.org/drawingml/2006/main" noGrp="1"/>
          </p:cNvSpPr>
          <p:nvPr/>
        </p:nvSpPr>
        <p:spPr>
          <a:xfrm xmlns:a="http://schemas.openxmlformats.org/drawingml/2006/main">
            <a:off x="868680" y="3977640"/>
            <a:ext cx="24688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Risiko</a:t>
            </a:r>
          </a:p>
        </p:txBody>
      </p:sp>
      <p:sp>
        <p:nvSpPr>
          <p:cNvPr id="19" name="Text 16">
            <a:extLst xmlns:a="http://schemas.openxmlformats.org/drawingml/2006/main">
              <a:ext uri="{FF2B5EF4-FFF2-40B4-BE49-F238E27FC236}">
                <a16:creationId xmlns:a16="http://schemas.microsoft.com/office/drawing/2014/main" id="{76F2EB7E-CAF9-456C-A9E7-A8B8521812F3}"/>
              </a:ext>
            </a:extLst>
          </p:cNvPr>
          <p:cNvSpPr>
            <a:spLocks xmlns:a="http://schemas.openxmlformats.org/drawingml/2006/main" noGrp="1"/>
          </p:cNvSpPr>
          <p:nvPr/>
        </p:nvSpPr>
        <p:spPr>
          <a:xfrm xmlns:a="http://schemas.openxmlformats.org/drawingml/2006/main">
            <a:off x="3429000" y="3977640"/>
            <a:ext cx="374904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7C1E"/>
                </a:solidFill>
                <a:latin typeface="Calibri"/>
                <a:ea typeface="Calibri"/>
                <a:cs typeface="Calibri"/>
              </a:rPr>
              <a:t>20-Tage-Volatilität · Drawdown</a:t>
            </a:r>
          </a:p>
        </p:txBody>
      </p:sp>
      <p:sp>
        <p:nvSpPr>
          <p:cNvPr id="20" name="Text 17">
            <a:extLst xmlns:a="http://schemas.openxmlformats.org/drawingml/2006/main">
              <a:ext uri="{FF2B5EF4-FFF2-40B4-BE49-F238E27FC236}">
                <a16:creationId xmlns:a16="http://schemas.microsoft.com/office/drawing/2014/main" id="{096A647E-2F4E-42D3-B7F0-D8EB13DC0C46}"/>
              </a:ext>
            </a:extLst>
          </p:cNvPr>
          <p:cNvSpPr>
            <a:spLocks xmlns:a="http://schemas.openxmlformats.org/drawingml/2006/main" noGrp="1"/>
          </p:cNvSpPr>
          <p:nvPr/>
        </p:nvSpPr>
        <p:spPr>
          <a:xfrm xmlns:a="http://schemas.openxmlformats.org/drawingml/2006/main">
            <a:off x="7269480" y="3977640"/>
            <a:ext cx="41148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Schwankung und Verlust seit dem letzten Hoch</a:t>
            </a:r>
          </a:p>
        </p:txBody>
      </p:sp>
      <p:sp>
        <p:nvSpPr>
          <p:cNvPr id="21" name="Shape 18">
            <a:extLst xmlns:a="http://schemas.openxmlformats.org/drawingml/2006/main">
              <a:ext uri="{FF2B5EF4-FFF2-40B4-BE49-F238E27FC236}">
                <a16:creationId xmlns:a16="http://schemas.microsoft.com/office/drawing/2014/main" id="{8CBDAACE-C9AD-4DA5-AA42-B4ED596E8414}"/>
              </a:ext>
            </a:extLst>
          </p:cNvPr>
          <p:cNvSpPr>
            <a:spLocks xmlns:a="http://schemas.openxmlformats.org/drawingml/2006/main" noGrp="1"/>
          </p:cNvSpPr>
          <p:nvPr/>
        </p:nvSpPr>
        <p:spPr>
          <a:xfrm xmlns:a="http://schemas.openxmlformats.org/drawingml/2006/main">
            <a:off x="640080" y="5074920"/>
            <a:ext cx="10881360" cy="1234440"/>
          </a:xfrm>
          <a:prstGeom xmlns:a="http://schemas.openxmlformats.org/drawingml/2006/main" prst="roundRect">
            <a:avLst>
              <a:gd name="adj" fmla="val 4444"/>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2" name="Text 19">
            <a:extLst xmlns:a="http://schemas.openxmlformats.org/drawingml/2006/main">
              <a:ext uri="{FF2B5EF4-FFF2-40B4-BE49-F238E27FC236}">
                <a16:creationId xmlns:a16="http://schemas.microsoft.com/office/drawing/2014/main" id="{DB454637-B2BF-434A-9950-8473FB1E674C}"/>
              </a:ext>
            </a:extLst>
          </p:cNvPr>
          <p:cNvSpPr>
            <a:spLocks xmlns:a="http://schemas.openxmlformats.org/drawingml/2006/main" noGrp="1"/>
          </p:cNvSpPr>
          <p:nvPr/>
        </p:nvSpPr>
        <p:spPr>
          <a:xfrm xmlns:a="http://schemas.openxmlformats.org/drawingml/2006/main">
            <a:off x="914400" y="5074920"/>
            <a:ext cx="1033272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libri"/>
                <a:ea typeface="Calibri"/>
                <a:cs typeface="Calibri"/>
              </a:rPr>
              <a:t>Ziel: Liegt der Schlusskurs in 20 Handelstagen höher als heute? Das Modell klassifiziert die Richtung; die exakte Kurshöhe wird nicht prognostiziert.</a:t>
            </a:r>
          </a:p>
        </p:txBody>
      </p:sp>
      <p:sp>
        <p:nvSpPr>
          <p:cNvPr id="23" name="Text 20">
            <a:extLst xmlns:a="http://schemas.openxmlformats.org/drawingml/2006/main">
              <a:ext uri="{FF2B5EF4-FFF2-40B4-BE49-F238E27FC236}">
                <a16:creationId xmlns:a16="http://schemas.microsoft.com/office/drawing/2014/main" id="{A56369F1-727D-4097-BAD2-28DBEC2A7A0F}"/>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24" name="Text 21">
            <a:extLst xmlns:a="http://schemas.openxmlformats.org/drawingml/2006/main">
              <a:ext uri="{FF2B5EF4-FFF2-40B4-BE49-F238E27FC236}">
                <a16:creationId xmlns:a16="http://schemas.microsoft.com/office/drawing/2014/main" id="{154F7B4C-DE4A-4371-9C4A-EF23C80A108F}"/>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9</a:t>
            </a:r>
          </a:p>
        </p:txBody>
      </p:sp>
    </p:spTree>
    <p:extLst>
      <p:ext uri="{BB962C8B-B14F-4D97-AF65-F5344CB8AC3E}">
        <p14:creationId xmlns:p14="http://schemas.microsoft.com/office/powerpoint/2010/main" val="1194178535"/>
      </p:ext>
    </p:extLst>
  </p:cSld>
</p:sld>
</file>

<file path=ppt/slides/slide10.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59D196C-6CC5-4326-8B2B-BDDCBDC149E4}"/>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6761c3c7fc3f499a"/>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8E4EF7AB-7FFB-460E-B158-764E6A6ECAE2}"/>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METHODIK · VORVERARBEITUNG</a:t>
            </a:r>
          </a:p>
        </p:txBody>
      </p:sp>
      <p:sp>
        <p:nvSpPr>
          <p:cNvPr id="5" name="Text 2">
            <a:extLst xmlns:a="http://schemas.openxmlformats.org/drawingml/2006/main">
              <a:ext uri="{FF2B5EF4-FFF2-40B4-BE49-F238E27FC236}">
                <a16:creationId xmlns:a16="http://schemas.microsoft.com/office/drawing/2014/main" id="{66447050-2C04-4E9E-ACB7-F66B19968DBF}"/>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Skalierung ohne Data Leakage</a:t>
            </a:r>
          </a:p>
        </p:txBody>
      </p:sp>
      <p:sp>
        <p:nvSpPr>
          <p:cNvPr id="6" name="Shape 3">
            <a:extLst xmlns:a="http://schemas.openxmlformats.org/drawingml/2006/main">
              <a:ext uri="{FF2B5EF4-FFF2-40B4-BE49-F238E27FC236}">
                <a16:creationId xmlns:a16="http://schemas.microsoft.com/office/drawing/2014/main" id="{DF688154-32E1-4E2B-9D08-78A4C1C38D28}"/>
              </a:ext>
            </a:extLst>
          </p:cNvPr>
          <p:cNvSpPr>
            <a:spLocks xmlns:a="http://schemas.openxmlformats.org/drawingml/2006/main" noGrp="1"/>
          </p:cNvSpPr>
          <p:nvPr/>
        </p:nvSpPr>
        <p:spPr>
          <a:xfrm xmlns:a="http://schemas.openxmlformats.org/drawingml/2006/main">
            <a:off x="640080" y="1463040"/>
            <a:ext cx="5257800" cy="187452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390A62E8-FD5F-491F-BF08-DE311450BCCE}"/>
              </a:ext>
            </a:extLst>
          </p:cNvPr>
          <p:cNvSpPr>
            <a:spLocks xmlns:a="http://schemas.openxmlformats.org/drawingml/2006/main" noGrp="1"/>
          </p:cNvSpPr>
          <p:nvPr/>
        </p:nvSpPr>
        <p:spPr>
          <a:xfrm xmlns:a="http://schemas.openxmlformats.org/drawingml/2006/main">
            <a:off x="868680" y="1664208"/>
            <a:ext cx="4800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F5D53"/>
                </a:solidFill>
                <a:latin typeface="Cambria"/>
                <a:ea typeface="Cambria"/>
                <a:cs typeface="Cambria"/>
              </a:rPr>
              <a:t>1 · Was macht der StandardScaler?</a:t>
            </a:r>
          </a:p>
        </p:txBody>
      </p:sp>
      <p:sp>
        <p:nvSpPr>
          <p:cNvPr id="8" name="Text 5">
            <a:extLst xmlns:a="http://schemas.openxmlformats.org/drawingml/2006/main">
              <a:ext uri="{FF2B5EF4-FFF2-40B4-BE49-F238E27FC236}">
                <a16:creationId xmlns:a16="http://schemas.microsoft.com/office/drawing/2014/main" id="{FB23002E-39F8-4F06-9C92-D652DC8F22C6}"/>
              </a:ext>
            </a:extLst>
          </p:cNvPr>
          <p:cNvSpPr>
            <a:spLocks xmlns:a="http://schemas.openxmlformats.org/drawingml/2006/main" noGrp="1"/>
          </p:cNvSpPr>
          <p:nvPr/>
        </p:nvSpPr>
        <p:spPr>
          <a:xfrm xmlns:a="http://schemas.openxmlformats.org/drawingml/2006/main">
            <a:off x="868680" y="2148840"/>
            <a:ext cx="48006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71A17"/>
                </a:solidFill>
                <a:latin typeface="Calibri"/>
                <a:ea typeface="Calibri"/>
                <a:cs typeface="Calibri"/>
              </a:rPr>
              <a:t>z = (x − μ_train) / σ_train</a:t>
            </a:r>
          </a:p>
          <a:p xmlns:a="http://schemas.openxmlformats.org/drawingml/2006/main">
            <a:pPr marL="0" indent="0">
              <a:buNone/>
            </a:pPr>
            <a:r>
              <a:rPr sz="1300">
                <a:solidFill>
                  <a:srgbClr val="171A17"/>
                </a:solidFill>
                <a:latin typeface="Calibri"/>
                <a:ea typeface="Calibri"/>
                <a:cs typeface="Calibri"/>
              </a:rPr>
              <a:t>Ergebnis je Feature: Mittelwert 0, Standardabweichung 1.</a:t>
            </a:r>
          </a:p>
          <a:p xmlns:a="http://schemas.openxmlformats.org/drawingml/2006/main">
            <a:pPr marL="0" indent="0">
              <a:buNone/>
            </a:pPr>
            <a:r>
              <a:rPr sz="1300">
                <a:solidFill>
                  <a:srgbClr val="171A17"/>
                </a:solidFill>
                <a:latin typeface="Calibri"/>
                <a:ea typeface="Calibri"/>
                <a:cs typeface="Calibri"/>
              </a:rPr>
              <a:t>Die Rangfolge der Werte bleibt erhalten.</a:t>
            </a:r>
          </a:p>
        </p:txBody>
      </p:sp>
      <p:sp>
        <p:nvSpPr>
          <p:cNvPr id="9" name="Shape 6">
            <a:extLst xmlns:a="http://schemas.openxmlformats.org/drawingml/2006/main">
              <a:ext uri="{FF2B5EF4-FFF2-40B4-BE49-F238E27FC236}">
                <a16:creationId xmlns:a16="http://schemas.microsoft.com/office/drawing/2014/main" id="{8E317231-4E1B-444E-A50D-60D0B6060035}"/>
              </a:ext>
            </a:extLst>
          </p:cNvPr>
          <p:cNvSpPr>
            <a:spLocks xmlns:a="http://schemas.openxmlformats.org/drawingml/2006/main" noGrp="1"/>
          </p:cNvSpPr>
          <p:nvPr/>
        </p:nvSpPr>
        <p:spPr>
          <a:xfrm xmlns:a="http://schemas.openxmlformats.org/drawingml/2006/main">
            <a:off x="6172200" y="1463040"/>
            <a:ext cx="5376672" cy="187452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E7BB15FD-FD21-4676-BAE6-B2E277865D68}"/>
              </a:ext>
            </a:extLst>
          </p:cNvPr>
          <p:cNvSpPr>
            <a:spLocks xmlns:a="http://schemas.openxmlformats.org/drawingml/2006/main" noGrp="1"/>
          </p:cNvSpPr>
          <p:nvPr/>
        </p:nvSpPr>
        <p:spPr>
          <a:xfrm xmlns:a="http://schemas.openxmlformats.org/drawingml/2006/main">
            <a:off x="6400800" y="1664208"/>
            <a:ext cx="49377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F5D53"/>
                </a:solidFill>
                <a:latin typeface="Cambria"/>
                <a:ea typeface="Cambria"/>
                <a:cs typeface="Cambria"/>
              </a:rPr>
              <a:t>2 · Welche Modelle brauchen ihn?</a:t>
            </a:r>
          </a:p>
        </p:txBody>
      </p:sp>
      <p:sp>
        <p:nvSpPr>
          <p:cNvPr id="11" name="Text 8">
            <a:extLst xmlns:a="http://schemas.openxmlformats.org/drawingml/2006/main">
              <a:ext uri="{FF2B5EF4-FFF2-40B4-BE49-F238E27FC236}">
                <a16:creationId xmlns:a16="http://schemas.microsoft.com/office/drawing/2014/main" id="{60EA55D2-DF67-4D1E-B155-E2B9635A4AAE}"/>
              </a:ext>
            </a:extLst>
          </p:cNvPr>
          <p:cNvSpPr>
            <a:spLocks xmlns:a="http://schemas.openxmlformats.org/drawingml/2006/main" noGrp="1"/>
          </p:cNvSpPr>
          <p:nvPr/>
        </p:nvSpPr>
        <p:spPr>
          <a:xfrm xmlns:a="http://schemas.openxmlformats.org/drawingml/2006/main">
            <a:off x="6400800" y="2148840"/>
            <a:ext cx="49377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71A17"/>
                </a:solidFill>
                <a:latin typeface="Calibri"/>
                <a:ea typeface="Calibri"/>
                <a:cs typeface="Calibri"/>
              </a:rPr>
              <a:t>LogReg &amp; SVM: ja — Abstände und Regularisierung reagieren auf Größenordnungen.</a:t>
            </a:r>
          </a:p>
          <a:p xmlns:a="http://schemas.openxmlformats.org/drawingml/2006/main">
            <a:pPr marL="0" indent="0">
              <a:buNone/>
            </a:pPr>
            <a:r>
              <a:rPr sz="1300">
                <a:solidFill>
                  <a:srgbClr val="171A17"/>
                </a:solidFill>
                <a:latin typeface="Calibri"/>
                <a:ea typeface="Calibri"/>
                <a:cs typeface="Calibri"/>
              </a:rPr>
              <a:t>Decision Tree &amp; Random Forest: kaum — ihre Schwellenregeln bleiben gleich.</a:t>
            </a:r>
          </a:p>
        </p:txBody>
      </p:sp>
      <p:sp>
        <p:nvSpPr>
          <p:cNvPr id="12" name="Shape 9">
            <a:extLst xmlns:a="http://schemas.openxmlformats.org/drawingml/2006/main">
              <a:ext uri="{FF2B5EF4-FFF2-40B4-BE49-F238E27FC236}">
                <a16:creationId xmlns:a16="http://schemas.microsoft.com/office/drawing/2014/main" id="{79EE2EB5-A54F-4CF8-918B-9F595E3A5FB2}"/>
              </a:ext>
            </a:extLst>
          </p:cNvPr>
          <p:cNvSpPr>
            <a:spLocks xmlns:a="http://schemas.openxmlformats.org/drawingml/2006/main" noGrp="1"/>
          </p:cNvSpPr>
          <p:nvPr/>
        </p:nvSpPr>
        <p:spPr>
          <a:xfrm xmlns:a="http://schemas.openxmlformats.org/drawingml/2006/main">
            <a:off x="640080" y="3611880"/>
            <a:ext cx="10908792" cy="2331720"/>
          </a:xfrm>
          <a:prstGeom xmlns:a="http://schemas.openxmlformats.org/drawingml/2006/main" prst="roundRect">
            <a:avLst>
              <a:gd name="adj" fmla="val 2353"/>
            </a:avLst>
          </a:prstGeom>
          <a:solidFill xmlns:a="http://schemas.openxmlformats.org/drawingml/2006/main">
            <a:srgbClr val="F5E1DD"/>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4A820AB3-537E-44EA-8351-91EA181564EA}"/>
              </a:ext>
            </a:extLst>
          </p:cNvPr>
          <p:cNvSpPr>
            <a:spLocks xmlns:a="http://schemas.openxmlformats.org/drawingml/2006/main" noGrp="1"/>
          </p:cNvSpPr>
          <p:nvPr/>
        </p:nvSpPr>
        <p:spPr>
          <a:xfrm xmlns:a="http://schemas.openxmlformats.org/drawingml/2006/main">
            <a:off x="914400" y="3886200"/>
            <a:ext cx="10332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A83C30"/>
                </a:solidFill>
                <a:latin typeface="Cambria"/>
                <a:ea typeface="Cambria"/>
                <a:cs typeface="Cambria"/>
              </a:rPr>
              <a:t>3 · Leakage verhindern: fit nur im Trainingsfenster</a:t>
            </a:r>
          </a:p>
        </p:txBody>
      </p:sp>
      <p:sp>
        <p:nvSpPr>
          <p:cNvPr id="14" name="Text 11">
            <a:extLst xmlns:a="http://schemas.openxmlformats.org/drawingml/2006/main">
              <a:ext uri="{FF2B5EF4-FFF2-40B4-BE49-F238E27FC236}">
                <a16:creationId xmlns:a16="http://schemas.microsoft.com/office/drawing/2014/main" id="{74F572DE-45A3-4E09-9FD6-2763232FB2E0}"/>
              </a:ext>
            </a:extLst>
          </p:cNvPr>
          <p:cNvSpPr>
            <a:spLocks xmlns:a="http://schemas.openxmlformats.org/drawingml/2006/main" noGrp="1"/>
          </p:cNvSpPr>
          <p:nvPr/>
        </p:nvSpPr>
        <p:spPr>
          <a:xfrm xmlns:a="http://schemas.openxmlformats.org/drawingml/2006/main">
            <a:off x="914400" y="4389120"/>
            <a:ext cx="1033272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171A17"/>
                </a:solidFill>
                <a:latin typeface="Calibri"/>
                <a:ea typeface="Calibri"/>
                <a:cs typeface="Calibri"/>
              </a:rPr>
              <a:t>Falsch: scaler.fit(X_gesamt)</a:t>
            </a:r>
          </a:p>
          <a:p xmlns:a="http://schemas.openxmlformats.org/drawingml/2006/main">
            <a:pPr marL="0" indent="0">
              <a:buNone/>
            </a:pPr>
            <a:r>
              <a:rPr sz="1400">
                <a:solidFill>
                  <a:srgbClr val="171A17"/>
                </a:solidFill>
                <a:latin typeface="Calibri"/>
                <a:ea typeface="Calibri"/>
                <a:cs typeface="Calibri"/>
              </a:rPr>
              <a:t>Richtig: Pipeline(Imputer → StandardScaler → Modell)</a:t>
            </a:r>
          </a:p>
          <a:p xmlns:a="http://schemas.openxmlformats.org/drawingml/2006/main">
            <a:pPr marL="0" indent="0">
              <a:buNone/>
            </a:pPr>
            <a:r>
              <a:rPr sz="1400">
                <a:solidFill>
                  <a:srgbClr val="171A17"/>
                </a:solidFill>
                <a:latin typeface="Calibri"/>
                <a:ea typeface="Calibri"/>
                <a:cs typeface="Calibri"/>
              </a:rPr>
              <a:t>μ_train und σ_train werden ausschließlich im jeweiligen Trainingsfenster geschätzt. Validierung und Test erhalten nur transform(X) — niemals fit().</a:t>
            </a:r>
          </a:p>
        </p:txBody>
      </p:sp>
      <p:sp>
        <p:nvSpPr>
          <p:cNvPr id="15" name="Text 12">
            <a:extLst xmlns:a="http://schemas.openxmlformats.org/drawingml/2006/main">
              <a:ext uri="{FF2B5EF4-FFF2-40B4-BE49-F238E27FC236}">
                <a16:creationId xmlns:a16="http://schemas.microsoft.com/office/drawing/2014/main" id="{EF4B7280-EC2D-4E5F-BD8A-A968672C6F44}"/>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6" name="Text 13">
            <a:extLst xmlns:a="http://schemas.openxmlformats.org/drawingml/2006/main">
              <a:ext uri="{FF2B5EF4-FFF2-40B4-BE49-F238E27FC236}">
                <a16:creationId xmlns:a16="http://schemas.microsoft.com/office/drawing/2014/main" id="{82AB0E15-3812-4FF4-9017-E0CB1656C9DA}"/>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10</a:t>
            </a:r>
          </a:p>
        </p:txBody>
      </p:sp>
    </p:spTree>
    <p:extLst>
      <p:ext uri="{BB962C8B-B14F-4D97-AF65-F5344CB8AC3E}">
        <p14:creationId xmlns:p14="http://schemas.microsoft.com/office/powerpoint/2010/main" val="2004334133"/>
      </p:ext>
    </p:extLst>
  </p:cSld>
</p:sld>
</file>

<file path=ppt/slides/slide11.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8C70C58-2EDE-4851-94C1-7DE788267054}"/>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d58b6e85767d41ff"/>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FEF6B0DC-5F47-47C4-8B1D-932E372B4DF4}"/>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METHODIK · VALIDIERUNG</a:t>
            </a:r>
          </a:p>
        </p:txBody>
      </p:sp>
      <p:sp>
        <p:nvSpPr>
          <p:cNvPr id="5" name="Text 2">
            <a:extLst xmlns:a="http://schemas.openxmlformats.org/drawingml/2006/main">
              <a:ext uri="{FF2B5EF4-FFF2-40B4-BE49-F238E27FC236}">
                <a16:creationId xmlns:a16="http://schemas.microsoft.com/office/drawing/2014/main" id="{02D87300-2658-4AF4-8D1B-D1B689421CF1}"/>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Training ohne Blick in die Zukunft</a:t>
            </a:r>
          </a:p>
        </p:txBody>
      </p:sp>
      <p:sp>
        <p:nvSpPr>
          <p:cNvPr id="6" name="Shape 3">
            <a:extLst xmlns:a="http://schemas.openxmlformats.org/drawingml/2006/main">
              <a:ext uri="{FF2B5EF4-FFF2-40B4-BE49-F238E27FC236}">
                <a16:creationId xmlns:a16="http://schemas.microsoft.com/office/drawing/2014/main" id="{B55EED33-903A-4055-A450-B677A2C70334}"/>
              </a:ext>
            </a:extLst>
          </p:cNvPr>
          <p:cNvSpPr>
            <a:spLocks xmlns:a="http://schemas.openxmlformats.org/drawingml/2006/main" noGrp="1"/>
          </p:cNvSpPr>
          <p:nvPr/>
        </p:nvSpPr>
        <p:spPr>
          <a:xfrm xmlns:a="http://schemas.openxmlformats.org/drawingml/2006/main">
            <a:off x="10643616" y="457200"/>
            <a:ext cx="1088136" cy="329184"/>
          </a:xfrm>
          <a:prstGeom xmlns:a="http://schemas.openxmlformats.org/drawingml/2006/main" prst="roundRect">
            <a:avLst>
              <a:gd name="adj" fmla="val 22222"/>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46876B6F-6B00-48B2-B98A-43D73F4CC63E}"/>
              </a:ext>
            </a:extLst>
          </p:cNvPr>
          <p:cNvSpPr>
            <a:spLocks xmlns:a="http://schemas.openxmlformats.org/drawingml/2006/main" noGrp="1"/>
          </p:cNvSpPr>
          <p:nvPr/>
        </p:nvSpPr>
        <p:spPr>
          <a:xfrm xmlns:a="http://schemas.openxmlformats.org/drawingml/2006/main">
            <a:off x="10643616" y="457200"/>
            <a:ext cx="10881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F5D53"/>
                </a:solidFill>
                <a:latin typeface="Calibri"/>
                <a:ea typeface="Calibri"/>
                <a:cs typeface="Calibri"/>
              </a:rPr>
              <a:t>2 Min</a:t>
            </a:r>
          </a:p>
        </p:txBody>
      </p:sp>
      <p:sp>
        <p:nvSpPr>
          <p:cNvPr id="8" name="Shape 5">
            <a:extLst xmlns:a="http://schemas.openxmlformats.org/drawingml/2006/main">
              <a:ext uri="{FF2B5EF4-FFF2-40B4-BE49-F238E27FC236}">
                <a16:creationId xmlns:a16="http://schemas.microsoft.com/office/drawing/2014/main" id="{61AD5388-4440-4992-8DA9-768C65BC2AFE}"/>
              </a:ext>
            </a:extLst>
          </p:cNvPr>
          <p:cNvSpPr>
            <a:spLocks xmlns:a="http://schemas.openxmlformats.org/drawingml/2006/main" noGrp="1"/>
          </p:cNvSpPr>
          <p:nvPr/>
        </p:nvSpPr>
        <p:spPr>
          <a:xfrm xmlns:a="http://schemas.openxmlformats.org/drawingml/2006/main">
            <a:off x="640080" y="1508760"/>
            <a:ext cx="525780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9" name="Text 6">
            <a:extLst xmlns:a="http://schemas.openxmlformats.org/drawingml/2006/main">
              <a:ext uri="{FF2B5EF4-FFF2-40B4-BE49-F238E27FC236}">
                <a16:creationId xmlns:a16="http://schemas.microsoft.com/office/drawing/2014/main" id="{F35E1FAA-A5B6-4B96-81BB-72632E4E6CAC}"/>
              </a:ext>
            </a:extLst>
          </p:cNvPr>
          <p:cNvSpPr>
            <a:spLocks xmlns:a="http://schemas.openxmlformats.org/drawingml/2006/main" noGrp="1"/>
          </p:cNvSpPr>
          <p:nvPr/>
        </p:nvSpPr>
        <p:spPr>
          <a:xfrm xmlns:a="http://schemas.openxmlformats.org/drawingml/2006/main">
            <a:off x="868680" y="1508760"/>
            <a:ext cx="4800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A97C1E"/>
                </a:solidFill>
                <a:latin typeface="Calibri"/>
                <a:ea typeface="Calibri"/>
                <a:cs typeface="Calibri"/>
              </a:rPr>
              <a:t>1 · Zeitliche Trennung</a:t>
            </a:r>
          </a:p>
        </p:txBody>
      </p:sp>
      <p:sp>
        <p:nvSpPr>
          <p:cNvPr id="10" name="Shape 7">
            <a:extLst xmlns:a="http://schemas.openxmlformats.org/drawingml/2006/main">
              <a:ext uri="{FF2B5EF4-FFF2-40B4-BE49-F238E27FC236}">
                <a16:creationId xmlns:a16="http://schemas.microsoft.com/office/drawing/2014/main" id="{7A7BF0F7-19CB-4751-B984-4817C3BA0DEA}"/>
              </a:ext>
            </a:extLst>
          </p:cNvPr>
          <p:cNvSpPr>
            <a:spLocks xmlns:a="http://schemas.openxmlformats.org/drawingml/2006/main" noGrp="1"/>
          </p:cNvSpPr>
          <p:nvPr/>
        </p:nvSpPr>
        <p:spPr>
          <a:xfrm xmlns:a="http://schemas.openxmlformats.org/drawingml/2006/main">
            <a:off x="640080" y="2167128"/>
            <a:ext cx="525780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1" name="Text 8">
            <a:extLst xmlns:a="http://schemas.openxmlformats.org/drawingml/2006/main">
              <a:ext uri="{FF2B5EF4-FFF2-40B4-BE49-F238E27FC236}">
                <a16:creationId xmlns:a16="http://schemas.microsoft.com/office/drawing/2014/main" id="{8B00BD04-E6F6-48D4-BD64-889CDD80D4BA}"/>
              </a:ext>
            </a:extLst>
          </p:cNvPr>
          <p:cNvSpPr>
            <a:spLocks xmlns:a="http://schemas.openxmlformats.org/drawingml/2006/main" noGrp="1"/>
          </p:cNvSpPr>
          <p:nvPr/>
        </p:nvSpPr>
        <p:spPr>
          <a:xfrm xmlns:a="http://schemas.openxmlformats.org/drawingml/2006/main">
            <a:off x="868680" y="2167128"/>
            <a:ext cx="4800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A97C1E"/>
                </a:solidFill>
                <a:latin typeface="Calibri"/>
                <a:ea typeface="Calibri"/>
                <a:cs typeface="Calibri"/>
              </a:rPr>
              <a:t>2 · 20-Tage-Sperrzone</a:t>
            </a:r>
          </a:p>
        </p:txBody>
      </p:sp>
      <p:sp>
        <p:nvSpPr>
          <p:cNvPr id="12" name="Shape 9">
            <a:extLst xmlns:a="http://schemas.openxmlformats.org/drawingml/2006/main">
              <a:ext uri="{FF2B5EF4-FFF2-40B4-BE49-F238E27FC236}">
                <a16:creationId xmlns:a16="http://schemas.microsoft.com/office/drawing/2014/main" id="{47C6C1E2-40E4-43BC-8AE5-378B35BAC4E0}"/>
              </a:ext>
            </a:extLst>
          </p:cNvPr>
          <p:cNvSpPr>
            <a:spLocks xmlns:a="http://schemas.openxmlformats.org/drawingml/2006/main" noGrp="1"/>
          </p:cNvSpPr>
          <p:nvPr/>
        </p:nvSpPr>
        <p:spPr>
          <a:xfrm xmlns:a="http://schemas.openxmlformats.org/drawingml/2006/main">
            <a:off x="640080" y="2825496"/>
            <a:ext cx="5257800" cy="54864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3CCAB258-79E7-4142-B4B0-F4C41CF2C98E}"/>
              </a:ext>
            </a:extLst>
          </p:cNvPr>
          <p:cNvSpPr>
            <a:spLocks xmlns:a="http://schemas.openxmlformats.org/drawingml/2006/main" noGrp="1"/>
          </p:cNvSpPr>
          <p:nvPr/>
        </p:nvSpPr>
        <p:spPr>
          <a:xfrm xmlns:a="http://schemas.openxmlformats.org/drawingml/2006/main">
            <a:off x="868680" y="2825496"/>
            <a:ext cx="4800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A97C1E"/>
                </a:solidFill>
                <a:latin typeface="Calibri"/>
                <a:ea typeface="Calibri"/>
                <a:cs typeface="Calibri"/>
              </a:rPr>
              <a:t>3 · Walk-forward-Prüfung</a:t>
            </a:r>
          </a:p>
        </p:txBody>
      </p:sp>
      <p:sp>
        <p:nvSpPr>
          <p:cNvPr id="14" name="Text 11">
            <a:extLst xmlns:a="http://schemas.openxmlformats.org/drawingml/2006/main">
              <a:ext uri="{FF2B5EF4-FFF2-40B4-BE49-F238E27FC236}">
                <a16:creationId xmlns:a16="http://schemas.microsoft.com/office/drawing/2014/main" id="{D055E6A6-2D17-4BDC-8258-380F0ACF0EEA}"/>
              </a:ext>
            </a:extLst>
          </p:cNvPr>
          <p:cNvSpPr>
            <a:spLocks xmlns:a="http://schemas.openxmlformats.org/drawingml/2006/main" noGrp="1"/>
          </p:cNvSpPr>
          <p:nvPr/>
        </p:nvSpPr>
        <p:spPr>
          <a:xfrm xmlns:a="http://schemas.openxmlformats.org/drawingml/2006/main">
            <a:off x="6126480" y="1508760"/>
            <a:ext cx="5394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Training endet vor dem Test</a:t>
            </a:r>
          </a:p>
        </p:txBody>
      </p:sp>
      <p:sp>
        <p:nvSpPr>
          <p:cNvPr id="15" name="Text 12">
            <a:extLst xmlns:a="http://schemas.openxmlformats.org/drawingml/2006/main">
              <a:ext uri="{FF2B5EF4-FFF2-40B4-BE49-F238E27FC236}">
                <a16:creationId xmlns:a16="http://schemas.microsoft.com/office/drawing/2014/main" id="{25859FB6-A341-43E6-8B94-CFAA69F52A4A}"/>
              </a:ext>
            </a:extLst>
          </p:cNvPr>
          <p:cNvSpPr>
            <a:spLocks xmlns:a="http://schemas.openxmlformats.org/drawingml/2006/main" noGrp="1"/>
          </p:cNvSpPr>
          <p:nvPr/>
        </p:nvSpPr>
        <p:spPr>
          <a:xfrm xmlns:a="http://schemas.openxmlformats.org/drawingml/2006/main">
            <a:off x="6126480" y="2167128"/>
            <a:ext cx="5394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Kein Überlapp des Zielhorizonts</a:t>
            </a:r>
          </a:p>
        </p:txBody>
      </p:sp>
      <p:sp>
        <p:nvSpPr>
          <p:cNvPr id="16" name="Text 13">
            <a:extLst xmlns:a="http://schemas.openxmlformats.org/drawingml/2006/main">
              <a:ext uri="{FF2B5EF4-FFF2-40B4-BE49-F238E27FC236}">
                <a16:creationId xmlns:a16="http://schemas.microsoft.com/office/drawing/2014/main" id="{C905CEC4-6E7B-4389-9E16-85A1EC4F8664}"/>
              </a:ext>
            </a:extLst>
          </p:cNvPr>
          <p:cNvSpPr>
            <a:spLocks xmlns:a="http://schemas.openxmlformats.org/drawingml/2006/main" noGrp="1"/>
          </p:cNvSpPr>
          <p:nvPr/>
        </p:nvSpPr>
        <p:spPr>
          <a:xfrm xmlns:a="http://schemas.openxmlformats.org/drawingml/2006/main">
            <a:off x="6126480" y="2825496"/>
            <a:ext cx="5394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Vier zusätzliche Zeitfenster</a:t>
            </a:r>
          </a:p>
        </p:txBody>
      </p:sp>
      <p:sp>
        <p:nvSpPr>
          <p:cNvPr id="17" name="Shape 14">
            <a:extLst xmlns:a="http://schemas.openxmlformats.org/drawingml/2006/main">
              <a:ext uri="{FF2B5EF4-FFF2-40B4-BE49-F238E27FC236}">
                <a16:creationId xmlns:a16="http://schemas.microsoft.com/office/drawing/2014/main" id="{03E27F45-3A0E-4269-B100-3D4A4D41B29B}"/>
              </a:ext>
            </a:extLst>
          </p:cNvPr>
          <p:cNvSpPr>
            <a:spLocks xmlns:a="http://schemas.openxmlformats.org/drawingml/2006/main" noGrp="1"/>
          </p:cNvSpPr>
          <p:nvPr/>
        </p:nvSpPr>
        <p:spPr>
          <a:xfrm xmlns:a="http://schemas.openxmlformats.org/drawingml/2006/main">
            <a:off x="640080" y="3703320"/>
            <a:ext cx="10881360" cy="1051560"/>
          </a:xfrm>
          <a:prstGeom xmlns:a="http://schemas.openxmlformats.org/drawingml/2006/main" prst="roundRect">
            <a:avLst>
              <a:gd name="adj" fmla="val 5217"/>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1DFDE3BA-DEE7-42A0-A954-5667A70C5678}"/>
              </a:ext>
            </a:extLst>
          </p:cNvPr>
          <p:cNvSpPr>
            <a:spLocks xmlns:a="http://schemas.openxmlformats.org/drawingml/2006/main" noGrp="1"/>
          </p:cNvSpPr>
          <p:nvPr/>
        </p:nvSpPr>
        <p:spPr>
          <a:xfrm xmlns:a="http://schemas.openxmlformats.org/drawingml/2006/main">
            <a:off x="868680" y="3840480"/>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Vorverarbeitung bleibt im Trainingsfenster</a:t>
            </a:r>
          </a:p>
        </p:txBody>
      </p:sp>
      <p:sp>
        <p:nvSpPr>
          <p:cNvPr id="19" name="Text 16">
            <a:extLst xmlns:a="http://schemas.openxmlformats.org/drawingml/2006/main">
              <a:ext uri="{FF2B5EF4-FFF2-40B4-BE49-F238E27FC236}">
                <a16:creationId xmlns:a16="http://schemas.microsoft.com/office/drawing/2014/main" id="{96CEB595-8568-4081-93D1-C0241E5510E5}"/>
              </a:ext>
            </a:extLst>
          </p:cNvPr>
          <p:cNvSpPr>
            <a:spLocks xmlns:a="http://schemas.openxmlformats.org/drawingml/2006/main" noGrp="1"/>
          </p:cNvSpPr>
          <p:nvPr/>
        </p:nvSpPr>
        <p:spPr>
          <a:xfrm xmlns:a="http://schemas.openxmlformats.org/drawingml/2006/main">
            <a:off x="868680" y="4206240"/>
            <a:ext cx="10424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71A17"/>
                </a:solidFill>
                <a:latin typeface="Calibri"/>
                <a:ea typeface="Calibri"/>
                <a:cs typeface="Calibri"/>
              </a:rPr>
              <a:t>Imputation und Skalierung werden ausschließlich auf Trainingsdaten angepasst. Validierung und Test werden nur transformiert.</a:t>
            </a:r>
          </a:p>
        </p:txBody>
      </p:sp>
      <p:sp>
        <p:nvSpPr>
          <p:cNvPr id="20" name="Shape 17">
            <a:extLst xmlns:a="http://schemas.openxmlformats.org/drawingml/2006/main">
              <a:ext uri="{FF2B5EF4-FFF2-40B4-BE49-F238E27FC236}">
                <a16:creationId xmlns:a16="http://schemas.microsoft.com/office/drawing/2014/main" id="{A9C0D473-7363-4DF5-8721-433BC374635B}"/>
              </a:ext>
            </a:extLst>
          </p:cNvPr>
          <p:cNvSpPr>
            <a:spLocks xmlns:a="http://schemas.openxmlformats.org/drawingml/2006/main" noGrp="1"/>
          </p:cNvSpPr>
          <p:nvPr/>
        </p:nvSpPr>
        <p:spPr>
          <a:xfrm xmlns:a="http://schemas.openxmlformats.org/drawingml/2006/main">
            <a:off x="640080" y="4937760"/>
            <a:ext cx="10881360" cy="155448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6C26BB92-8B95-47B5-B4B8-8FBC77ECB2E6}"/>
              </a:ext>
            </a:extLst>
          </p:cNvPr>
          <p:cNvSpPr>
            <a:spLocks xmlns:a="http://schemas.openxmlformats.org/drawingml/2006/main" noGrp="1"/>
          </p:cNvSpPr>
          <p:nvPr/>
        </p:nvSpPr>
        <p:spPr>
          <a:xfrm xmlns:a="http://schemas.openxmlformats.org/drawingml/2006/main">
            <a:off x="868680" y="507492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Elf Jahre unangetasteter Zukunftstest</a:t>
            </a:r>
          </a:p>
        </p:txBody>
      </p:sp>
      <p:sp>
        <p:nvSpPr>
          <p:cNvPr id="22" name="Text 19">
            <a:extLst xmlns:a="http://schemas.openxmlformats.org/drawingml/2006/main">
              <a:ext uri="{FF2B5EF4-FFF2-40B4-BE49-F238E27FC236}">
                <a16:creationId xmlns:a16="http://schemas.microsoft.com/office/drawing/2014/main" id="{DB078D13-53BE-4037-BB32-6445ECC851FB}"/>
              </a:ext>
            </a:extLst>
          </p:cNvPr>
          <p:cNvSpPr>
            <a:spLocks xmlns:a="http://schemas.openxmlformats.org/drawingml/2006/main" noGrp="1"/>
          </p:cNvSpPr>
          <p:nvPr/>
        </p:nvSpPr>
        <p:spPr>
          <a:xfrm xmlns:a="http://schemas.openxmlformats.org/drawingml/2006/main">
            <a:off x="868680" y="5440680"/>
            <a:ext cx="1042416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71A17"/>
                </a:solidFill>
                <a:latin typeface="Calibri"/>
                <a:ea typeface="Calibri"/>
                <a:cs typeface="Calibri"/>
              </a:rPr>
              <a:t>Training bis 09.10.2006, danach 20 Handelstage Sperrzone. Test vom 07.11.2006 bis 10.11.2017; vier weitere Zeitfenster prüfen die Stabilität.</a:t>
            </a:r>
          </a:p>
        </p:txBody>
      </p:sp>
      <p:sp>
        <p:nvSpPr>
          <p:cNvPr id="23" name="Text 20">
            <a:extLst xmlns:a="http://schemas.openxmlformats.org/drawingml/2006/main">
              <a:ext uri="{FF2B5EF4-FFF2-40B4-BE49-F238E27FC236}">
                <a16:creationId xmlns:a16="http://schemas.microsoft.com/office/drawing/2014/main" id="{252C8D37-5DF1-4C66-A47E-D4D074F13E14}"/>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24" name="Text 21">
            <a:extLst xmlns:a="http://schemas.openxmlformats.org/drawingml/2006/main">
              <a:ext uri="{FF2B5EF4-FFF2-40B4-BE49-F238E27FC236}">
                <a16:creationId xmlns:a16="http://schemas.microsoft.com/office/drawing/2014/main" id="{D797C413-4B3D-4DAA-BCA2-1F69071F4CEE}"/>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11</a:t>
            </a:r>
          </a:p>
        </p:txBody>
      </p:sp>
    </p:spTree>
    <p:extLst>
      <p:ext uri="{BB962C8B-B14F-4D97-AF65-F5344CB8AC3E}">
        <p14:creationId xmlns:p14="http://schemas.microsoft.com/office/powerpoint/2010/main" val="41481741"/>
      </p:ext>
    </p:extLst>
  </p:cSld>
</p:sld>
</file>

<file path=ppt/slides/slide12.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1028619-3E42-4C4B-A9A5-C682A0B612A0}"/>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6fe0e5d3bf904887"/>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144B116F-6DFF-4747-B5FD-851BA12FB8C8}"/>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METHODIK · MODELLVERGLEICH</a:t>
            </a:r>
          </a:p>
        </p:txBody>
      </p:sp>
      <p:sp>
        <p:nvSpPr>
          <p:cNvPr id="5" name="Text 2">
            <a:extLst xmlns:a="http://schemas.openxmlformats.org/drawingml/2006/main">
              <a:ext uri="{FF2B5EF4-FFF2-40B4-BE49-F238E27FC236}">
                <a16:creationId xmlns:a16="http://schemas.microsoft.com/office/drawing/2014/main" id="{7C53D0AA-82CA-4223-BA1E-496E5B68ABB2}"/>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Fünf Modelle prüfen dasselbe Signal</a:t>
            </a:r>
          </a:p>
        </p:txBody>
      </p:sp>
      <p:sp>
        <p:nvSpPr>
          <p:cNvPr id="6" name="Shape 3">
            <a:extLst xmlns:a="http://schemas.openxmlformats.org/drawingml/2006/main">
              <a:ext uri="{FF2B5EF4-FFF2-40B4-BE49-F238E27FC236}">
                <a16:creationId xmlns:a16="http://schemas.microsoft.com/office/drawing/2014/main" id="{E6B90296-05BA-4750-9156-7A45D1797D3F}"/>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oundRect">
            <a:avLst>
              <a:gd name="adj" fmla="val 22222"/>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5149B6C7-57DE-4787-B485-7401E01CE381}"/>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F5D53"/>
                </a:solidFill>
                <a:latin typeface="Calibri"/>
                <a:ea typeface="Calibri"/>
                <a:cs typeface="Calibri"/>
              </a:rPr>
              <a:t>1,5 Min</a:t>
            </a:r>
          </a:p>
        </p:txBody>
      </p:sp>
      <p:sp>
        <p:nvSpPr>
          <p:cNvPr id="8" name="Shape 5">
            <a:extLst xmlns:a="http://schemas.openxmlformats.org/drawingml/2006/main">
              <a:ext uri="{FF2B5EF4-FFF2-40B4-BE49-F238E27FC236}">
                <a16:creationId xmlns:a16="http://schemas.microsoft.com/office/drawing/2014/main" id="{0E68B9A8-17B0-482E-B830-159A807BC559}"/>
              </a:ext>
            </a:extLst>
          </p:cNvPr>
          <p:cNvSpPr>
            <a:spLocks xmlns:a="http://schemas.openxmlformats.org/drawingml/2006/main" noGrp="1"/>
          </p:cNvSpPr>
          <p:nvPr/>
        </p:nvSpPr>
        <p:spPr>
          <a:xfrm xmlns:a="http://schemas.openxmlformats.org/drawingml/2006/main">
            <a:off x="640080" y="1463040"/>
            <a:ext cx="3429000" cy="192024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9" name="Text 6">
            <a:extLst xmlns:a="http://schemas.openxmlformats.org/drawingml/2006/main">
              <a:ext uri="{FF2B5EF4-FFF2-40B4-BE49-F238E27FC236}">
                <a16:creationId xmlns:a16="http://schemas.microsoft.com/office/drawing/2014/main" id="{B7ABF846-AFF3-475B-B98F-0A169163895C}"/>
              </a:ext>
            </a:extLst>
          </p:cNvPr>
          <p:cNvSpPr>
            <a:spLocks xmlns:a="http://schemas.openxmlformats.org/drawingml/2006/main" noGrp="1"/>
          </p:cNvSpPr>
          <p:nvPr/>
        </p:nvSpPr>
        <p:spPr>
          <a:xfrm xmlns:a="http://schemas.openxmlformats.org/drawingml/2006/main">
            <a:off x="868680" y="1645920"/>
            <a:ext cx="2971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71A17"/>
                </a:solidFill>
                <a:latin typeface="Cambria"/>
                <a:ea typeface="Cambria"/>
                <a:cs typeface="Cambria"/>
              </a:rPr>
              <a:t>Baseline</a:t>
            </a:r>
          </a:p>
        </p:txBody>
      </p:sp>
      <p:sp>
        <p:nvSpPr>
          <p:cNvPr id="10" name="Text 7">
            <a:extLst xmlns:a="http://schemas.openxmlformats.org/drawingml/2006/main">
              <a:ext uri="{FF2B5EF4-FFF2-40B4-BE49-F238E27FC236}">
                <a16:creationId xmlns:a16="http://schemas.microsoft.com/office/drawing/2014/main" id="{F76DBABB-74D9-4ABF-9A4B-EF616D017522}"/>
              </a:ext>
            </a:extLst>
          </p:cNvPr>
          <p:cNvSpPr>
            <a:spLocks xmlns:a="http://schemas.openxmlformats.org/drawingml/2006/main" noGrp="1"/>
          </p:cNvSpPr>
          <p:nvPr/>
        </p:nvSpPr>
        <p:spPr>
          <a:xfrm xmlns:a="http://schemas.openxmlformats.org/drawingml/2006/main">
            <a:off x="868680" y="2103120"/>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A97C1E"/>
                </a:solidFill>
                <a:latin typeface="Calibri"/>
                <a:ea typeface="Calibri"/>
                <a:cs typeface="Calibri"/>
              </a:rPr>
              <a:t>DummyClassifier</a:t>
            </a:r>
          </a:p>
        </p:txBody>
      </p:sp>
      <p:sp>
        <p:nvSpPr>
          <p:cNvPr id="11" name="Text 8">
            <a:extLst xmlns:a="http://schemas.openxmlformats.org/drawingml/2006/main">
              <a:ext uri="{FF2B5EF4-FFF2-40B4-BE49-F238E27FC236}">
                <a16:creationId xmlns:a16="http://schemas.microsoft.com/office/drawing/2014/main" id="{76040D63-3761-4F2C-B6F6-744911B388BC}"/>
              </a:ext>
            </a:extLst>
          </p:cNvPr>
          <p:cNvSpPr>
            <a:spLocks xmlns:a="http://schemas.openxmlformats.org/drawingml/2006/main" noGrp="1"/>
          </p:cNvSpPr>
          <p:nvPr/>
        </p:nvSpPr>
        <p:spPr>
          <a:xfrm xmlns:a="http://schemas.openxmlformats.org/drawingml/2006/main">
            <a:off x="868680" y="2514600"/>
            <a:ext cx="29718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Nullpunkt: immer die häufigste Klasse</a:t>
            </a:r>
          </a:p>
        </p:txBody>
      </p:sp>
      <p:sp>
        <p:nvSpPr>
          <p:cNvPr id="12" name="Text 9">
            <a:extLst xmlns:a="http://schemas.openxmlformats.org/drawingml/2006/main">
              <a:ext uri="{FF2B5EF4-FFF2-40B4-BE49-F238E27FC236}">
                <a16:creationId xmlns:a16="http://schemas.microsoft.com/office/drawing/2014/main" id="{9300DCF6-E380-43DC-9269-B8E1F17FF2FD}"/>
              </a:ext>
            </a:extLst>
          </p:cNvPr>
          <p:cNvSpPr>
            <a:spLocks xmlns:a="http://schemas.openxmlformats.org/drawingml/2006/main" noGrp="1"/>
          </p:cNvSpPr>
          <p:nvPr/>
        </p:nvSpPr>
        <p:spPr>
          <a:xfrm xmlns:a="http://schemas.openxmlformats.org/drawingml/2006/main">
            <a:off x="4069080" y="2103120"/>
            <a:ext cx="2926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5B6259"/>
                </a:solidFill>
                <a:latin typeface="Calibri"/>
                <a:ea typeface="Calibri"/>
                <a:cs typeface="Calibri"/>
              </a:rPr>
              <a:t>→</a:t>
            </a:r>
          </a:p>
        </p:txBody>
      </p:sp>
      <p:sp>
        <p:nvSpPr>
          <p:cNvPr id="13" name="Shape 10">
            <a:extLst xmlns:a="http://schemas.openxmlformats.org/drawingml/2006/main">
              <a:ext uri="{FF2B5EF4-FFF2-40B4-BE49-F238E27FC236}">
                <a16:creationId xmlns:a16="http://schemas.microsoft.com/office/drawing/2014/main" id="{4879DD4D-176C-4F32-B10E-7BB0571EC2DF}"/>
              </a:ext>
            </a:extLst>
          </p:cNvPr>
          <p:cNvSpPr>
            <a:spLocks xmlns:a="http://schemas.openxmlformats.org/drawingml/2006/main" noGrp="1"/>
          </p:cNvSpPr>
          <p:nvPr/>
        </p:nvSpPr>
        <p:spPr>
          <a:xfrm xmlns:a="http://schemas.openxmlformats.org/drawingml/2006/main">
            <a:off x="4361688" y="1463040"/>
            <a:ext cx="3429000" cy="192024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1A38AC3D-FBF4-4C2B-8622-D2145C0CF8B5}"/>
              </a:ext>
            </a:extLst>
          </p:cNvPr>
          <p:cNvSpPr>
            <a:spLocks xmlns:a="http://schemas.openxmlformats.org/drawingml/2006/main" noGrp="1"/>
          </p:cNvSpPr>
          <p:nvPr/>
        </p:nvSpPr>
        <p:spPr>
          <a:xfrm xmlns:a="http://schemas.openxmlformats.org/drawingml/2006/main">
            <a:off x="4590288" y="1645920"/>
            <a:ext cx="2971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71A17"/>
                </a:solidFill>
                <a:latin typeface="Cambria"/>
                <a:ea typeface="Cambria"/>
                <a:cs typeface="Cambria"/>
              </a:rPr>
              <a:t>Lineare Modelle</a:t>
            </a:r>
          </a:p>
        </p:txBody>
      </p:sp>
      <p:sp>
        <p:nvSpPr>
          <p:cNvPr id="15" name="Text 12">
            <a:extLst xmlns:a="http://schemas.openxmlformats.org/drawingml/2006/main">
              <a:ext uri="{FF2B5EF4-FFF2-40B4-BE49-F238E27FC236}">
                <a16:creationId xmlns:a16="http://schemas.microsoft.com/office/drawing/2014/main" id="{C01CF4A4-C39E-4C8C-8A43-6DAF6621D21F}"/>
              </a:ext>
            </a:extLst>
          </p:cNvPr>
          <p:cNvSpPr>
            <a:spLocks xmlns:a="http://schemas.openxmlformats.org/drawingml/2006/main" noGrp="1"/>
          </p:cNvSpPr>
          <p:nvPr/>
        </p:nvSpPr>
        <p:spPr>
          <a:xfrm xmlns:a="http://schemas.openxmlformats.org/drawingml/2006/main">
            <a:off x="4590288" y="2103120"/>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A97C1E"/>
                </a:solidFill>
                <a:latin typeface="Calibri"/>
                <a:ea typeface="Calibri"/>
                <a:cs typeface="Calibri"/>
              </a:rPr>
              <a:t>LogReg + Linear SVM</a:t>
            </a:r>
          </a:p>
        </p:txBody>
      </p:sp>
      <p:sp>
        <p:nvSpPr>
          <p:cNvPr id="16" name="Text 13">
            <a:extLst xmlns:a="http://schemas.openxmlformats.org/drawingml/2006/main">
              <a:ext uri="{FF2B5EF4-FFF2-40B4-BE49-F238E27FC236}">
                <a16:creationId xmlns:a16="http://schemas.microsoft.com/office/drawing/2014/main" id="{EAA05BB5-A9E9-439B-ACEB-5A76A38E55B0}"/>
              </a:ext>
            </a:extLst>
          </p:cNvPr>
          <p:cNvSpPr>
            <a:spLocks xmlns:a="http://schemas.openxmlformats.org/drawingml/2006/main" noGrp="1"/>
          </p:cNvSpPr>
          <p:nvPr/>
        </p:nvSpPr>
        <p:spPr>
          <a:xfrm xmlns:a="http://schemas.openxmlformats.org/drawingml/2006/main">
            <a:off x="4590288" y="2514600"/>
            <a:ext cx="29718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Prüfen einfache lineare Zusammenhänge</a:t>
            </a:r>
          </a:p>
        </p:txBody>
      </p:sp>
      <p:sp>
        <p:nvSpPr>
          <p:cNvPr id="17" name="Text 14">
            <a:extLst xmlns:a="http://schemas.openxmlformats.org/drawingml/2006/main">
              <a:ext uri="{FF2B5EF4-FFF2-40B4-BE49-F238E27FC236}">
                <a16:creationId xmlns:a16="http://schemas.microsoft.com/office/drawing/2014/main" id="{05D4357B-C477-4963-B640-C096287643BE}"/>
              </a:ext>
            </a:extLst>
          </p:cNvPr>
          <p:cNvSpPr>
            <a:spLocks xmlns:a="http://schemas.openxmlformats.org/drawingml/2006/main" noGrp="1"/>
          </p:cNvSpPr>
          <p:nvPr/>
        </p:nvSpPr>
        <p:spPr>
          <a:xfrm xmlns:a="http://schemas.openxmlformats.org/drawingml/2006/main">
            <a:off x="7790688" y="2103120"/>
            <a:ext cx="2926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5B6259"/>
                </a:solidFill>
                <a:latin typeface="Calibri"/>
                <a:ea typeface="Calibri"/>
                <a:cs typeface="Calibri"/>
              </a:rPr>
              <a:t>→</a:t>
            </a:r>
          </a:p>
        </p:txBody>
      </p:sp>
      <p:sp>
        <p:nvSpPr>
          <p:cNvPr id="18" name="Shape 15">
            <a:extLst xmlns:a="http://schemas.openxmlformats.org/drawingml/2006/main">
              <a:ext uri="{FF2B5EF4-FFF2-40B4-BE49-F238E27FC236}">
                <a16:creationId xmlns:a16="http://schemas.microsoft.com/office/drawing/2014/main" id="{73EF7197-2A3A-4991-9E7C-4377B1CD4888}"/>
              </a:ext>
            </a:extLst>
          </p:cNvPr>
          <p:cNvSpPr>
            <a:spLocks xmlns:a="http://schemas.openxmlformats.org/drawingml/2006/main" noGrp="1"/>
          </p:cNvSpPr>
          <p:nvPr/>
        </p:nvSpPr>
        <p:spPr>
          <a:xfrm xmlns:a="http://schemas.openxmlformats.org/drawingml/2006/main">
            <a:off x="8083296" y="1463040"/>
            <a:ext cx="3429000" cy="1920240"/>
          </a:xfrm>
          <a:prstGeom xmlns:a="http://schemas.openxmlformats.org/drawingml/2006/main" prst="roundRect">
            <a:avLst>
              <a:gd name="adj" fmla="val 2857"/>
            </a:avLst>
          </a:prstGeom>
          <a:solidFill xmlns:a="http://schemas.openxmlformats.org/drawingml/2006/main">
            <a:srgbClr val="2F5D53"/>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A9E2AEBD-9203-4D80-8E5B-88A31A568D7A}"/>
              </a:ext>
            </a:extLst>
          </p:cNvPr>
          <p:cNvSpPr>
            <a:spLocks xmlns:a="http://schemas.openxmlformats.org/drawingml/2006/main" noGrp="1"/>
          </p:cNvSpPr>
          <p:nvPr/>
        </p:nvSpPr>
        <p:spPr>
          <a:xfrm xmlns:a="http://schemas.openxmlformats.org/drawingml/2006/main">
            <a:off x="8311896" y="1645920"/>
            <a:ext cx="2971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Cambria"/>
                <a:ea typeface="Cambria"/>
                <a:cs typeface="Cambria"/>
              </a:rPr>
              <a:t>Baumfamilie</a:t>
            </a:r>
          </a:p>
        </p:txBody>
      </p:sp>
      <p:sp>
        <p:nvSpPr>
          <p:cNvPr id="20" name="Text 17">
            <a:extLst xmlns:a="http://schemas.openxmlformats.org/drawingml/2006/main">
              <a:ext uri="{FF2B5EF4-FFF2-40B4-BE49-F238E27FC236}">
                <a16:creationId xmlns:a16="http://schemas.microsoft.com/office/drawing/2014/main" id="{F2B81D55-877C-43DB-812D-408AF31E7CFB}"/>
              </a:ext>
            </a:extLst>
          </p:cNvPr>
          <p:cNvSpPr>
            <a:spLocks xmlns:a="http://schemas.openxmlformats.org/drawingml/2006/main" noGrp="1"/>
          </p:cNvSpPr>
          <p:nvPr/>
        </p:nvSpPr>
        <p:spPr>
          <a:xfrm xmlns:a="http://schemas.openxmlformats.org/drawingml/2006/main">
            <a:off x="8311896" y="2103120"/>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CFE3DA"/>
                </a:solidFill>
                <a:latin typeface="Calibri"/>
                <a:ea typeface="Calibri"/>
                <a:cs typeface="Calibri"/>
              </a:rPr>
              <a:t>Decision Tree + RF</a:t>
            </a:r>
          </a:p>
        </p:txBody>
      </p:sp>
      <p:sp>
        <p:nvSpPr>
          <p:cNvPr id="21" name="Text 18">
            <a:extLst xmlns:a="http://schemas.openxmlformats.org/drawingml/2006/main">
              <a:ext uri="{FF2B5EF4-FFF2-40B4-BE49-F238E27FC236}">
                <a16:creationId xmlns:a16="http://schemas.microsoft.com/office/drawing/2014/main" id="{ED91016C-2AB0-4199-9956-73ACD3CDFF86}"/>
              </a:ext>
            </a:extLst>
          </p:cNvPr>
          <p:cNvSpPr>
            <a:spLocks xmlns:a="http://schemas.openxmlformats.org/drawingml/2006/main" noGrp="1"/>
          </p:cNvSpPr>
          <p:nvPr/>
        </p:nvSpPr>
        <p:spPr>
          <a:xfrm xmlns:a="http://schemas.openxmlformats.org/drawingml/2006/main">
            <a:off x="8311896" y="2514600"/>
            <a:ext cx="29718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E4EEE8"/>
                </a:solidFill>
                <a:latin typeface="Calibri"/>
                <a:ea typeface="Calibri"/>
                <a:cs typeface="Calibri"/>
              </a:rPr>
              <a:t>Prüfen nichtlineare Regeln</a:t>
            </a:r>
          </a:p>
        </p:txBody>
      </p:sp>
      <p:sp>
        <p:nvSpPr>
          <p:cNvPr id="22" name="Text 19">
            <a:extLst xmlns:a="http://schemas.openxmlformats.org/drawingml/2006/main">
              <a:ext uri="{FF2B5EF4-FFF2-40B4-BE49-F238E27FC236}">
                <a16:creationId xmlns:a16="http://schemas.microsoft.com/office/drawing/2014/main" id="{694D214C-7B85-44D8-8477-8798430F9856}"/>
              </a:ext>
            </a:extLst>
          </p:cNvPr>
          <p:cNvSpPr>
            <a:spLocks xmlns:a="http://schemas.openxmlformats.org/drawingml/2006/main" noGrp="1"/>
          </p:cNvSpPr>
          <p:nvPr/>
        </p:nvSpPr>
        <p:spPr>
          <a:xfrm xmlns:a="http://schemas.openxmlformats.org/drawingml/2006/main">
            <a:off x="640080" y="370332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F5D53"/>
                </a:solidFill>
                <a:latin typeface="Cambria"/>
                <a:ea typeface="Cambria"/>
                <a:cs typeface="Cambria"/>
              </a:rPr>
              <a:t>Warum fünf Vergleichsmodelle?</a:t>
            </a:r>
          </a:p>
        </p:txBody>
      </p:sp>
      <p:sp>
        <p:nvSpPr>
          <p:cNvPr id="23" name="Text 20">
            <a:extLst xmlns:a="http://schemas.openxmlformats.org/drawingml/2006/main">
              <a:ext uri="{FF2B5EF4-FFF2-40B4-BE49-F238E27FC236}">
                <a16:creationId xmlns:a16="http://schemas.microsoft.com/office/drawing/2014/main" id="{8EE3145F-B8A8-4E5A-B4B4-46849C4048A5}"/>
              </a:ext>
            </a:extLst>
          </p:cNvPr>
          <p:cNvSpPr>
            <a:spLocks xmlns:a="http://schemas.openxmlformats.org/drawingml/2006/main" noGrp="1"/>
          </p:cNvSpPr>
          <p:nvPr/>
        </p:nvSpPr>
        <p:spPr>
          <a:xfrm xmlns:a="http://schemas.openxmlformats.org/drawingml/2006/main">
            <a:off x="640080" y="4114800"/>
            <a:ext cx="1088136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spcAft>
                <a:spcPts val="900"/>
              </a:spcAft>
              <a:buSzPct val="100000"/>
              <a:buChar char="▪"/>
            </a:pPr>
            <a:r>
              <a:rPr sz="1350">
                <a:solidFill>
                  <a:srgbClr val="171A17"/>
                </a:solidFill>
                <a:latin typeface="Calibri"/>
                <a:ea typeface="Calibri"/>
                <a:cs typeface="Calibri"/>
              </a:rPr>
              <a:t>Baseline zeigt, ob überhaupt Mehrwert entsteht</a:t>
            </a:r>
          </a:p>
          <a:p xmlns:a="http://schemas.openxmlformats.org/drawingml/2006/main">
            <a:pPr marL="228600" indent="-228600">
              <a:spcAft>
                <a:spcPts val="900"/>
              </a:spcAft>
              <a:buSzPct val="100000"/>
              <a:buChar char="▪"/>
            </a:pPr>
            <a:r>
              <a:rPr sz="1350">
                <a:solidFill>
                  <a:srgbClr val="171A17"/>
                </a:solidFill>
                <a:latin typeface="Calibri"/>
                <a:ea typeface="Calibri"/>
                <a:cs typeface="Calibri"/>
              </a:rPr>
              <a:t>LogReg und Linear SVM prüfen lineare Strukturen</a:t>
            </a:r>
          </a:p>
          <a:p xmlns:a="http://schemas.openxmlformats.org/drawingml/2006/main">
            <a:pPr marL="228600" indent="-228600">
              <a:spcAft>
                <a:spcPts val="900"/>
              </a:spcAft>
              <a:buSzPct val="100000"/>
              <a:buChar char="▪"/>
            </a:pPr>
            <a:r>
              <a:rPr sz="1350">
                <a:solidFill>
                  <a:srgbClr val="171A17"/>
                </a:solidFill>
                <a:latin typeface="Calibri"/>
                <a:ea typeface="Calibri"/>
                <a:cs typeface="Calibri"/>
              </a:rPr>
              <a:t>Decision Tree und Random Forest prüfen nichtlineare Regeln</a:t>
            </a:r>
          </a:p>
          <a:p xmlns:a="http://schemas.openxmlformats.org/drawingml/2006/main">
            <a:pPr marL="228600" indent="-228600">
              <a:spcAft>
                <a:spcPts val="900"/>
              </a:spcAft>
              <a:buSzPct val="100000"/>
              <a:buChar char="▪"/>
            </a:pPr>
            <a:r>
              <a:rPr sz="1350">
                <a:solidFill>
                  <a:srgbClr val="171A17"/>
                </a:solidFill>
                <a:latin typeface="Calibri"/>
                <a:ea typeface="Calibri"/>
                <a:cs typeface="Calibri"/>
              </a:rPr>
              <a:t>Alle Modelle erhalten dieselben Zeitfenster</a:t>
            </a:r>
          </a:p>
        </p:txBody>
      </p:sp>
      <p:sp>
        <p:nvSpPr>
          <p:cNvPr id="24" name="Shape 21">
            <a:extLst xmlns:a="http://schemas.openxmlformats.org/drawingml/2006/main">
              <a:ext uri="{FF2B5EF4-FFF2-40B4-BE49-F238E27FC236}">
                <a16:creationId xmlns:a16="http://schemas.microsoft.com/office/drawing/2014/main" id="{E030D562-E0B3-4192-B52E-E42D8ED24977}"/>
              </a:ext>
            </a:extLst>
          </p:cNvPr>
          <p:cNvSpPr>
            <a:spLocks xmlns:a="http://schemas.openxmlformats.org/drawingml/2006/main" noGrp="1"/>
          </p:cNvSpPr>
          <p:nvPr/>
        </p:nvSpPr>
        <p:spPr>
          <a:xfrm xmlns:a="http://schemas.openxmlformats.org/drawingml/2006/main">
            <a:off x="640080" y="5989320"/>
            <a:ext cx="10881360" cy="502920"/>
          </a:xfrm>
          <a:prstGeom xmlns:a="http://schemas.openxmlformats.org/drawingml/2006/main" prst="roundRect">
            <a:avLst>
              <a:gd name="adj" fmla="val 10909"/>
            </a:avLst>
          </a:prstGeom>
          <a:solidFill xmlns:a="http://schemas.openxmlformats.org/drawingml/2006/main">
            <a:srgbClr val="F3E7C9"/>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5" name="Text 22">
            <a:extLst xmlns:a="http://schemas.openxmlformats.org/drawingml/2006/main">
              <a:ext uri="{FF2B5EF4-FFF2-40B4-BE49-F238E27FC236}">
                <a16:creationId xmlns:a16="http://schemas.microsoft.com/office/drawing/2014/main" id="{CA8A1020-6333-46D9-ACFF-AB987CAF6738}"/>
              </a:ext>
            </a:extLst>
          </p:cNvPr>
          <p:cNvSpPr>
            <a:spLocks xmlns:a="http://schemas.openxmlformats.org/drawingml/2006/main" noGrp="1"/>
          </p:cNvSpPr>
          <p:nvPr/>
        </p:nvSpPr>
        <p:spPr>
          <a:xfrm xmlns:a="http://schemas.openxmlformats.org/drawingml/2006/main">
            <a:off x="914400" y="5989320"/>
            <a:ext cx="10332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A97C1E"/>
                </a:solidFill>
                <a:latin typeface="Calibri"/>
                <a:ea typeface="Calibri"/>
                <a:cs typeface="Calibri"/>
              </a:rPr>
              <a:t>Mehr Komplexität ist nur sinnvoll, wenn sie auf späteren, ungesehenen Daten messbar besser wird.</a:t>
            </a:r>
          </a:p>
        </p:txBody>
      </p:sp>
      <p:sp>
        <p:nvSpPr>
          <p:cNvPr id="26" name="Text 23">
            <a:extLst xmlns:a="http://schemas.openxmlformats.org/drawingml/2006/main">
              <a:ext uri="{FF2B5EF4-FFF2-40B4-BE49-F238E27FC236}">
                <a16:creationId xmlns:a16="http://schemas.microsoft.com/office/drawing/2014/main" id="{E79C876B-B0E5-4F60-B953-A1965E9E2113}"/>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27" name="Text 24">
            <a:extLst xmlns:a="http://schemas.openxmlformats.org/drawingml/2006/main">
              <a:ext uri="{FF2B5EF4-FFF2-40B4-BE49-F238E27FC236}">
                <a16:creationId xmlns:a16="http://schemas.microsoft.com/office/drawing/2014/main" id="{506B47F0-5EDD-40AD-A36F-C794C953A112}"/>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12</a:t>
            </a:r>
          </a:p>
        </p:txBody>
      </p:sp>
    </p:spTree>
    <p:extLst>
      <p:ext uri="{BB962C8B-B14F-4D97-AF65-F5344CB8AC3E}">
        <p14:creationId xmlns:p14="http://schemas.microsoft.com/office/powerpoint/2010/main" val="2014643343"/>
      </p:ext>
    </p:extLst>
  </p:cSld>
</p:sld>
</file>

<file path=ppt/slides/slide13.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8A82BF9-C240-4391-B9F8-ACBF898C8046}"/>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b5450c3a3a114d64"/>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8C2CC047-2DC2-4145-972D-EE45AF42D638}"/>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ERGEBNIS · MODELLVERGLEICH</a:t>
            </a:r>
          </a:p>
        </p:txBody>
      </p:sp>
      <p:sp>
        <p:nvSpPr>
          <p:cNvPr id="5" name="Text 2">
            <a:extLst xmlns:a="http://schemas.openxmlformats.org/drawingml/2006/main">
              <a:ext uri="{FF2B5EF4-FFF2-40B4-BE49-F238E27FC236}">
                <a16:creationId xmlns:a16="http://schemas.microsoft.com/office/drawing/2014/main" id="{E683BD3B-E122-4A4D-8A60-3A06F89B9C8B}"/>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Alle fünf Modellansätze im Vergleich</a:t>
            </a:r>
          </a:p>
        </p:txBody>
      </p:sp>
      <p:sp>
        <p:nvSpPr>
          <p:cNvPr id="6" name="Shape 3">
            <a:extLst xmlns:a="http://schemas.openxmlformats.org/drawingml/2006/main">
              <a:ext uri="{FF2B5EF4-FFF2-40B4-BE49-F238E27FC236}">
                <a16:creationId xmlns:a16="http://schemas.microsoft.com/office/drawing/2014/main" id="{A226ECB7-B7A6-4DBC-8357-EEB0A340FF8D}"/>
              </a:ext>
            </a:extLst>
          </p:cNvPr>
          <p:cNvSpPr>
            <a:spLocks xmlns:a="http://schemas.openxmlformats.org/drawingml/2006/main" noGrp="1"/>
          </p:cNvSpPr>
          <p:nvPr/>
        </p:nvSpPr>
        <p:spPr>
          <a:xfrm xmlns:a="http://schemas.openxmlformats.org/drawingml/2006/main">
            <a:off x="640080" y="1463040"/>
            <a:ext cx="5806440" cy="4343400"/>
          </a:xfrm>
          <a:prstGeom xmlns:a="http://schemas.openxmlformats.org/drawingml/2006/main" prst="roundRect">
            <a:avLst>
              <a:gd name="adj" fmla="val 1263"/>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11028B2E-E553-453F-AED4-1DB892793B41}"/>
              </a:ext>
            </a:extLst>
          </p:cNvPr>
          <p:cNvSpPr>
            <a:spLocks xmlns:a="http://schemas.openxmlformats.org/drawingml/2006/main" noGrp="1"/>
          </p:cNvSpPr>
          <p:nvPr/>
        </p:nvSpPr>
        <p:spPr>
          <a:xfrm xmlns:a="http://schemas.openxmlformats.org/drawingml/2006/main">
            <a:off x="868680" y="1600200"/>
            <a:ext cx="5349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F5D53"/>
                </a:solidFill>
                <a:latin typeface="Cambria"/>
                <a:ea typeface="Cambria"/>
                <a:cs typeface="Cambria"/>
              </a:rPr>
              <a:t>ROC-AUC und Balanced Accuracy</a:t>
            </a:r>
          </a:p>
        </p:txBody>
      </p:sp>
      <p:sp>
        <p:nvSpPr>
          <p:cNvPr id="9" name="Shape 5">
            <a:extLst xmlns:a="http://schemas.openxmlformats.org/drawingml/2006/main">
              <a:ext uri="{FF2B5EF4-FFF2-40B4-BE49-F238E27FC236}">
                <a16:creationId xmlns:a16="http://schemas.microsoft.com/office/drawing/2014/main" id="{A1ABA957-5846-4F4A-8AD6-2058781226CD}"/>
              </a:ext>
            </a:extLst>
          </p:cNvPr>
          <p:cNvSpPr>
            <a:spLocks xmlns:a="http://schemas.openxmlformats.org/drawingml/2006/main" noGrp="1"/>
          </p:cNvSpPr>
          <p:nvPr/>
        </p:nvSpPr>
        <p:spPr>
          <a:xfrm xmlns:a="http://schemas.openxmlformats.org/drawingml/2006/main">
            <a:off x="6629400" y="1463040"/>
            <a:ext cx="4919472" cy="4343400"/>
          </a:xfrm>
          <a:prstGeom xmlns:a="http://schemas.openxmlformats.org/drawingml/2006/main" prst="roundRect">
            <a:avLst>
              <a:gd name="adj" fmla="val 1263"/>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0" name="Text 6">
            <a:extLst xmlns:a="http://schemas.openxmlformats.org/drawingml/2006/main">
              <a:ext uri="{FF2B5EF4-FFF2-40B4-BE49-F238E27FC236}">
                <a16:creationId xmlns:a16="http://schemas.microsoft.com/office/drawing/2014/main" id="{CB6529CB-4B82-422B-A886-32731BE3E300}"/>
              </a:ext>
            </a:extLst>
          </p:cNvPr>
          <p:cNvSpPr>
            <a:spLocks xmlns:a="http://schemas.openxmlformats.org/drawingml/2006/main" noGrp="1"/>
          </p:cNvSpPr>
          <p:nvPr/>
        </p:nvSpPr>
        <p:spPr>
          <a:xfrm xmlns:a="http://schemas.openxmlformats.org/drawingml/2006/main">
            <a:off x="6858000" y="1600200"/>
            <a:ext cx="446227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F5D53"/>
                </a:solidFill>
                <a:latin typeface="Cambria"/>
                <a:ea typeface="Cambria"/>
                <a:cs typeface="Cambria"/>
              </a:rPr>
              <a:t>Fehlerbild des Random Forest</a:t>
            </a:r>
          </a:p>
        </p:txBody>
      </p:sp>
      <p:sp>
        <p:nvSpPr>
          <p:cNvPr id="12" name="Text 7">
            <a:extLst xmlns:a="http://schemas.openxmlformats.org/drawingml/2006/main">
              <a:ext uri="{FF2B5EF4-FFF2-40B4-BE49-F238E27FC236}">
                <a16:creationId xmlns:a16="http://schemas.microsoft.com/office/drawing/2014/main" id="{EBA93FEB-BFE8-470D-B772-DEEAC24C8855}"/>
              </a:ext>
            </a:extLst>
          </p:cNvPr>
          <p:cNvSpPr>
            <a:spLocks xmlns:a="http://schemas.openxmlformats.org/drawingml/2006/main" noGrp="1"/>
          </p:cNvSpPr>
          <p:nvPr/>
        </p:nvSpPr>
        <p:spPr>
          <a:xfrm xmlns:a="http://schemas.openxmlformats.org/drawingml/2006/main">
            <a:off x="640080" y="5989320"/>
            <a:ext cx="109087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B6259"/>
                </a:solidFill>
                <a:latin typeface="Calibri"/>
                <a:ea typeface="Calibri"/>
                <a:cs typeface="Calibri"/>
              </a:rPr>
              <a:t>ROC-AUC: Baseline 0,500 · LogReg 0,517 · Decision Tree 0,518 · Linear SVM 0,517 · Random Forest 0,519. Kein Ansatz liefert ein belastbares Signal.</a:t>
            </a:r>
          </a:p>
        </p:txBody>
      </p:sp>
      <p:sp>
        <p:nvSpPr>
          <p:cNvPr id="13" name="Text 8">
            <a:extLst xmlns:a="http://schemas.openxmlformats.org/drawingml/2006/main">
              <a:ext uri="{FF2B5EF4-FFF2-40B4-BE49-F238E27FC236}">
                <a16:creationId xmlns:a16="http://schemas.microsoft.com/office/drawing/2014/main" id="{8F45BC9C-9107-4D40-9F8E-08152A6A1044}"/>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4" name="Text 9">
            <a:extLst xmlns:a="http://schemas.openxmlformats.org/drawingml/2006/main">
              <a:ext uri="{FF2B5EF4-FFF2-40B4-BE49-F238E27FC236}">
                <a16:creationId xmlns:a16="http://schemas.microsoft.com/office/drawing/2014/main" id="{45DB778A-52C3-476C-9BED-DCB8838EC00F}"/>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13</a:t>
            </a:r>
          </a:p>
        </p:txBody>
      </p:sp>
      <p:pic>
        <p:nvPicPr>
          <p:cNvPr id="29" name="Grafik 30"/>
          <p:cNvPicPr>
            <a:picLocks xmlns:a="http://schemas.openxmlformats.org/drawingml/2006/main" noChangeAspect="1"/>
          </p:cNvPicPr>
          <p:nvPr/>
        </p:nvPicPr>
        <p:blipFill>
          <a:blip xmlns:r="http://schemas.openxmlformats.org/officeDocument/2006/relationships" xmlns:a="http://schemas.openxmlformats.org/drawingml/2006/main" r:embed="Rdc670c58c9984f32"/>
          <a:stretch xmlns:a="http://schemas.openxmlformats.org/drawingml/2006/main"/>
        </p:blipFill>
        <p:spPr>
          <a:xfrm xmlns:a="http://schemas.openxmlformats.org/drawingml/2006/main">
            <a:off x="804672" y="2011680"/>
            <a:ext cx="5477256" cy="3611880"/>
          </a:xfrm>
          <a:prstGeom xmlns:a="http://schemas.openxmlformats.org/drawingml/2006/main" prst="rect">
            <a:avLst/>
          </a:prstGeom>
        </p:spPr>
      </p:pic>
      <p:pic>
        <p:nvPicPr>
          <p:cNvPr id="30" name="Grafik 31"/>
          <p:cNvPicPr>
            <a:picLocks xmlns:a="http://schemas.openxmlformats.org/drawingml/2006/main" noChangeAspect="1"/>
          </p:cNvPicPr>
          <p:nvPr/>
        </p:nvPicPr>
        <p:blipFill>
          <a:blip xmlns:r="http://schemas.openxmlformats.org/officeDocument/2006/relationships" xmlns:a="http://schemas.openxmlformats.org/drawingml/2006/main" r:embed="R386945293b6e4656"/>
          <a:stretch xmlns:a="http://schemas.openxmlformats.org/drawingml/2006/main"/>
        </p:blipFill>
        <p:spPr>
          <a:xfrm xmlns:a="http://schemas.openxmlformats.org/drawingml/2006/main">
            <a:off x="6793992" y="2011680"/>
            <a:ext cx="4590288" cy="3611880"/>
          </a:xfrm>
          <a:prstGeom xmlns:a="http://schemas.openxmlformats.org/drawingml/2006/main" prst="rect">
            <a:avLst/>
          </a:prstGeom>
        </p:spPr>
      </p:pic>
    </p:spTree>
    <p:extLst>
      <p:ext uri="{BB962C8B-B14F-4D97-AF65-F5344CB8AC3E}">
        <p14:creationId xmlns:p14="http://schemas.microsoft.com/office/powerpoint/2010/main" val="137244094"/>
      </p:ext>
    </p:extLst>
  </p:cSld>
</p:sld>
</file>

<file path=ppt/slides/slide14.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281A184-3C65-4E4E-8594-F16C5E243DB2}"/>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8c6b0ff23a754683"/>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3D65EEED-32FA-4AE8-BEA4-218967C18B05}"/>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ERGEBNIS · OUT-OF-TIME-TEST</a:t>
            </a:r>
          </a:p>
        </p:txBody>
      </p:sp>
      <p:sp>
        <p:nvSpPr>
          <p:cNvPr id="5" name="Text 2">
            <a:extLst xmlns:a="http://schemas.openxmlformats.org/drawingml/2006/main">
              <a:ext uri="{FF2B5EF4-FFF2-40B4-BE49-F238E27FC236}">
                <a16:creationId xmlns:a16="http://schemas.microsoft.com/office/drawing/2014/main" id="{2D803DCD-0620-49E2-8F11-3C6D1D5B327B}"/>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Kein belastbarer Vorhersagevorteil</a:t>
            </a:r>
          </a:p>
        </p:txBody>
      </p:sp>
      <p:graphicFrame>
        <p:nvGraphicFramePr>
          <p:cNvPr id="19" name="Table 0"/>
          <p:cNvGraphicFramePr/>
          <p:nvPr/>
        </p:nvGraphicFramePr>
        <p:xfrm>
          <a:off xmlns:a="http://schemas.openxmlformats.org/drawingml/2006/main" x="640080" y="1463040"/>
          <a:ext xmlns:a="http://schemas.openxmlformats.org/drawingml/2006/main" cx="10881360" cy="914400"/>
        </p:xfrm>
        <a:graphic xmlns:a="http://schemas.openxmlformats.org/drawingml/2006/main">
          <a:graphicData uri="http://schemas.openxmlformats.org/drawingml/2006/table">
            <a:tbl>
              <a:tblPr/>
              <a:tblGrid>
                <a:gridCol w="3108960"/>
                <a:gridCol w="2587752"/>
                <a:gridCol w="2587752"/>
                <a:gridCol w="2596896"/>
              </a:tblGrid>
              <a:tr h="548640">
                <a:tc>
                  <a:txBody>
                    <a:bodyPr/>
                    <a:lstStyle/>
                    <a:p>
                      <a:pPr marL="0" indent="0" algn="l">
                        <a:buNone/>
                      </a:pPr>
                      <a:r>
                        <a:rPr sz="1300" b="1">
                          <a:solidFill>
                            <a:srgbClr val="FFFFFF"/>
                          </a:solidFill>
                          <a:latin typeface="Calibri"/>
                          <a:ea typeface="Calibri"/>
                          <a:cs typeface="Calibri"/>
                        </a:rPr>
                        <a:t>Metrik</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lgn="ctr">
                        <a:buNone/>
                      </a:pPr>
                      <a:r>
                        <a:rPr sz="1300" b="1">
                          <a:solidFill>
                            <a:srgbClr val="FFFFFF"/>
                          </a:solidFill>
                          <a:latin typeface="Calibri"/>
                          <a:ea typeface="Calibri"/>
                          <a:cs typeface="Calibri"/>
                        </a:rPr>
                        <a:t>Baseline</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lgn="ctr">
                        <a:buNone/>
                      </a:pPr>
                      <a:r>
                        <a:rPr sz="1300" b="1">
                          <a:solidFill>
                            <a:srgbClr val="FFFFFF"/>
                          </a:solidFill>
                          <a:latin typeface="Calibri"/>
                          <a:ea typeface="Calibri"/>
                          <a:cs typeface="Calibri"/>
                        </a:rPr>
                        <a:t>Decision Tree</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lgn="ctr">
                        <a:buNone/>
                      </a:pPr>
                      <a:r>
                        <a:rPr sz="1300" b="1">
                          <a:solidFill>
                            <a:srgbClr val="FFFFFF"/>
                          </a:solidFill>
                          <a:latin typeface="Calibri"/>
                          <a:ea typeface="Calibri"/>
                          <a:cs typeface="Calibri"/>
                        </a:rPr>
                        <a:t>Random Forest</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r>
              <a:tr h="548640">
                <a:tc>
                  <a:txBody>
                    <a:bodyPr/>
                    <a:lstStyle/>
                    <a:p>
                      <a:pPr marL="0" indent="0">
                        <a:buNone/>
                      </a:pPr>
                      <a:r>
                        <a:rPr sz="1300" b="1">
                          <a:solidFill>
                            <a:srgbClr val="171A17"/>
                          </a:solidFill>
                          <a:latin typeface="Calibri"/>
                          <a:ea typeface="Calibri"/>
                          <a:cs typeface="Calibri"/>
                        </a:rPr>
                        <a:t>Accuracy</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59,1 %</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51,8 %</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400" b="1">
                          <a:solidFill>
                            <a:srgbClr val="A97C1E"/>
                          </a:solidFill>
                          <a:latin typeface="Calibri"/>
                          <a:ea typeface="Calibri"/>
                          <a:cs typeface="Calibri"/>
                        </a:rPr>
                        <a:t>51,9 %</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r>
              <a:tr h="548640">
                <a:tc>
                  <a:txBody>
                    <a:bodyPr/>
                    <a:lstStyle/>
                    <a:p>
                      <a:pPr marL="0" indent="0">
                        <a:buNone/>
                      </a:pPr>
                      <a:r>
                        <a:rPr sz="1300" b="1">
                          <a:solidFill>
                            <a:srgbClr val="171A17"/>
                          </a:solidFill>
                          <a:latin typeface="Calibri"/>
                          <a:ea typeface="Calibri"/>
                          <a:cs typeface="Calibri"/>
                        </a:rPr>
                        <a:t>Balanced Acc.</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50,0 %</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51,3 %</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400" b="1">
                          <a:solidFill>
                            <a:srgbClr val="A97C1E"/>
                          </a:solidFill>
                          <a:latin typeface="Calibri"/>
                          <a:ea typeface="Calibri"/>
                          <a:cs typeface="Calibri"/>
                        </a:rPr>
                        <a:t>51,3 %</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r>
              <a:tr h="548640">
                <a:tc>
                  <a:txBody>
                    <a:bodyPr/>
                    <a:lstStyle/>
                    <a:p>
                      <a:pPr marL="0" indent="0">
                        <a:buNone/>
                      </a:pPr>
                      <a:r>
                        <a:rPr sz="1300" b="1">
                          <a:solidFill>
                            <a:srgbClr val="171A17"/>
                          </a:solidFill>
                          <a:latin typeface="Calibri"/>
                          <a:ea typeface="Calibri"/>
                          <a:cs typeface="Calibri"/>
                        </a:rPr>
                        <a:t>ROC-AUC</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0,500</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0,518</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400" b="1">
                          <a:solidFill>
                            <a:srgbClr val="A97C1E"/>
                          </a:solidFill>
                          <a:latin typeface="Calibri"/>
                          <a:ea typeface="Calibri"/>
                          <a:cs typeface="Calibri"/>
                        </a:rPr>
                        <a:t>0,519</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r>
            </a:tbl>
          </a:graphicData>
        </a:graphic>
      </p:graphicFrame>
      <p:sp>
        <p:nvSpPr>
          <p:cNvPr id="7" name="Shape 3">
            <a:extLst xmlns:a="http://schemas.openxmlformats.org/drawingml/2006/main">
              <a:ext uri="{FF2B5EF4-FFF2-40B4-BE49-F238E27FC236}">
                <a16:creationId xmlns:a16="http://schemas.microsoft.com/office/drawing/2014/main" id="{31FF8A83-35D5-4847-844A-87BFA9CAF2BA}"/>
              </a:ext>
            </a:extLst>
          </p:cNvPr>
          <p:cNvSpPr>
            <a:spLocks xmlns:a="http://schemas.openxmlformats.org/drawingml/2006/main" noGrp="1"/>
          </p:cNvSpPr>
          <p:nvPr/>
        </p:nvSpPr>
        <p:spPr>
          <a:xfrm xmlns:a="http://schemas.openxmlformats.org/drawingml/2006/main">
            <a:off x="640080" y="3657600"/>
            <a:ext cx="10881360" cy="2651760"/>
          </a:xfrm>
          <a:prstGeom xmlns:a="http://schemas.openxmlformats.org/drawingml/2006/main" prst="roundRect">
            <a:avLst>
              <a:gd name="adj" fmla="val 2069"/>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8" name="Text 4">
            <a:extLst xmlns:a="http://schemas.openxmlformats.org/drawingml/2006/main">
              <a:ext uri="{FF2B5EF4-FFF2-40B4-BE49-F238E27FC236}">
                <a16:creationId xmlns:a16="http://schemas.microsoft.com/office/drawing/2014/main" id="{72A0F0E3-F38C-43DB-A2EA-2291CE02A77C}"/>
              </a:ext>
            </a:extLst>
          </p:cNvPr>
          <p:cNvSpPr>
            <a:spLocks xmlns:a="http://schemas.openxmlformats.org/drawingml/2006/main" noGrp="1"/>
          </p:cNvSpPr>
          <p:nvPr/>
        </p:nvSpPr>
        <p:spPr>
          <a:xfrm xmlns:a="http://schemas.openxmlformats.org/drawingml/2006/main">
            <a:off x="914400" y="3840480"/>
            <a:ext cx="10332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2F5D53"/>
                </a:solidFill>
                <a:latin typeface="Cambria"/>
                <a:ea typeface="Cambria"/>
                <a:cs typeface="Cambria"/>
              </a:rPr>
              <a:t>Was zeigt der ehrliche Out-of-Time-Test?</a:t>
            </a:r>
          </a:p>
        </p:txBody>
      </p:sp>
      <p:sp>
        <p:nvSpPr>
          <p:cNvPr id="9" name="Text 5">
            <a:extLst xmlns:a="http://schemas.openxmlformats.org/drawingml/2006/main">
              <a:ext uri="{FF2B5EF4-FFF2-40B4-BE49-F238E27FC236}">
                <a16:creationId xmlns:a16="http://schemas.microsoft.com/office/drawing/2014/main" id="{4A31AB28-1022-4735-8F4A-CB16C61752A4}"/>
              </a:ext>
            </a:extLst>
          </p:cNvPr>
          <p:cNvSpPr>
            <a:spLocks xmlns:a="http://schemas.openxmlformats.org/drawingml/2006/main" noGrp="1"/>
          </p:cNvSpPr>
          <p:nvPr/>
        </p:nvSpPr>
        <p:spPr>
          <a:xfrm xmlns:a="http://schemas.openxmlformats.org/drawingml/2006/main">
            <a:off x="914400" y="4343400"/>
            <a:ext cx="103327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71A17"/>
                </a:solidFill>
                <a:latin typeface="Calibri"/>
                <a:ea typeface="Calibri"/>
                <a:cs typeface="Calibri"/>
              </a:rPr>
              <a:t>Der Random Forest liegt bei der Accuracy unter der Baseline. Balanced Accuracy und ROC-AUC liegen nur knapp über Zufall: kein belastbarer Vorhersagevorteil.</a:t>
            </a:r>
          </a:p>
        </p:txBody>
      </p:sp>
      <p:sp>
        <p:nvSpPr>
          <p:cNvPr id="10" name="Text 6">
            <a:extLst xmlns:a="http://schemas.openxmlformats.org/drawingml/2006/main">
              <a:ext uri="{FF2B5EF4-FFF2-40B4-BE49-F238E27FC236}">
                <a16:creationId xmlns:a16="http://schemas.microsoft.com/office/drawing/2014/main" id="{0C42C712-6177-48E9-8C62-29D5090077EC}"/>
              </a:ext>
            </a:extLst>
          </p:cNvPr>
          <p:cNvSpPr>
            <a:spLocks xmlns:a="http://schemas.openxmlformats.org/drawingml/2006/main" noGrp="1"/>
          </p:cNvSpPr>
          <p:nvPr/>
        </p:nvSpPr>
        <p:spPr>
          <a:xfrm xmlns:a="http://schemas.openxmlformats.org/drawingml/2006/main">
            <a:off x="914400" y="5532120"/>
            <a:ext cx="103327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libri"/>
                <a:ea typeface="Calibri"/>
                <a:cs typeface="Calibri"/>
              </a:rPr>
              <a:t>ROC-AUC 0,519 im Test und 0,514 über vier weitere Zeitfenster. H1 wird nicht bestätigt: Das Signal ist stabil schwach.</a:t>
            </a:r>
          </a:p>
        </p:txBody>
      </p:sp>
      <p:sp>
        <p:nvSpPr>
          <p:cNvPr id="11" name="Text 7">
            <a:extLst xmlns:a="http://schemas.openxmlformats.org/drawingml/2006/main">
              <a:ext uri="{FF2B5EF4-FFF2-40B4-BE49-F238E27FC236}">
                <a16:creationId xmlns:a16="http://schemas.microsoft.com/office/drawing/2014/main" id="{67305E45-F99F-467C-B536-76DD19F41308}"/>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2" name="Text 8">
            <a:extLst xmlns:a="http://schemas.openxmlformats.org/drawingml/2006/main">
              <a:ext uri="{FF2B5EF4-FFF2-40B4-BE49-F238E27FC236}">
                <a16:creationId xmlns:a16="http://schemas.microsoft.com/office/drawing/2014/main" id="{D6830D31-BF83-4D52-BCAA-2CD2C579640D}"/>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14</a:t>
            </a:r>
          </a:p>
        </p:txBody>
      </p:sp>
    </p:spTree>
    <p:extLst>
      <p:ext uri="{BB962C8B-B14F-4D97-AF65-F5344CB8AC3E}">
        <p14:creationId xmlns:p14="http://schemas.microsoft.com/office/powerpoint/2010/main" val="243398848"/>
      </p:ext>
    </p:extLst>
  </p:cSld>
</p:sld>
</file>

<file path=ppt/slides/slide15.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281A184-3C65-4E4E-8594-F16C5E243DB2}"/>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3e01aea69f914ff0"/>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3D65EEED-32FA-4AE8-BEA4-218967C18B05}"/>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LEAKAGE</a:t>
            </a:r>
          </a:p>
        </p:txBody>
      </p:sp>
      <p:sp>
        <p:nvSpPr>
          <p:cNvPr id="5" name="Text 2">
            <a:extLst xmlns:a="http://schemas.openxmlformats.org/drawingml/2006/main">
              <a:ext uri="{FF2B5EF4-FFF2-40B4-BE49-F238E27FC236}">
                <a16:creationId xmlns:a16="http://schemas.microsoft.com/office/drawing/2014/main" id="{2D803DCD-0620-49E2-8F11-3C6D1D5B327B}"/>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Der Split entscheidet über die Aussage</a:t>
            </a:r>
          </a:p>
        </p:txBody>
      </p:sp>
      <p:graphicFrame>
        <p:nvGraphicFramePr>
          <p:cNvPr id="19" name="Table 0"/>
          <p:cNvGraphicFramePr/>
          <p:nvPr/>
        </p:nvGraphicFramePr>
        <p:xfrm>
          <a:off xmlns:a="http://schemas.openxmlformats.org/drawingml/2006/main" x="640080" y="1463040"/>
          <a:ext xmlns:a="http://schemas.openxmlformats.org/drawingml/2006/main" cx="10881360" cy="914400"/>
        </p:xfrm>
        <a:graphic xmlns:a="http://schemas.openxmlformats.org/drawingml/2006/main">
          <a:graphicData uri="http://schemas.openxmlformats.org/drawingml/2006/table">
            <a:tbl>
              <a:tblPr/>
              <a:tblGrid>
                <a:gridCol w="3108960"/>
                <a:gridCol w="2587752"/>
                <a:gridCol w="2587752"/>
                <a:gridCol w="2596896"/>
              </a:tblGrid>
              <a:tr h="548640">
                <a:tc>
                  <a:txBody>
                    <a:bodyPr/>
                    <a:lstStyle/>
                    <a:p>
                      <a:pPr marL="0" indent="0" algn="l">
                        <a:buNone/>
                      </a:pPr>
                      <a:r>
                        <a:rPr sz="1300" b="1">
                          <a:solidFill>
                            <a:srgbClr val="FFFFFF"/>
                          </a:solidFill>
                          <a:latin typeface="Calibri"/>
                          <a:ea typeface="Calibri"/>
                          <a:cs typeface="Calibri"/>
                        </a:rPr>
                        <a:t>Aufteilung</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lgn="ctr">
                        <a:buNone/>
                      </a:pPr>
                      <a:r>
                        <a:rPr sz="1300" b="1">
                          <a:solidFill>
                            <a:srgbClr val="FFFFFF"/>
                          </a:solidFill>
                          <a:latin typeface="Calibri"/>
                          <a:ea typeface="Calibri"/>
                          <a:cs typeface="Calibri"/>
                        </a:rPr>
                        <a:t>ROC-AUC</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lgn="ctr">
                        <a:buNone/>
                      </a:pPr>
                      <a:r>
                        <a:rPr sz="1300" b="1">
                          <a:solidFill>
                            <a:srgbClr val="FFFFFF"/>
                          </a:solidFill>
                          <a:latin typeface="Calibri"/>
                          <a:ea typeface="Calibri"/>
                          <a:cs typeface="Calibri"/>
                        </a:rPr>
                        <a:t>Accuracy</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c>
                  <a:txBody>
                    <a:bodyPr/>
                    <a:lstStyle/>
                    <a:p>
                      <a:pPr marL="0" indent="0" algn="ctr">
                        <a:buNone/>
                      </a:pPr>
                      <a:r>
                        <a:rPr sz="1300" b="1">
                          <a:solidFill>
                            <a:srgbClr val="FFFFFF"/>
                          </a:solidFill>
                          <a:latin typeface="Calibri"/>
                          <a:ea typeface="Calibri"/>
                          <a:cs typeface="Calibri"/>
                        </a:rPr>
                        <a:t>Leakage</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2F5D53"/>
                    </a:solidFill>
                  </a:tcPr>
                </a:tc>
              </a:tr>
              <a:tr h="548640">
                <a:tc>
                  <a:txBody>
                    <a:bodyPr/>
                    <a:lstStyle/>
                    <a:p>
                      <a:pPr marL="0" indent="0">
                        <a:buNone/>
                      </a:pPr>
                      <a:r>
                        <a:rPr sz="1300" b="1">
                          <a:solidFill>
                            <a:srgbClr val="171A17"/>
                          </a:solidFill>
                          <a:latin typeface="Calibri"/>
                          <a:ea typeface="Calibri"/>
                          <a:cs typeface="Calibri"/>
                        </a:rPr>
                        <a:t>Zeitlich + Sperrzone (v1.0)</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0,519</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51,9 %</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400" b="1">
                          <a:solidFill>
                            <a:srgbClr val="A97C1E"/>
                          </a:solidFill>
                          <a:latin typeface="Calibri"/>
                          <a:ea typeface="Calibri"/>
                          <a:cs typeface="Calibri"/>
                        </a:rPr>
                        <a:t>keines</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r>
              <a:tr h="548640">
                <a:tc>
                  <a:txBody>
                    <a:bodyPr/>
                    <a:lstStyle/>
                    <a:p>
                      <a:pPr marL="0" indent="0">
                        <a:buNone/>
                      </a:pPr>
                      <a:r>
                        <a:rPr sz="1300" b="1">
                          <a:solidFill>
                            <a:srgbClr val="171A17"/>
                          </a:solidFill>
                          <a:latin typeface="Calibri"/>
                          <a:ea typeface="Calibri"/>
                          <a:cs typeface="Calibri"/>
                        </a:rPr>
                        <a:t>Zeitlich, ohne Sperrzone</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0,524</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53,1 %</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400" b="1">
                          <a:solidFill>
                            <a:srgbClr val="A97C1E"/>
                          </a:solidFill>
                          <a:latin typeface="Calibri"/>
                          <a:ea typeface="Calibri"/>
                          <a:cs typeface="Calibri"/>
                        </a:rPr>
                        <a:t>Zielhorizont-Overlap</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r>
              <a:tr h="548640">
                <a:tc>
                  <a:txBody>
                    <a:bodyPr/>
                    <a:lstStyle/>
                    <a:p>
                      <a:pPr marL="0" indent="0">
                        <a:buNone/>
                      </a:pPr>
                      <a:r>
                        <a:rPr sz="1300" b="1">
                          <a:solidFill>
                            <a:srgbClr val="171A17"/>
                          </a:solidFill>
                          <a:latin typeface="Calibri"/>
                          <a:ea typeface="Calibri"/>
                          <a:cs typeface="Calibri"/>
                        </a:rPr>
                        <a:t>Naiver Zufalls-Split 80/20</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0,581</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300">
                          <a:solidFill>
                            <a:srgbClr val="5B6259"/>
                          </a:solidFill>
                          <a:latin typeface="Calibri"/>
                          <a:ea typeface="Calibri"/>
                          <a:cs typeface="Calibri"/>
                        </a:rPr>
                        <a:t>54,7 %</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FFFFFF"/>
                    </a:solidFill>
                  </a:tcPr>
                </a:tc>
                <a:tc>
                  <a:txBody>
                    <a:bodyPr/>
                    <a:lstStyle/>
                    <a:p>
                      <a:pPr marL="0" indent="0" algn="ctr">
                        <a:buNone/>
                      </a:pPr>
                      <a:r>
                        <a:rPr sz="1400" b="1">
                          <a:solidFill>
                            <a:srgbClr val="A97C1E"/>
                          </a:solidFill>
                          <a:latin typeface="Calibri"/>
                          <a:ea typeface="Calibri"/>
                          <a:cs typeface="Calibri"/>
                        </a:rPr>
                        <a:t>Zukunft im Training</a:t>
                      </a:r>
                    </a:p>
                  </a:txBody>
                  <a:tcPr marL="91440" marR="91440" marT="45720" marB="45720" anchor="ctr">
                    <a:lnL w="6350" cmpd="sng">
                      <a:solidFill>
                        <a:srgbClr val="DDE2DA"/>
                      </a:solidFill>
                      <a:prstDash val="solid"/>
                    </a:lnL>
                    <a:lnR w="6350" cmpd="sng">
                      <a:solidFill>
                        <a:srgbClr val="DDE2DA"/>
                      </a:solidFill>
                      <a:prstDash val="solid"/>
                    </a:lnR>
                    <a:lnT w="6350" cmpd="sng">
                      <a:solidFill>
                        <a:srgbClr val="DDE2DA"/>
                      </a:solidFill>
                      <a:prstDash val="solid"/>
                    </a:lnT>
                    <a:lnB w="6350" cmpd="sng">
                      <a:solidFill>
                        <a:srgbClr val="DDE2DA"/>
                      </a:solidFill>
                      <a:prstDash val="solid"/>
                    </a:lnB>
                    <a:solidFill>
                      <a:srgbClr val="E4EBE7"/>
                    </a:solidFill>
                  </a:tcPr>
                </a:tc>
              </a:tr>
            </a:tbl>
          </a:graphicData>
        </a:graphic>
      </p:graphicFrame>
      <p:sp>
        <p:nvSpPr>
          <p:cNvPr id="7" name="Shape 3">
            <a:extLst xmlns:a="http://schemas.openxmlformats.org/drawingml/2006/main">
              <a:ext uri="{FF2B5EF4-FFF2-40B4-BE49-F238E27FC236}">
                <a16:creationId xmlns:a16="http://schemas.microsoft.com/office/drawing/2014/main" id="{31FF8A83-35D5-4847-844A-87BFA9CAF2BA}"/>
              </a:ext>
            </a:extLst>
          </p:cNvPr>
          <p:cNvSpPr>
            <a:spLocks xmlns:a="http://schemas.openxmlformats.org/drawingml/2006/main" noGrp="1"/>
          </p:cNvSpPr>
          <p:nvPr/>
        </p:nvSpPr>
        <p:spPr>
          <a:xfrm xmlns:a="http://schemas.openxmlformats.org/drawingml/2006/main">
            <a:off x="640080" y="3657600"/>
            <a:ext cx="10881360" cy="2651760"/>
          </a:xfrm>
          <a:prstGeom xmlns:a="http://schemas.openxmlformats.org/drawingml/2006/main" prst="roundRect">
            <a:avLst>
              <a:gd name="adj" fmla="val 2069"/>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8" name="Text 4">
            <a:extLst xmlns:a="http://schemas.openxmlformats.org/drawingml/2006/main">
              <a:ext uri="{FF2B5EF4-FFF2-40B4-BE49-F238E27FC236}">
                <a16:creationId xmlns:a16="http://schemas.microsoft.com/office/drawing/2014/main" id="{72A0F0E3-F38C-43DB-A2EA-2291CE02A77C}"/>
              </a:ext>
            </a:extLst>
          </p:cNvPr>
          <p:cNvSpPr>
            <a:spLocks xmlns:a="http://schemas.openxmlformats.org/drawingml/2006/main" noGrp="1"/>
          </p:cNvSpPr>
          <p:nvPr/>
        </p:nvSpPr>
        <p:spPr>
          <a:xfrm xmlns:a="http://schemas.openxmlformats.org/drawingml/2006/main">
            <a:off x="914400" y="3840480"/>
            <a:ext cx="10332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2F5D53"/>
                </a:solidFill>
                <a:latin typeface="Cambria"/>
                <a:ea typeface="Cambria"/>
                <a:cs typeface="Cambria"/>
              </a:rPr>
              <a:t>Dasselbe Modell wirkt mit einem zufälligen Split deutlich besser</a:t>
            </a:r>
          </a:p>
        </p:txBody>
      </p:sp>
      <p:sp>
        <p:nvSpPr>
          <p:cNvPr id="9" name="Text 5">
            <a:extLst xmlns:a="http://schemas.openxmlformats.org/drawingml/2006/main">
              <a:ext uri="{FF2B5EF4-FFF2-40B4-BE49-F238E27FC236}">
                <a16:creationId xmlns:a16="http://schemas.microsoft.com/office/drawing/2014/main" id="{4A31AB28-1022-4735-8F4A-CB16C61752A4}"/>
              </a:ext>
            </a:extLst>
          </p:cNvPr>
          <p:cNvSpPr>
            <a:spLocks xmlns:a="http://schemas.openxmlformats.org/drawingml/2006/main" noGrp="1"/>
          </p:cNvSpPr>
          <p:nvPr/>
        </p:nvSpPr>
        <p:spPr>
          <a:xfrm xmlns:a="http://schemas.openxmlformats.org/drawingml/2006/main">
            <a:off x="914400" y="4343400"/>
            <a:ext cx="103327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71A17"/>
                </a:solidFill>
                <a:latin typeface="Calibri"/>
                <a:ea typeface="Calibri"/>
                <a:cs typeface="Calibri"/>
              </a:rPr>
              <a:t>Über Zufallsniveau erscheint das Signal beim naiven Split 4,2-mal größer: 0,081 statt 0,019. Ursache ist Zukunftswissen, nicht ein besseres Modell.</a:t>
            </a:r>
          </a:p>
        </p:txBody>
      </p:sp>
      <p:sp>
        <p:nvSpPr>
          <p:cNvPr id="10" name="Text 6">
            <a:extLst xmlns:a="http://schemas.openxmlformats.org/drawingml/2006/main">
              <a:ext uri="{FF2B5EF4-FFF2-40B4-BE49-F238E27FC236}">
                <a16:creationId xmlns:a16="http://schemas.microsoft.com/office/drawing/2014/main" id="{0C42C712-6177-48E9-8C62-29D5090077EC}"/>
              </a:ext>
            </a:extLst>
          </p:cNvPr>
          <p:cNvSpPr>
            <a:spLocks xmlns:a="http://schemas.openxmlformats.org/drawingml/2006/main" noGrp="1"/>
          </p:cNvSpPr>
          <p:nvPr/>
        </p:nvSpPr>
        <p:spPr>
          <a:xfrm xmlns:a="http://schemas.openxmlformats.org/drawingml/2006/main">
            <a:off x="914400" y="5532120"/>
            <a:ext cx="103327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libri"/>
                <a:ea typeface="Calibri"/>
                <a:cs typeface="Calibri"/>
              </a:rPr>
              <a:t>0,519 ist die relevante Zahl: Sie bleibt übrig, wenn Training und Zukunft konsequent getrennt werden.</a:t>
            </a:r>
          </a:p>
        </p:txBody>
      </p:sp>
      <p:sp>
        <p:nvSpPr>
          <p:cNvPr id="11" name="Text 7">
            <a:extLst xmlns:a="http://schemas.openxmlformats.org/drawingml/2006/main">
              <a:ext uri="{FF2B5EF4-FFF2-40B4-BE49-F238E27FC236}">
                <a16:creationId xmlns:a16="http://schemas.microsoft.com/office/drawing/2014/main" id="{67305E45-F99F-467C-B536-76DD19F41308}"/>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2" name="Text 8">
            <a:extLst xmlns:a="http://schemas.openxmlformats.org/drawingml/2006/main">
              <a:ext uri="{FF2B5EF4-FFF2-40B4-BE49-F238E27FC236}">
                <a16:creationId xmlns:a16="http://schemas.microsoft.com/office/drawing/2014/main" id="{D6830D31-BF83-4D52-BCAA-2CD2C579640D}"/>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15</a:t>
            </a:r>
          </a:p>
        </p:txBody>
      </p:sp>
    </p:spTree>
    <p:extLst>
      <p:ext uri="{BB962C8B-B14F-4D97-AF65-F5344CB8AC3E}">
        <p14:creationId xmlns:p14="http://schemas.microsoft.com/office/powerpoint/2010/main" val="243398848"/>
      </p:ext>
    </p:extLst>
  </p:cSld>
</p:sld>
</file>

<file path=ppt/slides/slide16.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50EFE91-D2A0-4A28-99E3-CCAE416C9837}"/>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ffe621c9e0c44618"/>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B62A018C-FC3B-4218-8BAB-B6FA98B11951}"/>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ERGEBNIS · ERKLÄRBARKEIT</a:t>
            </a:r>
          </a:p>
        </p:txBody>
      </p:sp>
      <p:sp>
        <p:nvSpPr>
          <p:cNvPr id="5" name="Text 2">
            <a:extLst xmlns:a="http://schemas.openxmlformats.org/drawingml/2006/main">
              <a:ext uri="{FF2B5EF4-FFF2-40B4-BE49-F238E27FC236}">
                <a16:creationId xmlns:a16="http://schemas.microsoft.com/office/drawing/2014/main" id="{FDAA3A20-F89C-4EC8-9647-B3A635F84A8B}"/>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Erklärbarkeit — warum das Modell so entscheidet</a:t>
            </a:r>
          </a:p>
        </p:txBody>
      </p:sp>
      <p:sp>
        <p:nvSpPr>
          <p:cNvPr id="6" name="Shape 3">
            <a:extLst xmlns:a="http://schemas.openxmlformats.org/drawingml/2006/main">
              <a:ext uri="{FF2B5EF4-FFF2-40B4-BE49-F238E27FC236}">
                <a16:creationId xmlns:a16="http://schemas.microsoft.com/office/drawing/2014/main" id="{9C85E511-FEA5-441D-B20E-543CB559C8A8}"/>
              </a:ext>
            </a:extLst>
          </p:cNvPr>
          <p:cNvSpPr>
            <a:spLocks xmlns:a="http://schemas.openxmlformats.org/drawingml/2006/main" noGrp="1"/>
          </p:cNvSpPr>
          <p:nvPr/>
        </p:nvSpPr>
        <p:spPr>
          <a:xfrm xmlns:a="http://schemas.openxmlformats.org/drawingml/2006/main">
            <a:off x="640080" y="1463040"/>
            <a:ext cx="5440680" cy="342900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CFAC290F-9272-4755-8F1E-E471FA3C55A5}"/>
              </a:ext>
            </a:extLst>
          </p:cNvPr>
          <p:cNvSpPr>
            <a:spLocks xmlns:a="http://schemas.openxmlformats.org/drawingml/2006/main" noGrp="1"/>
          </p:cNvSpPr>
          <p:nvPr/>
        </p:nvSpPr>
        <p:spPr>
          <a:xfrm xmlns:a="http://schemas.openxmlformats.org/drawingml/2006/main">
            <a:off x="822960" y="1572768"/>
            <a:ext cx="5074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F5D53"/>
                </a:solidFill>
                <a:latin typeface="Cambria"/>
                <a:ea typeface="Cambria"/>
                <a:cs typeface="Cambria"/>
              </a:rPr>
              <a:t>RandomForest Feature Importance (Gini)</a:t>
            </a:r>
          </a:p>
        </p:txBody>
      </p:sp>
      <p:sp>
        <p:nvSpPr>
          <p:cNvPr id="9" name="Shape 5">
            <a:extLst xmlns:a="http://schemas.openxmlformats.org/drawingml/2006/main">
              <a:ext uri="{FF2B5EF4-FFF2-40B4-BE49-F238E27FC236}">
                <a16:creationId xmlns:a16="http://schemas.microsoft.com/office/drawing/2014/main" id="{664C3EC2-7A5B-493F-A2C5-5419982D7498}"/>
              </a:ext>
            </a:extLst>
          </p:cNvPr>
          <p:cNvSpPr>
            <a:spLocks xmlns:a="http://schemas.openxmlformats.org/drawingml/2006/main" noGrp="1"/>
          </p:cNvSpPr>
          <p:nvPr/>
        </p:nvSpPr>
        <p:spPr>
          <a:xfrm xmlns:a="http://schemas.openxmlformats.org/drawingml/2006/main">
            <a:off x="6263640" y="1463040"/>
            <a:ext cx="5285232" cy="342900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0" name="Text 6">
            <a:extLst xmlns:a="http://schemas.openxmlformats.org/drawingml/2006/main">
              <a:ext uri="{FF2B5EF4-FFF2-40B4-BE49-F238E27FC236}">
                <a16:creationId xmlns:a16="http://schemas.microsoft.com/office/drawing/2014/main" id="{0D990502-014F-4B9C-92AD-5D3FE1B7F149}"/>
              </a:ext>
            </a:extLst>
          </p:cNvPr>
          <p:cNvSpPr>
            <a:spLocks xmlns:a="http://schemas.openxmlformats.org/drawingml/2006/main" noGrp="1"/>
          </p:cNvSpPr>
          <p:nvPr/>
        </p:nvSpPr>
        <p:spPr>
          <a:xfrm xmlns:a="http://schemas.openxmlformats.org/drawingml/2006/main">
            <a:off x="6446520" y="1572768"/>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F5D53"/>
                </a:solidFill>
                <a:latin typeface="Cambria"/>
                <a:ea typeface="Cambria"/>
                <a:cs typeface="Cambria"/>
              </a:rPr>
              <a:t>SHAP — mittlerer Beitrag je Feature</a:t>
            </a:r>
          </a:p>
        </p:txBody>
      </p:sp>
      <p:sp>
        <p:nvSpPr>
          <p:cNvPr id="12" name="Shape 7">
            <a:extLst xmlns:a="http://schemas.openxmlformats.org/drawingml/2006/main">
              <a:ext uri="{FF2B5EF4-FFF2-40B4-BE49-F238E27FC236}">
                <a16:creationId xmlns:a16="http://schemas.microsoft.com/office/drawing/2014/main" id="{249A89D1-D52C-4939-AB8C-0F98ED3E3F7D}"/>
              </a:ext>
            </a:extLst>
          </p:cNvPr>
          <p:cNvSpPr>
            <a:spLocks xmlns:a="http://schemas.openxmlformats.org/drawingml/2006/main" noGrp="1"/>
          </p:cNvSpPr>
          <p:nvPr/>
        </p:nvSpPr>
        <p:spPr>
          <a:xfrm xmlns:a="http://schemas.openxmlformats.org/drawingml/2006/main">
            <a:off x="640080" y="5120640"/>
            <a:ext cx="10908792" cy="1051560"/>
          </a:xfrm>
          <a:prstGeom xmlns:a="http://schemas.openxmlformats.org/drawingml/2006/main" prst="roundRect">
            <a:avLst>
              <a:gd name="adj" fmla="val 5217"/>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3" name="Text 8">
            <a:extLst xmlns:a="http://schemas.openxmlformats.org/drawingml/2006/main">
              <a:ext uri="{FF2B5EF4-FFF2-40B4-BE49-F238E27FC236}">
                <a16:creationId xmlns:a16="http://schemas.microsoft.com/office/drawing/2014/main" id="{7DCF7A58-C1FC-4478-AC7C-3258B7EE18F6}"/>
              </a:ext>
            </a:extLst>
          </p:cNvPr>
          <p:cNvSpPr>
            <a:spLocks xmlns:a="http://schemas.openxmlformats.org/drawingml/2006/main" noGrp="1"/>
          </p:cNvSpPr>
          <p:nvPr/>
        </p:nvSpPr>
        <p:spPr>
          <a:xfrm xmlns:a="http://schemas.openxmlformats.org/drawingml/2006/main">
            <a:off x="914400" y="5120640"/>
            <a:ext cx="10360152"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F5D53"/>
                </a:solidFill>
                <a:latin typeface="Calibri"/>
                <a:ea typeface="Calibri"/>
                <a:cs typeface="Calibri"/>
              </a:rPr>
              <a:t>Erklärbarkeit ohne Übertreibung: Drawdown und Volatilität prägen das Modell stärker als reine Renditen. Feature Importance und SHAP erklären Entscheidungen — sie beweisen jedoch weder Kausalität noch wirtschaftlichen Mehrwert.</a:t>
            </a:r>
          </a:p>
        </p:txBody>
      </p:sp>
      <p:sp>
        <p:nvSpPr>
          <p:cNvPr id="14" name="Text 9">
            <a:extLst xmlns:a="http://schemas.openxmlformats.org/drawingml/2006/main">
              <a:ext uri="{FF2B5EF4-FFF2-40B4-BE49-F238E27FC236}">
                <a16:creationId xmlns:a16="http://schemas.microsoft.com/office/drawing/2014/main" id="{B93EAF32-5DD0-47BE-9B66-4D257F851365}"/>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5" name="Text 10">
            <a:extLst xmlns:a="http://schemas.openxmlformats.org/drawingml/2006/main">
              <a:ext uri="{FF2B5EF4-FFF2-40B4-BE49-F238E27FC236}">
                <a16:creationId xmlns:a16="http://schemas.microsoft.com/office/drawing/2014/main" id="{B7E33B85-D58F-4227-BA4C-A6991F0AED51}"/>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16</a:t>
            </a:r>
          </a:p>
        </p:txBody>
      </p:sp>
      <p:pic>
        <p:nvPicPr>
          <p:cNvPr id="31" name="Grafik 32"/>
          <p:cNvPicPr>
            <a:picLocks xmlns:a="http://schemas.openxmlformats.org/drawingml/2006/main" noChangeAspect="1"/>
          </p:cNvPicPr>
          <p:nvPr/>
        </p:nvPicPr>
        <p:blipFill>
          <a:blip xmlns:r="http://schemas.openxmlformats.org/officeDocument/2006/relationships" xmlns:a="http://schemas.openxmlformats.org/drawingml/2006/main" r:embed="R43827be4bc9c4654"/>
          <a:stretch xmlns:a="http://schemas.openxmlformats.org/drawingml/2006/main"/>
        </p:blipFill>
        <p:spPr>
          <a:xfrm xmlns:a="http://schemas.openxmlformats.org/drawingml/2006/main">
            <a:off x="804672" y="1965960"/>
            <a:ext cx="5111496" cy="2788920"/>
          </a:xfrm>
          <a:prstGeom xmlns:a="http://schemas.openxmlformats.org/drawingml/2006/main" prst="rect">
            <a:avLst/>
          </a:prstGeom>
        </p:spPr>
      </p:pic>
      <p:pic>
        <p:nvPicPr>
          <p:cNvPr id="32" name="Grafik 33"/>
          <p:cNvPicPr>
            <a:picLocks xmlns:a="http://schemas.openxmlformats.org/drawingml/2006/main" noChangeAspect="1"/>
          </p:cNvPicPr>
          <p:nvPr/>
        </p:nvPicPr>
        <p:blipFill>
          <a:blip xmlns:r="http://schemas.openxmlformats.org/officeDocument/2006/relationships" xmlns:a="http://schemas.openxmlformats.org/drawingml/2006/main" r:embed="R4e1d3cce920f43aa"/>
          <a:stretch xmlns:a="http://schemas.openxmlformats.org/drawingml/2006/main"/>
        </p:blipFill>
        <p:spPr>
          <a:xfrm xmlns:a="http://schemas.openxmlformats.org/drawingml/2006/main">
            <a:off x="6428232" y="1965960"/>
            <a:ext cx="4956048" cy="2788920"/>
          </a:xfrm>
          <a:prstGeom xmlns:a="http://schemas.openxmlformats.org/drawingml/2006/main" prst="rect">
            <a:avLst/>
          </a:prstGeom>
        </p:spPr>
      </p:pic>
    </p:spTree>
    <p:extLst>
      <p:ext uri="{BB962C8B-B14F-4D97-AF65-F5344CB8AC3E}">
        <p14:creationId xmlns:p14="http://schemas.microsoft.com/office/powerpoint/2010/main" val="335546424"/>
      </p:ext>
    </p:extLst>
  </p:cSld>
</p:sld>
</file>

<file path=ppt/slides/slide17.xml><?xml version="1.0" encoding="utf-8"?>
<p:sld xmlns:p="http://schemas.openxmlformats.org/presentationml/2006/main">
  <p:cSld>
    <p:bg>
      <p:bgPr>
        <a:solidFill xmlns:a="http://schemas.openxmlformats.org/drawingml/2006/main">
          <a:srgbClr val="10130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512C4A6-E415-4958-B124-B24FD1B5BF41}"/>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23302A"/>
          </a:solidFill>
        </p:spPr>
        <p:txBody>
          <a:bodyPr xmlns:a="http://schemas.openxmlformats.org/drawingml/2006/main"/>
          <a:lstStyle xmlns:a="http://schemas.openxmlformats.org/drawingml/2006/main"/>
          <a:p xmlns:a="http://schemas.openxmlformats.org/drawingml/2006/main"/>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bdf8356e90684285"/>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8D92E48B-6340-42F1-B613-9BCD040353E3}"/>
              </a:ext>
            </a:extLst>
          </p:cNvPr>
          <p:cNvSpPr>
            <a:spLocks xmlns:a="http://schemas.openxmlformats.org/drawingml/2006/main" noGrp="1"/>
          </p:cNvSpPr>
          <p:nvPr/>
        </p:nvSpPr>
        <p:spPr>
          <a:xfrm xmlns:a="http://schemas.openxmlformats.org/drawingml/2006/main">
            <a:off x="1234440" y="512064"/>
            <a:ext cx="91440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4F5F0"/>
                </a:solidFill>
                <a:latin typeface="Cambria"/>
                <a:ea typeface="Cambria"/>
                <a:cs typeface="Cambria"/>
              </a:rPr>
              <a:t>Live-Demo: sechs Fragen an die App</a:t>
            </a:r>
          </a:p>
        </p:txBody>
      </p:sp>
      <p:sp>
        <p:nvSpPr>
          <p:cNvPr id="5" name="Shape 2">
            <a:extLst xmlns:a="http://schemas.openxmlformats.org/drawingml/2006/main">
              <a:ext uri="{FF2B5EF4-FFF2-40B4-BE49-F238E27FC236}">
                <a16:creationId xmlns:a16="http://schemas.microsoft.com/office/drawing/2014/main" id="{3EAB3D3C-4B03-471D-B0B3-6988B6D83D49}"/>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oundRect">
            <a:avLst>
              <a:gd name="adj" fmla="val 22222"/>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sp>
        <p:nvSpPr>
          <p:cNvPr id="6" name="Text 3">
            <a:extLst xmlns:a="http://schemas.openxmlformats.org/drawingml/2006/main">
              <a:ext uri="{FF2B5EF4-FFF2-40B4-BE49-F238E27FC236}">
                <a16:creationId xmlns:a16="http://schemas.microsoft.com/office/drawing/2014/main" id="{354B3A06-FE91-4936-82D3-C45CEDF229CE}"/>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F5D53"/>
                </a:solidFill>
                <a:latin typeface="Calibri"/>
                <a:ea typeface="Calibri"/>
                <a:cs typeface="Calibri"/>
              </a:rPr>
              <a:t>5 Min</a:t>
            </a:r>
          </a:p>
        </p:txBody>
      </p:sp>
      <p:sp>
        <p:nvSpPr>
          <p:cNvPr id="7" name="Text 4">
            <a:extLst xmlns:a="http://schemas.openxmlformats.org/drawingml/2006/main">
              <a:ext uri="{FF2B5EF4-FFF2-40B4-BE49-F238E27FC236}">
                <a16:creationId xmlns:a16="http://schemas.microsoft.com/office/drawing/2014/main" id="{C3EEF3BA-BCB7-404E-AD9E-5F912782B9A5}"/>
              </a:ext>
            </a:extLst>
          </p:cNvPr>
          <p:cNvSpPr>
            <a:spLocks xmlns:a="http://schemas.openxmlformats.org/drawingml/2006/main" noGrp="1"/>
          </p:cNvSpPr>
          <p:nvPr/>
        </p:nvSpPr>
        <p:spPr>
          <a:xfrm xmlns:a="http://schemas.openxmlformats.org/drawingml/2006/main">
            <a:off x="640080" y="1371600"/>
            <a:ext cx="10881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i="1">
                <a:solidFill>
                  <a:srgbClr val="9FC2B4"/>
                </a:solidFill>
                <a:latin typeface="Calibri"/>
                <a:ea typeface="Calibri"/>
                <a:cs typeface="Calibri"/>
              </a:rPr>
              <a:t>Die Demo folgt sechs Fragen. Falls die Verbindung ausfällt, zeigen die Backupfolien dieselben Stationen als Screenshots.</a:t>
            </a:r>
          </a:p>
        </p:txBody>
      </p:sp>
      <p:sp>
        <p:nvSpPr>
          <p:cNvPr id="8" name="Shape 5">
            <a:extLst xmlns:a="http://schemas.openxmlformats.org/drawingml/2006/main">
              <a:ext uri="{FF2B5EF4-FFF2-40B4-BE49-F238E27FC236}">
                <a16:creationId xmlns:a16="http://schemas.microsoft.com/office/drawing/2014/main" id="{6CB1522E-AC5E-4D36-9D9A-617C834F067C}"/>
              </a:ext>
            </a:extLst>
          </p:cNvPr>
          <p:cNvSpPr>
            <a:spLocks xmlns:a="http://schemas.openxmlformats.org/drawingml/2006/main" noGrp="1"/>
          </p:cNvSpPr>
          <p:nvPr/>
        </p:nvSpPr>
        <p:spPr>
          <a:xfrm xmlns:a="http://schemas.openxmlformats.org/drawingml/2006/main">
            <a:off x="640080" y="2148840"/>
            <a:ext cx="3429000" cy="1600200"/>
          </a:xfrm>
          <a:prstGeom xmlns:a="http://schemas.openxmlformats.org/drawingml/2006/main" prst="roundRect">
            <a:avLst>
              <a:gd name="adj" fmla="val 4000"/>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9" name="Shape 6">
            <a:extLst xmlns:a="http://schemas.openxmlformats.org/drawingml/2006/main">
              <a:ext uri="{FF2B5EF4-FFF2-40B4-BE49-F238E27FC236}">
                <a16:creationId xmlns:a16="http://schemas.microsoft.com/office/drawing/2014/main" id="{866ED0B7-D6D4-425E-A5D6-198F13238A81}"/>
              </a:ext>
            </a:extLst>
          </p:cNvPr>
          <p:cNvSpPr>
            <a:spLocks xmlns:a="http://schemas.openxmlformats.org/drawingml/2006/main" noGrp="1"/>
          </p:cNvSpPr>
          <p:nvPr/>
        </p:nvSpPr>
        <p:spPr>
          <a:xfrm xmlns:a="http://schemas.openxmlformats.org/drawingml/2006/main">
            <a:off x="841248" y="2331720"/>
            <a:ext cx="457200" cy="457200"/>
          </a:xfrm>
          <a:prstGeom xmlns:a="http://schemas.openxmlformats.org/drawingml/2006/main" prst="ellipse">
            <a:avLst/>
          </a:prstGeom>
          <a:solidFill xmlns:a="http://schemas.openxmlformats.org/drawingml/2006/main">
            <a:srgbClr val="2A362E"/>
          </a:solidFill>
        </p:spPr>
        <p:txBody>
          <a:bodyPr xmlns:a="http://schemas.openxmlformats.org/drawingml/2006/main"/>
          <a:lstStyle xmlns:a="http://schemas.openxmlformats.org/drawingml/2006/main"/>
          <a:p xmlns:a="http://schemas.openxmlformats.org/drawingml/2006/main"/>
        </p:txBody>
      </p:sp>
      <p:pic>
        <p:nvPicPr>
          <p:cNvPr id="55" name="Image 1"/>
          <p:cNvPicPr>
            <a:picLocks xmlns:a="http://schemas.openxmlformats.org/drawingml/2006/main" noChangeAspect="1"/>
          </p:cNvPicPr>
          <p:nvPr/>
        </p:nvPicPr>
        <p:blipFill>
          <a:blip xmlns:r="http://schemas.openxmlformats.org/officeDocument/2006/relationships" xmlns:a="http://schemas.openxmlformats.org/drawingml/2006/main" r:embed="Rdaef393b58c64bcc"/>
          <a:stretch xmlns:a="http://schemas.openxmlformats.org/drawingml/2006/main">
            <a:fillRect l="0" t="0" r="0" b="0"/>
          </a:stretch>
        </p:blipFill>
        <p:spPr>
          <a:xfrm xmlns:a="http://schemas.openxmlformats.org/drawingml/2006/main">
            <a:off x="891540" y="2382012"/>
            <a:ext cx="356616" cy="35661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D44ECD89-45E3-4EB5-886F-E67AC60A8FB2}"/>
              </a:ext>
            </a:extLst>
          </p:cNvPr>
          <p:cNvSpPr>
            <a:spLocks xmlns:a="http://schemas.openxmlformats.org/drawingml/2006/main" noGrp="1"/>
          </p:cNvSpPr>
          <p:nvPr/>
        </p:nvSpPr>
        <p:spPr>
          <a:xfrm xmlns:a="http://schemas.openxmlformats.org/drawingml/2006/main">
            <a:off x="1417320" y="2331720"/>
            <a:ext cx="2514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4F5F0"/>
                </a:solidFill>
                <a:latin typeface="Cambria"/>
                <a:ea typeface="Cambria"/>
                <a:cs typeface="Cambria"/>
              </a:rPr>
              <a:t>Markt verstehen</a:t>
            </a:r>
          </a:p>
        </p:txBody>
      </p:sp>
      <p:sp>
        <p:nvSpPr>
          <p:cNvPr id="12" name="Text 8">
            <a:extLst xmlns:a="http://schemas.openxmlformats.org/drawingml/2006/main">
              <a:ext uri="{FF2B5EF4-FFF2-40B4-BE49-F238E27FC236}">
                <a16:creationId xmlns:a16="http://schemas.microsoft.com/office/drawing/2014/main" id="{ABCED1AC-C687-4514-9D3E-FAAB10BC9267}"/>
              </a:ext>
            </a:extLst>
          </p:cNvPr>
          <p:cNvSpPr>
            <a:spLocks xmlns:a="http://schemas.openxmlformats.org/drawingml/2006/main" noGrp="1"/>
          </p:cNvSpPr>
          <p:nvPr/>
        </p:nvSpPr>
        <p:spPr>
          <a:xfrm xmlns:a="http://schemas.openxmlformats.org/drawingml/2006/main">
            <a:off x="841248" y="2926080"/>
            <a:ext cx="30266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FC2B4"/>
                </a:solidFill>
                <a:latin typeface="Calibri"/>
                <a:ea typeface="Calibri"/>
                <a:cs typeface="Calibri"/>
              </a:rPr>
              <a:t>Kurs, Trend und Rückgang</a:t>
            </a:r>
          </a:p>
        </p:txBody>
      </p:sp>
      <p:sp>
        <p:nvSpPr>
          <p:cNvPr id="13" name="Shape 9">
            <a:extLst xmlns:a="http://schemas.openxmlformats.org/drawingml/2006/main">
              <a:ext uri="{FF2B5EF4-FFF2-40B4-BE49-F238E27FC236}">
                <a16:creationId xmlns:a16="http://schemas.microsoft.com/office/drawing/2014/main" id="{74942AE2-2E62-4391-A4CC-7F22B11EF467}"/>
              </a:ext>
            </a:extLst>
          </p:cNvPr>
          <p:cNvSpPr>
            <a:spLocks xmlns:a="http://schemas.openxmlformats.org/drawingml/2006/main" noGrp="1"/>
          </p:cNvSpPr>
          <p:nvPr/>
        </p:nvSpPr>
        <p:spPr>
          <a:xfrm xmlns:a="http://schemas.openxmlformats.org/drawingml/2006/main">
            <a:off x="4361688" y="2148840"/>
            <a:ext cx="3429000" cy="1600200"/>
          </a:xfrm>
          <a:prstGeom xmlns:a="http://schemas.openxmlformats.org/drawingml/2006/main" prst="roundRect">
            <a:avLst>
              <a:gd name="adj" fmla="val 4000"/>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14" name="Shape 10">
            <a:extLst xmlns:a="http://schemas.openxmlformats.org/drawingml/2006/main">
              <a:ext uri="{FF2B5EF4-FFF2-40B4-BE49-F238E27FC236}">
                <a16:creationId xmlns:a16="http://schemas.microsoft.com/office/drawing/2014/main" id="{79A9BCD9-EA21-4111-9932-AAB19A90167C}"/>
              </a:ext>
            </a:extLst>
          </p:cNvPr>
          <p:cNvSpPr>
            <a:spLocks xmlns:a="http://schemas.openxmlformats.org/drawingml/2006/main" noGrp="1"/>
          </p:cNvSpPr>
          <p:nvPr/>
        </p:nvSpPr>
        <p:spPr>
          <a:xfrm xmlns:a="http://schemas.openxmlformats.org/drawingml/2006/main">
            <a:off x="4562856" y="2331720"/>
            <a:ext cx="457200" cy="457200"/>
          </a:xfrm>
          <a:prstGeom xmlns:a="http://schemas.openxmlformats.org/drawingml/2006/main" prst="ellipse">
            <a:avLst/>
          </a:prstGeom>
          <a:solidFill xmlns:a="http://schemas.openxmlformats.org/drawingml/2006/main">
            <a:srgbClr val="2A362E"/>
          </a:solidFill>
        </p:spPr>
        <p:txBody>
          <a:bodyPr xmlns:a="http://schemas.openxmlformats.org/drawingml/2006/main"/>
          <a:lstStyle xmlns:a="http://schemas.openxmlformats.org/drawingml/2006/main"/>
          <a:p xmlns:a="http://schemas.openxmlformats.org/drawingml/2006/main"/>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75ec22adfe154613"/>
          <a:stretch xmlns:a="http://schemas.openxmlformats.org/drawingml/2006/main">
            <a:fillRect l="0" t="0" r="0" b="0"/>
          </a:stretch>
        </p:blipFill>
        <p:spPr>
          <a:xfrm xmlns:a="http://schemas.openxmlformats.org/drawingml/2006/main">
            <a:off x="4613148" y="2382012"/>
            <a:ext cx="356616" cy="356616"/>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22D8A367-54E9-49AA-89B8-E990DC652D41}"/>
              </a:ext>
            </a:extLst>
          </p:cNvPr>
          <p:cNvSpPr>
            <a:spLocks xmlns:a="http://schemas.openxmlformats.org/drawingml/2006/main" noGrp="1"/>
          </p:cNvSpPr>
          <p:nvPr/>
        </p:nvSpPr>
        <p:spPr>
          <a:xfrm xmlns:a="http://schemas.openxmlformats.org/drawingml/2006/main">
            <a:off x="5138928" y="2331720"/>
            <a:ext cx="2514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4F5F0"/>
                </a:solidFill>
                <a:latin typeface="Cambria"/>
                <a:ea typeface="Cambria"/>
                <a:cs typeface="Cambria"/>
              </a:rPr>
              <a:t>Signal prüfen</a:t>
            </a:r>
          </a:p>
        </p:txBody>
      </p:sp>
      <p:sp>
        <p:nvSpPr>
          <p:cNvPr id="17" name="Text 12">
            <a:extLst xmlns:a="http://schemas.openxmlformats.org/drawingml/2006/main">
              <a:ext uri="{FF2B5EF4-FFF2-40B4-BE49-F238E27FC236}">
                <a16:creationId xmlns:a16="http://schemas.microsoft.com/office/drawing/2014/main" id="{E40CF22C-1441-42A1-BC42-B28F80931351}"/>
              </a:ext>
            </a:extLst>
          </p:cNvPr>
          <p:cNvSpPr>
            <a:spLocks xmlns:a="http://schemas.openxmlformats.org/drawingml/2006/main" noGrp="1"/>
          </p:cNvSpPr>
          <p:nvPr/>
        </p:nvSpPr>
        <p:spPr>
          <a:xfrm xmlns:a="http://schemas.openxmlformats.org/drawingml/2006/main">
            <a:off x="4562856" y="2926080"/>
            <a:ext cx="30266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FC2B4"/>
                </a:solidFill>
                <a:latin typeface="Calibri"/>
                <a:ea typeface="Calibri"/>
                <a:cs typeface="Calibri"/>
              </a:rPr>
              <a:t>ML-Signal und Unsicherheit</a:t>
            </a:r>
          </a:p>
        </p:txBody>
      </p:sp>
      <p:sp>
        <p:nvSpPr>
          <p:cNvPr id="18" name="Shape 13">
            <a:extLst xmlns:a="http://schemas.openxmlformats.org/drawingml/2006/main">
              <a:ext uri="{FF2B5EF4-FFF2-40B4-BE49-F238E27FC236}">
                <a16:creationId xmlns:a16="http://schemas.microsoft.com/office/drawing/2014/main" id="{8445A64C-9956-4E61-99C7-68779CCBACF6}"/>
              </a:ext>
            </a:extLst>
          </p:cNvPr>
          <p:cNvSpPr>
            <a:spLocks xmlns:a="http://schemas.openxmlformats.org/drawingml/2006/main" noGrp="1"/>
          </p:cNvSpPr>
          <p:nvPr/>
        </p:nvSpPr>
        <p:spPr>
          <a:xfrm xmlns:a="http://schemas.openxmlformats.org/drawingml/2006/main">
            <a:off x="8083296" y="2148840"/>
            <a:ext cx="3429000" cy="1600200"/>
          </a:xfrm>
          <a:prstGeom xmlns:a="http://schemas.openxmlformats.org/drawingml/2006/main" prst="roundRect">
            <a:avLst>
              <a:gd name="adj" fmla="val 4000"/>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19" name="Shape 14">
            <a:extLst xmlns:a="http://schemas.openxmlformats.org/drawingml/2006/main">
              <a:ext uri="{FF2B5EF4-FFF2-40B4-BE49-F238E27FC236}">
                <a16:creationId xmlns:a16="http://schemas.microsoft.com/office/drawing/2014/main" id="{E6957694-DB0D-4525-9543-97F64B6E19D8}"/>
              </a:ext>
            </a:extLst>
          </p:cNvPr>
          <p:cNvSpPr>
            <a:spLocks xmlns:a="http://schemas.openxmlformats.org/drawingml/2006/main" noGrp="1"/>
          </p:cNvSpPr>
          <p:nvPr/>
        </p:nvSpPr>
        <p:spPr>
          <a:xfrm xmlns:a="http://schemas.openxmlformats.org/drawingml/2006/main">
            <a:off x="8284464" y="2331720"/>
            <a:ext cx="457200" cy="457200"/>
          </a:xfrm>
          <a:prstGeom xmlns:a="http://schemas.openxmlformats.org/drawingml/2006/main" prst="ellipse">
            <a:avLst/>
          </a:prstGeom>
          <a:solidFill xmlns:a="http://schemas.openxmlformats.org/drawingml/2006/main">
            <a:srgbClr val="2A362E"/>
          </a:solidFill>
        </p:spPr>
        <p:txBody>
          <a:bodyPr xmlns:a="http://schemas.openxmlformats.org/drawingml/2006/main"/>
          <a:lstStyle xmlns:a="http://schemas.openxmlformats.org/drawingml/2006/main"/>
          <a:p xmlns:a="http://schemas.openxmlformats.org/drawingml/2006/main"/>
        </p:txBody>
      </p:sp>
      <p:pic>
        <p:nvPicPr>
          <p:cNvPr id="65" name="Image 3"/>
          <p:cNvPicPr>
            <a:picLocks xmlns:a="http://schemas.openxmlformats.org/drawingml/2006/main" noChangeAspect="1"/>
          </p:cNvPicPr>
          <p:nvPr/>
        </p:nvPicPr>
        <p:blipFill>
          <a:blip xmlns:r="http://schemas.openxmlformats.org/officeDocument/2006/relationships" xmlns:a="http://schemas.openxmlformats.org/drawingml/2006/main" r:embed="Rb12a9daca84c4550"/>
          <a:stretch xmlns:a="http://schemas.openxmlformats.org/drawingml/2006/main">
            <a:fillRect l="0" t="0" r="0" b="0"/>
          </a:stretch>
        </p:blipFill>
        <p:spPr>
          <a:xfrm xmlns:a="http://schemas.openxmlformats.org/drawingml/2006/main">
            <a:off x="8334756" y="2382012"/>
            <a:ext cx="356616" cy="356616"/>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2A295016-28C0-4B98-A878-27D38C8F01F5}"/>
              </a:ext>
            </a:extLst>
          </p:cNvPr>
          <p:cNvSpPr>
            <a:spLocks xmlns:a="http://schemas.openxmlformats.org/drawingml/2006/main" noGrp="1"/>
          </p:cNvSpPr>
          <p:nvPr/>
        </p:nvSpPr>
        <p:spPr>
          <a:xfrm xmlns:a="http://schemas.openxmlformats.org/drawingml/2006/main">
            <a:off x="8860536" y="2331720"/>
            <a:ext cx="2514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4F5F0"/>
                </a:solidFill>
                <a:latin typeface="Cambria"/>
                <a:ea typeface="Cambria"/>
                <a:cs typeface="Cambria"/>
              </a:rPr>
              <a:t>Fehler sehen</a:t>
            </a:r>
          </a:p>
        </p:txBody>
      </p:sp>
      <p:sp>
        <p:nvSpPr>
          <p:cNvPr id="22" name="Text 16">
            <a:extLst xmlns:a="http://schemas.openxmlformats.org/drawingml/2006/main">
              <a:ext uri="{FF2B5EF4-FFF2-40B4-BE49-F238E27FC236}">
                <a16:creationId xmlns:a16="http://schemas.microsoft.com/office/drawing/2014/main" id="{E5201877-2569-4E24-B5EA-84EED6F5DF6E}"/>
              </a:ext>
            </a:extLst>
          </p:cNvPr>
          <p:cNvSpPr>
            <a:spLocks xmlns:a="http://schemas.openxmlformats.org/drawingml/2006/main" noGrp="1"/>
          </p:cNvSpPr>
          <p:nvPr/>
        </p:nvSpPr>
        <p:spPr>
          <a:xfrm xmlns:a="http://schemas.openxmlformats.org/drawingml/2006/main">
            <a:off x="8284464" y="2926080"/>
            <a:ext cx="30266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FC2B4"/>
                </a:solidFill>
                <a:latin typeface="Calibri"/>
                <a:ea typeface="Calibri"/>
                <a:cs typeface="Calibri"/>
              </a:rPr>
              <a:t>Konfusionsmatrix und ROC-Kurve</a:t>
            </a:r>
          </a:p>
        </p:txBody>
      </p:sp>
      <p:sp>
        <p:nvSpPr>
          <p:cNvPr id="23" name="Shape 17">
            <a:extLst xmlns:a="http://schemas.openxmlformats.org/drawingml/2006/main">
              <a:ext uri="{FF2B5EF4-FFF2-40B4-BE49-F238E27FC236}">
                <a16:creationId xmlns:a16="http://schemas.microsoft.com/office/drawing/2014/main" id="{E09CBDA3-63BE-4BF0-8759-3D4D3B7DE6C2}"/>
              </a:ext>
            </a:extLst>
          </p:cNvPr>
          <p:cNvSpPr>
            <a:spLocks xmlns:a="http://schemas.openxmlformats.org/drawingml/2006/main" noGrp="1"/>
          </p:cNvSpPr>
          <p:nvPr/>
        </p:nvSpPr>
        <p:spPr>
          <a:xfrm xmlns:a="http://schemas.openxmlformats.org/drawingml/2006/main">
            <a:off x="640080" y="3977640"/>
            <a:ext cx="3429000" cy="1600200"/>
          </a:xfrm>
          <a:prstGeom xmlns:a="http://schemas.openxmlformats.org/drawingml/2006/main" prst="roundRect">
            <a:avLst>
              <a:gd name="adj" fmla="val 4000"/>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24" name="Shape 18">
            <a:extLst xmlns:a="http://schemas.openxmlformats.org/drawingml/2006/main">
              <a:ext uri="{FF2B5EF4-FFF2-40B4-BE49-F238E27FC236}">
                <a16:creationId xmlns:a16="http://schemas.microsoft.com/office/drawing/2014/main" id="{DF796BF8-2A22-4005-8CDB-6C229E722E14}"/>
              </a:ext>
            </a:extLst>
          </p:cNvPr>
          <p:cNvSpPr>
            <a:spLocks xmlns:a="http://schemas.openxmlformats.org/drawingml/2006/main" noGrp="1"/>
          </p:cNvSpPr>
          <p:nvPr/>
        </p:nvSpPr>
        <p:spPr>
          <a:xfrm xmlns:a="http://schemas.openxmlformats.org/drawingml/2006/main">
            <a:off x="841248" y="4160520"/>
            <a:ext cx="457200" cy="457200"/>
          </a:xfrm>
          <a:prstGeom xmlns:a="http://schemas.openxmlformats.org/drawingml/2006/main" prst="ellipse">
            <a:avLst/>
          </a:prstGeom>
          <a:solidFill xmlns:a="http://schemas.openxmlformats.org/drawingml/2006/main">
            <a:srgbClr val="2A362E"/>
          </a:solidFill>
        </p:spPr>
        <p:txBody>
          <a:bodyPr xmlns:a="http://schemas.openxmlformats.org/drawingml/2006/main"/>
          <a:lstStyle xmlns:a="http://schemas.openxmlformats.org/drawingml/2006/main"/>
          <a:p xmlns:a="http://schemas.openxmlformats.org/drawingml/2006/main"/>
        </p:txBody>
      </p:sp>
      <p:pic>
        <p:nvPicPr>
          <p:cNvPr id="70" name="Image 4"/>
          <p:cNvPicPr>
            <a:picLocks xmlns:a="http://schemas.openxmlformats.org/drawingml/2006/main" noChangeAspect="1"/>
          </p:cNvPicPr>
          <p:nvPr/>
        </p:nvPicPr>
        <p:blipFill>
          <a:blip xmlns:r="http://schemas.openxmlformats.org/officeDocument/2006/relationships" xmlns:a="http://schemas.openxmlformats.org/drawingml/2006/main" r:embed="R8283d5a6b16b418e"/>
          <a:stretch xmlns:a="http://schemas.openxmlformats.org/drawingml/2006/main">
            <a:fillRect l="0" t="0" r="0" b="0"/>
          </a:stretch>
        </p:blipFill>
        <p:spPr>
          <a:xfrm xmlns:a="http://schemas.openxmlformats.org/drawingml/2006/main">
            <a:off x="891540" y="4210812"/>
            <a:ext cx="356616" cy="356616"/>
          </a:xfrm>
          <a:prstGeom xmlns:a="http://schemas.openxmlformats.org/drawingml/2006/main" prst="rect">
            <a:avLst/>
          </a:prstGeom>
        </p:spPr>
      </p:pic>
      <p:sp>
        <p:nvSpPr>
          <p:cNvPr id="26" name="Text 19">
            <a:extLst xmlns:a="http://schemas.openxmlformats.org/drawingml/2006/main">
              <a:ext uri="{FF2B5EF4-FFF2-40B4-BE49-F238E27FC236}">
                <a16:creationId xmlns:a16="http://schemas.microsoft.com/office/drawing/2014/main" id="{311017B5-9C00-4854-992C-619DC6B8959F}"/>
              </a:ext>
            </a:extLst>
          </p:cNvPr>
          <p:cNvSpPr>
            <a:spLocks xmlns:a="http://schemas.openxmlformats.org/drawingml/2006/main" noGrp="1"/>
          </p:cNvSpPr>
          <p:nvPr/>
        </p:nvSpPr>
        <p:spPr>
          <a:xfrm xmlns:a="http://schemas.openxmlformats.org/drawingml/2006/main">
            <a:off x="1417320" y="4160520"/>
            <a:ext cx="2514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4F5F0"/>
                </a:solidFill>
                <a:latin typeface="Cambria"/>
                <a:ea typeface="Cambria"/>
                <a:cs typeface="Cambria"/>
              </a:rPr>
              <a:t>Risiko begrenzen</a:t>
            </a:r>
          </a:p>
        </p:txBody>
      </p:sp>
      <p:sp>
        <p:nvSpPr>
          <p:cNvPr id="27" name="Text 20">
            <a:extLst xmlns:a="http://schemas.openxmlformats.org/drawingml/2006/main">
              <a:ext uri="{FF2B5EF4-FFF2-40B4-BE49-F238E27FC236}">
                <a16:creationId xmlns:a16="http://schemas.microsoft.com/office/drawing/2014/main" id="{153F3EAB-C2B4-4D2A-B484-BBA764F645A9}"/>
              </a:ext>
            </a:extLst>
          </p:cNvPr>
          <p:cNvSpPr>
            <a:spLocks xmlns:a="http://schemas.openxmlformats.org/drawingml/2006/main" noGrp="1"/>
          </p:cNvSpPr>
          <p:nvPr/>
        </p:nvSpPr>
        <p:spPr>
          <a:xfrm xmlns:a="http://schemas.openxmlformats.org/drawingml/2006/main">
            <a:off x="841248" y="4754880"/>
            <a:ext cx="30266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FC2B4"/>
                </a:solidFill>
                <a:latin typeface="Calibri"/>
                <a:ea typeface="Calibri"/>
                <a:cs typeface="Calibri"/>
              </a:rPr>
              <a:t>Risikobetrag und Positionsgröße</a:t>
            </a:r>
          </a:p>
        </p:txBody>
      </p:sp>
      <p:sp>
        <p:nvSpPr>
          <p:cNvPr id="28" name="Shape 21">
            <a:extLst xmlns:a="http://schemas.openxmlformats.org/drawingml/2006/main">
              <a:ext uri="{FF2B5EF4-FFF2-40B4-BE49-F238E27FC236}">
                <a16:creationId xmlns:a16="http://schemas.microsoft.com/office/drawing/2014/main" id="{7D59C8B7-9C33-4E07-B87D-4263E9A4D487}"/>
              </a:ext>
            </a:extLst>
          </p:cNvPr>
          <p:cNvSpPr>
            <a:spLocks xmlns:a="http://schemas.openxmlformats.org/drawingml/2006/main" noGrp="1"/>
          </p:cNvSpPr>
          <p:nvPr/>
        </p:nvSpPr>
        <p:spPr>
          <a:xfrm xmlns:a="http://schemas.openxmlformats.org/drawingml/2006/main">
            <a:off x="4361688" y="3977640"/>
            <a:ext cx="3429000" cy="1600200"/>
          </a:xfrm>
          <a:prstGeom xmlns:a="http://schemas.openxmlformats.org/drawingml/2006/main" prst="roundRect">
            <a:avLst>
              <a:gd name="adj" fmla="val 4000"/>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29" name="Shape 22">
            <a:extLst xmlns:a="http://schemas.openxmlformats.org/drawingml/2006/main">
              <a:ext uri="{FF2B5EF4-FFF2-40B4-BE49-F238E27FC236}">
                <a16:creationId xmlns:a16="http://schemas.microsoft.com/office/drawing/2014/main" id="{9055213F-B22B-4A5C-8797-E67B2DF95464}"/>
              </a:ext>
            </a:extLst>
          </p:cNvPr>
          <p:cNvSpPr>
            <a:spLocks xmlns:a="http://schemas.openxmlformats.org/drawingml/2006/main" noGrp="1"/>
          </p:cNvSpPr>
          <p:nvPr/>
        </p:nvSpPr>
        <p:spPr>
          <a:xfrm xmlns:a="http://schemas.openxmlformats.org/drawingml/2006/main">
            <a:off x="4562856" y="4160520"/>
            <a:ext cx="457200" cy="457200"/>
          </a:xfrm>
          <a:prstGeom xmlns:a="http://schemas.openxmlformats.org/drawingml/2006/main" prst="ellipse">
            <a:avLst/>
          </a:prstGeom>
          <a:solidFill xmlns:a="http://schemas.openxmlformats.org/drawingml/2006/main">
            <a:srgbClr val="2A362E"/>
          </a:solidFill>
        </p:spPr>
        <p:txBody>
          <a:bodyPr xmlns:a="http://schemas.openxmlformats.org/drawingml/2006/main"/>
          <a:lstStyle xmlns:a="http://schemas.openxmlformats.org/drawingml/2006/main"/>
          <a:p xmlns:a="http://schemas.openxmlformats.org/drawingml/2006/main"/>
        </p:txBody>
      </p:sp>
      <p:pic>
        <p:nvPicPr>
          <p:cNvPr id="75" name="Image 5"/>
          <p:cNvPicPr>
            <a:picLocks xmlns:a="http://schemas.openxmlformats.org/drawingml/2006/main" noChangeAspect="1"/>
          </p:cNvPicPr>
          <p:nvPr/>
        </p:nvPicPr>
        <p:blipFill>
          <a:blip xmlns:r="http://schemas.openxmlformats.org/officeDocument/2006/relationships" xmlns:a="http://schemas.openxmlformats.org/drawingml/2006/main" r:embed="R694e618e72fa47c0"/>
          <a:stretch xmlns:a="http://schemas.openxmlformats.org/drawingml/2006/main">
            <a:fillRect l="0" t="0" r="0" b="0"/>
          </a:stretch>
        </p:blipFill>
        <p:spPr>
          <a:xfrm xmlns:a="http://schemas.openxmlformats.org/drawingml/2006/main">
            <a:off x="4613148" y="4210812"/>
            <a:ext cx="356616" cy="356616"/>
          </a:xfrm>
          <a:prstGeom xmlns:a="http://schemas.openxmlformats.org/drawingml/2006/main" prst="rect">
            <a:avLst/>
          </a:prstGeom>
        </p:spPr>
      </p:pic>
      <p:sp>
        <p:nvSpPr>
          <p:cNvPr id="31" name="Text 23">
            <a:extLst xmlns:a="http://schemas.openxmlformats.org/drawingml/2006/main">
              <a:ext uri="{FF2B5EF4-FFF2-40B4-BE49-F238E27FC236}">
                <a16:creationId xmlns:a16="http://schemas.microsoft.com/office/drawing/2014/main" id="{CA01B2BF-947D-4378-9DB1-7D493AE9B48A}"/>
              </a:ext>
            </a:extLst>
          </p:cNvPr>
          <p:cNvSpPr>
            <a:spLocks xmlns:a="http://schemas.openxmlformats.org/drawingml/2006/main" noGrp="1"/>
          </p:cNvSpPr>
          <p:nvPr/>
        </p:nvSpPr>
        <p:spPr>
          <a:xfrm xmlns:a="http://schemas.openxmlformats.org/drawingml/2006/main">
            <a:off x="5138928" y="4160520"/>
            <a:ext cx="2514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4F5F0"/>
                </a:solidFill>
                <a:latin typeface="Cambria"/>
                <a:ea typeface="Cambria"/>
                <a:cs typeface="Cambria"/>
              </a:rPr>
              <a:t>Streuung prüfen</a:t>
            </a:r>
          </a:p>
        </p:txBody>
      </p:sp>
      <p:sp>
        <p:nvSpPr>
          <p:cNvPr id="32" name="Text 24">
            <a:extLst xmlns:a="http://schemas.openxmlformats.org/drawingml/2006/main">
              <a:ext uri="{FF2B5EF4-FFF2-40B4-BE49-F238E27FC236}">
                <a16:creationId xmlns:a16="http://schemas.microsoft.com/office/drawing/2014/main" id="{94CAF596-11CB-4358-9109-898D055776E5}"/>
              </a:ext>
            </a:extLst>
          </p:cNvPr>
          <p:cNvSpPr>
            <a:spLocks xmlns:a="http://schemas.openxmlformats.org/drawingml/2006/main" noGrp="1"/>
          </p:cNvSpPr>
          <p:nvPr/>
        </p:nvSpPr>
        <p:spPr>
          <a:xfrm xmlns:a="http://schemas.openxmlformats.org/drawingml/2006/main">
            <a:off x="4562856" y="4754880"/>
            <a:ext cx="30266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FC2B4"/>
                </a:solidFill>
                <a:latin typeface="Calibri"/>
                <a:ea typeface="Calibri"/>
                <a:cs typeface="Calibri"/>
              </a:rPr>
              <a:t>Allokation und Konzentration</a:t>
            </a:r>
          </a:p>
        </p:txBody>
      </p:sp>
      <p:sp>
        <p:nvSpPr>
          <p:cNvPr id="33" name="Shape 25">
            <a:extLst xmlns:a="http://schemas.openxmlformats.org/drawingml/2006/main">
              <a:ext uri="{FF2B5EF4-FFF2-40B4-BE49-F238E27FC236}">
                <a16:creationId xmlns:a16="http://schemas.microsoft.com/office/drawing/2014/main" id="{8AE6906F-3FE9-43DA-9E6E-23304061E9E9}"/>
              </a:ext>
            </a:extLst>
          </p:cNvPr>
          <p:cNvSpPr>
            <a:spLocks xmlns:a="http://schemas.openxmlformats.org/drawingml/2006/main" noGrp="1"/>
          </p:cNvSpPr>
          <p:nvPr/>
        </p:nvSpPr>
        <p:spPr>
          <a:xfrm xmlns:a="http://schemas.openxmlformats.org/drawingml/2006/main">
            <a:off x="8083296" y="3977640"/>
            <a:ext cx="3429000" cy="1600200"/>
          </a:xfrm>
          <a:prstGeom xmlns:a="http://schemas.openxmlformats.org/drawingml/2006/main" prst="roundRect">
            <a:avLst>
              <a:gd name="adj" fmla="val 4000"/>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34" name="Shape 26">
            <a:extLst xmlns:a="http://schemas.openxmlformats.org/drawingml/2006/main">
              <a:ext uri="{FF2B5EF4-FFF2-40B4-BE49-F238E27FC236}">
                <a16:creationId xmlns:a16="http://schemas.microsoft.com/office/drawing/2014/main" id="{5DDD2DEF-D8AA-43CA-97DE-3092990FEC1D}"/>
              </a:ext>
            </a:extLst>
          </p:cNvPr>
          <p:cNvSpPr>
            <a:spLocks xmlns:a="http://schemas.openxmlformats.org/drawingml/2006/main" noGrp="1"/>
          </p:cNvSpPr>
          <p:nvPr/>
        </p:nvSpPr>
        <p:spPr>
          <a:xfrm xmlns:a="http://schemas.openxmlformats.org/drawingml/2006/main">
            <a:off x="8284464" y="4160520"/>
            <a:ext cx="457200" cy="457200"/>
          </a:xfrm>
          <a:prstGeom xmlns:a="http://schemas.openxmlformats.org/drawingml/2006/main" prst="ellipse">
            <a:avLst/>
          </a:prstGeom>
          <a:solidFill xmlns:a="http://schemas.openxmlformats.org/drawingml/2006/main">
            <a:srgbClr val="2A362E"/>
          </a:solidFill>
        </p:spPr>
        <p:txBody>
          <a:bodyPr xmlns:a="http://schemas.openxmlformats.org/drawingml/2006/main"/>
          <a:lstStyle xmlns:a="http://schemas.openxmlformats.org/drawingml/2006/main"/>
          <a:p xmlns:a="http://schemas.openxmlformats.org/drawingml/2006/main"/>
        </p:txBody>
      </p:sp>
      <p:pic>
        <p:nvPicPr>
          <p:cNvPr id="80" name="Image 6"/>
          <p:cNvPicPr>
            <a:picLocks xmlns:a="http://schemas.openxmlformats.org/drawingml/2006/main" noChangeAspect="1"/>
          </p:cNvPicPr>
          <p:nvPr/>
        </p:nvPicPr>
        <p:blipFill>
          <a:blip xmlns:r="http://schemas.openxmlformats.org/officeDocument/2006/relationships" xmlns:a="http://schemas.openxmlformats.org/drawingml/2006/main" r:embed="R0abeac461b1242d5"/>
          <a:stretch xmlns:a="http://schemas.openxmlformats.org/drawingml/2006/main">
            <a:fillRect l="0" t="0" r="0" b="0"/>
          </a:stretch>
        </p:blipFill>
        <p:spPr>
          <a:xfrm xmlns:a="http://schemas.openxmlformats.org/drawingml/2006/main">
            <a:off x="8334756" y="4210812"/>
            <a:ext cx="356616" cy="356616"/>
          </a:xfrm>
          <a:prstGeom xmlns:a="http://schemas.openxmlformats.org/drawingml/2006/main" prst="rect">
            <a:avLst/>
          </a:prstGeom>
        </p:spPr>
      </p:pic>
      <p:sp>
        <p:nvSpPr>
          <p:cNvPr id="36" name="Text 27">
            <a:extLst xmlns:a="http://schemas.openxmlformats.org/drawingml/2006/main">
              <a:ext uri="{FF2B5EF4-FFF2-40B4-BE49-F238E27FC236}">
                <a16:creationId xmlns:a16="http://schemas.microsoft.com/office/drawing/2014/main" id="{F122A1FC-0D18-4606-B0FA-BF8925A81B8D}"/>
              </a:ext>
            </a:extLst>
          </p:cNvPr>
          <p:cNvSpPr>
            <a:spLocks xmlns:a="http://schemas.openxmlformats.org/drawingml/2006/main" noGrp="1"/>
          </p:cNvSpPr>
          <p:nvPr/>
        </p:nvSpPr>
        <p:spPr>
          <a:xfrm xmlns:a="http://schemas.openxmlformats.org/drawingml/2006/main">
            <a:off x="8860536" y="4160520"/>
            <a:ext cx="2514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4F5F0"/>
                </a:solidFill>
                <a:latin typeface="Cambria"/>
                <a:ea typeface="Cambria"/>
                <a:cs typeface="Cambria"/>
              </a:rPr>
              <a:t>Ergebnis erklären</a:t>
            </a:r>
          </a:p>
        </p:txBody>
      </p:sp>
      <p:sp>
        <p:nvSpPr>
          <p:cNvPr id="37" name="Text 28">
            <a:extLst xmlns:a="http://schemas.openxmlformats.org/drawingml/2006/main">
              <a:ext uri="{FF2B5EF4-FFF2-40B4-BE49-F238E27FC236}">
                <a16:creationId xmlns:a16="http://schemas.microsoft.com/office/drawing/2014/main" id="{23E51774-84FB-48A1-904B-FBEE474570BA}"/>
              </a:ext>
            </a:extLst>
          </p:cNvPr>
          <p:cNvSpPr>
            <a:spLocks xmlns:a="http://schemas.openxmlformats.org/drawingml/2006/main" noGrp="1"/>
          </p:cNvSpPr>
          <p:nvPr/>
        </p:nvSpPr>
        <p:spPr>
          <a:xfrm xmlns:a="http://schemas.openxmlformats.org/drawingml/2006/main">
            <a:off x="8284464" y="4754880"/>
            <a:ext cx="302666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FC2B4"/>
                </a:solidFill>
                <a:latin typeface="Calibri"/>
                <a:ea typeface="Calibri"/>
                <a:cs typeface="Calibri"/>
              </a:rPr>
              <a:t>Methodik, Grenzen und Export</a:t>
            </a:r>
          </a:p>
        </p:txBody>
      </p:sp>
      <p:sp>
        <p:nvSpPr>
          <p:cNvPr id="38" name="Text 29">
            <a:extLst xmlns:a="http://schemas.openxmlformats.org/drawingml/2006/main">
              <a:ext uri="{FF2B5EF4-FFF2-40B4-BE49-F238E27FC236}">
                <a16:creationId xmlns:a16="http://schemas.microsoft.com/office/drawing/2014/main" id="{76D4177C-F43C-402C-8FF5-46C44F393219}"/>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9AA398"/>
                </a:solidFill>
                <a:latin typeface="Calibri"/>
                <a:ea typeface="Calibri"/>
                <a:cs typeface="Calibri"/>
              </a:rPr>
              <a:t>WealthScope AI</a:t>
            </a:r>
          </a:p>
        </p:txBody>
      </p:sp>
      <p:sp>
        <p:nvSpPr>
          <p:cNvPr id="39" name="Text 30">
            <a:extLst xmlns:a="http://schemas.openxmlformats.org/drawingml/2006/main">
              <a:ext uri="{FF2B5EF4-FFF2-40B4-BE49-F238E27FC236}">
                <a16:creationId xmlns:a16="http://schemas.microsoft.com/office/drawing/2014/main" id="{F12AB4C8-2DDB-4EF1-B93A-ECBEF525507E}"/>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398"/>
                </a:solidFill>
                <a:latin typeface="Calibri"/>
                <a:ea typeface="Calibri"/>
                <a:cs typeface="Calibri"/>
              </a:rPr>
              <a:t>17</a:t>
            </a:r>
          </a:p>
        </p:txBody>
      </p:sp>
    </p:spTree>
    <p:extLst>
      <p:ext uri="{BB962C8B-B14F-4D97-AF65-F5344CB8AC3E}">
        <p14:creationId xmlns:p14="http://schemas.microsoft.com/office/powerpoint/2010/main" val="968129069"/>
      </p:ext>
    </p:extLst>
  </p:cSld>
</p:sld>
</file>

<file path=ppt/slides/slide18.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874B5DC-50A4-4824-85FD-B62251246221}"/>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0aa8aab3cedc4536"/>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F2DEC867-8B5A-4BDB-A740-147D82C9CFB4}"/>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FAZIT · BEWERTUNG</a:t>
            </a:r>
          </a:p>
        </p:txBody>
      </p:sp>
      <p:sp>
        <p:nvSpPr>
          <p:cNvPr id="5" name="Text 2">
            <a:extLst xmlns:a="http://schemas.openxmlformats.org/drawingml/2006/main">
              <a:ext uri="{FF2B5EF4-FFF2-40B4-BE49-F238E27FC236}">
                <a16:creationId xmlns:a16="http://schemas.microsoft.com/office/drawing/2014/main" id="{EDC4ACC3-9546-47E8-A0A0-19CDE8A43E1C}"/>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Was ist belegt – und was bleibt offen?</a:t>
            </a:r>
          </a:p>
        </p:txBody>
      </p:sp>
      <p:sp>
        <p:nvSpPr>
          <p:cNvPr id="6" name="Shape 3">
            <a:extLst xmlns:a="http://schemas.openxmlformats.org/drawingml/2006/main">
              <a:ext uri="{FF2B5EF4-FFF2-40B4-BE49-F238E27FC236}">
                <a16:creationId xmlns:a16="http://schemas.microsoft.com/office/drawing/2014/main" id="{F34BECA8-92F6-40BE-A91C-0F78F8EA438F}"/>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oundRect">
            <a:avLst>
              <a:gd name="adj" fmla="val 22222"/>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500811E2-145E-4F90-AE2B-EDA2687F2D6D}"/>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F5D53"/>
                </a:solidFill>
                <a:latin typeface="Calibri"/>
                <a:ea typeface="Calibri"/>
                <a:cs typeface="Calibri"/>
              </a:rPr>
              <a:t>1′</a:t>
            </a:r>
          </a:p>
        </p:txBody>
      </p:sp>
      <p:sp>
        <p:nvSpPr>
          <p:cNvPr id="8" name="Shape 5">
            <a:extLst xmlns:a="http://schemas.openxmlformats.org/drawingml/2006/main">
              <a:ext uri="{FF2B5EF4-FFF2-40B4-BE49-F238E27FC236}">
                <a16:creationId xmlns:a16="http://schemas.microsoft.com/office/drawing/2014/main" id="{A6BA78FC-8058-4B4B-9A5B-FDA92D011FE7}"/>
              </a:ext>
            </a:extLst>
          </p:cNvPr>
          <p:cNvSpPr>
            <a:spLocks xmlns:a="http://schemas.openxmlformats.org/drawingml/2006/main" noGrp="1"/>
          </p:cNvSpPr>
          <p:nvPr/>
        </p:nvSpPr>
        <p:spPr>
          <a:xfrm xmlns:a="http://schemas.openxmlformats.org/drawingml/2006/main">
            <a:off x="640080" y="1554480"/>
            <a:ext cx="10881360" cy="9144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9" name="Shape 6">
            <a:extLst xmlns:a="http://schemas.openxmlformats.org/drawingml/2006/main">
              <a:ext uri="{FF2B5EF4-FFF2-40B4-BE49-F238E27FC236}">
                <a16:creationId xmlns:a16="http://schemas.microsoft.com/office/drawing/2014/main" id="{5563A612-37E6-4FD6-B12F-7990961AD6AB}"/>
              </a:ext>
            </a:extLst>
          </p:cNvPr>
          <p:cNvSpPr>
            <a:spLocks xmlns:a="http://schemas.openxmlformats.org/drawingml/2006/main" noGrp="1"/>
          </p:cNvSpPr>
          <p:nvPr/>
        </p:nvSpPr>
        <p:spPr>
          <a:xfrm xmlns:a="http://schemas.openxmlformats.org/drawingml/2006/main">
            <a:off x="868680" y="1728216"/>
            <a:ext cx="566928" cy="566928"/>
          </a:xfrm>
          <a:prstGeom xmlns:a="http://schemas.openxmlformats.org/drawingml/2006/main" prst="ellipse">
            <a:avLst/>
          </a:prstGeom>
          <a:solidFill xmlns:a="http://schemas.openxmlformats.org/drawingml/2006/main">
            <a:srgbClr val="2F5D53"/>
          </a:solidFill>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43945BCC-6176-4843-A89D-FDA9976BE722}"/>
              </a:ext>
            </a:extLst>
          </p:cNvPr>
          <p:cNvSpPr>
            <a:spLocks xmlns:a="http://schemas.openxmlformats.org/drawingml/2006/main" noGrp="1"/>
          </p:cNvSpPr>
          <p:nvPr/>
        </p:nvSpPr>
        <p:spPr>
          <a:xfrm xmlns:a="http://schemas.openxmlformats.org/drawingml/2006/main">
            <a:off x="868680" y="1728216"/>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mbria"/>
                <a:ea typeface="Cambria"/>
                <a:cs typeface="Cambria"/>
              </a:rPr>
              <a:t>H1</a:t>
            </a:r>
          </a:p>
        </p:txBody>
      </p:sp>
      <p:sp>
        <p:nvSpPr>
          <p:cNvPr id="11" name="Text 8">
            <a:extLst xmlns:a="http://schemas.openxmlformats.org/drawingml/2006/main">
              <a:ext uri="{FF2B5EF4-FFF2-40B4-BE49-F238E27FC236}">
                <a16:creationId xmlns:a16="http://schemas.microsoft.com/office/drawing/2014/main" id="{27FF3CAB-7629-498A-92D5-8E94FDE4AE9A}"/>
              </a:ext>
            </a:extLst>
          </p:cNvPr>
          <p:cNvSpPr>
            <a:spLocks xmlns:a="http://schemas.openxmlformats.org/drawingml/2006/main" noGrp="1"/>
          </p:cNvSpPr>
          <p:nvPr/>
        </p:nvSpPr>
        <p:spPr>
          <a:xfrm xmlns:a="http://schemas.openxmlformats.org/drawingml/2006/main">
            <a:off x="1645920" y="1664208"/>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F5D53"/>
                </a:solidFill>
                <a:latin typeface="Calibri"/>
                <a:ea typeface="Calibri"/>
                <a:cs typeface="Calibri"/>
              </a:rPr>
              <a:t>nicht bestätigt</a:t>
            </a:r>
          </a:p>
        </p:txBody>
      </p:sp>
      <p:sp>
        <p:nvSpPr>
          <p:cNvPr id="12" name="Text 9">
            <a:extLst xmlns:a="http://schemas.openxmlformats.org/drawingml/2006/main">
              <a:ext uri="{FF2B5EF4-FFF2-40B4-BE49-F238E27FC236}">
                <a16:creationId xmlns:a16="http://schemas.microsoft.com/office/drawing/2014/main" id="{18D5E86B-F5B6-4FE6-A2FF-8030FB838889}"/>
              </a:ext>
            </a:extLst>
          </p:cNvPr>
          <p:cNvSpPr>
            <a:spLocks xmlns:a="http://schemas.openxmlformats.org/drawingml/2006/main" noGrp="1"/>
          </p:cNvSpPr>
          <p:nvPr/>
        </p:nvSpPr>
        <p:spPr>
          <a:xfrm xmlns:a="http://schemas.openxmlformats.org/drawingml/2006/main">
            <a:off x="1645920" y="1956816"/>
            <a:ext cx="8778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B6259"/>
                </a:solidFill>
                <a:latin typeface="Calibri"/>
                <a:ea typeface="Calibri"/>
                <a:cs typeface="Calibri"/>
              </a:rPr>
              <a:t>ROC-AUC 0,519; Accuracy unter der Majority-Baseline.</a:t>
            </a:r>
          </a:p>
        </p:txBody>
      </p:sp>
      <p:sp>
        <p:nvSpPr>
          <p:cNvPr id="13" name="Shape 10">
            <a:extLst xmlns:a="http://schemas.openxmlformats.org/drawingml/2006/main">
              <a:ext uri="{FF2B5EF4-FFF2-40B4-BE49-F238E27FC236}">
                <a16:creationId xmlns:a16="http://schemas.microsoft.com/office/drawing/2014/main" id="{FB24BE56-5C47-4351-A9CA-5C65325977CC}"/>
              </a:ext>
            </a:extLst>
          </p:cNvPr>
          <p:cNvSpPr>
            <a:spLocks xmlns:a="http://schemas.openxmlformats.org/drawingml/2006/main" noGrp="1"/>
          </p:cNvSpPr>
          <p:nvPr/>
        </p:nvSpPr>
        <p:spPr>
          <a:xfrm xmlns:a="http://schemas.openxmlformats.org/drawingml/2006/main">
            <a:off x="640080" y="2606040"/>
            <a:ext cx="10881360" cy="9144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4" name="Shape 11">
            <a:extLst xmlns:a="http://schemas.openxmlformats.org/drawingml/2006/main">
              <a:ext uri="{FF2B5EF4-FFF2-40B4-BE49-F238E27FC236}">
                <a16:creationId xmlns:a16="http://schemas.microsoft.com/office/drawing/2014/main" id="{04EFC647-DF80-4DD8-B3C2-136C2D42F258}"/>
              </a:ext>
            </a:extLst>
          </p:cNvPr>
          <p:cNvSpPr>
            <a:spLocks xmlns:a="http://schemas.openxmlformats.org/drawingml/2006/main" noGrp="1"/>
          </p:cNvSpPr>
          <p:nvPr/>
        </p:nvSpPr>
        <p:spPr>
          <a:xfrm xmlns:a="http://schemas.openxmlformats.org/drawingml/2006/main">
            <a:off x="868680" y="2779776"/>
            <a:ext cx="566928" cy="566928"/>
          </a:xfrm>
          <a:prstGeom xmlns:a="http://schemas.openxmlformats.org/drawingml/2006/main" prst="ellipse">
            <a:avLst/>
          </a:prstGeom>
          <a:solidFill xmlns:a="http://schemas.openxmlformats.org/drawingml/2006/main">
            <a:srgbClr val="2F5D53"/>
          </a:solidFill>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E152D284-E760-4B43-8ECA-B874B7050BEE}"/>
              </a:ext>
            </a:extLst>
          </p:cNvPr>
          <p:cNvSpPr>
            <a:spLocks xmlns:a="http://schemas.openxmlformats.org/drawingml/2006/main" noGrp="1"/>
          </p:cNvSpPr>
          <p:nvPr/>
        </p:nvSpPr>
        <p:spPr>
          <a:xfrm xmlns:a="http://schemas.openxmlformats.org/drawingml/2006/main">
            <a:off x="868680" y="2779776"/>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mbria"/>
                <a:ea typeface="Cambria"/>
                <a:cs typeface="Cambria"/>
              </a:rPr>
              <a:t>Z1</a:t>
            </a:r>
          </a:p>
        </p:txBody>
      </p:sp>
      <p:sp>
        <p:nvSpPr>
          <p:cNvPr id="16" name="Text 13">
            <a:extLst xmlns:a="http://schemas.openxmlformats.org/drawingml/2006/main">
              <a:ext uri="{FF2B5EF4-FFF2-40B4-BE49-F238E27FC236}">
                <a16:creationId xmlns:a16="http://schemas.microsoft.com/office/drawing/2014/main" id="{94A4D0B3-BE65-46EA-8257-DBC9EA850A33}"/>
              </a:ext>
            </a:extLst>
          </p:cNvPr>
          <p:cNvSpPr>
            <a:spLocks xmlns:a="http://schemas.openxmlformats.org/drawingml/2006/main" noGrp="1"/>
          </p:cNvSpPr>
          <p:nvPr/>
        </p:nvSpPr>
        <p:spPr>
          <a:xfrm xmlns:a="http://schemas.openxmlformats.org/drawingml/2006/main">
            <a:off x="1645920" y="2715768"/>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F5D53"/>
                </a:solidFill>
                <a:latin typeface="Calibri"/>
                <a:ea typeface="Calibri"/>
                <a:cs typeface="Calibri"/>
              </a:rPr>
              <a:t>umgesetzt</a:t>
            </a:r>
          </a:p>
        </p:txBody>
      </p:sp>
      <p:sp>
        <p:nvSpPr>
          <p:cNvPr id="17" name="Text 14">
            <a:extLst xmlns:a="http://schemas.openxmlformats.org/drawingml/2006/main">
              <a:ext uri="{FF2B5EF4-FFF2-40B4-BE49-F238E27FC236}">
                <a16:creationId xmlns:a16="http://schemas.microsoft.com/office/drawing/2014/main" id="{594A29C3-39F3-4A52-8565-81ED46916069}"/>
              </a:ext>
            </a:extLst>
          </p:cNvPr>
          <p:cNvSpPr>
            <a:spLocks xmlns:a="http://schemas.openxmlformats.org/drawingml/2006/main" noGrp="1"/>
          </p:cNvSpPr>
          <p:nvPr/>
        </p:nvSpPr>
        <p:spPr>
          <a:xfrm xmlns:a="http://schemas.openxmlformats.org/drawingml/2006/main">
            <a:off x="1645920" y="3008376"/>
            <a:ext cx="8778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B6259"/>
                </a:solidFill>
                <a:latin typeface="Calibri"/>
                <a:ea typeface="Calibri"/>
                <a:cs typeface="Calibri"/>
              </a:rPr>
              <a:t>Die App zeigt Daten, Modellgüte, Fehler und Grenzen in einer Oberfläche.</a:t>
            </a:r>
          </a:p>
        </p:txBody>
      </p:sp>
      <p:sp>
        <p:nvSpPr>
          <p:cNvPr id="18" name="Shape 15">
            <a:extLst xmlns:a="http://schemas.openxmlformats.org/drawingml/2006/main">
              <a:ext uri="{FF2B5EF4-FFF2-40B4-BE49-F238E27FC236}">
                <a16:creationId xmlns:a16="http://schemas.microsoft.com/office/drawing/2014/main" id="{1D917E17-99B5-486C-8FB3-0B0AD6E9032E}"/>
              </a:ext>
            </a:extLst>
          </p:cNvPr>
          <p:cNvSpPr>
            <a:spLocks xmlns:a="http://schemas.openxmlformats.org/drawingml/2006/main" noGrp="1"/>
          </p:cNvSpPr>
          <p:nvPr/>
        </p:nvSpPr>
        <p:spPr>
          <a:xfrm xmlns:a="http://schemas.openxmlformats.org/drawingml/2006/main">
            <a:off x="640080" y="3657600"/>
            <a:ext cx="10881360" cy="9144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9" name="Shape 16">
            <a:extLst xmlns:a="http://schemas.openxmlformats.org/drawingml/2006/main">
              <a:ext uri="{FF2B5EF4-FFF2-40B4-BE49-F238E27FC236}">
                <a16:creationId xmlns:a16="http://schemas.microsoft.com/office/drawing/2014/main" id="{D99517D1-7EA8-497D-8404-2D525E59CA26}"/>
              </a:ext>
            </a:extLst>
          </p:cNvPr>
          <p:cNvSpPr>
            <a:spLocks xmlns:a="http://schemas.openxmlformats.org/drawingml/2006/main" noGrp="1"/>
          </p:cNvSpPr>
          <p:nvPr/>
        </p:nvSpPr>
        <p:spPr>
          <a:xfrm xmlns:a="http://schemas.openxmlformats.org/drawingml/2006/main">
            <a:off x="868680" y="3831336"/>
            <a:ext cx="566928" cy="566928"/>
          </a:xfrm>
          <a:prstGeom xmlns:a="http://schemas.openxmlformats.org/drawingml/2006/main" prst="ellipse">
            <a:avLst/>
          </a:prstGeom>
          <a:solidFill xmlns:a="http://schemas.openxmlformats.org/drawingml/2006/main">
            <a:srgbClr val="A97C1E"/>
          </a:solidFill>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AF868B08-D9E5-4EC2-A9C2-32B70A313078}"/>
              </a:ext>
            </a:extLst>
          </p:cNvPr>
          <p:cNvSpPr>
            <a:spLocks xmlns:a="http://schemas.openxmlformats.org/drawingml/2006/main" noGrp="1"/>
          </p:cNvSpPr>
          <p:nvPr/>
        </p:nvSpPr>
        <p:spPr>
          <a:xfrm xmlns:a="http://schemas.openxmlformats.org/drawingml/2006/main">
            <a:off x="868680" y="3831336"/>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Cambria"/>
                <a:ea typeface="Cambria"/>
                <a:cs typeface="Cambria"/>
              </a:rPr>
              <a:t>O1</a:t>
            </a:r>
          </a:p>
        </p:txBody>
      </p:sp>
      <p:sp>
        <p:nvSpPr>
          <p:cNvPr id="21" name="Text 18">
            <a:extLst xmlns:a="http://schemas.openxmlformats.org/drawingml/2006/main">
              <a:ext uri="{FF2B5EF4-FFF2-40B4-BE49-F238E27FC236}">
                <a16:creationId xmlns:a16="http://schemas.microsoft.com/office/drawing/2014/main" id="{DCDE220E-69EC-472E-B521-533D7AF5C928}"/>
              </a:ext>
            </a:extLst>
          </p:cNvPr>
          <p:cNvSpPr>
            <a:spLocks xmlns:a="http://schemas.openxmlformats.org/drawingml/2006/main" noGrp="1"/>
          </p:cNvSpPr>
          <p:nvPr/>
        </p:nvSpPr>
        <p:spPr>
          <a:xfrm xmlns:a="http://schemas.openxmlformats.org/drawingml/2006/main">
            <a:off x="1645920" y="3767328"/>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offen</a:t>
            </a:r>
          </a:p>
        </p:txBody>
      </p:sp>
      <p:sp>
        <p:nvSpPr>
          <p:cNvPr id="22" name="Text 19">
            <a:extLst xmlns:a="http://schemas.openxmlformats.org/drawingml/2006/main">
              <a:ext uri="{FF2B5EF4-FFF2-40B4-BE49-F238E27FC236}">
                <a16:creationId xmlns:a16="http://schemas.microsoft.com/office/drawing/2014/main" id="{6D52E6BF-0332-4E8A-A804-E8A63EFEB70C}"/>
              </a:ext>
            </a:extLst>
          </p:cNvPr>
          <p:cNvSpPr>
            <a:spLocks xmlns:a="http://schemas.openxmlformats.org/drawingml/2006/main" noGrp="1"/>
          </p:cNvSpPr>
          <p:nvPr/>
        </p:nvSpPr>
        <p:spPr>
          <a:xfrm xmlns:a="http://schemas.openxmlformats.org/drawingml/2006/main">
            <a:off x="1645920" y="4059936"/>
            <a:ext cx="8778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B6259"/>
                </a:solidFill>
                <a:latin typeface="Calibri"/>
                <a:ea typeface="Calibri"/>
                <a:cs typeface="Calibri"/>
              </a:rPr>
              <a:t>Verständlichkeit und praktischer Mehrwert wurden nicht in einer Nutzerstudie geprüft.</a:t>
            </a:r>
          </a:p>
        </p:txBody>
      </p:sp>
      <p:sp>
        <p:nvSpPr>
          <p:cNvPr id="23" name="Text 20">
            <a:extLst xmlns:a="http://schemas.openxmlformats.org/drawingml/2006/main">
              <a:ext uri="{FF2B5EF4-FFF2-40B4-BE49-F238E27FC236}">
                <a16:creationId xmlns:a16="http://schemas.microsoft.com/office/drawing/2014/main" id="{75BBB220-8A71-4A84-A528-5C1DA651D40F}"/>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24" name="Text 21">
            <a:extLst xmlns:a="http://schemas.openxmlformats.org/drawingml/2006/main">
              <a:ext uri="{FF2B5EF4-FFF2-40B4-BE49-F238E27FC236}">
                <a16:creationId xmlns:a16="http://schemas.microsoft.com/office/drawing/2014/main" id="{A9ECFC7E-80C4-44D5-A84E-707EAA6ACBCA}"/>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18</a:t>
            </a:r>
          </a:p>
        </p:txBody>
      </p:sp>
    </p:spTree>
    <p:extLst>
      <p:ext uri="{BB962C8B-B14F-4D97-AF65-F5344CB8AC3E}">
        <p14:creationId xmlns:p14="http://schemas.microsoft.com/office/powerpoint/2010/main" val="388300945"/>
      </p:ext>
    </p:extLst>
  </p:cSld>
</p:sld>
</file>

<file path=ppt/slides/slide19.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102EAC2-B659-4240-98BC-DE4096B4E402}"/>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5ef2defd9c264f0d"/>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2E9DB39A-9F7C-49F6-B1F3-C05538E8B85F}"/>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FAZIT · GRENZEN</a:t>
            </a:r>
          </a:p>
        </p:txBody>
      </p:sp>
      <p:sp>
        <p:nvSpPr>
          <p:cNvPr id="5" name="Text 2">
            <a:extLst xmlns:a="http://schemas.openxmlformats.org/drawingml/2006/main">
              <a:ext uri="{FF2B5EF4-FFF2-40B4-BE49-F238E27FC236}">
                <a16:creationId xmlns:a16="http://schemas.microsoft.com/office/drawing/2014/main" id="{91845987-4583-4943-ADE0-52671AA9D328}"/>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Vier Grenzen bestimmen die Aussage</a:t>
            </a:r>
          </a:p>
        </p:txBody>
      </p:sp>
      <p:sp>
        <p:nvSpPr>
          <p:cNvPr id="6" name="Shape 3">
            <a:extLst xmlns:a="http://schemas.openxmlformats.org/drawingml/2006/main">
              <a:ext uri="{FF2B5EF4-FFF2-40B4-BE49-F238E27FC236}">
                <a16:creationId xmlns:a16="http://schemas.microsoft.com/office/drawing/2014/main" id="{BBD33B0D-B848-4E6D-AFAD-46A29E8156A0}"/>
              </a:ext>
            </a:extLst>
          </p:cNvPr>
          <p:cNvSpPr>
            <a:spLocks xmlns:a="http://schemas.openxmlformats.org/drawingml/2006/main" noGrp="1"/>
          </p:cNvSpPr>
          <p:nvPr/>
        </p:nvSpPr>
        <p:spPr>
          <a:xfrm xmlns:a="http://schemas.openxmlformats.org/drawingml/2006/main">
            <a:off x="640080" y="1508760"/>
            <a:ext cx="5257800" cy="13716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C33B44DA-335C-4684-A92F-54BF987F2149}"/>
              </a:ext>
            </a:extLst>
          </p:cNvPr>
          <p:cNvSpPr>
            <a:spLocks xmlns:a="http://schemas.openxmlformats.org/drawingml/2006/main" noGrp="1"/>
          </p:cNvSpPr>
          <p:nvPr/>
        </p:nvSpPr>
        <p:spPr>
          <a:xfrm xmlns:a="http://schemas.openxmlformats.org/drawingml/2006/main">
            <a:off x="868680" y="1673352"/>
            <a:ext cx="4800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A83C30"/>
                </a:solidFill>
                <a:latin typeface="Cambria"/>
                <a:ea typeface="Cambria"/>
                <a:cs typeface="Cambria"/>
              </a:rPr>
              <a:t>Survivorship-Bias</a:t>
            </a:r>
          </a:p>
        </p:txBody>
      </p:sp>
      <p:sp>
        <p:nvSpPr>
          <p:cNvPr id="8" name="Text 5">
            <a:extLst xmlns:a="http://schemas.openxmlformats.org/drawingml/2006/main">
              <a:ext uri="{FF2B5EF4-FFF2-40B4-BE49-F238E27FC236}">
                <a16:creationId xmlns:a16="http://schemas.microsoft.com/office/drawing/2014/main" id="{BFB177C3-3283-45FA-BDA0-71A2A1A818B8}"/>
              </a:ext>
            </a:extLst>
          </p:cNvPr>
          <p:cNvSpPr>
            <a:spLocks xmlns:a="http://schemas.openxmlformats.org/drawingml/2006/main" noGrp="1"/>
          </p:cNvSpPr>
          <p:nvPr/>
        </p:nvSpPr>
        <p:spPr>
          <a:xfrm xmlns:a="http://schemas.openxmlformats.org/drawingml/2006/main">
            <a:off x="868680" y="2103120"/>
            <a:ext cx="4800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Ausgeschiedene Unternehmen fehlen; die Stichprobe ist nicht marktneutral.</a:t>
            </a:r>
          </a:p>
        </p:txBody>
      </p:sp>
      <p:sp>
        <p:nvSpPr>
          <p:cNvPr id="9" name="Shape 6">
            <a:extLst xmlns:a="http://schemas.openxmlformats.org/drawingml/2006/main">
              <a:ext uri="{FF2B5EF4-FFF2-40B4-BE49-F238E27FC236}">
                <a16:creationId xmlns:a16="http://schemas.microsoft.com/office/drawing/2014/main" id="{3D775455-952D-4BD1-8FF4-D8DF98AF1195}"/>
              </a:ext>
            </a:extLst>
          </p:cNvPr>
          <p:cNvSpPr>
            <a:spLocks xmlns:a="http://schemas.openxmlformats.org/drawingml/2006/main" noGrp="1"/>
          </p:cNvSpPr>
          <p:nvPr/>
        </p:nvSpPr>
        <p:spPr>
          <a:xfrm xmlns:a="http://schemas.openxmlformats.org/drawingml/2006/main">
            <a:off x="6263640" y="1508760"/>
            <a:ext cx="5257800" cy="13716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CDDBB3D5-6A04-4A87-9C62-1D41DBD6CDD5}"/>
              </a:ext>
            </a:extLst>
          </p:cNvPr>
          <p:cNvSpPr>
            <a:spLocks xmlns:a="http://schemas.openxmlformats.org/drawingml/2006/main" noGrp="1"/>
          </p:cNvSpPr>
          <p:nvPr/>
        </p:nvSpPr>
        <p:spPr>
          <a:xfrm xmlns:a="http://schemas.openxmlformats.org/drawingml/2006/main">
            <a:off x="6492240" y="1673352"/>
            <a:ext cx="4800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A83C30"/>
                </a:solidFill>
                <a:latin typeface="Cambria"/>
                <a:ea typeface="Cambria"/>
                <a:cs typeface="Cambria"/>
              </a:rPr>
              <a:t>Nur kursbasierte Merkmale</a:t>
            </a:r>
          </a:p>
        </p:txBody>
      </p:sp>
      <p:sp>
        <p:nvSpPr>
          <p:cNvPr id="11" name="Text 8">
            <a:extLst xmlns:a="http://schemas.openxmlformats.org/drawingml/2006/main">
              <a:ext uri="{FF2B5EF4-FFF2-40B4-BE49-F238E27FC236}">
                <a16:creationId xmlns:a16="http://schemas.microsoft.com/office/drawing/2014/main" id="{631A7D5D-10E6-4563-A745-B38355C31C3D}"/>
              </a:ext>
            </a:extLst>
          </p:cNvPr>
          <p:cNvSpPr>
            <a:spLocks xmlns:a="http://schemas.openxmlformats.org/drawingml/2006/main" noGrp="1"/>
          </p:cNvSpPr>
          <p:nvPr/>
        </p:nvSpPr>
        <p:spPr>
          <a:xfrm xmlns:a="http://schemas.openxmlformats.org/drawingml/2006/main">
            <a:off x="6492240" y="2103120"/>
            <a:ext cx="4800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Zinsen, Makrodaten und Nachrichten sind nicht Teil des Modells.</a:t>
            </a:r>
          </a:p>
        </p:txBody>
      </p:sp>
      <p:sp>
        <p:nvSpPr>
          <p:cNvPr id="12" name="Shape 9">
            <a:extLst xmlns:a="http://schemas.openxmlformats.org/drawingml/2006/main">
              <a:ext uri="{FF2B5EF4-FFF2-40B4-BE49-F238E27FC236}">
                <a16:creationId xmlns:a16="http://schemas.microsoft.com/office/drawing/2014/main" id="{F8691486-8D2D-428E-AE94-04D15B2047E6}"/>
              </a:ext>
            </a:extLst>
          </p:cNvPr>
          <p:cNvSpPr>
            <a:spLocks xmlns:a="http://schemas.openxmlformats.org/drawingml/2006/main" noGrp="1"/>
          </p:cNvSpPr>
          <p:nvPr/>
        </p:nvSpPr>
        <p:spPr>
          <a:xfrm xmlns:a="http://schemas.openxmlformats.org/drawingml/2006/main">
            <a:off x="640080" y="3108960"/>
            <a:ext cx="5257800" cy="13716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EBB55BEC-19B9-4A71-9558-6C961FC38315}"/>
              </a:ext>
            </a:extLst>
          </p:cNvPr>
          <p:cNvSpPr>
            <a:spLocks xmlns:a="http://schemas.openxmlformats.org/drawingml/2006/main" noGrp="1"/>
          </p:cNvSpPr>
          <p:nvPr/>
        </p:nvSpPr>
        <p:spPr>
          <a:xfrm xmlns:a="http://schemas.openxmlformats.org/drawingml/2006/main">
            <a:off x="868680" y="3273552"/>
            <a:ext cx="4800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A83C30"/>
                </a:solidFill>
                <a:latin typeface="Cambria"/>
                <a:ea typeface="Cambria"/>
                <a:cs typeface="Cambria"/>
              </a:rPr>
              <a:t>Keine Nutzerstudie</a:t>
            </a:r>
          </a:p>
        </p:txBody>
      </p:sp>
      <p:sp>
        <p:nvSpPr>
          <p:cNvPr id="14" name="Text 11">
            <a:extLst xmlns:a="http://schemas.openxmlformats.org/drawingml/2006/main">
              <a:ext uri="{FF2B5EF4-FFF2-40B4-BE49-F238E27FC236}">
                <a16:creationId xmlns:a16="http://schemas.microsoft.com/office/drawing/2014/main" id="{EDC54609-D0CA-4102-9E37-A2D57B047FC1}"/>
              </a:ext>
            </a:extLst>
          </p:cNvPr>
          <p:cNvSpPr>
            <a:spLocks xmlns:a="http://schemas.openxmlformats.org/drawingml/2006/main" noGrp="1"/>
          </p:cNvSpPr>
          <p:nvPr/>
        </p:nvSpPr>
        <p:spPr>
          <a:xfrm xmlns:a="http://schemas.openxmlformats.org/drawingml/2006/main">
            <a:off x="868680" y="3703320"/>
            <a:ext cx="4800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Verständlichkeit und praktischer Nutzen wurden nicht empirisch geprüft.</a:t>
            </a:r>
          </a:p>
        </p:txBody>
      </p:sp>
      <p:sp>
        <p:nvSpPr>
          <p:cNvPr id="15" name="Shape 12">
            <a:extLst xmlns:a="http://schemas.openxmlformats.org/drawingml/2006/main">
              <a:ext uri="{FF2B5EF4-FFF2-40B4-BE49-F238E27FC236}">
                <a16:creationId xmlns:a16="http://schemas.microsoft.com/office/drawing/2014/main" id="{7E8E7ACB-710D-406F-A307-0591EC1BDB21}"/>
              </a:ext>
            </a:extLst>
          </p:cNvPr>
          <p:cNvSpPr>
            <a:spLocks xmlns:a="http://schemas.openxmlformats.org/drawingml/2006/main" noGrp="1"/>
          </p:cNvSpPr>
          <p:nvPr/>
        </p:nvSpPr>
        <p:spPr>
          <a:xfrm xmlns:a="http://schemas.openxmlformats.org/drawingml/2006/main">
            <a:off x="6263640" y="3108960"/>
            <a:ext cx="5257800" cy="13716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9D9C809A-6B1E-4901-A97E-BF740630AB2F}"/>
              </a:ext>
            </a:extLst>
          </p:cNvPr>
          <p:cNvSpPr>
            <a:spLocks xmlns:a="http://schemas.openxmlformats.org/drawingml/2006/main" noGrp="1"/>
          </p:cNvSpPr>
          <p:nvPr/>
        </p:nvSpPr>
        <p:spPr>
          <a:xfrm xmlns:a="http://schemas.openxmlformats.org/drawingml/2006/main">
            <a:off x="6492240" y="3273552"/>
            <a:ext cx="4800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A83C30"/>
                </a:solidFill>
                <a:latin typeface="Cambria"/>
                <a:ea typeface="Cambria"/>
                <a:cs typeface="Cambria"/>
              </a:rPr>
              <a:t>Begrenzte Übertragbarkeit</a:t>
            </a:r>
          </a:p>
        </p:txBody>
      </p:sp>
      <p:sp>
        <p:nvSpPr>
          <p:cNvPr id="17" name="Text 14">
            <a:extLst xmlns:a="http://schemas.openxmlformats.org/drawingml/2006/main">
              <a:ext uri="{FF2B5EF4-FFF2-40B4-BE49-F238E27FC236}">
                <a16:creationId xmlns:a16="http://schemas.microsoft.com/office/drawing/2014/main" id="{542BB2FF-C55F-4C3A-A2AF-D877F699313A}"/>
              </a:ext>
            </a:extLst>
          </p:cNvPr>
          <p:cNvSpPr>
            <a:spLocks xmlns:a="http://schemas.openxmlformats.org/drawingml/2006/main" noGrp="1"/>
          </p:cNvSpPr>
          <p:nvPr/>
        </p:nvSpPr>
        <p:spPr>
          <a:xfrm xmlns:a="http://schemas.openxmlformats.org/drawingml/2006/main">
            <a:off x="6492240" y="3703320"/>
            <a:ext cx="4800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Marktstrukturen ändern sich; historische Ergebnisse gelten nicht automatisch weiter.</a:t>
            </a:r>
          </a:p>
        </p:txBody>
      </p:sp>
      <p:sp>
        <p:nvSpPr>
          <p:cNvPr id="18" name="Shape 15">
            <a:extLst xmlns:a="http://schemas.openxmlformats.org/drawingml/2006/main">
              <a:ext uri="{FF2B5EF4-FFF2-40B4-BE49-F238E27FC236}">
                <a16:creationId xmlns:a16="http://schemas.microsoft.com/office/drawing/2014/main" id="{F5CAC2DA-281B-4C53-B4AE-7C9CE9C8FFDD}"/>
              </a:ext>
            </a:extLst>
          </p:cNvPr>
          <p:cNvSpPr>
            <a:spLocks xmlns:a="http://schemas.openxmlformats.org/drawingml/2006/main" noGrp="1"/>
          </p:cNvSpPr>
          <p:nvPr/>
        </p:nvSpPr>
        <p:spPr>
          <a:xfrm xmlns:a="http://schemas.openxmlformats.org/drawingml/2006/main">
            <a:off x="640080" y="4846320"/>
            <a:ext cx="10881360" cy="1463040"/>
          </a:xfrm>
          <a:prstGeom xmlns:a="http://schemas.openxmlformats.org/drawingml/2006/main" prst="roundRect">
            <a:avLst>
              <a:gd name="adj" fmla="val 3750"/>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FB5F0DCA-C177-4570-8792-B78A2E3A93C9}"/>
              </a:ext>
            </a:extLst>
          </p:cNvPr>
          <p:cNvSpPr>
            <a:spLocks xmlns:a="http://schemas.openxmlformats.org/drawingml/2006/main" noGrp="1"/>
          </p:cNvSpPr>
          <p:nvPr/>
        </p:nvSpPr>
        <p:spPr>
          <a:xfrm xmlns:a="http://schemas.openxmlformats.org/drawingml/2006/main">
            <a:off x="914400" y="4846320"/>
            <a:ext cx="103327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i="1">
                <a:solidFill>
                  <a:srgbClr val="2F5D53"/>
                </a:solidFill>
                <a:latin typeface="Cambria"/>
                <a:ea typeface="Cambria"/>
                <a:cs typeface="Cambria"/>
              </a:rPr>
              <a:t>Die wichtigste Grenze ist nicht technische Komplexität, sondern fehlende Information und begrenzte Übertragbarkeit.</a:t>
            </a:r>
          </a:p>
        </p:txBody>
      </p:sp>
      <p:sp>
        <p:nvSpPr>
          <p:cNvPr id="20" name="Text 17">
            <a:extLst xmlns:a="http://schemas.openxmlformats.org/drawingml/2006/main">
              <a:ext uri="{FF2B5EF4-FFF2-40B4-BE49-F238E27FC236}">
                <a16:creationId xmlns:a16="http://schemas.microsoft.com/office/drawing/2014/main" id="{99BA94CF-C1CA-40DE-A63E-2AF8DE8AC1F5}"/>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21" name="Text 18">
            <a:extLst xmlns:a="http://schemas.openxmlformats.org/drawingml/2006/main">
              <a:ext uri="{FF2B5EF4-FFF2-40B4-BE49-F238E27FC236}">
                <a16:creationId xmlns:a16="http://schemas.microsoft.com/office/drawing/2014/main" id="{9CC33699-2BF9-4981-98A4-8DA3C4868D35}"/>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19</a:t>
            </a:r>
          </a:p>
        </p:txBody>
      </p:sp>
    </p:spTree>
    <p:extLst>
      <p:ext uri="{BB962C8B-B14F-4D97-AF65-F5344CB8AC3E}">
        <p14:creationId xmlns:p14="http://schemas.microsoft.com/office/powerpoint/2010/main" val="966216564"/>
      </p:ext>
    </p:extLst>
  </p:cSld>
</p:sld>
</file>

<file path=ppt/slides/slide20.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102EAC2-B659-4240-98BC-DE4096B4E402}"/>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21ba6facfea04702"/>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2E9DB39A-9F7C-49F6-B1F3-C05538E8B85F}"/>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FAZIT · MASSNAHMEN</a:t>
            </a:r>
          </a:p>
        </p:txBody>
      </p:sp>
      <p:sp>
        <p:nvSpPr>
          <p:cNvPr id="5" name="Text 2">
            <a:extLst xmlns:a="http://schemas.openxmlformats.org/drawingml/2006/main">
              <a:ext uri="{FF2B5EF4-FFF2-40B4-BE49-F238E27FC236}">
                <a16:creationId xmlns:a16="http://schemas.microsoft.com/office/drawing/2014/main" id="{91845987-4583-4943-ADE0-52671AA9D328}"/>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Vier Arbeitspakete machen Fortschritt prüfbar</a:t>
            </a:r>
          </a:p>
        </p:txBody>
      </p:sp>
      <p:sp>
        <p:nvSpPr>
          <p:cNvPr id="6" name="Shape 3">
            <a:extLst xmlns:a="http://schemas.openxmlformats.org/drawingml/2006/main">
              <a:ext uri="{FF2B5EF4-FFF2-40B4-BE49-F238E27FC236}">
                <a16:creationId xmlns:a16="http://schemas.microsoft.com/office/drawing/2014/main" id="{BBD33B0D-B848-4E6D-AFAD-46A29E8156A0}"/>
              </a:ext>
            </a:extLst>
          </p:cNvPr>
          <p:cNvSpPr>
            <a:spLocks xmlns:a="http://schemas.openxmlformats.org/drawingml/2006/main" noGrp="1"/>
          </p:cNvSpPr>
          <p:nvPr/>
        </p:nvSpPr>
        <p:spPr>
          <a:xfrm xmlns:a="http://schemas.openxmlformats.org/drawingml/2006/main">
            <a:off x="640080" y="1508760"/>
            <a:ext cx="5257800" cy="13716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C33B44DA-335C-4684-A92F-54BF987F2149}"/>
              </a:ext>
            </a:extLst>
          </p:cNvPr>
          <p:cNvSpPr>
            <a:spLocks xmlns:a="http://schemas.openxmlformats.org/drawingml/2006/main" noGrp="1"/>
          </p:cNvSpPr>
          <p:nvPr/>
        </p:nvSpPr>
        <p:spPr>
          <a:xfrm xmlns:a="http://schemas.openxmlformats.org/drawingml/2006/main">
            <a:off x="868680" y="1673352"/>
            <a:ext cx="4800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A83C30"/>
                </a:solidFill>
                <a:latin typeface="Cambria"/>
                <a:ea typeface="Cambria"/>
                <a:cs typeface="Cambria"/>
              </a:rPr>
              <a:t>Datenbasis erweitern</a:t>
            </a:r>
          </a:p>
        </p:txBody>
      </p:sp>
      <p:sp>
        <p:nvSpPr>
          <p:cNvPr id="8" name="Text 5">
            <a:extLst xmlns:a="http://schemas.openxmlformats.org/drawingml/2006/main">
              <a:ext uri="{FF2B5EF4-FFF2-40B4-BE49-F238E27FC236}">
                <a16:creationId xmlns:a16="http://schemas.microsoft.com/office/drawing/2014/main" id="{BFB177C3-3283-45FA-BDA0-71A2A1A818B8}"/>
              </a:ext>
            </a:extLst>
          </p:cNvPr>
          <p:cNvSpPr>
            <a:spLocks xmlns:a="http://schemas.openxmlformats.org/drawingml/2006/main" noGrp="1"/>
          </p:cNvSpPr>
          <p:nvPr/>
        </p:nvSpPr>
        <p:spPr>
          <a:xfrm xmlns:a="http://schemas.openxmlformats.org/drawingml/2006/main">
            <a:off x="868680" y="2103120"/>
            <a:ext cx="4800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Delistete Titel ergänzen; Ergebnisse vorher und nachher vergleichen.</a:t>
            </a:r>
          </a:p>
        </p:txBody>
      </p:sp>
      <p:sp>
        <p:nvSpPr>
          <p:cNvPr id="9" name="Shape 6">
            <a:extLst xmlns:a="http://schemas.openxmlformats.org/drawingml/2006/main">
              <a:ext uri="{FF2B5EF4-FFF2-40B4-BE49-F238E27FC236}">
                <a16:creationId xmlns:a16="http://schemas.microsoft.com/office/drawing/2014/main" id="{3D775455-952D-4BD1-8FF4-D8DF98AF1195}"/>
              </a:ext>
            </a:extLst>
          </p:cNvPr>
          <p:cNvSpPr>
            <a:spLocks xmlns:a="http://schemas.openxmlformats.org/drawingml/2006/main" noGrp="1"/>
          </p:cNvSpPr>
          <p:nvPr/>
        </p:nvSpPr>
        <p:spPr>
          <a:xfrm xmlns:a="http://schemas.openxmlformats.org/drawingml/2006/main">
            <a:off x="6263640" y="1508760"/>
            <a:ext cx="5257800" cy="13716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CDDBB3D5-6A04-4A87-9C62-1D41DBD6CDD5}"/>
              </a:ext>
            </a:extLst>
          </p:cNvPr>
          <p:cNvSpPr>
            <a:spLocks xmlns:a="http://schemas.openxmlformats.org/drawingml/2006/main" noGrp="1"/>
          </p:cNvSpPr>
          <p:nvPr/>
        </p:nvSpPr>
        <p:spPr>
          <a:xfrm xmlns:a="http://schemas.openxmlformats.org/drawingml/2006/main">
            <a:off x="6492240" y="1673352"/>
            <a:ext cx="4800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A83C30"/>
                </a:solidFill>
                <a:latin typeface="Cambria"/>
                <a:ea typeface="Cambria"/>
                <a:cs typeface="Cambria"/>
              </a:rPr>
              <a:t>Neue Information testen</a:t>
            </a:r>
          </a:p>
        </p:txBody>
      </p:sp>
      <p:sp>
        <p:nvSpPr>
          <p:cNvPr id="11" name="Text 8">
            <a:extLst xmlns:a="http://schemas.openxmlformats.org/drawingml/2006/main">
              <a:ext uri="{FF2B5EF4-FFF2-40B4-BE49-F238E27FC236}">
                <a16:creationId xmlns:a16="http://schemas.microsoft.com/office/drawing/2014/main" id="{631A7D5D-10E6-4563-A745-B38355C31C3D}"/>
              </a:ext>
            </a:extLst>
          </p:cNvPr>
          <p:cNvSpPr>
            <a:spLocks xmlns:a="http://schemas.openxmlformats.org/drawingml/2006/main" noGrp="1"/>
          </p:cNvSpPr>
          <p:nvPr/>
        </p:nvSpPr>
        <p:spPr>
          <a:xfrm xmlns:a="http://schemas.openxmlformats.org/drawingml/2006/main">
            <a:off x="6492240" y="2103120"/>
            <a:ext cx="4800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Makro- und Nachrichtendaten im Out-of-Time-Test gegen die Baseline prüfen.</a:t>
            </a:r>
          </a:p>
        </p:txBody>
      </p:sp>
      <p:sp>
        <p:nvSpPr>
          <p:cNvPr id="12" name="Shape 9">
            <a:extLst xmlns:a="http://schemas.openxmlformats.org/drawingml/2006/main">
              <a:ext uri="{FF2B5EF4-FFF2-40B4-BE49-F238E27FC236}">
                <a16:creationId xmlns:a16="http://schemas.microsoft.com/office/drawing/2014/main" id="{F8691486-8D2D-428E-AE94-04D15B2047E6}"/>
              </a:ext>
            </a:extLst>
          </p:cNvPr>
          <p:cNvSpPr>
            <a:spLocks xmlns:a="http://schemas.openxmlformats.org/drawingml/2006/main" noGrp="1"/>
          </p:cNvSpPr>
          <p:nvPr/>
        </p:nvSpPr>
        <p:spPr>
          <a:xfrm xmlns:a="http://schemas.openxmlformats.org/drawingml/2006/main">
            <a:off x="640080" y="3108960"/>
            <a:ext cx="5257800" cy="13716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EBB55BEC-19B9-4A71-9558-6C961FC38315}"/>
              </a:ext>
            </a:extLst>
          </p:cNvPr>
          <p:cNvSpPr>
            <a:spLocks xmlns:a="http://schemas.openxmlformats.org/drawingml/2006/main" noGrp="1"/>
          </p:cNvSpPr>
          <p:nvPr/>
        </p:nvSpPr>
        <p:spPr>
          <a:xfrm xmlns:a="http://schemas.openxmlformats.org/drawingml/2006/main">
            <a:off x="868680" y="3273552"/>
            <a:ext cx="4800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A83C30"/>
                </a:solidFill>
                <a:latin typeface="Cambria"/>
                <a:ea typeface="Cambria"/>
                <a:cs typeface="Cambria"/>
              </a:rPr>
              <a:t>Nutzerwirkung prüfen</a:t>
            </a:r>
          </a:p>
        </p:txBody>
      </p:sp>
      <p:sp>
        <p:nvSpPr>
          <p:cNvPr id="14" name="Text 11">
            <a:extLst xmlns:a="http://schemas.openxmlformats.org/drawingml/2006/main">
              <a:ext uri="{FF2B5EF4-FFF2-40B4-BE49-F238E27FC236}">
                <a16:creationId xmlns:a16="http://schemas.microsoft.com/office/drawing/2014/main" id="{EDC54609-D0CA-4102-9E37-A2D57B047FC1}"/>
              </a:ext>
            </a:extLst>
          </p:cNvPr>
          <p:cNvSpPr>
            <a:spLocks xmlns:a="http://schemas.openxmlformats.org/drawingml/2006/main" noGrp="1"/>
          </p:cNvSpPr>
          <p:nvPr/>
        </p:nvSpPr>
        <p:spPr>
          <a:xfrm xmlns:a="http://schemas.openxmlformats.org/drawingml/2006/main">
            <a:off x="868680" y="3703320"/>
            <a:ext cx="4800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Aufgabenbasierte Studie zu Verständnis, Fehlern und Nutzen durchführen.</a:t>
            </a:r>
          </a:p>
        </p:txBody>
      </p:sp>
      <p:sp>
        <p:nvSpPr>
          <p:cNvPr id="15" name="Shape 12">
            <a:extLst xmlns:a="http://schemas.openxmlformats.org/drawingml/2006/main">
              <a:ext uri="{FF2B5EF4-FFF2-40B4-BE49-F238E27FC236}">
                <a16:creationId xmlns:a16="http://schemas.microsoft.com/office/drawing/2014/main" id="{7E8E7ACB-710D-406F-A307-0591EC1BDB21}"/>
              </a:ext>
            </a:extLst>
          </p:cNvPr>
          <p:cNvSpPr>
            <a:spLocks xmlns:a="http://schemas.openxmlformats.org/drawingml/2006/main" noGrp="1"/>
          </p:cNvSpPr>
          <p:nvPr/>
        </p:nvSpPr>
        <p:spPr>
          <a:xfrm xmlns:a="http://schemas.openxmlformats.org/drawingml/2006/main">
            <a:off x="6263640" y="3108960"/>
            <a:ext cx="5257800" cy="13716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9D9C809A-6B1E-4901-A97E-BF740630AB2F}"/>
              </a:ext>
            </a:extLst>
          </p:cNvPr>
          <p:cNvSpPr>
            <a:spLocks xmlns:a="http://schemas.openxmlformats.org/drawingml/2006/main" noGrp="1"/>
          </p:cNvSpPr>
          <p:nvPr/>
        </p:nvSpPr>
        <p:spPr>
          <a:xfrm xmlns:a="http://schemas.openxmlformats.org/drawingml/2006/main">
            <a:off x="6492240" y="3273552"/>
            <a:ext cx="4800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A83C30"/>
                </a:solidFill>
                <a:latin typeface="Cambria"/>
                <a:ea typeface="Cambria"/>
                <a:cs typeface="Cambria"/>
              </a:rPr>
              <a:t>Robustheit überwachen</a:t>
            </a:r>
          </a:p>
        </p:txBody>
      </p:sp>
      <p:sp>
        <p:nvSpPr>
          <p:cNvPr id="17" name="Text 14">
            <a:extLst xmlns:a="http://schemas.openxmlformats.org/drawingml/2006/main">
              <a:ext uri="{FF2B5EF4-FFF2-40B4-BE49-F238E27FC236}">
                <a16:creationId xmlns:a16="http://schemas.microsoft.com/office/drawing/2014/main" id="{542BB2FF-C55F-4C3A-A2AF-D877F699313A}"/>
              </a:ext>
            </a:extLst>
          </p:cNvPr>
          <p:cNvSpPr>
            <a:spLocks xmlns:a="http://schemas.openxmlformats.org/drawingml/2006/main" noGrp="1"/>
          </p:cNvSpPr>
          <p:nvPr/>
        </p:nvSpPr>
        <p:spPr>
          <a:xfrm xmlns:a="http://schemas.openxmlformats.org/drawingml/2006/main">
            <a:off x="6492240" y="3703320"/>
            <a:ext cx="4800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5B6259"/>
                </a:solidFill>
                <a:latin typeface="Calibri"/>
                <a:ea typeface="Calibri"/>
                <a:cs typeface="Calibri"/>
              </a:rPr>
              <a:t>Walk-forward-Ergebnisse je Marktphase versionieren und vergleichen.</a:t>
            </a:r>
          </a:p>
        </p:txBody>
      </p:sp>
      <p:sp>
        <p:nvSpPr>
          <p:cNvPr id="18" name="Shape 15">
            <a:extLst xmlns:a="http://schemas.openxmlformats.org/drawingml/2006/main">
              <a:ext uri="{FF2B5EF4-FFF2-40B4-BE49-F238E27FC236}">
                <a16:creationId xmlns:a16="http://schemas.microsoft.com/office/drawing/2014/main" id="{F5CAC2DA-281B-4C53-B4AE-7C9CE9C8FFDD}"/>
              </a:ext>
            </a:extLst>
          </p:cNvPr>
          <p:cNvSpPr>
            <a:spLocks xmlns:a="http://schemas.openxmlformats.org/drawingml/2006/main" noGrp="1"/>
          </p:cNvSpPr>
          <p:nvPr/>
        </p:nvSpPr>
        <p:spPr>
          <a:xfrm xmlns:a="http://schemas.openxmlformats.org/drawingml/2006/main">
            <a:off x="640080" y="4846320"/>
            <a:ext cx="10881360" cy="1463040"/>
          </a:xfrm>
          <a:prstGeom xmlns:a="http://schemas.openxmlformats.org/drawingml/2006/main" prst="roundRect">
            <a:avLst>
              <a:gd name="adj" fmla="val 3750"/>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FB5F0DCA-C177-4570-8792-B78A2E3A93C9}"/>
              </a:ext>
            </a:extLst>
          </p:cNvPr>
          <p:cNvSpPr>
            <a:spLocks xmlns:a="http://schemas.openxmlformats.org/drawingml/2006/main" noGrp="1"/>
          </p:cNvSpPr>
          <p:nvPr/>
        </p:nvSpPr>
        <p:spPr>
          <a:xfrm xmlns:a="http://schemas.openxmlformats.org/drawingml/2006/main">
            <a:off x="914400" y="4846320"/>
            <a:ext cx="103327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i="1">
                <a:solidFill>
                  <a:srgbClr val="2F5D53"/>
                </a:solidFill>
                <a:latin typeface="Cambria"/>
                <a:ea typeface="Cambria"/>
                <a:cs typeface="Cambria"/>
              </a:rPr>
              <a:t>Abgeschlossen ist ein Arbeitspaket erst, wenn Kriterium, reproduzierbarer Nachweis und aktualisierte Grenzbewertung vorliegen.</a:t>
            </a:r>
          </a:p>
        </p:txBody>
      </p:sp>
      <p:sp>
        <p:nvSpPr>
          <p:cNvPr id="20" name="Text 17">
            <a:extLst xmlns:a="http://schemas.openxmlformats.org/drawingml/2006/main">
              <a:ext uri="{FF2B5EF4-FFF2-40B4-BE49-F238E27FC236}">
                <a16:creationId xmlns:a16="http://schemas.microsoft.com/office/drawing/2014/main" id="{99BA94CF-C1CA-40DE-A63E-2AF8DE8AC1F5}"/>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21" name="Text 18">
            <a:extLst xmlns:a="http://schemas.openxmlformats.org/drawingml/2006/main">
              <a:ext uri="{FF2B5EF4-FFF2-40B4-BE49-F238E27FC236}">
                <a16:creationId xmlns:a16="http://schemas.microsoft.com/office/drawing/2014/main" id="{9CC33699-2BF9-4981-98A4-8DA3C4868D35}"/>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20</a:t>
            </a:r>
          </a:p>
        </p:txBody>
      </p:sp>
    </p:spTree>
    <p:extLst>
      <p:ext uri="{BB962C8B-B14F-4D97-AF65-F5344CB8AC3E}">
        <p14:creationId xmlns:p14="http://schemas.microsoft.com/office/powerpoint/2010/main" val="966216564"/>
      </p:ext>
    </p:extLst>
  </p:cSld>
</p:sld>
</file>

<file path=ppt/slides/slide21.xml><?xml version="1.0" encoding="utf-8"?>
<p:sld xmlns:p="http://schemas.openxmlformats.org/presentationml/2006/main">
  <p:cSld>
    <p:bg>
      <p:bgPr>
        <a:solidFill xmlns:a="http://schemas.openxmlformats.org/drawingml/2006/main">
          <a:srgbClr val="10130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D033443-BEB1-4179-B556-4B38D93ED2EF}"/>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23302A"/>
          </a:solidFill>
        </p:spPr>
        <p:txBody>
          <a:bodyPr xmlns:a="http://schemas.openxmlformats.org/drawingml/2006/main"/>
          <a:lstStyle xmlns:a="http://schemas.openxmlformats.org/drawingml/2006/main"/>
          <a:p xmlns:a="http://schemas.openxmlformats.org/drawingml/2006/main"/>
        </p:txBody>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4f28b88954fe41a6"/>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363C340B-D3F1-4C79-80E7-4F51BC2A62DB}"/>
              </a:ext>
            </a:extLst>
          </p:cNvPr>
          <p:cNvSpPr>
            <a:spLocks xmlns:a="http://schemas.openxmlformats.org/drawingml/2006/main" noGrp="1"/>
          </p:cNvSpPr>
          <p:nvPr/>
        </p:nvSpPr>
        <p:spPr>
          <a:xfrm xmlns:a="http://schemas.openxmlformats.org/drawingml/2006/main">
            <a:off x="1234440" y="512064"/>
            <a:ext cx="91440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4F5F0"/>
                </a:solidFill>
                <a:latin typeface="Cambria"/>
                <a:ea typeface="Cambria"/>
                <a:cs typeface="Cambria"/>
              </a:rPr>
              <a:t>Fazit: Methodik schlägt schöne Zahlen</a:t>
            </a:r>
          </a:p>
        </p:txBody>
      </p:sp>
      <p:sp>
        <p:nvSpPr>
          <p:cNvPr id="5" name="Shape 2">
            <a:extLst xmlns:a="http://schemas.openxmlformats.org/drawingml/2006/main">
              <a:ext uri="{FF2B5EF4-FFF2-40B4-BE49-F238E27FC236}">
                <a16:creationId xmlns:a16="http://schemas.microsoft.com/office/drawing/2014/main" id="{E490BEB6-2886-425C-B3DC-6C94ED6E3969}"/>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oundRect">
            <a:avLst>
              <a:gd name="adj" fmla="val 22222"/>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sp>
        <p:nvSpPr>
          <p:cNvPr id="6" name="Text 3">
            <a:extLst xmlns:a="http://schemas.openxmlformats.org/drawingml/2006/main">
              <a:ext uri="{FF2B5EF4-FFF2-40B4-BE49-F238E27FC236}">
                <a16:creationId xmlns:a16="http://schemas.microsoft.com/office/drawing/2014/main" id="{ACB626EC-259A-479A-B2F1-77DE511454A8}"/>
              </a:ext>
            </a:extLst>
          </p:cNvPr>
          <p:cNvSpPr>
            <a:spLocks xmlns:a="http://schemas.openxmlformats.org/drawingml/2006/main" noGrp="1"/>
          </p:cNvSpPr>
          <p:nvPr/>
        </p:nvSpPr>
        <p:spPr>
          <a:xfrm xmlns:a="http://schemas.openxmlformats.org/drawingml/2006/main">
            <a:off x="10555834" y="457200"/>
            <a:ext cx="117591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F5D53"/>
                </a:solidFill>
                <a:latin typeface="Calibri"/>
                <a:ea typeface="Calibri"/>
                <a:cs typeface="Calibri"/>
              </a:rPr>
              <a:t>1′</a:t>
            </a:r>
          </a:p>
        </p:txBody>
      </p:sp>
      <p:sp>
        <p:nvSpPr>
          <p:cNvPr id="7" name="Text 4">
            <a:extLst xmlns:a="http://schemas.openxmlformats.org/drawingml/2006/main">
              <a:ext uri="{FF2B5EF4-FFF2-40B4-BE49-F238E27FC236}">
                <a16:creationId xmlns:a16="http://schemas.microsoft.com/office/drawing/2014/main" id="{941815B2-DE55-42A8-B80B-D3BE79D5A212}"/>
              </a:ext>
            </a:extLst>
          </p:cNvPr>
          <p:cNvSpPr>
            <a:spLocks xmlns:a="http://schemas.openxmlformats.org/drawingml/2006/main" noGrp="1"/>
          </p:cNvSpPr>
          <p:nvPr/>
        </p:nvSpPr>
        <p:spPr>
          <a:xfrm xmlns:a="http://schemas.openxmlformats.org/drawingml/2006/main">
            <a:off x="822960" y="1508760"/>
            <a:ext cx="105156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i="1">
                <a:solidFill>
                  <a:srgbClr val="F4F5F0"/>
                </a:solidFill>
                <a:latin typeface="Cambria"/>
                <a:ea typeface="Cambria"/>
                <a:cs typeface="Cambria"/>
              </a:rPr>
              <a:t>„Ein ehrliches Ergebnis nahe am Zufall ist wertvoller als ein beeindruckender Wert, der Zukunftswissen enthält.“</a:t>
            </a:r>
          </a:p>
        </p:txBody>
      </p:sp>
      <p:sp>
        <p:nvSpPr>
          <p:cNvPr id="8" name="Shape 5">
            <a:extLst xmlns:a="http://schemas.openxmlformats.org/drawingml/2006/main">
              <a:ext uri="{FF2B5EF4-FFF2-40B4-BE49-F238E27FC236}">
                <a16:creationId xmlns:a16="http://schemas.microsoft.com/office/drawing/2014/main" id="{D151EA31-2DCB-4A1C-8407-8D5718ADCEA1}"/>
              </a:ext>
            </a:extLst>
          </p:cNvPr>
          <p:cNvSpPr>
            <a:spLocks xmlns:a="http://schemas.openxmlformats.org/drawingml/2006/main" noGrp="1"/>
          </p:cNvSpPr>
          <p:nvPr/>
        </p:nvSpPr>
        <p:spPr>
          <a:xfrm xmlns:a="http://schemas.openxmlformats.org/drawingml/2006/main">
            <a:off x="822960" y="3200400"/>
            <a:ext cx="3429000" cy="1371600"/>
          </a:xfrm>
          <a:prstGeom xmlns:a="http://schemas.openxmlformats.org/drawingml/2006/main" prst="roundRect">
            <a:avLst>
              <a:gd name="adj" fmla="val 4667"/>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9" name="Text 6">
            <a:extLst xmlns:a="http://schemas.openxmlformats.org/drawingml/2006/main">
              <a:ext uri="{FF2B5EF4-FFF2-40B4-BE49-F238E27FC236}">
                <a16:creationId xmlns:a16="http://schemas.microsoft.com/office/drawing/2014/main" id="{D3F22549-70D0-47AE-8FD1-711DD17CCCF3}"/>
              </a:ext>
            </a:extLst>
          </p:cNvPr>
          <p:cNvSpPr>
            <a:spLocks xmlns:a="http://schemas.openxmlformats.org/drawingml/2006/main" noGrp="1"/>
          </p:cNvSpPr>
          <p:nvPr/>
        </p:nvSpPr>
        <p:spPr>
          <a:xfrm xmlns:a="http://schemas.openxmlformats.org/drawingml/2006/main">
            <a:off x="1005840" y="3337560"/>
            <a:ext cx="3063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C79A3C"/>
                </a:solidFill>
                <a:latin typeface="Cambria"/>
                <a:ea typeface="Cambria"/>
                <a:cs typeface="Cambria"/>
              </a:rPr>
              <a:t>Saubere Trennung</a:t>
            </a:r>
          </a:p>
        </p:txBody>
      </p:sp>
      <p:sp>
        <p:nvSpPr>
          <p:cNvPr id="10" name="Text 7">
            <a:extLst xmlns:a="http://schemas.openxmlformats.org/drawingml/2006/main">
              <a:ext uri="{FF2B5EF4-FFF2-40B4-BE49-F238E27FC236}">
                <a16:creationId xmlns:a16="http://schemas.microsoft.com/office/drawing/2014/main" id="{84C9AF30-6C2D-45E4-A02D-A2BF17C7B3D5}"/>
              </a:ext>
            </a:extLst>
          </p:cNvPr>
          <p:cNvSpPr>
            <a:spLocks xmlns:a="http://schemas.openxmlformats.org/drawingml/2006/main" noGrp="1"/>
          </p:cNvSpPr>
          <p:nvPr/>
        </p:nvSpPr>
        <p:spPr>
          <a:xfrm xmlns:a="http://schemas.openxmlformats.org/drawingml/2006/main">
            <a:off x="1005840" y="3931920"/>
            <a:ext cx="3063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9FC2B4"/>
                </a:solidFill>
                <a:latin typeface="Calibri"/>
                <a:ea typeface="Calibri"/>
                <a:cs typeface="Calibri"/>
              </a:rPr>
              <a:t>Vergangenheit trainiert, Zukunft testet</a:t>
            </a:r>
          </a:p>
        </p:txBody>
      </p:sp>
      <p:sp>
        <p:nvSpPr>
          <p:cNvPr id="11" name="Shape 8">
            <a:extLst xmlns:a="http://schemas.openxmlformats.org/drawingml/2006/main">
              <a:ext uri="{FF2B5EF4-FFF2-40B4-BE49-F238E27FC236}">
                <a16:creationId xmlns:a16="http://schemas.microsoft.com/office/drawing/2014/main" id="{11977144-C794-4D81-A241-29815D1F1804}"/>
              </a:ext>
            </a:extLst>
          </p:cNvPr>
          <p:cNvSpPr>
            <a:spLocks xmlns:a="http://schemas.openxmlformats.org/drawingml/2006/main" noGrp="1"/>
          </p:cNvSpPr>
          <p:nvPr/>
        </p:nvSpPr>
        <p:spPr>
          <a:xfrm xmlns:a="http://schemas.openxmlformats.org/drawingml/2006/main">
            <a:off x="4544568" y="3200400"/>
            <a:ext cx="3429000" cy="1371600"/>
          </a:xfrm>
          <a:prstGeom xmlns:a="http://schemas.openxmlformats.org/drawingml/2006/main" prst="roundRect">
            <a:avLst>
              <a:gd name="adj" fmla="val 4667"/>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FCB1AB52-A295-4675-A53C-9FE43AF4DFCF}"/>
              </a:ext>
            </a:extLst>
          </p:cNvPr>
          <p:cNvSpPr>
            <a:spLocks xmlns:a="http://schemas.openxmlformats.org/drawingml/2006/main" noGrp="1"/>
          </p:cNvSpPr>
          <p:nvPr/>
        </p:nvSpPr>
        <p:spPr>
          <a:xfrm xmlns:a="http://schemas.openxmlformats.org/drawingml/2006/main">
            <a:off x="4727448" y="3337560"/>
            <a:ext cx="3063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C79A3C"/>
                </a:solidFill>
                <a:latin typeface="Cambria"/>
                <a:ea typeface="Cambria"/>
                <a:cs typeface="Cambria"/>
              </a:rPr>
              <a:t>Kein Vorteil</a:t>
            </a:r>
          </a:p>
        </p:txBody>
      </p:sp>
      <p:sp>
        <p:nvSpPr>
          <p:cNvPr id="13" name="Text 10">
            <a:extLst xmlns:a="http://schemas.openxmlformats.org/drawingml/2006/main">
              <a:ext uri="{FF2B5EF4-FFF2-40B4-BE49-F238E27FC236}">
                <a16:creationId xmlns:a16="http://schemas.microsoft.com/office/drawing/2014/main" id="{14C48D43-A728-40C5-9B2B-D8416CB8A711}"/>
              </a:ext>
            </a:extLst>
          </p:cNvPr>
          <p:cNvSpPr>
            <a:spLocks xmlns:a="http://schemas.openxmlformats.org/drawingml/2006/main" noGrp="1"/>
          </p:cNvSpPr>
          <p:nvPr/>
        </p:nvSpPr>
        <p:spPr>
          <a:xfrm xmlns:a="http://schemas.openxmlformats.org/drawingml/2006/main">
            <a:off x="4727448" y="3931920"/>
            <a:ext cx="3063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9FC2B4"/>
                </a:solidFill>
                <a:latin typeface="Calibri"/>
                <a:ea typeface="Calibri"/>
                <a:cs typeface="Calibri"/>
              </a:rPr>
              <a:t>Accuracy unter Baseline · ROC-AUC 0,519</a:t>
            </a:r>
          </a:p>
        </p:txBody>
      </p:sp>
      <p:sp>
        <p:nvSpPr>
          <p:cNvPr id="14" name="Shape 11">
            <a:extLst xmlns:a="http://schemas.openxmlformats.org/drawingml/2006/main">
              <a:ext uri="{FF2B5EF4-FFF2-40B4-BE49-F238E27FC236}">
                <a16:creationId xmlns:a16="http://schemas.microsoft.com/office/drawing/2014/main" id="{8D7C52B2-FCE3-4901-B415-5F1F3977854B}"/>
              </a:ext>
            </a:extLst>
          </p:cNvPr>
          <p:cNvSpPr>
            <a:spLocks xmlns:a="http://schemas.openxmlformats.org/drawingml/2006/main" noGrp="1"/>
          </p:cNvSpPr>
          <p:nvPr/>
        </p:nvSpPr>
        <p:spPr>
          <a:xfrm xmlns:a="http://schemas.openxmlformats.org/drawingml/2006/main">
            <a:off x="8266176" y="3200400"/>
            <a:ext cx="3429000" cy="1371600"/>
          </a:xfrm>
          <a:prstGeom xmlns:a="http://schemas.openxmlformats.org/drawingml/2006/main" prst="roundRect">
            <a:avLst>
              <a:gd name="adj" fmla="val 4667"/>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189219A1-8FE8-495A-ADFF-94545F515145}"/>
              </a:ext>
            </a:extLst>
          </p:cNvPr>
          <p:cNvSpPr>
            <a:spLocks xmlns:a="http://schemas.openxmlformats.org/drawingml/2006/main" noGrp="1"/>
          </p:cNvSpPr>
          <p:nvPr/>
        </p:nvSpPr>
        <p:spPr>
          <a:xfrm xmlns:a="http://schemas.openxmlformats.org/drawingml/2006/main">
            <a:off x="8449056" y="3337560"/>
            <a:ext cx="3063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C79A3C"/>
                </a:solidFill>
                <a:latin typeface="Cambria"/>
                <a:ea typeface="Cambria"/>
                <a:cs typeface="Cambria"/>
              </a:rPr>
              <a:t>Trotzdem nützlich</a:t>
            </a:r>
          </a:p>
        </p:txBody>
      </p:sp>
      <p:sp>
        <p:nvSpPr>
          <p:cNvPr id="16" name="Text 13">
            <a:extLst xmlns:a="http://schemas.openxmlformats.org/drawingml/2006/main">
              <a:ext uri="{FF2B5EF4-FFF2-40B4-BE49-F238E27FC236}">
                <a16:creationId xmlns:a16="http://schemas.microsoft.com/office/drawing/2014/main" id="{7BDF3CD1-FB52-42A9-9698-92F189AD1307}"/>
              </a:ext>
            </a:extLst>
          </p:cNvPr>
          <p:cNvSpPr>
            <a:spLocks xmlns:a="http://schemas.openxmlformats.org/drawingml/2006/main" noGrp="1"/>
          </p:cNvSpPr>
          <p:nvPr/>
        </p:nvSpPr>
        <p:spPr>
          <a:xfrm xmlns:a="http://schemas.openxmlformats.org/drawingml/2006/main">
            <a:off x="8449056" y="3931920"/>
            <a:ext cx="3063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9FC2B4"/>
                </a:solidFill>
                <a:latin typeface="Calibri"/>
                <a:ea typeface="Calibri"/>
                <a:cs typeface="Calibri"/>
              </a:rPr>
              <a:t>Risiko erklären statt Rendite versprechen</a:t>
            </a:r>
          </a:p>
        </p:txBody>
      </p:sp>
      <p:sp>
        <p:nvSpPr>
          <p:cNvPr id="17" name="Text 14">
            <a:extLst xmlns:a="http://schemas.openxmlformats.org/drawingml/2006/main">
              <a:ext uri="{FF2B5EF4-FFF2-40B4-BE49-F238E27FC236}">
                <a16:creationId xmlns:a16="http://schemas.microsoft.com/office/drawing/2014/main" id="{01290F13-B0A6-490A-8D6E-8733E0336509}"/>
              </a:ext>
            </a:extLst>
          </p:cNvPr>
          <p:cNvSpPr>
            <a:spLocks xmlns:a="http://schemas.openxmlformats.org/drawingml/2006/main" noGrp="1"/>
          </p:cNvSpPr>
          <p:nvPr/>
        </p:nvSpPr>
        <p:spPr>
          <a:xfrm xmlns:a="http://schemas.openxmlformats.org/drawingml/2006/main">
            <a:off x="822960" y="4892040"/>
            <a:ext cx="10515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9FC2B4"/>
                </a:solidFill>
                <a:latin typeface="Calibri"/>
                <a:ea typeface="Calibri"/>
                <a:cs typeface="Calibri"/>
              </a:rPr>
              <a:t>WealthScope liefert kein Handelssignal. Der Beitrag ist eine reproduzierbare Demonstration, wie Zukunftswissen Modellgüte aufbläht – und wie saubere Validierung das sichtbar macht.</a:t>
            </a:r>
          </a:p>
        </p:txBody>
      </p:sp>
      <p:sp>
        <p:nvSpPr>
          <p:cNvPr id="18" name="Text 15">
            <a:extLst xmlns:a="http://schemas.openxmlformats.org/drawingml/2006/main">
              <a:ext uri="{FF2B5EF4-FFF2-40B4-BE49-F238E27FC236}">
                <a16:creationId xmlns:a16="http://schemas.microsoft.com/office/drawing/2014/main" id="{AF73C157-0804-4C1A-AACB-7DD749E0C079}"/>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9AA398"/>
                </a:solidFill>
                <a:latin typeface="Calibri"/>
                <a:ea typeface="Calibri"/>
                <a:cs typeface="Calibri"/>
              </a:rPr>
              <a:t>WealthScope AI</a:t>
            </a:r>
          </a:p>
        </p:txBody>
      </p:sp>
      <p:sp>
        <p:nvSpPr>
          <p:cNvPr id="19" name="Text 16">
            <a:extLst xmlns:a="http://schemas.openxmlformats.org/drawingml/2006/main">
              <a:ext uri="{FF2B5EF4-FFF2-40B4-BE49-F238E27FC236}">
                <a16:creationId xmlns:a16="http://schemas.microsoft.com/office/drawing/2014/main" id="{72C2819F-9C03-4D70-AC7B-F40420847ADD}"/>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398"/>
                </a:solidFill>
                <a:latin typeface="Calibri"/>
                <a:ea typeface="Calibri"/>
                <a:cs typeface="Calibri"/>
              </a:rPr>
              <a:t>21</a:t>
            </a:r>
          </a:p>
        </p:txBody>
      </p:sp>
    </p:spTree>
    <p:extLst>
      <p:ext uri="{BB962C8B-B14F-4D97-AF65-F5344CB8AC3E}">
        <p14:creationId xmlns:p14="http://schemas.microsoft.com/office/powerpoint/2010/main" val="371657724"/>
      </p:ext>
    </p:extLst>
  </p:cSld>
</p:sld>
</file>

<file path=ppt/slides/slide22.xml><?xml version="1.0" encoding="utf-8"?>
<p:sld xmlns:p="http://schemas.openxmlformats.org/presentationml/2006/main">
  <p:cSld>
    <p:bg>
      <p:bgPr>
        <a:solidFill xmlns:a="http://schemas.openxmlformats.org/drawingml/2006/main">
          <a:srgbClr val="10130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A83BA25-D34F-4256-B4CB-7BCF95F866E5}"/>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725900C5-875F-4EF1-9426-216609A92684}"/>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4BC3AB9B-30E3-4777-BE64-1740495470A2}"/>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4E89674B-1D1F-41F0-A086-008C8F108031}"/>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F2C12127-5F42-43A9-A1B0-6E9BD3B31F1C}"/>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D0ABD94B-E6F5-4575-A4EA-773060503840}"/>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081087F4-2B5E-4D5E-9AD7-9352D080286E}"/>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1882D830-4416-4421-94AE-5576F35BE018}"/>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1321A3F5-68C5-4E6E-8903-58DFD4A669F0}"/>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11" name="Shape 9">
            <a:extLst xmlns:a="http://schemas.openxmlformats.org/drawingml/2006/main">
              <a:ext uri="{FF2B5EF4-FFF2-40B4-BE49-F238E27FC236}">
                <a16:creationId xmlns:a16="http://schemas.microsoft.com/office/drawing/2014/main" id="{236E4465-5750-462B-9959-11BF135DEC88}"/>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12" name="Shape 10">
            <a:extLst xmlns:a="http://schemas.openxmlformats.org/drawingml/2006/main">
              <a:ext uri="{FF2B5EF4-FFF2-40B4-BE49-F238E27FC236}">
                <a16:creationId xmlns:a16="http://schemas.microsoft.com/office/drawing/2014/main" id="{21894109-835C-44B6-8502-4F50179FC1A5}"/>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13" name="Shape 11">
            <a:extLst xmlns:a="http://schemas.openxmlformats.org/drawingml/2006/main">
              <a:ext uri="{FF2B5EF4-FFF2-40B4-BE49-F238E27FC236}">
                <a16:creationId xmlns:a16="http://schemas.microsoft.com/office/drawing/2014/main" id="{F71C2AD2-00D2-4FCC-A4BD-67FC0F87179C}"/>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14" name="Shape 12">
            <a:extLst xmlns:a="http://schemas.openxmlformats.org/drawingml/2006/main">
              <a:ext uri="{FF2B5EF4-FFF2-40B4-BE49-F238E27FC236}">
                <a16:creationId xmlns:a16="http://schemas.microsoft.com/office/drawing/2014/main" id="{2ABF1DFF-612E-44E7-B663-BCE1849F223E}"/>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6350">
            <a:solidFill>
              <a:srgbClr val="1C221C"/>
            </a:solidFill>
            <a:prstDash val="solid"/>
          </a:ln>
        </p:spPr>
        <p:txBody>
          <a:bodyPr xmlns:a="http://schemas.openxmlformats.org/drawingml/2006/main"/>
          <a:lstStyle xmlns:a="http://schemas.openxmlformats.org/drawingml/2006/main"/>
          <a:p xmlns:a="http://schemas.openxmlformats.org/drawingml/2006/main"/>
        </p:txBody>
      </p:sp>
      <p:sp>
        <p:nvSpPr>
          <p:cNvPr id="15" name="Shape 13">
            <a:extLst xmlns:a="http://schemas.openxmlformats.org/drawingml/2006/main">
              <a:ext uri="{FF2B5EF4-FFF2-40B4-BE49-F238E27FC236}">
                <a16:creationId xmlns:a16="http://schemas.microsoft.com/office/drawing/2014/main" id="{3460C38E-EA31-4CB2-AF3A-7AC629F713CB}"/>
              </a:ext>
            </a:extLst>
          </p:cNvPr>
          <p:cNvSpPr>
            <a:spLocks xmlns:a="http://schemas.openxmlformats.org/drawingml/2006/main" noGrp="1"/>
          </p:cNvSpPr>
          <p:nvPr/>
        </p:nvSpPr>
        <p:spPr>
          <a:xfrm xmlns:a="http://schemas.openxmlformats.org/drawingml/2006/main">
            <a:off x="5682996" y="1965960"/>
            <a:ext cx="822960" cy="822960"/>
          </a:xfrm>
          <a:prstGeom xmlns:a="http://schemas.openxmlformats.org/drawingml/2006/main" prst="ellipse">
            <a:avLst/>
          </a:prstGeom>
          <a:solidFill xmlns:a="http://schemas.openxmlformats.org/drawingml/2006/main">
            <a:srgbClr val="23302A"/>
          </a:solidFill>
        </p:spPr>
        <p:txBody>
          <a:bodyPr xmlns:a="http://schemas.openxmlformats.org/drawingml/2006/main"/>
          <a:lstStyle xmlns:a="http://schemas.openxmlformats.org/drawingml/2006/main"/>
          <a:p xmlns:a="http://schemas.openxmlformats.org/drawingml/2006/main"/>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d0bd8de05e72498b"/>
          <a:stretch xmlns:a="http://schemas.openxmlformats.org/drawingml/2006/main">
            <a:fillRect l="0" t="0" r="0" b="0"/>
          </a:stretch>
        </p:blipFill>
        <p:spPr>
          <a:xfrm xmlns:a="http://schemas.openxmlformats.org/drawingml/2006/main">
            <a:off x="5773522" y="2056486"/>
            <a:ext cx="641909" cy="641909"/>
          </a:xfrm>
          <a:prstGeom xmlns:a="http://schemas.openxmlformats.org/drawingml/2006/main" prst="rect">
            <a:avLst/>
          </a:prstGeom>
        </p:spPr>
      </p:pic>
      <p:sp>
        <p:nvSpPr>
          <p:cNvPr id="17" name="Text 14">
            <a:extLst xmlns:a="http://schemas.openxmlformats.org/drawingml/2006/main">
              <a:ext uri="{FF2B5EF4-FFF2-40B4-BE49-F238E27FC236}">
                <a16:creationId xmlns:a16="http://schemas.microsoft.com/office/drawing/2014/main" id="{63C5551C-79CE-41FE-A7F1-171C167971B4}"/>
              </a:ext>
            </a:extLst>
          </p:cNvPr>
          <p:cNvSpPr>
            <a:spLocks xmlns:a="http://schemas.openxmlformats.org/drawingml/2006/main" noGrp="1"/>
          </p:cNvSpPr>
          <p:nvPr/>
        </p:nvSpPr>
        <p:spPr>
          <a:xfrm xmlns:a="http://schemas.openxmlformats.org/drawingml/2006/main">
            <a:off x="822960" y="3063240"/>
            <a:ext cx="10515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F4F5F0"/>
                </a:solidFill>
                <a:latin typeface="Cambria"/>
                <a:ea typeface="Cambria"/>
                <a:cs typeface="Cambria"/>
              </a:rPr>
              <a:t>Vielen Dank für eure Aufmerksamkeit.</a:t>
            </a:r>
          </a:p>
        </p:txBody>
      </p:sp>
      <p:sp>
        <p:nvSpPr>
          <p:cNvPr id="18" name="Text 15">
            <a:extLst xmlns:a="http://schemas.openxmlformats.org/drawingml/2006/main">
              <a:ext uri="{FF2B5EF4-FFF2-40B4-BE49-F238E27FC236}">
                <a16:creationId xmlns:a16="http://schemas.microsoft.com/office/drawing/2014/main" id="{86F3D208-4D5F-445E-8DA2-0A89212881AF}"/>
              </a:ext>
            </a:extLst>
          </p:cNvPr>
          <p:cNvSpPr>
            <a:spLocks xmlns:a="http://schemas.openxmlformats.org/drawingml/2006/main" noGrp="1"/>
          </p:cNvSpPr>
          <p:nvPr/>
        </p:nvSpPr>
        <p:spPr>
          <a:xfrm xmlns:a="http://schemas.openxmlformats.org/drawingml/2006/main">
            <a:off x="822960" y="3886200"/>
            <a:ext cx="10515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a:solidFill>
                  <a:srgbClr val="9FC2B4"/>
                </a:solidFill>
                <a:latin typeface="Calibri"/>
                <a:ea typeface="Calibri"/>
                <a:cs typeface="Calibri"/>
              </a:rPr>
              <a:t>Ich freue mich auf eure Fragen.</a:t>
            </a:r>
          </a:p>
        </p:txBody>
      </p:sp>
      <p:sp>
        <p:nvSpPr>
          <p:cNvPr id="19" name="Text 16">
            <a:extLst xmlns:a="http://schemas.openxmlformats.org/drawingml/2006/main">
              <a:ext uri="{FF2B5EF4-FFF2-40B4-BE49-F238E27FC236}">
                <a16:creationId xmlns:a16="http://schemas.microsoft.com/office/drawing/2014/main" id="{2F2BB0FD-2D43-4F8A-9DC6-B42DFCF21055}"/>
              </a:ext>
            </a:extLst>
          </p:cNvPr>
          <p:cNvSpPr>
            <a:spLocks xmlns:a="http://schemas.openxmlformats.org/drawingml/2006/main" noGrp="1"/>
          </p:cNvSpPr>
          <p:nvPr/>
        </p:nvSpPr>
        <p:spPr>
          <a:xfrm xmlns:a="http://schemas.openxmlformats.org/drawingml/2006/main">
            <a:off x="822960" y="603504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6E7A6C"/>
                </a:solidFill>
                <a:latin typeface="Calibri"/>
                <a:ea typeface="Calibri"/>
                <a:cs typeface="Calibri"/>
              </a:rPr>
              <a:t>Soufiane Fedan  ·  fedan.soufiane@gmail.com  ·  IU Internationale Hochschule Frankfurt</a:t>
            </a:r>
          </a:p>
        </p:txBody>
      </p:sp>
    </p:spTree>
    <p:extLst>
      <p:ext uri="{BB962C8B-B14F-4D97-AF65-F5344CB8AC3E}">
        <p14:creationId xmlns:p14="http://schemas.microsoft.com/office/powerpoint/2010/main" val="1563233742"/>
      </p:ext>
    </p:extLst>
  </p:cSld>
</p:sld>
</file>

<file path=ppt/slides/slide23.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BAA0154-00AE-4C08-A28D-A13E556B454D}"/>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1e45368a1d754c69"/>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2D6340D6-9582-428B-A4CE-E031D4BEEA4C}"/>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BACKUP · QUELLEN &amp; KURSBEZUG</a:t>
            </a:r>
          </a:p>
        </p:txBody>
      </p:sp>
      <p:sp>
        <p:nvSpPr>
          <p:cNvPr id="5" name="Text 2">
            <a:extLst xmlns:a="http://schemas.openxmlformats.org/drawingml/2006/main">
              <a:ext uri="{FF2B5EF4-FFF2-40B4-BE49-F238E27FC236}">
                <a16:creationId xmlns:a16="http://schemas.microsoft.com/office/drawing/2014/main" id="{B041A19C-B310-4F32-B748-ADC294613794}"/>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Quellen &amp; Kursbezug</a:t>
            </a:r>
          </a:p>
        </p:txBody>
      </p:sp>
      <p:sp>
        <p:nvSpPr>
          <p:cNvPr id="6" name="Shape 3">
            <a:extLst xmlns:a="http://schemas.openxmlformats.org/drawingml/2006/main">
              <a:ext uri="{FF2B5EF4-FFF2-40B4-BE49-F238E27FC236}">
                <a16:creationId xmlns:a16="http://schemas.microsoft.com/office/drawing/2014/main" id="{272ABBF1-4131-40DD-B64B-449F788CEA27}"/>
              </a:ext>
            </a:extLst>
          </p:cNvPr>
          <p:cNvSpPr>
            <a:spLocks xmlns:a="http://schemas.openxmlformats.org/drawingml/2006/main" noGrp="1"/>
          </p:cNvSpPr>
          <p:nvPr/>
        </p:nvSpPr>
        <p:spPr>
          <a:xfrm xmlns:a="http://schemas.openxmlformats.org/drawingml/2006/main">
            <a:off x="640080" y="1463040"/>
            <a:ext cx="5440680" cy="4709160"/>
          </a:xfrm>
          <a:prstGeom xmlns:a="http://schemas.openxmlformats.org/drawingml/2006/main" prst="roundRect">
            <a:avLst>
              <a:gd name="adj" fmla="val 1165"/>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C14FF5C5-3694-4101-9A5F-A076CC867710}"/>
              </a:ext>
            </a:extLst>
          </p:cNvPr>
          <p:cNvSpPr>
            <a:spLocks xmlns:a="http://schemas.openxmlformats.org/drawingml/2006/main" noGrp="1"/>
          </p:cNvSpPr>
          <p:nvPr/>
        </p:nvSpPr>
        <p:spPr>
          <a:xfrm xmlns:a="http://schemas.openxmlformats.org/drawingml/2006/main">
            <a:off x="868680" y="1627632"/>
            <a:ext cx="4983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F5D53"/>
                </a:solidFill>
                <a:latin typeface="Cambria"/>
                <a:ea typeface="Cambria"/>
                <a:cs typeface="Cambria"/>
              </a:rPr>
              <a:t>Kursbuch &amp; Kursbezug</a:t>
            </a:r>
          </a:p>
        </p:txBody>
      </p:sp>
      <p:sp>
        <p:nvSpPr>
          <p:cNvPr id="8" name="Text 5">
            <a:extLst xmlns:a="http://schemas.openxmlformats.org/drawingml/2006/main">
              <a:ext uri="{FF2B5EF4-FFF2-40B4-BE49-F238E27FC236}">
                <a16:creationId xmlns:a16="http://schemas.microsoft.com/office/drawing/2014/main" id="{917AC661-04B3-4942-8556-DCEAE5592CAD}"/>
              </a:ext>
            </a:extLst>
          </p:cNvPr>
          <p:cNvSpPr>
            <a:spLocks xmlns:a="http://schemas.openxmlformats.org/drawingml/2006/main" noGrp="1"/>
          </p:cNvSpPr>
          <p:nvPr/>
        </p:nvSpPr>
        <p:spPr>
          <a:xfrm xmlns:a="http://schemas.openxmlformats.org/drawingml/2006/main">
            <a:off x="868680" y="2057400"/>
            <a:ext cx="49834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71A17"/>
                </a:solidFill>
                <a:latin typeface="Calibri"/>
                <a:ea typeface="Calibri"/>
                <a:cs typeface="Calibri"/>
              </a:rPr>
              <a:t>Géron, A.: </a:t>
            </a:r>
            <a:r>
              <a:rPr sz="1250">
                <a:solidFill>
                  <a:srgbClr val="171A17"/>
                </a:solidFill>
                <a:latin typeface="Calibri"/>
                <a:ea typeface="Calibri"/>
                <a:cs typeface="Calibri"/>
              </a:rPr>
              <a:t>Praxiseinstieg Machine Learning mit Scikit-Learn, Keras &amp; TensorFlow (Kap. 1–9). O’Reilly — das Kurslehrbuch.</a:t>
            </a:r>
          </a:p>
        </p:txBody>
      </p:sp>
      <p:sp>
        <p:nvSpPr>
          <p:cNvPr id="9" name="Text 6">
            <a:extLst xmlns:a="http://schemas.openxmlformats.org/drawingml/2006/main">
              <a:ext uri="{FF2B5EF4-FFF2-40B4-BE49-F238E27FC236}">
                <a16:creationId xmlns:a16="http://schemas.microsoft.com/office/drawing/2014/main" id="{84D28387-D473-43E5-86B6-160D9E68BD17}"/>
              </a:ext>
            </a:extLst>
          </p:cNvPr>
          <p:cNvSpPr>
            <a:spLocks xmlns:a="http://schemas.openxmlformats.org/drawingml/2006/main" noGrp="1"/>
          </p:cNvSpPr>
          <p:nvPr/>
        </p:nvSpPr>
        <p:spPr>
          <a:xfrm xmlns:a="http://schemas.openxmlformats.org/drawingml/2006/main">
            <a:off x="868680" y="2971800"/>
            <a:ext cx="49834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5B6259"/>
                </a:solidFill>
                <a:latin typeface="Calibri"/>
                <a:ea typeface="Calibri"/>
                <a:cs typeface="Calibri"/>
              </a:rPr>
              <a:t>Daraus im Projekt: Klassifikationsmetriken, Pipeline, Linear SVM, Decision Tree, Random Forest, Konfusionsmatrix, ROC und zeitliche Validierung.</a:t>
            </a:r>
          </a:p>
        </p:txBody>
      </p:sp>
      <p:sp>
        <p:nvSpPr>
          <p:cNvPr id="10" name="Text 7">
            <a:extLst xmlns:a="http://schemas.openxmlformats.org/drawingml/2006/main">
              <a:ext uri="{FF2B5EF4-FFF2-40B4-BE49-F238E27FC236}">
                <a16:creationId xmlns:a16="http://schemas.microsoft.com/office/drawing/2014/main" id="{D3BFA50F-580D-46A5-B549-B91B774168C8}"/>
              </a:ext>
            </a:extLst>
          </p:cNvPr>
          <p:cNvSpPr>
            <a:spLocks xmlns:a="http://schemas.openxmlformats.org/drawingml/2006/main" noGrp="1"/>
          </p:cNvSpPr>
          <p:nvPr/>
        </p:nvSpPr>
        <p:spPr>
          <a:xfrm xmlns:a="http://schemas.openxmlformats.org/drawingml/2006/main">
            <a:off x="868680" y="3840480"/>
            <a:ext cx="4983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F5D53"/>
                </a:solidFill>
                <a:latin typeface="Calibri"/>
                <a:ea typeface="Calibri"/>
                <a:cs typeface="Calibri"/>
              </a:rPr>
              <a:t>Direkter Kursbezug:</a:t>
            </a:r>
          </a:p>
        </p:txBody>
      </p:sp>
      <p:sp>
        <p:nvSpPr>
          <p:cNvPr id="11" name="Text 8">
            <a:extLst xmlns:a="http://schemas.openxmlformats.org/drawingml/2006/main">
              <a:ext uri="{FF2B5EF4-FFF2-40B4-BE49-F238E27FC236}">
                <a16:creationId xmlns:a16="http://schemas.microsoft.com/office/drawing/2014/main" id="{9B0F9CD2-30B3-43B6-A261-3927DD5C4DAE}"/>
              </a:ext>
            </a:extLst>
          </p:cNvPr>
          <p:cNvSpPr>
            <a:spLocks xmlns:a="http://schemas.openxmlformats.org/drawingml/2006/main" noGrp="1"/>
          </p:cNvSpPr>
          <p:nvPr/>
        </p:nvSpPr>
        <p:spPr>
          <a:xfrm xmlns:a="http://schemas.openxmlformats.org/drawingml/2006/main">
            <a:off x="868680" y="4206240"/>
            <a:ext cx="498348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spcAft>
                <a:spcPts val="800"/>
              </a:spcAft>
              <a:buSzPct val="100000"/>
              <a:buChar char="▪"/>
            </a:pPr>
            <a:r>
              <a:rPr sz="1150">
                <a:solidFill>
                  <a:srgbClr val="171A17"/>
                </a:solidFill>
                <a:latin typeface="Calibri"/>
                <a:ea typeface="Calibri"/>
                <a:cs typeface="Calibri"/>
              </a:rPr>
              <a:t>Kap. 1 &amp; 3 — ML-Grundlagen, Klassifikation und Metriken</a:t>
            </a:r>
          </a:p>
          <a:p xmlns:a="http://schemas.openxmlformats.org/drawingml/2006/main">
            <a:pPr marL="228600" indent="-228600">
              <a:spcAft>
                <a:spcPts val="800"/>
              </a:spcAft>
              <a:buSzPct val="100000"/>
              <a:buChar char="▪"/>
            </a:pPr>
            <a:r>
              <a:rPr sz="1150">
                <a:solidFill>
                  <a:srgbClr val="171A17"/>
                </a:solidFill>
                <a:latin typeface="Calibri"/>
                <a:ea typeface="Calibri"/>
                <a:cs typeface="Calibri"/>
              </a:rPr>
              <a:t>Kap. 4 &amp; 5 — Training, Lernkurven und Support Vector Machines</a:t>
            </a:r>
          </a:p>
          <a:p xmlns:a="http://schemas.openxmlformats.org/drawingml/2006/main">
            <a:pPr marL="228600" indent="-228600">
              <a:spcAft>
                <a:spcPts val="800"/>
              </a:spcAft>
              <a:buSzPct val="100000"/>
              <a:buChar char="▪"/>
            </a:pPr>
            <a:r>
              <a:rPr sz="1150">
                <a:solidFill>
                  <a:srgbClr val="171A17"/>
                </a:solidFill>
                <a:latin typeface="Calibri"/>
                <a:ea typeface="Calibri"/>
                <a:cs typeface="Calibri"/>
              </a:rPr>
              <a:t>Kap. 6 &amp; 7 — Entscheidungsbäume und Random Forests</a:t>
            </a:r>
          </a:p>
          <a:p xmlns:a="http://schemas.openxmlformats.org/drawingml/2006/main">
            <a:pPr marL="228600" indent="-228600">
              <a:spcAft>
                <a:spcPts val="800"/>
              </a:spcAft>
              <a:buSzPct val="100000"/>
              <a:buChar char="▪"/>
            </a:pPr>
            <a:r>
              <a:rPr sz="1150">
                <a:solidFill>
                  <a:srgbClr val="171A17"/>
                </a:solidFill>
                <a:latin typeface="Calibri"/>
                <a:ea typeface="Calibri"/>
                <a:cs typeface="Calibri"/>
              </a:rPr>
              <a:t>QUA³CK — Datenphase, Prozess und nachvollziehbare Dokumentation</a:t>
            </a:r>
          </a:p>
        </p:txBody>
      </p:sp>
      <p:sp>
        <p:nvSpPr>
          <p:cNvPr id="12" name="Shape 9">
            <a:extLst xmlns:a="http://schemas.openxmlformats.org/drawingml/2006/main">
              <a:ext uri="{FF2B5EF4-FFF2-40B4-BE49-F238E27FC236}">
                <a16:creationId xmlns:a16="http://schemas.microsoft.com/office/drawing/2014/main" id="{E98A374B-F249-473A-BED4-26CED55609CB}"/>
              </a:ext>
            </a:extLst>
          </p:cNvPr>
          <p:cNvSpPr>
            <a:spLocks xmlns:a="http://schemas.openxmlformats.org/drawingml/2006/main" noGrp="1"/>
          </p:cNvSpPr>
          <p:nvPr/>
        </p:nvSpPr>
        <p:spPr>
          <a:xfrm xmlns:a="http://schemas.openxmlformats.org/drawingml/2006/main">
            <a:off x="6263640" y="1463040"/>
            <a:ext cx="5285232" cy="4709160"/>
          </a:xfrm>
          <a:prstGeom xmlns:a="http://schemas.openxmlformats.org/drawingml/2006/main" prst="roundRect">
            <a:avLst>
              <a:gd name="adj" fmla="val 1165"/>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BF48B089-CDB5-454E-B52B-6E13477FB19F}"/>
              </a:ext>
            </a:extLst>
          </p:cNvPr>
          <p:cNvSpPr>
            <a:spLocks xmlns:a="http://schemas.openxmlformats.org/drawingml/2006/main" noGrp="1"/>
          </p:cNvSpPr>
          <p:nvPr/>
        </p:nvSpPr>
        <p:spPr>
          <a:xfrm xmlns:a="http://schemas.openxmlformats.org/drawingml/2006/main">
            <a:off x="6492240" y="162763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F5D53"/>
                </a:solidFill>
                <a:latin typeface="Cambria"/>
                <a:ea typeface="Cambria"/>
                <a:cs typeface="Cambria"/>
              </a:rPr>
              <a:t>Wissenschaftliche Quellen &amp; Daten</a:t>
            </a:r>
          </a:p>
        </p:txBody>
      </p:sp>
      <p:sp>
        <p:nvSpPr>
          <p:cNvPr id="14" name="Text 11">
            <a:extLst xmlns:a="http://schemas.openxmlformats.org/drawingml/2006/main">
              <a:ext uri="{FF2B5EF4-FFF2-40B4-BE49-F238E27FC236}">
                <a16:creationId xmlns:a16="http://schemas.microsoft.com/office/drawing/2014/main" id="{AE02F7A7-0025-464D-B50E-D9DE5ED09993}"/>
              </a:ext>
            </a:extLst>
          </p:cNvPr>
          <p:cNvSpPr>
            <a:spLocks xmlns:a="http://schemas.openxmlformats.org/drawingml/2006/main" noGrp="1"/>
          </p:cNvSpPr>
          <p:nvPr/>
        </p:nvSpPr>
        <p:spPr>
          <a:xfrm xmlns:a="http://schemas.openxmlformats.org/drawingml/2006/main">
            <a:off x="6492240" y="2103120"/>
            <a:ext cx="484632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spcAft>
                <a:spcPts val="1100"/>
              </a:spcAft>
              <a:buSzPct val="100000"/>
              <a:buChar char="▪"/>
            </a:pPr>
            <a:r>
              <a:rPr sz="1200">
                <a:solidFill>
                  <a:srgbClr val="171A17"/>
                </a:solidFill>
                <a:latin typeface="Calibri"/>
                <a:ea typeface="Calibri"/>
                <a:cs typeface="Calibri"/>
              </a:rPr>
              <a:t>Fama, E. (1970): Efficient Capital Markets. J. of Finance 25(2).</a:t>
            </a:r>
          </a:p>
          <a:p xmlns:a="http://schemas.openxmlformats.org/drawingml/2006/main">
            <a:pPr marL="228600" indent="-228600">
              <a:spcAft>
                <a:spcPts val="1100"/>
              </a:spcAft>
              <a:buSzPct val="100000"/>
              <a:buChar char="▪"/>
            </a:pPr>
            <a:r>
              <a:rPr sz="1200">
                <a:solidFill>
                  <a:srgbClr val="171A17"/>
                </a:solidFill>
                <a:latin typeface="Calibri"/>
                <a:ea typeface="Calibri"/>
                <a:cs typeface="Calibri"/>
              </a:rPr>
              <a:t>Lundberg &amp; Lee (2017): A Unified Approach to Interpreting Model Predictions (SHAP). NeurIPS.</a:t>
            </a:r>
          </a:p>
          <a:p xmlns:a="http://schemas.openxmlformats.org/drawingml/2006/main">
            <a:pPr marL="228600" indent="-228600">
              <a:spcAft>
                <a:spcPts val="1100"/>
              </a:spcAft>
              <a:buSzPct val="100000"/>
              <a:buChar char="▪"/>
            </a:pPr>
            <a:r>
              <a:rPr sz="1200">
                <a:solidFill>
                  <a:srgbClr val="171A17"/>
                </a:solidFill>
                <a:latin typeface="Calibri"/>
                <a:ea typeface="Calibri"/>
                <a:cs typeface="Calibri"/>
              </a:rPr>
              <a:t>Li et al. (2024): Comparison of Imputation Methods. BMC Med. Research Methodology.</a:t>
            </a:r>
          </a:p>
          <a:p xmlns:a="http://schemas.openxmlformats.org/drawingml/2006/main">
            <a:pPr marL="228600" indent="-228600">
              <a:spcAft>
                <a:spcPts val="1100"/>
              </a:spcAft>
              <a:buSzPct val="100000"/>
              <a:buChar char="▪"/>
            </a:pPr>
            <a:r>
              <a:rPr sz="1200">
                <a:solidFill>
                  <a:srgbClr val="171A17"/>
                </a:solidFill>
                <a:latin typeface="Calibri"/>
                <a:ea typeface="Calibri"/>
                <a:cs typeface="Calibri"/>
              </a:rPr>
              <a:t>Pinheiro et al. (2025): The Impact of Feature Scaling in ML. arXiv:2506.08274.</a:t>
            </a:r>
          </a:p>
          <a:p xmlns:a="http://schemas.openxmlformats.org/drawingml/2006/main">
            <a:pPr marL="228600" indent="-228600">
              <a:spcAft>
                <a:spcPts val="1100"/>
              </a:spcAft>
              <a:buSzPct val="100000"/>
              <a:buChar char="▪"/>
            </a:pPr>
            <a:r>
              <a:rPr sz="1200">
                <a:solidFill>
                  <a:srgbClr val="171A17"/>
                </a:solidFill>
                <a:latin typeface="Calibri"/>
                <a:ea typeface="Calibri"/>
                <a:cs typeface="Calibri"/>
              </a:rPr>
              <a:t>Stock et al. (2021): QUA³CK — A ML Development Process. KIT ITIV.</a:t>
            </a:r>
          </a:p>
        </p:txBody>
      </p:sp>
      <p:sp>
        <p:nvSpPr>
          <p:cNvPr id="15" name="Text 12">
            <a:extLst xmlns:a="http://schemas.openxmlformats.org/drawingml/2006/main">
              <a:ext uri="{FF2B5EF4-FFF2-40B4-BE49-F238E27FC236}">
                <a16:creationId xmlns:a16="http://schemas.microsoft.com/office/drawing/2014/main" id="{3AB70197-A9F5-459C-AD82-B3DE208454B7}"/>
              </a:ext>
            </a:extLst>
          </p:cNvPr>
          <p:cNvSpPr>
            <a:spLocks xmlns:a="http://schemas.openxmlformats.org/drawingml/2006/main" noGrp="1"/>
          </p:cNvSpPr>
          <p:nvPr/>
        </p:nvSpPr>
        <p:spPr>
          <a:xfrm xmlns:a="http://schemas.openxmlformats.org/drawingml/2006/main">
            <a:off x="6492240" y="5257800"/>
            <a:ext cx="48463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a:solidFill>
                  <a:srgbClr val="A97C1E"/>
                </a:solidFill>
                <a:latin typeface="Calibri"/>
                <a:ea typeface="Calibri"/>
                <a:cs typeface="Calibri"/>
              </a:rPr>
              <a:t>Datenbasis: </a:t>
            </a:r>
            <a:r>
              <a:rPr sz="1150">
                <a:solidFill>
                  <a:srgbClr val="171A17"/>
                </a:solidFill>
                <a:latin typeface="Calibri"/>
                <a:ea typeface="Calibri"/>
                <a:cs typeface="Calibri"/>
              </a:rPr>
              <a:t>Kaggle „US Stocks &amp; ETFs“ (B. Marjanovic), CC0 Public Domain — 192.119 Zeilen, 26 Ticker, 1962–2017.</a:t>
            </a:r>
          </a:p>
        </p:txBody>
      </p:sp>
      <p:sp>
        <p:nvSpPr>
          <p:cNvPr id="16" name="Text 13">
            <a:extLst xmlns:a="http://schemas.openxmlformats.org/drawingml/2006/main">
              <a:ext uri="{FF2B5EF4-FFF2-40B4-BE49-F238E27FC236}">
                <a16:creationId xmlns:a16="http://schemas.microsoft.com/office/drawing/2014/main" id="{D27DA589-470E-4E92-B786-CE3C6B08D5BD}"/>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7" name="Text 14">
            <a:extLst xmlns:a="http://schemas.openxmlformats.org/drawingml/2006/main">
              <a:ext uri="{FF2B5EF4-FFF2-40B4-BE49-F238E27FC236}">
                <a16:creationId xmlns:a16="http://schemas.microsoft.com/office/drawing/2014/main" id="{B4665CFD-2173-4340-A22F-FCF37C49D302}"/>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23</a:t>
            </a:r>
          </a:p>
        </p:txBody>
      </p:sp>
    </p:spTree>
    <p:extLst>
      <p:ext uri="{BB962C8B-B14F-4D97-AF65-F5344CB8AC3E}">
        <p14:creationId xmlns:p14="http://schemas.microsoft.com/office/powerpoint/2010/main" val="1042321753"/>
      </p:ext>
    </p:extLst>
  </p:cSld>
</p:sld>
</file>

<file path=ppt/slides/slide24.xml><?xml version="1.0" encoding="utf-8"?>
<p:sld xmlns:p="http://schemas.openxmlformats.org/presentationml/2006/main">
  <p:cSld>
    <p:bg>
      <p:bgPr>
        <a:solidFill xmlns:a="http://schemas.openxmlformats.org/drawingml/2006/main">
          <a:srgbClr val="10130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6FCFA3C-EF6E-47C7-8027-DBE24642E645}"/>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23302A"/>
          </a:solidFill>
        </p:spPr>
        <p:txBody>
          <a:bodyPr xmlns:a="http://schemas.openxmlformats.org/drawingml/2006/main"/>
          <a:lstStyle xmlns:a="http://schemas.openxmlformats.org/drawingml/2006/main"/>
          <a:p xmlns:a="http://schemas.openxmlformats.org/drawingml/2006/main"/>
        </p:txBody>
      </p:sp>
      <p:pic>
        <p:nvPicPr>
          <p:cNvPr id="47" name="Image 0"/>
          <p:cNvPicPr>
            <a:picLocks xmlns:a="http://schemas.openxmlformats.org/drawingml/2006/main" noChangeAspect="1"/>
          </p:cNvPicPr>
          <p:nvPr/>
        </p:nvPicPr>
        <p:blipFill>
          <a:blip xmlns:r="http://schemas.openxmlformats.org/officeDocument/2006/relationships" xmlns:a="http://schemas.openxmlformats.org/drawingml/2006/main" r:embed="R0426d12668fd4160"/>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5BFFDCDB-748A-4AF1-AEA1-31373349934D}"/>
              </a:ext>
            </a:extLst>
          </p:cNvPr>
          <p:cNvSpPr>
            <a:spLocks xmlns:a="http://schemas.openxmlformats.org/drawingml/2006/main" noGrp="1"/>
          </p:cNvSpPr>
          <p:nvPr/>
        </p:nvSpPr>
        <p:spPr>
          <a:xfrm xmlns:a="http://schemas.openxmlformats.org/drawingml/2006/main">
            <a:off x="1234440" y="512064"/>
            <a:ext cx="91440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4F5F0"/>
                </a:solidFill>
                <a:latin typeface="Cambria"/>
                <a:ea typeface="Cambria"/>
                <a:cs typeface="Cambria"/>
              </a:rPr>
              <a:t>BACKUP · QUA³CK-PROZESS</a:t>
            </a:r>
          </a:p>
        </p:txBody>
      </p:sp>
      <p:sp>
        <p:nvSpPr>
          <p:cNvPr id="5" name="Shape 2">
            <a:extLst xmlns:a="http://schemas.openxmlformats.org/drawingml/2006/main">
              <a:ext uri="{FF2B5EF4-FFF2-40B4-BE49-F238E27FC236}">
                <a16:creationId xmlns:a16="http://schemas.microsoft.com/office/drawing/2014/main" id="{E4F34D0F-69FB-4410-80DD-EF6566F1ABDA}"/>
              </a:ext>
            </a:extLst>
          </p:cNvPr>
          <p:cNvSpPr>
            <a:spLocks xmlns:a="http://schemas.openxmlformats.org/drawingml/2006/main" noGrp="1"/>
          </p:cNvSpPr>
          <p:nvPr/>
        </p:nvSpPr>
        <p:spPr>
          <a:xfrm xmlns:a="http://schemas.openxmlformats.org/drawingml/2006/main">
            <a:off x="10643616" y="457200"/>
            <a:ext cx="1088136" cy="329184"/>
          </a:xfrm>
          <a:prstGeom xmlns:a="http://schemas.openxmlformats.org/drawingml/2006/main" prst="roundRect">
            <a:avLst>
              <a:gd name="adj" fmla="val 22222"/>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sp>
        <p:nvSpPr>
          <p:cNvPr id="6" name="Text 3">
            <a:extLst xmlns:a="http://schemas.openxmlformats.org/drawingml/2006/main">
              <a:ext uri="{FF2B5EF4-FFF2-40B4-BE49-F238E27FC236}">
                <a16:creationId xmlns:a16="http://schemas.microsoft.com/office/drawing/2014/main" id="{50B2336A-E5FD-45B8-804D-9824633DDBEC}"/>
              </a:ext>
            </a:extLst>
          </p:cNvPr>
          <p:cNvSpPr>
            <a:spLocks xmlns:a="http://schemas.openxmlformats.org/drawingml/2006/main" noGrp="1"/>
          </p:cNvSpPr>
          <p:nvPr/>
        </p:nvSpPr>
        <p:spPr>
          <a:xfrm xmlns:a="http://schemas.openxmlformats.org/drawingml/2006/main">
            <a:off x="10643616" y="457200"/>
            <a:ext cx="10881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F5D53"/>
                </a:solidFill>
                <a:latin typeface="Calibri"/>
                <a:ea typeface="Calibri"/>
                <a:cs typeface="Calibri"/>
              </a:rPr>
              <a:t>20 Sek</a:t>
            </a:r>
          </a:p>
        </p:txBody>
      </p:sp>
      <p:sp>
        <p:nvSpPr>
          <p:cNvPr id="7" name="Text 4">
            <a:extLst xmlns:a="http://schemas.openxmlformats.org/drawingml/2006/main">
              <a:ext uri="{FF2B5EF4-FFF2-40B4-BE49-F238E27FC236}">
                <a16:creationId xmlns:a16="http://schemas.microsoft.com/office/drawing/2014/main" id="{DB1284B3-4220-4E29-9F70-55D4FD8B5F73}"/>
              </a:ext>
            </a:extLst>
          </p:cNvPr>
          <p:cNvSpPr>
            <a:spLocks xmlns:a="http://schemas.openxmlformats.org/drawingml/2006/main" noGrp="1"/>
          </p:cNvSpPr>
          <p:nvPr/>
        </p:nvSpPr>
        <p:spPr>
          <a:xfrm xmlns:a="http://schemas.openxmlformats.org/drawingml/2006/main">
            <a:off x="640080" y="1371600"/>
            <a:ext cx="10881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9FC2B4"/>
                </a:solidFill>
                <a:latin typeface="Calibri"/>
                <a:ea typeface="Calibri"/>
                <a:cs typeface="Calibri"/>
              </a:rPr>
              <a:t>Stock et al. (2021), KIT ITIV — ein praxisnaher Leitfaden, der verhindert, dass man modelliert, bevor man die Daten wirklich verstanden hat.</a:t>
            </a:r>
          </a:p>
        </p:txBody>
      </p:sp>
      <p:sp>
        <p:nvSpPr>
          <p:cNvPr id="8" name="Shape 5">
            <a:extLst xmlns:a="http://schemas.openxmlformats.org/drawingml/2006/main">
              <a:ext uri="{FF2B5EF4-FFF2-40B4-BE49-F238E27FC236}">
                <a16:creationId xmlns:a16="http://schemas.microsoft.com/office/drawing/2014/main" id="{2F6FF966-8A2B-4B40-95AB-237D241394A7}"/>
              </a:ext>
            </a:extLst>
          </p:cNvPr>
          <p:cNvSpPr>
            <a:spLocks xmlns:a="http://schemas.openxmlformats.org/drawingml/2006/main" noGrp="1"/>
          </p:cNvSpPr>
          <p:nvPr/>
        </p:nvSpPr>
        <p:spPr>
          <a:xfrm xmlns:a="http://schemas.openxmlformats.org/drawingml/2006/main">
            <a:off x="548640" y="2331720"/>
            <a:ext cx="1412095" cy="3200400"/>
          </a:xfrm>
          <a:prstGeom xmlns:a="http://schemas.openxmlformats.org/drawingml/2006/main" prst="roundRect">
            <a:avLst>
              <a:gd name="adj" fmla="val 4533"/>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9" name="Text 6">
            <a:extLst xmlns:a="http://schemas.openxmlformats.org/drawingml/2006/main">
              <a:ext uri="{FF2B5EF4-FFF2-40B4-BE49-F238E27FC236}">
                <a16:creationId xmlns:a16="http://schemas.microsoft.com/office/drawing/2014/main" id="{93F67B3D-BC44-4C4E-B68A-7F73A28684FC}"/>
              </a:ext>
            </a:extLst>
          </p:cNvPr>
          <p:cNvSpPr>
            <a:spLocks xmlns:a="http://schemas.openxmlformats.org/drawingml/2006/main" noGrp="1"/>
          </p:cNvSpPr>
          <p:nvPr/>
        </p:nvSpPr>
        <p:spPr>
          <a:xfrm xmlns:a="http://schemas.openxmlformats.org/drawingml/2006/main">
            <a:off x="548640" y="2514600"/>
            <a:ext cx="141209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9A3C"/>
                </a:solidFill>
                <a:latin typeface="Cambria"/>
                <a:ea typeface="Cambria"/>
                <a:cs typeface="Cambria"/>
              </a:rPr>
              <a:t>Q</a:t>
            </a:r>
          </a:p>
        </p:txBody>
      </p:sp>
      <p:sp>
        <p:nvSpPr>
          <p:cNvPr id="10" name="Text 7">
            <a:extLst xmlns:a="http://schemas.openxmlformats.org/drawingml/2006/main">
              <a:ext uri="{FF2B5EF4-FFF2-40B4-BE49-F238E27FC236}">
                <a16:creationId xmlns:a16="http://schemas.microsoft.com/office/drawing/2014/main" id="{D45702A9-8840-442F-A163-D668714C3687}"/>
              </a:ext>
            </a:extLst>
          </p:cNvPr>
          <p:cNvSpPr>
            <a:spLocks xmlns:a="http://schemas.openxmlformats.org/drawingml/2006/main" noGrp="1"/>
          </p:cNvSpPr>
          <p:nvPr/>
        </p:nvSpPr>
        <p:spPr>
          <a:xfrm xmlns:a="http://schemas.openxmlformats.org/drawingml/2006/main">
            <a:off x="621792" y="3383280"/>
            <a:ext cx="126579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4F5F0"/>
                </a:solidFill>
                <a:latin typeface="Calibri"/>
                <a:ea typeface="Calibri"/>
                <a:cs typeface="Calibri"/>
              </a:rPr>
              <a:t>Question</a:t>
            </a:r>
          </a:p>
        </p:txBody>
      </p:sp>
      <p:sp>
        <p:nvSpPr>
          <p:cNvPr id="11" name="Text 8">
            <a:extLst xmlns:a="http://schemas.openxmlformats.org/drawingml/2006/main">
              <a:ext uri="{FF2B5EF4-FFF2-40B4-BE49-F238E27FC236}">
                <a16:creationId xmlns:a16="http://schemas.microsoft.com/office/drawing/2014/main" id="{D0CDCA4C-FAA7-4975-8577-C3CDA6C5224C}"/>
              </a:ext>
            </a:extLst>
          </p:cNvPr>
          <p:cNvSpPr>
            <a:spLocks xmlns:a="http://schemas.openxmlformats.org/drawingml/2006/main" noGrp="1"/>
          </p:cNvSpPr>
          <p:nvPr/>
        </p:nvSpPr>
        <p:spPr>
          <a:xfrm xmlns:a="http://schemas.openxmlformats.org/drawingml/2006/main">
            <a:off x="621792" y="3931920"/>
            <a:ext cx="1265791"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FC2B4"/>
                </a:solidFill>
                <a:latin typeface="Calibri"/>
                <a:ea typeface="Calibri"/>
                <a:cs typeface="Calibri"/>
              </a:rPr>
              <a:t>Leitfrage &amp;</a:t>
            </a:r>
          </a:p>
          <a:p xmlns:a="http://schemas.openxmlformats.org/drawingml/2006/main">
            <a:pPr marL="0" indent="0" algn="ctr">
              <a:buNone/>
            </a:pPr>
            <a:r>
              <a:rPr sz="1050">
                <a:solidFill>
                  <a:srgbClr val="9FC2B4"/>
                </a:solidFill>
                <a:latin typeface="Calibri"/>
                <a:ea typeface="Calibri"/>
                <a:cs typeface="Calibri"/>
              </a:rPr>
              <a:t>Hypothesen</a:t>
            </a:r>
          </a:p>
        </p:txBody>
      </p:sp>
      <p:sp>
        <p:nvSpPr>
          <p:cNvPr id="12" name="Text 9">
            <a:extLst xmlns:a="http://schemas.openxmlformats.org/drawingml/2006/main">
              <a:ext uri="{FF2B5EF4-FFF2-40B4-BE49-F238E27FC236}">
                <a16:creationId xmlns:a16="http://schemas.microsoft.com/office/drawing/2014/main" id="{99B38CCA-77F7-4E7F-B9D0-591046F5A20B}"/>
              </a:ext>
            </a:extLst>
          </p:cNvPr>
          <p:cNvSpPr>
            <a:spLocks xmlns:a="http://schemas.openxmlformats.org/drawingml/2006/main" noGrp="1"/>
          </p:cNvSpPr>
          <p:nvPr/>
        </p:nvSpPr>
        <p:spPr>
          <a:xfrm xmlns:a="http://schemas.openxmlformats.org/drawingml/2006/main">
            <a:off x="1942447" y="3246120"/>
            <a:ext cx="47548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44523F"/>
                </a:solidFill>
                <a:latin typeface="Calibri"/>
                <a:ea typeface="Calibri"/>
                <a:cs typeface="Calibri"/>
              </a:rPr>
              <a:t>›</a:t>
            </a:r>
          </a:p>
        </p:txBody>
      </p:sp>
      <p:sp>
        <p:nvSpPr>
          <p:cNvPr id="13" name="Shape 10">
            <a:extLst xmlns:a="http://schemas.openxmlformats.org/drawingml/2006/main">
              <a:ext uri="{FF2B5EF4-FFF2-40B4-BE49-F238E27FC236}">
                <a16:creationId xmlns:a16="http://schemas.microsoft.com/office/drawing/2014/main" id="{0A9443F5-FAEA-4A9F-8568-72723278434D}"/>
              </a:ext>
            </a:extLst>
          </p:cNvPr>
          <p:cNvSpPr>
            <a:spLocks xmlns:a="http://schemas.openxmlformats.org/drawingml/2006/main" noGrp="1"/>
          </p:cNvSpPr>
          <p:nvPr/>
        </p:nvSpPr>
        <p:spPr>
          <a:xfrm xmlns:a="http://schemas.openxmlformats.org/drawingml/2006/main">
            <a:off x="2161903" y="2331720"/>
            <a:ext cx="1412095" cy="3200400"/>
          </a:xfrm>
          <a:prstGeom xmlns:a="http://schemas.openxmlformats.org/drawingml/2006/main" prst="roundRect">
            <a:avLst>
              <a:gd name="adj" fmla="val 4533"/>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0372EC24-F66C-4653-A6A9-D2F95C817426}"/>
              </a:ext>
            </a:extLst>
          </p:cNvPr>
          <p:cNvSpPr>
            <a:spLocks xmlns:a="http://schemas.openxmlformats.org/drawingml/2006/main" noGrp="1"/>
          </p:cNvSpPr>
          <p:nvPr/>
        </p:nvSpPr>
        <p:spPr>
          <a:xfrm xmlns:a="http://schemas.openxmlformats.org/drawingml/2006/main">
            <a:off x="2161903" y="2514600"/>
            <a:ext cx="141209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9A3C"/>
                </a:solidFill>
                <a:latin typeface="Cambria"/>
                <a:ea typeface="Cambria"/>
                <a:cs typeface="Cambria"/>
              </a:rPr>
              <a:t>U</a:t>
            </a:r>
          </a:p>
        </p:txBody>
      </p:sp>
      <p:sp>
        <p:nvSpPr>
          <p:cNvPr id="15" name="Text 12">
            <a:extLst xmlns:a="http://schemas.openxmlformats.org/drawingml/2006/main">
              <a:ext uri="{FF2B5EF4-FFF2-40B4-BE49-F238E27FC236}">
                <a16:creationId xmlns:a16="http://schemas.microsoft.com/office/drawing/2014/main" id="{4A327CFC-C912-4BAC-BE9D-A73D6941BF0E}"/>
              </a:ext>
            </a:extLst>
          </p:cNvPr>
          <p:cNvSpPr>
            <a:spLocks xmlns:a="http://schemas.openxmlformats.org/drawingml/2006/main" noGrp="1"/>
          </p:cNvSpPr>
          <p:nvPr/>
        </p:nvSpPr>
        <p:spPr>
          <a:xfrm xmlns:a="http://schemas.openxmlformats.org/drawingml/2006/main">
            <a:off x="2235055" y="3383280"/>
            <a:ext cx="126579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4F5F0"/>
                </a:solidFill>
                <a:latin typeface="Calibri"/>
                <a:ea typeface="Calibri"/>
                <a:cs typeface="Calibri"/>
              </a:rPr>
              <a:t>Understanding</a:t>
            </a:r>
          </a:p>
        </p:txBody>
      </p:sp>
      <p:sp>
        <p:nvSpPr>
          <p:cNvPr id="16" name="Text 13">
            <a:extLst xmlns:a="http://schemas.openxmlformats.org/drawingml/2006/main">
              <a:ext uri="{FF2B5EF4-FFF2-40B4-BE49-F238E27FC236}">
                <a16:creationId xmlns:a16="http://schemas.microsoft.com/office/drawing/2014/main" id="{C125E67F-FAFD-4449-9D8D-2A0A0B706847}"/>
              </a:ext>
            </a:extLst>
          </p:cNvPr>
          <p:cNvSpPr>
            <a:spLocks xmlns:a="http://schemas.openxmlformats.org/drawingml/2006/main" noGrp="1"/>
          </p:cNvSpPr>
          <p:nvPr/>
        </p:nvSpPr>
        <p:spPr>
          <a:xfrm xmlns:a="http://schemas.openxmlformats.org/drawingml/2006/main">
            <a:off x="2235055" y="3931920"/>
            <a:ext cx="1265791"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FC2B4"/>
                </a:solidFill>
                <a:latin typeface="Calibri"/>
                <a:ea typeface="Calibri"/>
                <a:cs typeface="Calibri"/>
              </a:rPr>
              <a:t>Daten, EDA,</a:t>
            </a:r>
          </a:p>
          <a:p xmlns:a="http://schemas.openxmlformats.org/drawingml/2006/main">
            <a:pPr marL="0" indent="0" algn="ctr">
              <a:buNone/>
            </a:pPr>
            <a:r>
              <a:rPr sz="1050">
                <a:solidFill>
                  <a:srgbClr val="9FC2B4"/>
                </a:solidFill>
                <a:latin typeface="Calibri"/>
                <a:ea typeface="Calibri"/>
                <a:cs typeface="Calibri"/>
              </a:rPr>
              <a:t>Qualität</a:t>
            </a:r>
          </a:p>
        </p:txBody>
      </p:sp>
      <p:sp>
        <p:nvSpPr>
          <p:cNvPr id="17" name="Text 14">
            <a:extLst xmlns:a="http://schemas.openxmlformats.org/drawingml/2006/main">
              <a:ext uri="{FF2B5EF4-FFF2-40B4-BE49-F238E27FC236}">
                <a16:creationId xmlns:a16="http://schemas.microsoft.com/office/drawing/2014/main" id="{59272539-089C-431D-811B-9463600F3C40}"/>
              </a:ext>
            </a:extLst>
          </p:cNvPr>
          <p:cNvSpPr>
            <a:spLocks xmlns:a="http://schemas.openxmlformats.org/drawingml/2006/main" noGrp="1"/>
          </p:cNvSpPr>
          <p:nvPr/>
        </p:nvSpPr>
        <p:spPr>
          <a:xfrm xmlns:a="http://schemas.openxmlformats.org/drawingml/2006/main">
            <a:off x="3555710" y="3246120"/>
            <a:ext cx="47548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44523F"/>
                </a:solidFill>
                <a:latin typeface="Calibri"/>
                <a:ea typeface="Calibri"/>
                <a:cs typeface="Calibri"/>
              </a:rPr>
              <a:t>›</a:t>
            </a:r>
          </a:p>
        </p:txBody>
      </p:sp>
      <p:sp>
        <p:nvSpPr>
          <p:cNvPr id="18" name="Shape 15">
            <a:extLst xmlns:a="http://schemas.openxmlformats.org/drawingml/2006/main">
              <a:ext uri="{FF2B5EF4-FFF2-40B4-BE49-F238E27FC236}">
                <a16:creationId xmlns:a16="http://schemas.microsoft.com/office/drawing/2014/main" id="{52371BCE-19AC-413F-9899-64F4DCF69D21}"/>
              </a:ext>
            </a:extLst>
          </p:cNvPr>
          <p:cNvSpPr>
            <a:spLocks xmlns:a="http://schemas.openxmlformats.org/drawingml/2006/main" noGrp="1"/>
          </p:cNvSpPr>
          <p:nvPr/>
        </p:nvSpPr>
        <p:spPr>
          <a:xfrm xmlns:a="http://schemas.openxmlformats.org/drawingml/2006/main">
            <a:off x="3775166" y="2331720"/>
            <a:ext cx="1412095" cy="3200400"/>
          </a:xfrm>
          <a:prstGeom xmlns:a="http://schemas.openxmlformats.org/drawingml/2006/main" prst="roundRect">
            <a:avLst>
              <a:gd name="adj" fmla="val 4533"/>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A63983B9-854C-4B2D-83B6-F25B931EED13}"/>
              </a:ext>
            </a:extLst>
          </p:cNvPr>
          <p:cNvSpPr>
            <a:spLocks xmlns:a="http://schemas.openxmlformats.org/drawingml/2006/main" noGrp="1"/>
          </p:cNvSpPr>
          <p:nvPr/>
        </p:nvSpPr>
        <p:spPr>
          <a:xfrm xmlns:a="http://schemas.openxmlformats.org/drawingml/2006/main">
            <a:off x="3775166" y="2514600"/>
            <a:ext cx="141209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9A3C"/>
                </a:solidFill>
                <a:latin typeface="Cambria"/>
                <a:ea typeface="Cambria"/>
                <a:cs typeface="Cambria"/>
              </a:rPr>
              <a:t>A</a:t>
            </a:r>
          </a:p>
        </p:txBody>
      </p:sp>
      <p:sp>
        <p:nvSpPr>
          <p:cNvPr id="20" name="Text 17">
            <a:extLst xmlns:a="http://schemas.openxmlformats.org/drawingml/2006/main">
              <a:ext uri="{FF2B5EF4-FFF2-40B4-BE49-F238E27FC236}">
                <a16:creationId xmlns:a16="http://schemas.microsoft.com/office/drawing/2014/main" id="{C5BB03A8-920A-40C2-B10D-9F57381DF9CE}"/>
              </a:ext>
            </a:extLst>
          </p:cNvPr>
          <p:cNvSpPr>
            <a:spLocks xmlns:a="http://schemas.openxmlformats.org/drawingml/2006/main" noGrp="1"/>
          </p:cNvSpPr>
          <p:nvPr/>
        </p:nvSpPr>
        <p:spPr>
          <a:xfrm xmlns:a="http://schemas.openxmlformats.org/drawingml/2006/main">
            <a:off x="3848318" y="3383280"/>
            <a:ext cx="126579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4F5F0"/>
                </a:solidFill>
                <a:latin typeface="Calibri"/>
                <a:ea typeface="Calibri"/>
                <a:cs typeface="Calibri"/>
              </a:rPr>
              <a:t>Analytics</a:t>
            </a:r>
          </a:p>
        </p:txBody>
      </p:sp>
      <p:sp>
        <p:nvSpPr>
          <p:cNvPr id="21" name="Text 18">
            <a:extLst xmlns:a="http://schemas.openxmlformats.org/drawingml/2006/main">
              <a:ext uri="{FF2B5EF4-FFF2-40B4-BE49-F238E27FC236}">
                <a16:creationId xmlns:a16="http://schemas.microsoft.com/office/drawing/2014/main" id="{3C9D5E15-7933-4746-94A6-50C55EA26BFE}"/>
              </a:ext>
            </a:extLst>
          </p:cNvPr>
          <p:cNvSpPr>
            <a:spLocks xmlns:a="http://schemas.openxmlformats.org/drawingml/2006/main" noGrp="1"/>
          </p:cNvSpPr>
          <p:nvPr/>
        </p:nvSpPr>
        <p:spPr>
          <a:xfrm xmlns:a="http://schemas.openxmlformats.org/drawingml/2006/main">
            <a:off x="3848318" y="3931920"/>
            <a:ext cx="1265791"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FC2B4"/>
                </a:solidFill>
                <a:latin typeface="Calibri"/>
                <a:ea typeface="Calibri"/>
                <a:cs typeface="Calibri"/>
              </a:rPr>
              <a:t>Feature</a:t>
            </a:r>
          </a:p>
          <a:p xmlns:a="http://schemas.openxmlformats.org/drawingml/2006/main">
            <a:pPr marL="0" indent="0" algn="ctr">
              <a:buNone/>
            </a:pPr>
            <a:r>
              <a:rPr sz="1050">
                <a:solidFill>
                  <a:srgbClr val="9FC2B4"/>
                </a:solidFill>
                <a:latin typeface="Calibri"/>
                <a:ea typeface="Calibri"/>
                <a:cs typeface="Calibri"/>
              </a:rPr>
              <a:t>Engineering</a:t>
            </a:r>
          </a:p>
        </p:txBody>
      </p:sp>
      <p:sp>
        <p:nvSpPr>
          <p:cNvPr id="22" name="Text 19">
            <a:extLst xmlns:a="http://schemas.openxmlformats.org/drawingml/2006/main">
              <a:ext uri="{FF2B5EF4-FFF2-40B4-BE49-F238E27FC236}">
                <a16:creationId xmlns:a16="http://schemas.microsoft.com/office/drawing/2014/main" id="{7E58B725-C54F-4639-9DD1-ADA0FDC212EC}"/>
              </a:ext>
            </a:extLst>
          </p:cNvPr>
          <p:cNvSpPr>
            <a:spLocks xmlns:a="http://schemas.openxmlformats.org/drawingml/2006/main" noGrp="1"/>
          </p:cNvSpPr>
          <p:nvPr/>
        </p:nvSpPr>
        <p:spPr>
          <a:xfrm xmlns:a="http://schemas.openxmlformats.org/drawingml/2006/main">
            <a:off x="5168973" y="3246120"/>
            <a:ext cx="47548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44523F"/>
                </a:solidFill>
                <a:latin typeface="Calibri"/>
                <a:ea typeface="Calibri"/>
                <a:cs typeface="Calibri"/>
              </a:rPr>
              <a:t>›</a:t>
            </a:r>
          </a:p>
        </p:txBody>
      </p:sp>
      <p:sp>
        <p:nvSpPr>
          <p:cNvPr id="23" name="Shape 20">
            <a:extLst xmlns:a="http://schemas.openxmlformats.org/drawingml/2006/main">
              <a:ext uri="{FF2B5EF4-FFF2-40B4-BE49-F238E27FC236}">
                <a16:creationId xmlns:a16="http://schemas.microsoft.com/office/drawing/2014/main" id="{824AE84E-CA7D-4441-BF47-64693BAD9C21}"/>
              </a:ext>
            </a:extLst>
          </p:cNvPr>
          <p:cNvSpPr>
            <a:spLocks xmlns:a="http://schemas.openxmlformats.org/drawingml/2006/main" noGrp="1"/>
          </p:cNvSpPr>
          <p:nvPr/>
        </p:nvSpPr>
        <p:spPr>
          <a:xfrm xmlns:a="http://schemas.openxmlformats.org/drawingml/2006/main">
            <a:off x="5388429" y="2331720"/>
            <a:ext cx="1412095" cy="3200400"/>
          </a:xfrm>
          <a:prstGeom xmlns:a="http://schemas.openxmlformats.org/drawingml/2006/main" prst="roundRect">
            <a:avLst>
              <a:gd name="adj" fmla="val 4533"/>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24" name="Text 21">
            <a:extLst xmlns:a="http://schemas.openxmlformats.org/drawingml/2006/main">
              <a:ext uri="{FF2B5EF4-FFF2-40B4-BE49-F238E27FC236}">
                <a16:creationId xmlns:a16="http://schemas.microsoft.com/office/drawing/2014/main" id="{24960076-05B0-4282-A04D-6C136F34CA5D}"/>
              </a:ext>
            </a:extLst>
          </p:cNvPr>
          <p:cNvSpPr>
            <a:spLocks xmlns:a="http://schemas.openxmlformats.org/drawingml/2006/main" noGrp="1"/>
          </p:cNvSpPr>
          <p:nvPr/>
        </p:nvSpPr>
        <p:spPr>
          <a:xfrm xmlns:a="http://schemas.openxmlformats.org/drawingml/2006/main">
            <a:off x="5388429" y="2514600"/>
            <a:ext cx="141209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9A3C"/>
                </a:solidFill>
                <a:latin typeface="Cambria"/>
                <a:ea typeface="Cambria"/>
                <a:cs typeface="Cambria"/>
              </a:rPr>
              <a:t>A</a:t>
            </a:r>
          </a:p>
        </p:txBody>
      </p:sp>
      <p:sp>
        <p:nvSpPr>
          <p:cNvPr id="25" name="Text 22">
            <a:extLst xmlns:a="http://schemas.openxmlformats.org/drawingml/2006/main">
              <a:ext uri="{FF2B5EF4-FFF2-40B4-BE49-F238E27FC236}">
                <a16:creationId xmlns:a16="http://schemas.microsoft.com/office/drawing/2014/main" id="{B630506B-4302-488D-BCBF-CF7C746AFC94}"/>
              </a:ext>
            </a:extLst>
          </p:cNvPr>
          <p:cNvSpPr>
            <a:spLocks xmlns:a="http://schemas.openxmlformats.org/drawingml/2006/main" noGrp="1"/>
          </p:cNvSpPr>
          <p:nvPr/>
        </p:nvSpPr>
        <p:spPr>
          <a:xfrm xmlns:a="http://schemas.openxmlformats.org/drawingml/2006/main">
            <a:off x="5461581" y="3383280"/>
            <a:ext cx="126579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4F5F0"/>
                </a:solidFill>
                <a:latin typeface="Calibri"/>
                <a:ea typeface="Calibri"/>
                <a:cs typeface="Calibri"/>
              </a:rPr>
              <a:t>Algorithm</a:t>
            </a:r>
          </a:p>
        </p:txBody>
      </p:sp>
      <p:sp>
        <p:nvSpPr>
          <p:cNvPr id="26" name="Text 23">
            <a:extLst xmlns:a="http://schemas.openxmlformats.org/drawingml/2006/main">
              <a:ext uri="{FF2B5EF4-FFF2-40B4-BE49-F238E27FC236}">
                <a16:creationId xmlns:a16="http://schemas.microsoft.com/office/drawing/2014/main" id="{A6ED9EBF-7AED-4445-ADF0-09FEC3101C39}"/>
              </a:ext>
            </a:extLst>
          </p:cNvPr>
          <p:cNvSpPr>
            <a:spLocks xmlns:a="http://schemas.openxmlformats.org/drawingml/2006/main" noGrp="1"/>
          </p:cNvSpPr>
          <p:nvPr/>
        </p:nvSpPr>
        <p:spPr>
          <a:xfrm xmlns:a="http://schemas.openxmlformats.org/drawingml/2006/main">
            <a:off x="5461581" y="3931920"/>
            <a:ext cx="1265791"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FC2B4"/>
                </a:solidFill>
                <a:latin typeface="Calibri"/>
                <a:ea typeface="Calibri"/>
                <a:cs typeface="Calibri"/>
              </a:rPr>
              <a:t>Modell-</a:t>
            </a:r>
          </a:p>
          <a:p xmlns:a="http://schemas.openxmlformats.org/drawingml/2006/main">
            <a:pPr marL="0" indent="0" algn="ctr">
              <a:buNone/>
            </a:pPr>
            <a:r>
              <a:rPr sz="1050">
                <a:solidFill>
                  <a:srgbClr val="9FC2B4"/>
                </a:solidFill>
                <a:latin typeface="Calibri"/>
                <a:ea typeface="Calibri"/>
                <a:cs typeface="Calibri"/>
              </a:rPr>
              <a:t>auswahl</a:t>
            </a:r>
          </a:p>
        </p:txBody>
      </p:sp>
      <p:sp>
        <p:nvSpPr>
          <p:cNvPr id="27" name="Text 24">
            <a:extLst xmlns:a="http://schemas.openxmlformats.org/drawingml/2006/main">
              <a:ext uri="{FF2B5EF4-FFF2-40B4-BE49-F238E27FC236}">
                <a16:creationId xmlns:a16="http://schemas.microsoft.com/office/drawing/2014/main" id="{2125A84D-9742-4D1A-ABB5-136A29C8BBA6}"/>
              </a:ext>
            </a:extLst>
          </p:cNvPr>
          <p:cNvSpPr>
            <a:spLocks xmlns:a="http://schemas.openxmlformats.org/drawingml/2006/main" noGrp="1"/>
          </p:cNvSpPr>
          <p:nvPr/>
        </p:nvSpPr>
        <p:spPr>
          <a:xfrm xmlns:a="http://schemas.openxmlformats.org/drawingml/2006/main">
            <a:off x="6782235" y="3246120"/>
            <a:ext cx="47548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44523F"/>
                </a:solidFill>
                <a:latin typeface="Calibri"/>
                <a:ea typeface="Calibri"/>
                <a:cs typeface="Calibri"/>
              </a:rPr>
              <a:t>›</a:t>
            </a:r>
          </a:p>
        </p:txBody>
      </p:sp>
      <p:sp>
        <p:nvSpPr>
          <p:cNvPr id="28" name="Shape 25">
            <a:extLst xmlns:a="http://schemas.openxmlformats.org/drawingml/2006/main">
              <a:ext uri="{FF2B5EF4-FFF2-40B4-BE49-F238E27FC236}">
                <a16:creationId xmlns:a16="http://schemas.microsoft.com/office/drawing/2014/main" id="{50B009A8-94BC-4FC1-948E-D149C764056C}"/>
              </a:ext>
            </a:extLst>
          </p:cNvPr>
          <p:cNvSpPr>
            <a:spLocks xmlns:a="http://schemas.openxmlformats.org/drawingml/2006/main" noGrp="1"/>
          </p:cNvSpPr>
          <p:nvPr/>
        </p:nvSpPr>
        <p:spPr>
          <a:xfrm xmlns:a="http://schemas.openxmlformats.org/drawingml/2006/main">
            <a:off x="7001691" y="2331720"/>
            <a:ext cx="1412095" cy="3200400"/>
          </a:xfrm>
          <a:prstGeom xmlns:a="http://schemas.openxmlformats.org/drawingml/2006/main" prst="roundRect">
            <a:avLst>
              <a:gd name="adj" fmla="val 4533"/>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29" name="Text 26">
            <a:extLst xmlns:a="http://schemas.openxmlformats.org/drawingml/2006/main">
              <a:ext uri="{FF2B5EF4-FFF2-40B4-BE49-F238E27FC236}">
                <a16:creationId xmlns:a16="http://schemas.microsoft.com/office/drawing/2014/main" id="{A24A6D40-69D8-40FC-A624-855905C87181}"/>
              </a:ext>
            </a:extLst>
          </p:cNvPr>
          <p:cNvSpPr>
            <a:spLocks xmlns:a="http://schemas.openxmlformats.org/drawingml/2006/main" noGrp="1"/>
          </p:cNvSpPr>
          <p:nvPr/>
        </p:nvSpPr>
        <p:spPr>
          <a:xfrm xmlns:a="http://schemas.openxmlformats.org/drawingml/2006/main">
            <a:off x="7001691" y="2514600"/>
            <a:ext cx="141209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9A3C"/>
                </a:solidFill>
                <a:latin typeface="Cambria"/>
                <a:ea typeface="Cambria"/>
                <a:cs typeface="Cambria"/>
              </a:rPr>
              <a:t>A</a:t>
            </a:r>
          </a:p>
        </p:txBody>
      </p:sp>
      <p:sp>
        <p:nvSpPr>
          <p:cNvPr id="30" name="Text 27">
            <a:extLst xmlns:a="http://schemas.openxmlformats.org/drawingml/2006/main">
              <a:ext uri="{FF2B5EF4-FFF2-40B4-BE49-F238E27FC236}">
                <a16:creationId xmlns:a16="http://schemas.microsoft.com/office/drawing/2014/main" id="{D8F57F00-9D90-4ABD-8809-C19EA951B3B3}"/>
              </a:ext>
            </a:extLst>
          </p:cNvPr>
          <p:cNvSpPr>
            <a:spLocks xmlns:a="http://schemas.openxmlformats.org/drawingml/2006/main" noGrp="1"/>
          </p:cNvSpPr>
          <p:nvPr/>
        </p:nvSpPr>
        <p:spPr>
          <a:xfrm xmlns:a="http://schemas.openxmlformats.org/drawingml/2006/main">
            <a:off x="7074843" y="3383280"/>
            <a:ext cx="126579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4F5F0"/>
                </a:solidFill>
                <a:latin typeface="Calibri"/>
                <a:ea typeface="Calibri"/>
                <a:cs typeface="Calibri"/>
              </a:rPr>
              <a:t>Adaption</a:t>
            </a:r>
          </a:p>
        </p:txBody>
      </p:sp>
      <p:sp>
        <p:nvSpPr>
          <p:cNvPr id="31" name="Text 28">
            <a:extLst xmlns:a="http://schemas.openxmlformats.org/drawingml/2006/main">
              <a:ext uri="{FF2B5EF4-FFF2-40B4-BE49-F238E27FC236}">
                <a16:creationId xmlns:a16="http://schemas.microsoft.com/office/drawing/2014/main" id="{A5B27DDC-B64A-4C67-AB72-BF0AD2C77A8C}"/>
              </a:ext>
            </a:extLst>
          </p:cNvPr>
          <p:cNvSpPr>
            <a:spLocks xmlns:a="http://schemas.openxmlformats.org/drawingml/2006/main" noGrp="1"/>
          </p:cNvSpPr>
          <p:nvPr/>
        </p:nvSpPr>
        <p:spPr>
          <a:xfrm xmlns:a="http://schemas.openxmlformats.org/drawingml/2006/main">
            <a:off x="7074843" y="3931920"/>
            <a:ext cx="1265791"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FC2B4"/>
                </a:solidFill>
                <a:latin typeface="Calibri"/>
                <a:ea typeface="Calibri"/>
                <a:cs typeface="Calibri"/>
              </a:rPr>
              <a:t>Optimierung &amp;</a:t>
            </a:r>
          </a:p>
          <a:p xmlns:a="http://schemas.openxmlformats.org/drawingml/2006/main">
            <a:pPr marL="0" indent="0" algn="ctr">
              <a:buNone/>
            </a:pPr>
            <a:r>
              <a:rPr sz="1050">
                <a:solidFill>
                  <a:srgbClr val="9FC2B4"/>
                </a:solidFill>
                <a:latin typeface="Calibri"/>
                <a:ea typeface="Calibri"/>
                <a:cs typeface="Calibri"/>
              </a:rPr>
              <a:t>Ergebnisse</a:t>
            </a:r>
          </a:p>
        </p:txBody>
      </p:sp>
      <p:sp>
        <p:nvSpPr>
          <p:cNvPr id="32" name="Text 29">
            <a:extLst xmlns:a="http://schemas.openxmlformats.org/drawingml/2006/main">
              <a:ext uri="{FF2B5EF4-FFF2-40B4-BE49-F238E27FC236}">
                <a16:creationId xmlns:a16="http://schemas.microsoft.com/office/drawing/2014/main" id="{9F68D08C-FAAE-4B41-BC71-F42A5CFBFB44}"/>
              </a:ext>
            </a:extLst>
          </p:cNvPr>
          <p:cNvSpPr>
            <a:spLocks xmlns:a="http://schemas.openxmlformats.org/drawingml/2006/main" noGrp="1"/>
          </p:cNvSpPr>
          <p:nvPr/>
        </p:nvSpPr>
        <p:spPr>
          <a:xfrm xmlns:a="http://schemas.openxmlformats.org/drawingml/2006/main">
            <a:off x="8395498" y="3246120"/>
            <a:ext cx="47548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44523F"/>
                </a:solidFill>
                <a:latin typeface="Calibri"/>
                <a:ea typeface="Calibri"/>
                <a:cs typeface="Calibri"/>
              </a:rPr>
              <a:t>›</a:t>
            </a:r>
          </a:p>
        </p:txBody>
      </p:sp>
      <p:sp>
        <p:nvSpPr>
          <p:cNvPr id="33" name="Shape 30">
            <a:extLst xmlns:a="http://schemas.openxmlformats.org/drawingml/2006/main">
              <a:ext uri="{FF2B5EF4-FFF2-40B4-BE49-F238E27FC236}">
                <a16:creationId xmlns:a16="http://schemas.microsoft.com/office/drawing/2014/main" id="{962DF908-8291-4A16-BC84-EA5DD42C21B8}"/>
              </a:ext>
            </a:extLst>
          </p:cNvPr>
          <p:cNvSpPr>
            <a:spLocks xmlns:a="http://schemas.openxmlformats.org/drawingml/2006/main" noGrp="1"/>
          </p:cNvSpPr>
          <p:nvPr/>
        </p:nvSpPr>
        <p:spPr>
          <a:xfrm xmlns:a="http://schemas.openxmlformats.org/drawingml/2006/main">
            <a:off x="8614954" y="2331720"/>
            <a:ext cx="1412095" cy="3200400"/>
          </a:xfrm>
          <a:prstGeom xmlns:a="http://schemas.openxmlformats.org/drawingml/2006/main" prst="roundRect">
            <a:avLst>
              <a:gd name="adj" fmla="val 4533"/>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34" name="Text 31">
            <a:extLst xmlns:a="http://schemas.openxmlformats.org/drawingml/2006/main">
              <a:ext uri="{FF2B5EF4-FFF2-40B4-BE49-F238E27FC236}">
                <a16:creationId xmlns:a16="http://schemas.microsoft.com/office/drawing/2014/main" id="{8847BBC7-D3D8-4D0F-860F-06FAF88CA44D}"/>
              </a:ext>
            </a:extLst>
          </p:cNvPr>
          <p:cNvSpPr>
            <a:spLocks xmlns:a="http://schemas.openxmlformats.org/drawingml/2006/main" noGrp="1"/>
          </p:cNvSpPr>
          <p:nvPr/>
        </p:nvSpPr>
        <p:spPr>
          <a:xfrm xmlns:a="http://schemas.openxmlformats.org/drawingml/2006/main">
            <a:off x="8614954" y="2514600"/>
            <a:ext cx="141209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9A3C"/>
                </a:solidFill>
                <a:latin typeface="Cambria"/>
                <a:ea typeface="Cambria"/>
                <a:cs typeface="Cambria"/>
              </a:rPr>
              <a:t>C</a:t>
            </a:r>
          </a:p>
        </p:txBody>
      </p:sp>
      <p:sp>
        <p:nvSpPr>
          <p:cNvPr id="35" name="Text 32">
            <a:extLst xmlns:a="http://schemas.openxmlformats.org/drawingml/2006/main">
              <a:ext uri="{FF2B5EF4-FFF2-40B4-BE49-F238E27FC236}">
                <a16:creationId xmlns:a16="http://schemas.microsoft.com/office/drawing/2014/main" id="{29E1C7E7-A45B-4AF9-A98A-D968CEB570C0}"/>
              </a:ext>
            </a:extLst>
          </p:cNvPr>
          <p:cNvSpPr>
            <a:spLocks xmlns:a="http://schemas.openxmlformats.org/drawingml/2006/main" noGrp="1"/>
          </p:cNvSpPr>
          <p:nvPr/>
        </p:nvSpPr>
        <p:spPr>
          <a:xfrm xmlns:a="http://schemas.openxmlformats.org/drawingml/2006/main">
            <a:off x="8688106" y="3383280"/>
            <a:ext cx="126579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4F5F0"/>
                </a:solidFill>
                <a:latin typeface="Calibri"/>
                <a:ea typeface="Calibri"/>
                <a:cs typeface="Calibri"/>
              </a:rPr>
              <a:t>Conclude</a:t>
            </a:r>
          </a:p>
        </p:txBody>
      </p:sp>
      <p:sp>
        <p:nvSpPr>
          <p:cNvPr id="36" name="Text 33">
            <a:extLst xmlns:a="http://schemas.openxmlformats.org/drawingml/2006/main">
              <a:ext uri="{FF2B5EF4-FFF2-40B4-BE49-F238E27FC236}">
                <a16:creationId xmlns:a16="http://schemas.microsoft.com/office/drawing/2014/main" id="{9290B356-E5BF-496A-B91C-FB0B43637812}"/>
              </a:ext>
            </a:extLst>
          </p:cNvPr>
          <p:cNvSpPr>
            <a:spLocks xmlns:a="http://schemas.openxmlformats.org/drawingml/2006/main" noGrp="1"/>
          </p:cNvSpPr>
          <p:nvPr/>
        </p:nvSpPr>
        <p:spPr>
          <a:xfrm xmlns:a="http://schemas.openxmlformats.org/drawingml/2006/main">
            <a:off x="8688106" y="3931920"/>
            <a:ext cx="1265791"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FC2B4"/>
                </a:solidFill>
                <a:latin typeface="Calibri"/>
                <a:ea typeface="Calibri"/>
                <a:cs typeface="Calibri"/>
              </a:rPr>
              <a:t>Fazit &amp;</a:t>
            </a:r>
          </a:p>
          <a:p xmlns:a="http://schemas.openxmlformats.org/drawingml/2006/main">
            <a:pPr marL="0" indent="0" algn="ctr">
              <a:buNone/>
            </a:pPr>
            <a:r>
              <a:rPr sz="1050">
                <a:solidFill>
                  <a:srgbClr val="9FC2B4"/>
                </a:solidFill>
                <a:latin typeface="Calibri"/>
                <a:ea typeface="Calibri"/>
                <a:cs typeface="Calibri"/>
              </a:rPr>
              <a:t>Grenzen</a:t>
            </a:r>
          </a:p>
        </p:txBody>
      </p:sp>
      <p:sp>
        <p:nvSpPr>
          <p:cNvPr id="37" name="Text 34">
            <a:extLst xmlns:a="http://schemas.openxmlformats.org/drawingml/2006/main">
              <a:ext uri="{FF2B5EF4-FFF2-40B4-BE49-F238E27FC236}">
                <a16:creationId xmlns:a16="http://schemas.microsoft.com/office/drawing/2014/main" id="{F89B7E3B-65C9-4BAB-93EA-91B4ADDD09B6}"/>
              </a:ext>
            </a:extLst>
          </p:cNvPr>
          <p:cNvSpPr>
            <a:spLocks xmlns:a="http://schemas.openxmlformats.org/drawingml/2006/main" noGrp="1"/>
          </p:cNvSpPr>
          <p:nvPr/>
        </p:nvSpPr>
        <p:spPr>
          <a:xfrm xmlns:a="http://schemas.openxmlformats.org/drawingml/2006/main">
            <a:off x="10008761" y="3246120"/>
            <a:ext cx="47548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44523F"/>
                </a:solidFill>
                <a:latin typeface="Calibri"/>
                <a:ea typeface="Calibri"/>
                <a:cs typeface="Calibri"/>
              </a:rPr>
              <a:t>›</a:t>
            </a:r>
          </a:p>
        </p:txBody>
      </p:sp>
      <p:sp>
        <p:nvSpPr>
          <p:cNvPr id="38" name="Shape 35">
            <a:extLst xmlns:a="http://schemas.openxmlformats.org/drawingml/2006/main">
              <a:ext uri="{FF2B5EF4-FFF2-40B4-BE49-F238E27FC236}">
                <a16:creationId xmlns:a16="http://schemas.microsoft.com/office/drawing/2014/main" id="{4DFFB7E5-44C6-4A43-B282-A8B62742DEDB}"/>
              </a:ext>
            </a:extLst>
          </p:cNvPr>
          <p:cNvSpPr>
            <a:spLocks xmlns:a="http://schemas.openxmlformats.org/drawingml/2006/main" noGrp="1"/>
          </p:cNvSpPr>
          <p:nvPr/>
        </p:nvSpPr>
        <p:spPr>
          <a:xfrm xmlns:a="http://schemas.openxmlformats.org/drawingml/2006/main">
            <a:off x="10228217" y="2331720"/>
            <a:ext cx="1412095" cy="3200400"/>
          </a:xfrm>
          <a:prstGeom xmlns:a="http://schemas.openxmlformats.org/drawingml/2006/main" prst="roundRect">
            <a:avLst>
              <a:gd name="adj" fmla="val 4533"/>
            </a:avLst>
          </a:prstGeom>
          <a:solidFill xmlns:a="http://schemas.openxmlformats.org/drawingml/2006/main">
            <a:srgbClr val="171A15"/>
          </a:solidFill>
          <a:ln xmlns:a="http://schemas.openxmlformats.org/drawingml/2006/main" w="9525">
            <a:solidFill>
              <a:srgbClr val="2A332A"/>
            </a:solidFill>
            <a:prstDash val="solid"/>
          </a:ln>
        </p:spPr>
        <p:txBody>
          <a:bodyPr xmlns:a="http://schemas.openxmlformats.org/drawingml/2006/main"/>
          <a:lstStyle xmlns:a="http://schemas.openxmlformats.org/drawingml/2006/main"/>
          <a:p xmlns:a="http://schemas.openxmlformats.org/drawingml/2006/main"/>
        </p:txBody>
      </p:sp>
      <p:sp>
        <p:nvSpPr>
          <p:cNvPr id="39" name="Text 36">
            <a:extLst xmlns:a="http://schemas.openxmlformats.org/drawingml/2006/main">
              <a:ext uri="{FF2B5EF4-FFF2-40B4-BE49-F238E27FC236}">
                <a16:creationId xmlns:a16="http://schemas.microsoft.com/office/drawing/2014/main" id="{EE049851-535B-48EE-92A2-CB5ACF34B543}"/>
              </a:ext>
            </a:extLst>
          </p:cNvPr>
          <p:cNvSpPr>
            <a:spLocks xmlns:a="http://schemas.openxmlformats.org/drawingml/2006/main" noGrp="1"/>
          </p:cNvSpPr>
          <p:nvPr/>
        </p:nvSpPr>
        <p:spPr>
          <a:xfrm xmlns:a="http://schemas.openxmlformats.org/drawingml/2006/main">
            <a:off x="10228217" y="2514600"/>
            <a:ext cx="141209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C79A3C"/>
                </a:solidFill>
                <a:latin typeface="Cambria"/>
                <a:ea typeface="Cambria"/>
                <a:cs typeface="Cambria"/>
              </a:rPr>
              <a:t>K</a:t>
            </a:r>
          </a:p>
        </p:txBody>
      </p:sp>
      <p:sp>
        <p:nvSpPr>
          <p:cNvPr id="40" name="Text 37">
            <a:extLst xmlns:a="http://schemas.openxmlformats.org/drawingml/2006/main">
              <a:ext uri="{FF2B5EF4-FFF2-40B4-BE49-F238E27FC236}">
                <a16:creationId xmlns:a16="http://schemas.microsoft.com/office/drawing/2014/main" id="{D415DDF4-E846-4536-BA91-120E7C6FC04F}"/>
              </a:ext>
            </a:extLst>
          </p:cNvPr>
          <p:cNvSpPr>
            <a:spLocks xmlns:a="http://schemas.openxmlformats.org/drawingml/2006/main" noGrp="1"/>
          </p:cNvSpPr>
          <p:nvPr/>
        </p:nvSpPr>
        <p:spPr>
          <a:xfrm xmlns:a="http://schemas.openxmlformats.org/drawingml/2006/main">
            <a:off x="10301369" y="3383280"/>
            <a:ext cx="126579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4F5F0"/>
                </a:solidFill>
                <a:latin typeface="Calibri"/>
                <a:ea typeface="Calibri"/>
                <a:cs typeface="Calibri"/>
              </a:rPr>
              <a:t>Knowledge</a:t>
            </a:r>
          </a:p>
        </p:txBody>
      </p:sp>
      <p:sp>
        <p:nvSpPr>
          <p:cNvPr id="41" name="Text 38">
            <a:extLst xmlns:a="http://schemas.openxmlformats.org/drawingml/2006/main">
              <a:ext uri="{FF2B5EF4-FFF2-40B4-BE49-F238E27FC236}">
                <a16:creationId xmlns:a16="http://schemas.microsoft.com/office/drawing/2014/main" id="{7AE74758-1FB5-48E1-A9D3-047B67F5E060}"/>
              </a:ext>
            </a:extLst>
          </p:cNvPr>
          <p:cNvSpPr>
            <a:spLocks xmlns:a="http://schemas.openxmlformats.org/drawingml/2006/main" noGrp="1"/>
          </p:cNvSpPr>
          <p:nvPr/>
        </p:nvSpPr>
        <p:spPr>
          <a:xfrm xmlns:a="http://schemas.openxmlformats.org/drawingml/2006/main">
            <a:off x="10301369" y="3931920"/>
            <a:ext cx="1265791"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9FC2B4"/>
                </a:solidFill>
                <a:latin typeface="Calibri"/>
                <a:ea typeface="Calibri"/>
                <a:cs typeface="Calibri"/>
              </a:rPr>
              <a:t>Live-Demo</a:t>
            </a:r>
          </a:p>
          <a:p xmlns:a="http://schemas.openxmlformats.org/drawingml/2006/main">
            <a:pPr marL="0" indent="0" algn="ctr">
              <a:buNone/>
            </a:pPr>
            <a:r>
              <a:rPr sz="1050">
                <a:solidFill>
                  <a:srgbClr val="9FC2B4"/>
                </a:solidFill>
                <a:latin typeface="Calibri"/>
                <a:ea typeface="Calibri"/>
                <a:cs typeface="Calibri"/>
              </a:rPr>
              <a:t>der App</a:t>
            </a:r>
          </a:p>
        </p:txBody>
      </p:sp>
      <p:sp>
        <p:nvSpPr>
          <p:cNvPr id="42" name="Text 39">
            <a:extLst xmlns:a="http://schemas.openxmlformats.org/drawingml/2006/main">
              <a:ext uri="{FF2B5EF4-FFF2-40B4-BE49-F238E27FC236}">
                <a16:creationId xmlns:a16="http://schemas.microsoft.com/office/drawing/2014/main" id="{5FDD978C-8B17-4C44-9E5B-15A495B51B51}"/>
              </a:ext>
            </a:extLst>
          </p:cNvPr>
          <p:cNvSpPr>
            <a:spLocks xmlns:a="http://schemas.openxmlformats.org/drawingml/2006/main" noGrp="1"/>
          </p:cNvSpPr>
          <p:nvPr/>
        </p:nvSpPr>
        <p:spPr>
          <a:xfrm xmlns:a="http://schemas.openxmlformats.org/drawingml/2006/main">
            <a:off x="640080" y="5806440"/>
            <a:ext cx="10881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9FC2B4"/>
                </a:solidFill>
                <a:latin typeface="Calibri"/>
                <a:ea typeface="Calibri"/>
                <a:cs typeface="Calibri"/>
              </a:rPr>
              <a:t>Jede Phase ist bei WealthScope AI durch ein eigenes Jupyter-Notebook dokumentiert.</a:t>
            </a:r>
          </a:p>
        </p:txBody>
      </p:sp>
      <p:sp>
        <p:nvSpPr>
          <p:cNvPr id="43" name="Text 40">
            <a:extLst xmlns:a="http://schemas.openxmlformats.org/drawingml/2006/main">
              <a:ext uri="{FF2B5EF4-FFF2-40B4-BE49-F238E27FC236}">
                <a16:creationId xmlns:a16="http://schemas.microsoft.com/office/drawing/2014/main" id="{E905EC32-DC0E-4448-9A87-0F099D0393B6}"/>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9AA398"/>
                </a:solidFill>
                <a:latin typeface="Calibri"/>
                <a:ea typeface="Calibri"/>
                <a:cs typeface="Calibri"/>
              </a:rPr>
              <a:t>WealthScope AI</a:t>
            </a:r>
          </a:p>
        </p:txBody>
      </p:sp>
      <p:sp>
        <p:nvSpPr>
          <p:cNvPr id="44" name="Text 41">
            <a:extLst xmlns:a="http://schemas.openxmlformats.org/drawingml/2006/main">
              <a:ext uri="{FF2B5EF4-FFF2-40B4-BE49-F238E27FC236}">
                <a16:creationId xmlns:a16="http://schemas.microsoft.com/office/drawing/2014/main" id="{33036B6B-1C03-4631-882E-19C21E2411B6}"/>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9AA398"/>
                </a:solidFill>
                <a:latin typeface="Calibri"/>
                <a:ea typeface="Calibri"/>
                <a:cs typeface="Calibri"/>
              </a:rPr>
              <a:t>24</a:t>
            </a:r>
          </a:p>
        </p:txBody>
      </p:sp>
    </p:spTree>
    <p:extLst>
      <p:ext uri="{BB962C8B-B14F-4D97-AF65-F5344CB8AC3E}">
        <p14:creationId xmlns:p14="http://schemas.microsoft.com/office/powerpoint/2010/main" val="637755386"/>
      </p:ext>
    </p:extLst>
  </p:cSld>
</p:sld>
</file>

<file path=ppt/slides/slide25.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C3E1539-065F-4C62-A710-4DA973E2502B}"/>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9e2bbf5b30e044d2"/>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764EA9A4-0CF4-4114-9ED2-D170A3CB7087}"/>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BACKUP · BELEGFOLIE</a:t>
            </a:r>
          </a:p>
        </p:txBody>
      </p:sp>
      <p:sp>
        <p:nvSpPr>
          <p:cNvPr id="5" name="Text 2">
            <a:extLst xmlns:a="http://schemas.openxmlformats.org/drawingml/2006/main">
              <a:ext uri="{FF2B5EF4-FFF2-40B4-BE49-F238E27FC236}">
                <a16:creationId xmlns:a16="http://schemas.microsoft.com/office/drawing/2014/main" id="{7B0C502B-915A-4206-ACA9-2D06BA546E54}"/>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Konfusionsmatrix &amp; ROC-Kurve</a:t>
            </a:r>
          </a:p>
        </p:txBody>
      </p:sp>
      <p:sp>
        <p:nvSpPr>
          <p:cNvPr id="6" name="Shape 3">
            <a:extLst xmlns:a="http://schemas.openxmlformats.org/drawingml/2006/main">
              <a:ext uri="{FF2B5EF4-FFF2-40B4-BE49-F238E27FC236}">
                <a16:creationId xmlns:a16="http://schemas.microsoft.com/office/drawing/2014/main" id="{0434311A-2C48-4E49-B111-3F4B7F5E0D92}"/>
              </a:ext>
            </a:extLst>
          </p:cNvPr>
          <p:cNvSpPr>
            <a:spLocks xmlns:a="http://schemas.openxmlformats.org/drawingml/2006/main" noGrp="1"/>
          </p:cNvSpPr>
          <p:nvPr/>
        </p:nvSpPr>
        <p:spPr>
          <a:xfrm xmlns:a="http://schemas.openxmlformats.org/drawingml/2006/main">
            <a:off x="640080" y="1417320"/>
            <a:ext cx="3977640" cy="370332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8" name="Shape 4">
            <a:extLst xmlns:a="http://schemas.openxmlformats.org/drawingml/2006/main">
              <a:ext uri="{FF2B5EF4-FFF2-40B4-BE49-F238E27FC236}">
                <a16:creationId xmlns:a16="http://schemas.microsoft.com/office/drawing/2014/main" id="{5D102716-F9F0-4E73-8DE7-8885AEC44935}"/>
              </a:ext>
            </a:extLst>
          </p:cNvPr>
          <p:cNvSpPr>
            <a:spLocks xmlns:a="http://schemas.openxmlformats.org/drawingml/2006/main" noGrp="1"/>
          </p:cNvSpPr>
          <p:nvPr/>
        </p:nvSpPr>
        <p:spPr>
          <a:xfrm xmlns:a="http://schemas.openxmlformats.org/drawingml/2006/main">
            <a:off x="4800600" y="1417320"/>
            <a:ext cx="6720840" cy="370332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0" name="Shape 5">
            <a:extLst xmlns:a="http://schemas.openxmlformats.org/drawingml/2006/main">
              <a:ext uri="{FF2B5EF4-FFF2-40B4-BE49-F238E27FC236}">
                <a16:creationId xmlns:a16="http://schemas.microsoft.com/office/drawing/2014/main" id="{510C8A32-6BCF-4406-AB63-331D4832A311}"/>
              </a:ext>
            </a:extLst>
          </p:cNvPr>
          <p:cNvSpPr>
            <a:spLocks xmlns:a="http://schemas.openxmlformats.org/drawingml/2006/main" noGrp="1"/>
          </p:cNvSpPr>
          <p:nvPr/>
        </p:nvSpPr>
        <p:spPr>
          <a:xfrm xmlns:a="http://schemas.openxmlformats.org/drawingml/2006/main">
            <a:off x="640080" y="5303520"/>
            <a:ext cx="10881360" cy="1188720"/>
          </a:xfrm>
          <a:prstGeom xmlns:a="http://schemas.openxmlformats.org/drawingml/2006/main" prst="roundRect">
            <a:avLst>
              <a:gd name="adj" fmla="val 4615"/>
            </a:avLst>
          </a:prstGeom>
          <a:solidFill xmlns:a="http://schemas.openxmlformats.org/drawingml/2006/main">
            <a:srgbClr val="F3E7C9"/>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1" name="Text 6">
            <a:extLst xmlns:a="http://schemas.openxmlformats.org/drawingml/2006/main">
              <a:ext uri="{FF2B5EF4-FFF2-40B4-BE49-F238E27FC236}">
                <a16:creationId xmlns:a16="http://schemas.microsoft.com/office/drawing/2014/main" id="{E180616C-C9A8-4193-93AC-FF9B4DAEAE05}"/>
              </a:ext>
            </a:extLst>
          </p:cNvPr>
          <p:cNvSpPr>
            <a:spLocks xmlns:a="http://schemas.openxmlformats.org/drawingml/2006/main" noGrp="1"/>
          </p:cNvSpPr>
          <p:nvPr/>
        </p:nvSpPr>
        <p:spPr>
          <a:xfrm xmlns:a="http://schemas.openxmlformats.org/drawingml/2006/main">
            <a:off x="914400" y="5303520"/>
            <a:ext cx="103327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A97C1E"/>
                </a:solidFill>
                <a:latin typeface="Calibri"/>
                <a:ea typeface="Calibri"/>
                <a:cs typeface="Calibri"/>
              </a:rPr>
              <a:t>Im Test-Set sind 59,1 % der Beobachtungen bullish. Deshalb ist Accuracy allein irreführend: 51,9 % liegt unter der Majority-Baseline. ROC-AUC 0,519 und Balanced Accuracy 0,513 zeigen nur ein sehr schwaches Trennsignal.</a:t>
            </a:r>
          </a:p>
        </p:txBody>
      </p:sp>
      <p:sp>
        <p:nvSpPr>
          <p:cNvPr id="12" name="Text 7">
            <a:extLst xmlns:a="http://schemas.openxmlformats.org/drawingml/2006/main">
              <a:ext uri="{FF2B5EF4-FFF2-40B4-BE49-F238E27FC236}">
                <a16:creationId xmlns:a16="http://schemas.microsoft.com/office/drawing/2014/main" id="{8BF74722-5E70-40FF-9156-C86980B863A5}"/>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3" name="Text 8">
            <a:extLst xmlns:a="http://schemas.openxmlformats.org/drawingml/2006/main">
              <a:ext uri="{FF2B5EF4-FFF2-40B4-BE49-F238E27FC236}">
                <a16:creationId xmlns:a16="http://schemas.microsoft.com/office/drawing/2014/main" id="{39020686-78EE-4A5D-B197-7DD6DAEF96E9}"/>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25</a:t>
            </a:r>
          </a:p>
        </p:txBody>
      </p:sp>
      <p:pic>
        <p:nvPicPr>
          <p:cNvPr id="27" name="Picture 30"/>
          <p:cNvPicPr>
            <a:picLocks xmlns:a="http://schemas.openxmlformats.org/drawingml/2006/main" noChangeAspect="1"/>
          </p:cNvPicPr>
          <p:nvPr/>
        </p:nvPicPr>
        <p:blipFill>
          <a:blip xmlns:r="http://schemas.openxmlformats.org/officeDocument/2006/relationships" xmlns:a="http://schemas.openxmlformats.org/drawingml/2006/main" r:embed="Rf77d440df1554835"/>
          <a:stretch xmlns:a="http://schemas.openxmlformats.org/drawingml/2006/main">
            <a:fillRect l="0" t="0" r="0" b="0"/>
          </a:stretch>
        </p:blipFill>
        <p:spPr>
          <a:xfrm xmlns:a="http://schemas.openxmlformats.org/drawingml/2006/main">
            <a:off x="804672" y="1572768"/>
            <a:ext cx="3648456" cy="3383280"/>
          </a:xfrm>
          <a:prstGeom xmlns:a="http://schemas.openxmlformats.org/drawingml/2006/main" prst="rect">
            <a:avLst/>
          </a:prstGeom>
        </p:spPr>
      </p:pic>
      <p:pic>
        <p:nvPicPr>
          <p:cNvPr id="28" name="Grafik 29"/>
          <p:cNvPicPr>
            <a:picLocks xmlns:a="http://schemas.openxmlformats.org/drawingml/2006/main" noChangeAspect="1"/>
          </p:cNvPicPr>
          <p:nvPr/>
        </p:nvPicPr>
        <p:blipFill>
          <a:blip xmlns:r="http://schemas.openxmlformats.org/officeDocument/2006/relationships" xmlns:a="http://schemas.openxmlformats.org/drawingml/2006/main" r:embed="R9f6dcd3638ca40a4"/>
          <a:stretch xmlns:a="http://schemas.openxmlformats.org/drawingml/2006/main"/>
        </p:blipFill>
        <p:spPr>
          <a:xfrm xmlns:a="http://schemas.openxmlformats.org/drawingml/2006/main">
            <a:off x="4965192" y="1737360"/>
            <a:ext cx="6391656" cy="3063240"/>
          </a:xfrm>
          <a:prstGeom xmlns:a="http://schemas.openxmlformats.org/drawingml/2006/main" prst="rect">
            <a:avLst/>
          </a:prstGeom>
        </p:spPr>
      </p:pic>
    </p:spTree>
    <p:extLst>
      <p:ext uri="{BB962C8B-B14F-4D97-AF65-F5344CB8AC3E}">
        <p14:creationId xmlns:p14="http://schemas.microsoft.com/office/powerpoint/2010/main" val="1138124445"/>
      </p:ext>
    </p:extLst>
  </p:cSld>
</p:sld>
</file>

<file path=ppt/slides/slide26.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C529819-7BE1-49B7-8B36-C172890D9244}"/>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dd5155a4ef3e4378"/>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A066E11D-7DDB-4C85-83BC-633E2AFB0F20}"/>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BACKUP</a:t>
            </a:r>
          </a:p>
        </p:txBody>
      </p:sp>
      <p:sp>
        <p:nvSpPr>
          <p:cNvPr id="5" name="Text 2">
            <a:extLst xmlns:a="http://schemas.openxmlformats.org/drawingml/2006/main">
              <a:ext uri="{FF2B5EF4-FFF2-40B4-BE49-F238E27FC236}">
                <a16:creationId xmlns:a16="http://schemas.microsoft.com/office/drawing/2014/main" id="{5D915B26-4D09-42E3-8370-6557AA00B9C4}"/>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Die Lernkurve — Bias oder Varianz?</a:t>
            </a:r>
          </a:p>
        </p:txBody>
      </p:sp>
      <p:sp>
        <p:nvSpPr>
          <p:cNvPr id="6" name="Shape 3">
            <a:extLst xmlns:a="http://schemas.openxmlformats.org/drawingml/2006/main">
              <a:ext uri="{FF2B5EF4-FFF2-40B4-BE49-F238E27FC236}">
                <a16:creationId xmlns:a16="http://schemas.microsoft.com/office/drawing/2014/main" id="{71AFD5FA-48D1-44BF-ADFC-C0A00820B15A}"/>
              </a:ext>
            </a:extLst>
          </p:cNvPr>
          <p:cNvSpPr>
            <a:spLocks xmlns:a="http://schemas.openxmlformats.org/drawingml/2006/main" noGrp="1"/>
          </p:cNvSpPr>
          <p:nvPr/>
        </p:nvSpPr>
        <p:spPr>
          <a:xfrm xmlns:a="http://schemas.openxmlformats.org/drawingml/2006/main">
            <a:off x="640080" y="1417320"/>
            <a:ext cx="6949440" cy="4160520"/>
          </a:xfrm>
          <a:prstGeom xmlns:a="http://schemas.openxmlformats.org/drawingml/2006/main" prst="roundRect">
            <a:avLst>
              <a:gd name="adj" fmla="val 1319"/>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8" name="Shape 4">
            <a:extLst xmlns:a="http://schemas.openxmlformats.org/drawingml/2006/main">
              <a:ext uri="{FF2B5EF4-FFF2-40B4-BE49-F238E27FC236}">
                <a16:creationId xmlns:a16="http://schemas.microsoft.com/office/drawing/2014/main" id="{EAFF23F6-DA1F-406B-B7CA-B1C49F227E16}"/>
              </a:ext>
            </a:extLst>
          </p:cNvPr>
          <p:cNvSpPr>
            <a:spLocks xmlns:a="http://schemas.openxmlformats.org/drawingml/2006/main" noGrp="1"/>
          </p:cNvSpPr>
          <p:nvPr/>
        </p:nvSpPr>
        <p:spPr>
          <a:xfrm xmlns:a="http://schemas.openxmlformats.org/drawingml/2006/main">
            <a:off x="7818120" y="1417320"/>
            <a:ext cx="3730752" cy="4160520"/>
          </a:xfrm>
          <a:prstGeom xmlns:a="http://schemas.openxmlformats.org/drawingml/2006/main" prst="roundRect">
            <a:avLst>
              <a:gd name="adj" fmla="val 1471"/>
            </a:avLst>
          </a:prstGeom>
          <a:solidFill xmlns:a="http://schemas.openxmlformats.org/drawingml/2006/main">
            <a:srgbClr val="E4EBE7"/>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9" name="Text 5">
            <a:extLst xmlns:a="http://schemas.openxmlformats.org/drawingml/2006/main">
              <a:ext uri="{FF2B5EF4-FFF2-40B4-BE49-F238E27FC236}">
                <a16:creationId xmlns:a16="http://schemas.microsoft.com/office/drawing/2014/main" id="{6FD7EA84-6C65-4D07-8A13-168B32099970}"/>
              </a:ext>
            </a:extLst>
          </p:cNvPr>
          <p:cNvSpPr>
            <a:spLocks xmlns:a="http://schemas.openxmlformats.org/drawingml/2006/main" noGrp="1"/>
          </p:cNvSpPr>
          <p:nvPr/>
        </p:nvSpPr>
        <p:spPr>
          <a:xfrm xmlns:a="http://schemas.openxmlformats.org/drawingml/2006/main">
            <a:off x="8046720" y="1600200"/>
            <a:ext cx="3291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F5D53"/>
                </a:solidFill>
                <a:latin typeface="Cambria"/>
                <a:ea typeface="Cambria"/>
                <a:cs typeface="Cambria"/>
              </a:rPr>
              <a:t>Was zeigt das?</a:t>
            </a:r>
          </a:p>
        </p:txBody>
      </p:sp>
      <p:sp>
        <p:nvSpPr>
          <p:cNvPr id="10" name="Text 6">
            <a:extLst xmlns:a="http://schemas.openxmlformats.org/drawingml/2006/main">
              <a:ext uri="{FF2B5EF4-FFF2-40B4-BE49-F238E27FC236}">
                <a16:creationId xmlns:a16="http://schemas.microsoft.com/office/drawing/2014/main" id="{AE8C91B4-3019-489C-9C54-3299EC1DB23A}"/>
              </a:ext>
            </a:extLst>
          </p:cNvPr>
          <p:cNvSpPr>
            <a:spLocks xmlns:a="http://schemas.openxmlformats.org/drawingml/2006/main" noGrp="1"/>
          </p:cNvSpPr>
          <p:nvPr/>
        </p:nvSpPr>
        <p:spPr>
          <a:xfrm xmlns:a="http://schemas.openxmlformats.org/drawingml/2006/main">
            <a:off x="8046720" y="2011680"/>
            <a:ext cx="3291840" cy="3383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28600" indent="-228600">
              <a:spcAft>
                <a:spcPts val="1000"/>
              </a:spcAft>
              <a:buSzPct val="100000"/>
              <a:buChar char="▪"/>
            </a:pPr>
            <a:r>
              <a:rPr sz="1200">
                <a:solidFill>
                  <a:srgbClr val="171A17"/>
                </a:solidFill>
                <a:latin typeface="Calibri"/>
                <a:ea typeface="Calibri"/>
                <a:cs typeface="Calibri"/>
              </a:rPr>
              <a:t>Deutliche Lücke: Train 0,637 vs. Val 0,525 — Overfitting</a:t>
            </a:r>
          </a:p>
          <a:p xmlns:a="http://schemas.openxmlformats.org/drawingml/2006/main">
            <a:pPr marL="228600" indent="-228600">
              <a:spcAft>
                <a:spcPts val="1000"/>
              </a:spcAft>
              <a:buSzPct val="100000"/>
              <a:buChar char="▪"/>
            </a:pPr>
            <a:r>
              <a:rPr sz="1200">
                <a:solidFill>
                  <a:srgbClr val="171A17"/>
                </a:solidFill>
                <a:latin typeface="Calibri"/>
                <a:ea typeface="Calibri"/>
                <a:cs typeface="Calibri"/>
              </a:rPr>
              <a:t>Aber: Train fällt, Validierung bleibt flach bei ~0,51</a:t>
            </a:r>
          </a:p>
          <a:p xmlns:a="http://schemas.openxmlformats.org/drawingml/2006/main">
            <a:pPr marL="228600" indent="-228600">
              <a:spcAft>
                <a:spcPts val="1000"/>
              </a:spcAft>
              <a:buSzPct val="100000"/>
              <a:buChar char="▪"/>
            </a:pPr>
            <a:r>
              <a:rPr sz="1200">
                <a:solidFill>
                  <a:srgbClr val="171A17"/>
                </a:solidFill>
                <a:latin typeface="Calibri"/>
                <a:ea typeface="Calibri"/>
                <a:cs typeface="Calibri"/>
              </a:rPr>
              <a:t>Weder mehr Daten noch mehr Regularisierung heben den Test-AUC</a:t>
            </a:r>
          </a:p>
          <a:p xmlns:a="http://schemas.openxmlformats.org/drawingml/2006/main">
            <a:pPr marL="228600" indent="-228600">
              <a:spcAft>
                <a:spcPts val="1000"/>
              </a:spcAft>
              <a:buSzPct val="100000"/>
              <a:buChar char="▪"/>
            </a:pPr>
            <a:r>
              <a:rPr sz="1200">
                <a:solidFill>
                  <a:srgbClr val="171A17"/>
                </a:solidFill>
                <a:latin typeface="Calibri"/>
                <a:ea typeface="Calibri"/>
                <a:cs typeface="Calibri"/>
              </a:rPr>
              <a:t>Das Modell lernt Rauschen — konsistent mit der EMH</a:t>
            </a:r>
          </a:p>
        </p:txBody>
      </p:sp>
      <p:sp>
        <p:nvSpPr>
          <p:cNvPr id="11" name="Text 7">
            <a:extLst xmlns:a="http://schemas.openxmlformats.org/drawingml/2006/main">
              <a:ext uri="{FF2B5EF4-FFF2-40B4-BE49-F238E27FC236}">
                <a16:creationId xmlns:a16="http://schemas.microsoft.com/office/drawing/2014/main" id="{8812ACD3-C366-4834-8457-24ABF6C5CC44}"/>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2" name="Text 8">
            <a:extLst xmlns:a="http://schemas.openxmlformats.org/drawingml/2006/main">
              <a:ext uri="{FF2B5EF4-FFF2-40B4-BE49-F238E27FC236}">
                <a16:creationId xmlns:a16="http://schemas.microsoft.com/office/drawing/2014/main" id="{D4337686-86DC-4085-A3D2-A8EF4599C912}"/>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26</a:t>
            </a:r>
          </a:p>
        </p:txBody>
      </p:sp>
      <p:pic>
        <p:nvPicPr>
          <p:cNvPr id="25" name="Picture 25"/>
          <p:cNvPicPr>
            <a:picLocks xmlns:a="http://schemas.openxmlformats.org/drawingml/2006/main" noChangeAspect="1"/>
          </p:cNvPicPr>
          <p:nvPr/>
        </p:nvPicPr>
        <p:blipFill>
          <a:blip xmlns:r="http://schemas.openxmlformats.org/officeDocument/2006/relationships" xmlns:a="http://schemas.openxmlformats.org/drawingml/2006/main" r:embed="R25b1c13bae89479a"/>
          <a:stretch xmlns:a="http://schemas.openxmlformats.org/drawingml/2006/main">
            <a:fillRect l="0" t="0" r="0" b="0"/>
          </a:stretch>
        </p:blipFill>
        <p:spPr>
          <a:xfrm xmlns:a="http://schemas.openxmlformats.org/drawingml/2006/main">
            <a:off x="822960" y="1600200"/>
            <a:ext cx="6583680" cy="3794760"/>
          </a:xfrm>
          <a:prstGeom xmlns:a="http://schemas.openxmlformats.org/drawingml/2006/main" prst="rect">
            <a:avLst/>
          </a:prstGeom>
        </p:spPr>
      </p:pic>
    </p:spTree>
    <p:extLst>
      <p:ext uri="{BB962C8B-B14F-4D97-AF65-F5344CB8AC3E}">
        <p14:creationId xmlns:p14="http://schemas.microsoft.com/office/powerpoint/2010/main" val="1274070540"/>
      </p:ext>
    </p:extLst>
  </p:cSld>
</p:sld>
</file>

<file path=ppt/slides/slide27.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A587FD0-FB40-45DA-9297-8366A7F5DE2E}"/>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5742c3eafcff459e"/>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305D8D52-1CAB-43A6-B89D-943AC10A9FC5}"/>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ANHANG · BACKUP — NICHT VORLESEN</a:t>
            </a:r>
          </a:p>
        </p:txBody>
      </p:sp>
      <p:sp>
        <p:nvSpPr>
          <p:cNvPr id="5" name="Text 2">
            <a:extLst xmlns:a="http://schemas.openxmlformats.org/drawingml/2006/main">
              <a:ext uri="{FF2B5EF4-FFF2-40B4-BE49-F238E27FC236}">
                <a16:creationId xmlns:a16="http://schemas.microsoft.com/office/drawing/2014/main" id="{32F1E016-D859-419F-AAA5-03D7AFBC1465}"/>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Mögliche Prüferfragen</a:t>
            </a:r>
          </a:p>
        </p:txBody>
      </p:sp>
      <p:sp>
        <p:nvSpPr>
          <p:cNvPr id="6" name="Shape 3">
            <a:extLst xmlns:a="http://schemas.openxmlformats.org/drawingml/2006/main">
              <a:ext uri="{FF2B5EF4-FFF2-40B4-BE49-F238E27FC236}">
                <a16:creationId xmlns:a16="http://schemas.microsoft.com/office/drawing/2014/main" id="{C5C3D197-E726-435D-A2AA-FC8C845374DD}"/>
              </a:ext>
            </a:extLst>
          </p:cNvPr>
          <p:cNvSpPr>
            <a:spLocks xmlns:a="http://schemas.openxmlformats.org/drawingml/2006/main" noGrp="1"/>
          </p:cNvSpPr>
          <p:nvPr/>
        </p:nvSpPr>
        <p:spPr>
          <a:xfrm xmlns:a="http://schemas.openxmlformats.org/drawingml/2006/main">
            <a:off x="640080" y="1508760"/>
            <a:ext cx="5257800" cy="214884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85FB5963-A66F-47B4-BA4D-56793AB3A02A}"/>
              </a:ext>
            </a:extLst>
          </p:cNvPr>
          <p:cNvSpPr>
            <a:spLocks xmlns:a="http://schemas.openxmlformats.org/drawingml/2006/main" noGrp="1"/>
          </p:cNvSpPr>
          <p:nvPr/>
        </p:nvSpPr>
        <p:spPr>
          <a:xfrm xmlns:a="http://schemas.openxmlformats.org/drawingml/2006/main">
            <a:off x="868680" y="1691640"/>
            <a:ext cx="4800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Warum nur ROC-AUC 0,519?</a:t>
            </a:r>
          </a:p>
        </p:txBody>
      </p:sp>
      <p:sp>
        <p:nvSpPr>
          <p:cNvPr id="8" name="Text 5">
            <a:extLst xmlns:a="http://schemas.openxmlformats.org/drawingml/2006/main">
              <a:ext uri="{FF2B5EF4-FFF2-40B4-BE49-F238E27FC236}">
                <a16:creationId xmlns:a16="http://schemas.microsoft.com/office/drawing/2014/main" id="{93CA1BB6-5486-490C-8F05-331E2835FA4F}"/>
              </a:ext>
            </a:extLst>
          </p:cNvPr>
          <p:cNvSpPr>
            <a:spLocks xmlns:a="http://schemas.openxmlformats.org/drawingml/2006/main" noGrp="1"/>
          </p:cNvSpPr>
          <p:nvPr/>
        </p:nvSpPr>
        <p:spPr>
          <a:xfrm xmlns:a="http://schemas.openxmlformats.org/drawingml/2006/main">
            <a:off x="868680" y="2377440"/>
            <a:ext cx="480060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Der zeitlich unangetastete Test entfernt Zukunftswissen. Mit historischen Kursmerkmalen bleibt gemäß EMH nur ein sehr schwaches Signal — genau das zeigt AUC 0,519.</a:t>
            </a:r>
          </a:p>
        </p:txBody>
      </p:sp>
      <p:sp>
        <p:nvSpPr>
          <p:cNvPr id="9" name="Shape 6">
            <a:extLst xmlns:a="http://schemas.openxmlformats.org/drawingml/2006/main">
              <a:ext uri="{FF2B5EF4-FFF2-40B4-BE49-F238E27FC236}">
                <a16:creationId xmlns:a16="http://schemas.microsoft.com/office/drawing/2014/main" id="{5652798D-B4BA-4EDE-A426-28B2E50CD2F6}"/>
              </a:ext>
            </a:extLst>
          </p:cNvPr>
          <p:cNvSpPr>
            <a:spLocks xmlns:a="http://schemas.openxmlformats.org/drawingml/2006/main" noGrp="1"/>
          </p:cNvSpPr>
          <p:nvPr/>
        </p:nvSpPr>
        <p:spPr>
          <a:xfrm xmlns:a="http://schemas.openxmlformats.org/drawingml/2006/main">
            <a:off x="6263640" y="1508760"/>
            <a:ext cx="5257800" cy="214884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0" name="Text 7">
            <a:extLst xmlns:a="http://schemas.openxmlformats.org/drawingml/2006/main">
              <a:ext uri="{FF2B5EF4-FFF2-40B4-BE49-F238E27FC236}">
                <a16:creationId xmlns:a16="http://schemas.microsoft.com/office/drawing/2014/main" id="{C84292EC-C8B6-46AD-BFAE-9DAAEB141235}"/>
              </a:ext>
            </a:extLst>
          </p:cNvPr>
          <p:cNvSpPr>
            <a:spLocks xmlns:a="http://schemas.openxmlformats.org/drawingml/2006/main" noGrp="1"/>
          </p:cNvSpPr>
          <p:nvPr/>
        </p:nvSpPr>
        <p:spPr>
          <a:xfrm xmlns:a="http://schemas.openxmlformats.org/drawingml/2006/main">
            <a:off x="6492240" y="1691640"/>
            <a:ext cx="4800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Was ist Data Leakage und wie verhindert?</a:t>
            </a:r>
          </a:p>
        </p:txBody>
      </p:sp>
      <p:sp>
        <p:nvSpPr>
          <p:cNvPr id="11" name="Text 8">
            <a:extLst xmlns:a="http://schemas.openxmlformats.org/drawingml/2006/main">
              <a:ext uri="{FF2B5EF4-FFF2-40B4-BE49-F238E27FC236}">
                <a16:creationId xmlns:a16="http://schemas.microsoft.com/office/drawing/2014/main" id="{1EDEEAF4-750B-4064-B37B-973EAC559264}"/>
              </a:ext>
            </a:extLst>
          </p:cNvPr>
          <p:cNvSpPr>
            <a:spLocks xmlns:a="http://schemas.openxmlformats.org/drawingml/2006/main" noGrp="1"/>
          </p:cNvSpPr>
          <p:nvPr/>
        </p:nvSpPr>
        <p:spPr>
          <a:xfrm xmlns:a="http://schemas.openxmlformats.org/drawingml/2006/main">
            <a:off x="6492240" y="2377440"/>
            <a:ext cx="480060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Zeitordnung, 20 Handelstage Sperrzone und Pipeline: Imputer/Scaler werden ausschließlich im jeweiligen Trainingsfenster gefittet.</a:t>
            </a:r>
          </a:p>
        </p:txBody>
      </p:sp>
      <p:sp>
        <p:nvSpPr>
          <p:cNvPr id="12" name="Shape 9">
            <a:extLst xmlns:a="http://schemas.openxmlformats.org/drawingml/2006/main">
              <a:ext uri="{FF2B5EF4-FFF2-40B4-BE49-F238E27FC236}">
                <a16:creationId xmlns:a16="http://schemas.microsoft.com/office/drawing/2014/main" id="{7F2CE460-BB2C-4E61-AA25-C7B915068614}"/>
              </a:ext>
            </a:extLst>
          </p:cNvPr>
          <p:cNvSpPr>
            <a:spLocks xmlns:a="http://schemas.openxmlformats.org/drawingml/2006/main" noGrp="1"/>
          </p:cNvSpPr>
          <p:nvPr/>
        </p:nvSpPr>
        <p:spPr>
          <a:xfrm xmlns:a="http://schemas.openxmlformats.org/drawingml/2006/main">
            <a:off x="640080" y="3886200"/>
            <a:ext cx="5257800" cy="214884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E8EDD687-63F5-4E39-965E-E9B5A9EF249C}"/>
              </a:ext>
            </a:extLst>
          </p:cNvPr>
          <p:cNvSpPr>
            <a:spLocks xmlns:a="http://schemas.openxmlformats.org/drawingml/2006/main" noGrp="1"/>
          </p:cNvSpPr>
          <p:nvPr/>
        </p:nvSpPr>
        <p:spPr>
          <a:xfrm xmlns:a="http://schemas.openxmlformats.org/drawingml/2006/main">
            <a:off x="868680" y="4069080"/>
            <a:ext cx="4800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Warum binäre Klassifikation statt Regression?</a:t>
            </a:r>
          </a:p>
        </p:txBody>
      </p:sp>
      <p:sp>
        <p:nvSpPr>
          <p:cNvPr id="14" name="Text 11">
            <a:extLst xmlns:a="http://schemas.openxmlformats.org/drawingml/2006/main">
              <a:ext uri="{FF2B5EF4-FFF2-40B4-BE49-F238E27FC236}">
                <a16:creationId xmlns:a16="http://schemas.microsoft.com/office/drawing/2014/main" id="{EF8A23E4-D5E6-4AA7-812E-7A13516B6CD8}"/>
              </a:ext>
            </a:extLst>
          </p:cNvPr>
          <p:cNvSpPr>
            <a:spLocks xmlns:a="http://schemas.openxmlformats.org/drawingml/2006/main" noGrp="1"/>
          </p:cNvSpPr>
          <p:nvPr/>
        </p:nvSpPr>
        <p:spPr>
          <a:xfrm xmlns:a="http://schemas.openxmlformats.org/drawingml/2006/main">
            <a:off x="868680" y="4754880"/>
            <a:ext cx="480060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Richtungsvorhersage ist bei effizienten Märkten die realistischere, robustere Fragestellung.</a:t>
            </a:r>
          </a:p>
        </p:txBody>
      </p:sp>
      <p:sp>
        <p:nvSpPr>
          <p:cNvPr id="15" name="Shape 12">
            <a:extLst xmlns:a="http://schemas.openxmlformats.org/drawingml/2006/main">
              <a:ext uri="{FF2B5EF4-FFF2-40B4-BE49-F238E27FC236}">
                <a16:creationId xmlns:a16="http://schemas.microsoft.com/office/drawing/2014/main" id="{9327410E-68C5-41BB-8820-F8EFD159C4EB}"/>
              </a:ext>
            </a:extLst>
          </p:cNvPr>
          <p:cNvSpPr>
            <a:spLocks xmlns:a="http://schemas.openxmlformats.org/drawingml/2006/main" noGrp="1"/>
          </p:cNvSpPr>
          <p:nvPr/>
        </p:nvSpPr>
        <p:spPr>
          <a:xfrm xmlns:a="http://schemas.openxmlformats.org/drawingml/2006/main">
            <a:off x="6263640" y="3886200"/>
            <a:ext cx="5257800" cy="214884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58225CD4-BE7E-4CD5-89F2-D7FBE6149BA3}"/>
              </a:ext>
            </a:extLst>
          </p:cNvPr>
          <p:cNvSpPr>
            <a:spLocks xmlns:a="http://schemas.openxmlformats.org/drawingml/2006/main" noGrp="1"/>
          </p:cNvSpPr>
          <p:nvPr/>
        </p:nvSpPr>
        <p:spPr>
          <a:xfrm xmlns:a="http://schemas.openxmlformats.org/drawingml/2006/main">
            <a:off x="6492240" y="4069080"/>
            <a:ext cx="4800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Warum Random Forest statt neuronales Netz?</a:t>
            </a:r>
          </a:p>
        </p:txBody>
      </p:sp>
      <p:sp>
        <p:nvSpPr>
          <p:cNvPr id="17" name="Text 14">
            <a:extLst xmlns:a="http://schemas.openxmlformats.org/drawingml/2006/main">
              <a:ext uri="{FF2B5EF4-FFF2-40B4-BE49-F238E27FC236}">
                <a16:creationId xmlns:a16="http://schemas.microsoft.com/office/drawing/2014/main" id="{FB1254E6-A06A-4DFF-BBC6-D023920F6455}"/>
              </a:ext>
            </a:extLst>
          </p:cNvPr>
          <p:cNvSpPr>
            <a:spLocks xmlns:a="http://schemas.openxmlformats.org/drawingml/2006/main" noGrp="1"/>
          </p:cNvSpPr>
          <p:nvPr/>
        </p:nvSpPr>
        <p:spPr>
          <a:xfrm xmlns:a="http://schemas.openxmlformats.org/drawingml/2006/main">
            <a:off x="6492240" y="4754880"/>
            <a:ext cx="480060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Fünf Modelle wurden bewusst verglichen. Der Random Forest ergänzt Nichtlinearität und Erklärbarkeit; kein Modell erzeugt jedoch ein belastbares Signal.</a:t>
            </a:r>
          </a:p>
        </p:txBody>
      </p:sp>
      <p:sp>
        <p:nvSpPr>
          <p:cNvPr id="18" name="Text 15">
            <a:extLst xmlns:a="http://schemas.openxmlformats.org/drawingml/2006/main">
              <a:ext uri="{FF2B5EF4-FFF2-40B4-BE49-F238E27FC236}">
                <a16:creationId xmlns:a16="http://schemas.microsoft.com/office/drawing/2014/main" id="{3820FD1F-6067-437B-A8C7-BB75D5F1323F}"/>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9" name="Text 16">
            <a:extLst xmlns:a="http://schemas.openxmlformats.org/drawingml/2006/main">
              <a:ext uri="{FF2B5EF4-FFF2-40B4-BE49-F238E27FC236}">
                <a16:creationId xmlns:a16="http://schemas.microsoft.com/office/drawing/2014/main" id="{D57F3102-6939-4AA4-BA07-55C7F4EAF1EF}"/>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27</a:t>
            </a:r>
          </a:p>
        </p:txBody>
      </p:sp>
    </p:spTree>
    <p:extLst>
      <p:ext uri="{BB962C8B-B14F-4D97-AF65-F5344CB8AC3E}">
        <p14:creationId xmlns:p14="http://schemas.microsoft.com/office/powerpoint/2010/main" val="1377787745"/>
      </p:ext>
    </p:extLst>
  </p:cSld>
</p:sld>
</file>

<file path=ppt/slides/slide28.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09B728A-53DA-4049-B269-EF76ED72744E}"/>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ebe483b6ad094b4f"/>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003B0AA4-76C1-4848-BA29-95256D944CE6}"/>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BACKUP · MARKTANALYSE (1/2)</a:t>
            </a:r>
          </a:p>
        </p:txBody>
      </p:sp>
      <p:sp>
        <p:nvSpPr>
          <p:cNvPr id="5" name="Text 2">
            <a:extLst xmlns:a="http://schemas.openxmlformats.org/drawingml/2006/main">
              <a:ext uri="{FF2B5EF4-FFF2-40B4-BE49-F238E27FC236}">
                <a16:creationId xmlns:a16="http://schemas.microsoft.com/office/drawing/2014/main" id="{1C9322EF-508D-4A4A-A15A-DF532B8066E1}"/>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Kursverlauf &amp; gleitende Durchschnitte</a:t>
            </a:r>
          </a:p>
        </p:txBody>
      </p:sp>
      <p:sp>
        <p:nvSpPr>
          <p:cNvPr id="6" name="Shape 3">
            <a:extLst xmlns:a="http://schemas.openxmlformats.org/drawingml/2006/main">
              <a:ext uri="{FF2B5EF4-FFF2-40B4-BE49-F238E27FC236}">
                <a16:creationId xmlns:a16="http://schemas.microsoft.com/office/drawing/2014/main" id="{7AACECBF-1058-4EBD-AD57-67C6424C312F}"/>
              </a:ext>
            </a:extLst>
          </p:cNvPr>
          <p:cNvSpPr>
            <a:spLocks xmlns:a="http://schemas.openxmlformats.org/drawingml/2006/main" noGrp="1"/>
          </p:cNvSpPr>
          <p:nvPr/>
        </p:nvSpPr>
        <p:spPr>
          <a:xfrm xmlns:a="http://schemas.openxmlformats.org/drawingml/2006/main">
            <a:off x="640080" y="1463040"/>
            <a:ext cx="10908792" cy="4343400"/>
          </a:xfrm>
          <a:prstGeom xmlns:a="http://schemas.openxmlformats.org/drawingml/2006/main" prst="roundRect">
            <a:avLst>
              <a:gd name="adj" fmla="val 1263"/>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pic>
        <p:nvPicPr>
          <p:cNvPr id="18" name="Image 1"/>
          <p:cNvPicPr>
            <a:picLocks xmlns:a="http://schemas.openxmlformats.org/drawingml/2006/main" noChangeAspect="1"/>
          </p:cNvPicPr>
          <p:nvPr/>
        </p:nvPicPr>
        <p:blipFill>
          <a:blip xmlns:r="http://schemas.openxmlformats.org/officeDocument/2006/relationships" xmlns:a="http://schemas.openxmlformats.org/drawingml/2006/main" r:embed="R9824b54ae5b84f44"/>
          <a:srcRect xmlns:a="http://schemas.openxmlformats.org/drawingml/2006/main" l="0" t="0" r="0" b="0"/>
          <a:stretch xmlns:a="http://schemas.openxmlformats.org/drawingml/2006/main"/>
        </p:blipFill>
        <p:spPr>
          <a:xfrm xmlns:a="http://schemas.openxmlformats.org/drawingml/2006/main">
            <a:off x="914400" y="1691640"/>
            <a:ext cx="10360152" cy="3886200"/>
          </a:xfrm>
          <a:prstGeom xmlns:a="http://schemas.openxmlformats.org/drawingml/2006/main" prst="rect">
            <a:avLst/>
          </a:prstGeom>
        </p:spPr>
      </p:pic>
      <p:sp>
        <p:nvSpPr>
          <p:cNvPr id="8" name="Text 4">
            <a:extLst xmlns:a="http://schemas.openxmlformats.org/drawingml/2006/main">
              <a:ext uri="{FF2B5EF4-FFF2-40B4-BE49-F238E27FC236}">
                <a16:creationId xmlns:a16="http://schemas.microsoft.com/office/drawing/2014/main" id="{4DF9EA70-6E16-4A2E-9102-A1493D824EA6}"/>
              </a:ext>
            </a:extLst>
          </p:cNvPr>
          <p:cNvSpPr>
            <a:spLocks xmlns:a="http://schemas.openxmlformats.org/drawingml/2006/main" noGrp="1"/>
          </p:cNvSpPr>
          <p:nvPr/>
        </p:nvSpPr>
        <p:spPr>
          <a:xfrm xmlns:a="http://schemas.openxmlformats.org/drawingml/2006/main">
            <a:off x="640080" y="5989320"/>
            <a:ext cx="109087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B6259"/>
                </a:solidFill>
                <a:latin typeface="Calibri"/>
                <a:ea typeface="Calibri"/>
                <a:cs typeface="Calibri"/>
              </a:rPr>
              <a:t>SPY über 1 Jahr — Schlusskurs mit MA-20/50/200. Der Kurs liegt über allen drei Durchschnitten: ein intakter Aufwärtstrend, der den hohen Trend-Score speist.</a:t>
            </a:r>
          </a:p>
        </p:txBody>
      </p:sp>
      <p:sp>
        <p:nvSpPr>
          <p:cNvPr id="9" name="Text 5">
            <a:extLst xmlns:a="http://schemas.openxmlformats.org/drawingml/2006/main">
              <a:ext uri="{FF2B5EF4-FFF2-40B4-BE49-F238E27FC236}">
                <a16:creationId xmlns:a16="http://schemas.microsoft.com/office/drawing/2014/main" id="{B9B1C810-C108-47A1-976D-A5915078372D}"/>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0" name="Text 6">
            <a:extLst xmlns:a="http://schemas.openxmlformats.org/drawingml/2006/main">
              <a:ext uri="{FF2B5EF4-FFF2-40B4-BE49-F238E27FC236}">
                <a16:creationId xmlns:a16="http://schemas.microsoft.com/office/drawing/2014/main" id="{6F3D0751-D78D-4A33-8967-5D15319630CE}"/>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28</a:t>
            </a:r>
          </a:p>
        </p:txBody>
      </p:sp>
    </p:spTree>
    <p:extLst>
      <p:ext uri="{BB962C8B-B14F-4D97-AF65-F5344CB8AC3E}">
        <p14:creationId xmlns:p14="http://schemas.microsoft.com/office/powerpoint/2010/main" val="2013285359"/>
      </p:ext>
    </p:extLst>
  </p:cSld>
</p:sld>
</file>

<file path=ppt/slides/slide29.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DB55693-A5B3-4601-8EA4-B77DAB3E7AE5}"/>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d9b11999f4c64c11"/>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80143323-EC4F-4299-9170-531A396C2992}"/>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BACKUP · MARKTANALYSE (2/2)</a:t>
            </a:r>
          </a:p>
        </p:txBody>
      </p:sp>
      <p:sp>
        <p:nvSpPr>
          <p:cNvPr id="5" name="Text 2">
            <a:extLst xmlns:a="http://schemas.openxmlformats.org/drawingml/2006/main">
              <a:ext uri="{FF2B5EF4-FFF2-40B4-BE49-F238E27FC236}">
                <a16:creationId xmlns:a16="http://schemas.microsoft.com/office/drawing/2014/main" id="{E5CBD860-5EF7-40D8-B16D-91346405F291}"/>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Candlestick &amp; Drawdown</a:t>
            </a:r>
          </a:p>
        </p:txBody>
      </p:sp>
      <p:sp>
        <p:nvSpPr>
          <p:cNvPr id="6" name="Shape 3">
            <a:extLst xmlns:a="http://schemas.openxmlformats.org/drawingml/2006/main">
              <a:ext uri="{FF2B5EF4-FFF2-40B4-BE49-F238E27FC236}">
                <a16:creationId xmlns:a16="http://schemas.microsoft.com/office/drawing/2014/main" id="{42C0805B-8EB8-48C0-B0A7-9613A662B116}"/>
              </a:ext>
            </a:extLst>
          </p:cNvPr>
          <p:cNvSpPr>
            <a:spLocks xmlns:a="http://schemas.openxmlformats.org/drawingml/2006/main" noGrp="1"/>
          </p:cNvSpPr>
          <p:nvPr/>
        </p:nvSpPr>
        <p:spPr>
          <a:xfrm xmlns:a="http://schemas.openxmlformats.org/drawingml/2006/main">
            <a:off x="640080" y="1463040"/>
            <a:ext cx="5440680" cy="4343400"/>
          </a:xfrm>
          <a:prstGeom xmlns:a="http://schemas.openxmlformats.org/drawingml/2006/main" prst="roundRect">
            <a:avLst>
              <a:gd name="adj" fmla="val 1263"/>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7" name="Text 4">
            <a:extLst xmlns:a="http://schemas.openxmlformats.org/drawingml/2006/main">
              <a:ext uri="{FF2B5EF4-FFF2-40B4-BE49-F238E27FC236}">
                <a16:creationId xmlns:a16="http://schemas.microsoft.com/office/drawing/2014/main" id="{F0302B53-66D1-4FFE-BD3D-1A17BB55EF10}"/>
              </a:ext>
            </a:extLst>
          </p:cNvPr>
          <p:cNvSpPr>
            <a:spLocks xmlns:a="http://schemas.openxmlformats.org/drawingml/2006/main" noGrp="1"/>
          </p:cNvSpPr>
          <p:nvPr/>
        </p:nvSpPr>
        <p:spPr>
          <a:xfrm xmlns:a="http://schemas.openxmlformats.org/drawingml/2006/main">
            <a:off x="868680" y="1600200"/>
            <a:ext cx="49834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F5D53"/>
                </a:solidFill>
                <a:latin typeface="Cambria"/>
                <a:ea typeface="Cambria"/>
                <a:cs typeface="Cambria"/>
              </a:rPr>
              <a:t>Candlestick (OHLC)</a:t>
            </a:r>
          </a:p>
        </p:txBody>
      </p:sp>
      <p:sp>
        <p:nvSpPr>
          <p:cNvPr id="9" name="Shape 5">
            <a:extLst xmlns:a="http://schemas.openxmlformats.org/drawingml/2006/main">
              <a:ext uri="{FF2B5EF4-FFF2-40B4-BE49-F238E27FC236}">
                <a16:creationId xmlns:a16="http://schemas.microsoft.com/office/drawing/2014/main" id="{AE915D49-DD65-4EA3-A076-0384F2DB9FBC}"/>
              </a:ext>
            </a:extLst>
          </p:cNvPr>
          <p:cNvSpPr>
            <a:spLocks xmlns:a="http://schemas.openxmlformats.org/drawingml/2006/main" noGrp="1"/>
          </p:cNvSpPr>
          <p:nvPr/>
        </p:nvSpPr>
        <p:spPr>
          <a:xfrm xmlns:a="http://schemas.openxmlformats.org/drawingml/2006/main">
            <a:off x="6263640" y="1463040"/>
            <a:ext cx="5285232" cy="4343400"/>
          </a:xfrm>
          <a:prstGeom xmlns:a="http://schemas.openxmlformats.org/drawingml/2006/main" prst="roundRect">
            <a:avLst>
              <a:gd name="adj" fmla="val 1263"/>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0" name="Text 6">
            <a:extLst xmlns:a="http://schemas.openxmlformats.org/drawingml/2006/main">
              <a:ext uri="{FF2B5EF4-FFF2-40B4-BE49-F238E27FC236}">
                <a16:creationId xmlns:a16="http://schemas.microsoft.com/office/drawing/2014/main" id="{A1651DF3-0F99-4A8A-B669-D278497C0B30}"/>
              </a:ext>
            </a:extLst>
          </p:cNvPr>
          <p:cNvSpPr>
            <a:spLocks xmlns:a="http://schemas.openxmlformats.org/drawingml/2006/main" noGrp="1"/>
          </p:cNvSpPr>
          <p:nvPr/>
        </p:nvSpPr>
        <p:spPr>
          <a:xfrm xmlns:a="http://schemas.openxmlformats.org/drawingml/2006/main">
            <a:off x="6492240" y="1600200"/>
            <a:ext cx="48280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F5D53"/>
                </a:solidFill>
                <a:latin typeface="Cambria"/>
                <a:ea typeface="Cambria"/>
                <a:cs typeface="Cambria"/>
              </a:rPr>
              <a:t>Drawdown vom Allzeithoch</a:t>
            </a:r>
          </a:p>
        </p:txBody>
      </p:sp>
      <p:sp>
        <p:nvSpPr>
          <p:cNvPr id="12" name="Text 7">
            <a:extLst xmlns:a="http://schemas.openxmlformats.org/drawingml/2006/main">
              <a:ext uri="{FF2B5EF4-FFF2-40B4-BE49-F238E27FC236}">
                <a16:creationId xmlns:a16="http://schemas.microsoft.com/office/drawing/2014/main" id="{76CD63AF-AAE6-4A84-80BD-4DB32B740D11}"/>
              </a:ext>
            </a:extLst>
          </p:cNvPr>
          <p:cNvSpPr>
            <a:spLocks xmlns:a="http://schemas.openxmlformats.org/drawingml/2006/main" noGrp="1"/>
          </p:cNvSpPr>
          <p:nvPr/>
        </p:nvSpPr>
        <p:spPr>
          <a:xfrm xmlns:a="http://schemas.openxmlformats.org/drawingml/2006/main">
            <a:off x="640080" y="5989320"/>
            <a:ext cx="109087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B6259"/>
                </a:solidFill>
                <a:latin typeface="Calibri"/>
                <a:ea typeface="Calibri"/>
                <a:cs typeface="Calibri"/>
              </a:rPr>
              <a:t>Candlesticks zeigen die Tagesspannen; der Drawdown-Chart misst den Abstand zum letzten Hoch — Grundlage des Risiko-Scores.</a:t>
            </a:r>
          </a:p>
        </p:txBody>
      </p:sp>
      <p:sp>
        <p:nvSpPr>
          <p:cNvPr id="13" name="Text 8">
            <a:extLst xmlns:a="http://schemas.openxmlformats.org/drawingml/2006/main">
              <a:ext uri="{FF2B5EF4-FFF2-40B4-BE49-F238E27FC236}">
                <a16:creationId xmlns:a16="http://schemas.microsoft.com/office/drawing/2014/main" id="{3AB98062-344B-4870-BF63-A1800D93A3D2}"/>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4" name="Text 9">
            <a:extLst xmlns:a="http://schemas.openxmlformats.org/drawingml/2006/main">
              <a:ext uri="{FF2B5EF4-FFF2-40B4-BE49-F238E27FC236}">
                <a16:creationId xmlns:a16="http://schemas.microsoft.com/office/drawing/2014/main" id="{EDD30F57-BD74-42E7-A31A-87B363A65B5E}"/>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29</a:t>
            </a:r>
          </a:p>
        </p:txBody>
      </p:sp>
      <p:pic>
        <p:nvPicPr>
          <p:cNvPr id="29" name="Grafik 30"/>
          <p:cNvPicPr>
            <a:picLocks xmlns:a="http://schemas.openxmlformats.org/drawingml/2006/main" noChangeAspect="1"/>
          </p:cNvPicPr>
          <p:nvPr/>
        </p:nvPicPr>
        <p:blipFill>
          <a:blip xmlns:r="http://schemas.openxmlformats.org/officeDocument/2006/relationships" xmlns:a="http://schemas.openxmlformats.org/drawingml/2006/main" r:embed="Re399cb9ed1034065"/>
          <a:stretch xmlns:a="http://schemas.openxmlformats.org/drawingml/2006/main"/>
        </p:blipFill>
        <p:spPr>
          <a:xfrm xmlns:a="http://schemas.openxmlformats.org/drawingml/2006/main">
            <a:off x="804672" y="2011680"/>
            <a:ext cx="5111496" cy="3611880"/>
          </a:xfrm>
          <a:prstGeom xmlns:a="http://schemas.openxmlformats.org/drawingml/2006/main" prst="rect">
            <a:avLst/>
          </a:prstGeom>
        </p:spPr>
      </p:pic>
      <p:pic>
        <p:nvPicPr>
          <p:cNvPr id="30" name="Grafik 31"/>
          <p:cNvPicPr>
            <a:picLocks xmlns:a="http://schemas.openxmlformats.org/drawingml/2006/main" noChangeAspect="1"/>
          </p:cNvPicPr>
          <p:nvPr/>
        </p:nvPicPr>
        <p:blipFill>
          <a:blip xmlns:r="http://schemas.openxmlformats.org/officeDocument/2006/relationships" xmlns:a="http://schemas.openxmlformats.org/drawingml/2006/main" r:embed="Rc40323d3ae95486d"/>
          <a:stretch xmlns:a="http://schemas.openxmlformats.org/drawingml/2006/main"/>
        </p:blipFill>
        <p:spPr>
          <a:xfrm xmlns:a="http://schemas.openxmlformats.org/drawingml/2006/main">
            <a:off x="6428232" y="2011680"/>
            <a:ext cx="4956048" cy="3611880"/>
          </a:xfrm>
          <a:prstGeom xmlns:a="http://schemas.openxmlformats.org/drawingml/2006/main" prst="rect">
            <a:avLst/>
          </a:prstGeom>
        </p:spPr>
      </p:pic>
    </p:spTree>
    <p:extLst>
      <p:ext uri="{BB962C8B-B14F-4D97-AF65-F5344CB8AC3E}">
        <p14:creationId xmlns:p14="http://schemas.microsoft.com/office/powerpoint/2010/main" val="796656349"/>
      </p:ext>
    </p:extLst>
  </p:cSld>
</p:sld>
</file>

<file path=ppt/slides/slide30.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92F8049-F17F-45E0-86C9-A958BAC9AF98}"/>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ee306d6585a14f37"/>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83997BDE-BBF0-4A43-B272-AEAC3AFDFF67}"/>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BACKUP · DEMO (1/2)</a:t>
            </a:r>
          </a:p>
        </p:txBody>
      </p:sp>
      <p:sp>
        <p:nvSpPr>
          <p:cNvPr id="5" name="Text 2">
            <a:extLst xmlns:a="http://schemas.openxmlformats.org/drawingml/2006/main">
              <a:ext uri="{FF2B5EF4-FFF2-40B4-BE49-F238E27FC236}">
                <a16:creationId xmlns:a16="http://schemas.microsoft.com/office/drawing/2014/main" id="{D592C5F6-673E-4833-AB7B-AA3E23DE515E}"/>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Kapital-Kompass</a:t>
            </a:r>
          </a:p>
        </p:txBody>
      </p:sp>
      <p:sp>
        <p:nvSpPr>
          <p:cNvPr id="6" name="Shape 3">
            <a:extLst xmlns:a="http://schemas.openxmlformats.org/drawingml/2006/main">
              <a:ext uri="{FF2B5EF4-FFF2-40B4-BE49-F238E27FC236}">
                <a16:creationId xmlns:a16="http://schemas.microsoft.com/office/drawing/2014/main" id="{01A5B663-9C96-44DE-9593-EE4C8110C49C}"/>
              </a:ext>
            </a:extLst>
          </p:cNvPr>
          <p:cNvSpPr>
            <a:spLocks xmlns:a="http://schemas.openxmlformats.org/drawingml/2006/main" noGrp="1"/>
          </p:cNvSpPr>
          <p:nvPr/>
        </p:nvSpPr>
        <p:spPr>
          <a:xfrm xmlns:a="http://schemas.openxmlformats.org/drawingml/2006/main">
            <a:off x="1417320" y="1463040"/>
            <a:ext cx="9354312" cy="4343400"/>
          </a:xfrm>
          <a:prstGeom xmlns:a="http://schemas.openxmlformats.org/drawingml/2006/main" prst="roundRect">
            <a:avLst>
              <a:gd name="adj" fmla="val 1263"/>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pic>
        <p:nvPicPr>
          <p:cNvPr id="18" name="Image 1"/>
          <p:cNvPicPr>
            <a:picLocks xmlns:a="http://schemas.openxmlformats.org/drawingml/2006/main" noChangeAspect="1"/>
          </p:cNvPicPr>
          <p:nvPr/>
        </p:nvPicPr>
        <p:blipFill>
          <a:blip xmlns:r="http://schemas.openxmlformats.org/officeDocument/2006/relationships" xmlns:a="http://schemas.openxmlformats.org/drawingml/2006/main" r:embed="Rc1aefab12a784c28"/>
          <a:srcRect xmlns:a="http://schemas.openxmlformats.org/drawingml/2006/main" l="0" t="0" r="0" b="0"/>
          <a:stretch xmlns:a="http://schemas.openxmlformats.org/drawingml/2006/main"/>
        </p:blipFill>
        <p:spPr>
          <a:xfrm xmlns:a="http://schemas.openxmlformats.org/drawingml/2006/main">
            <a:off x="1600200" y="1645920"/>
            <a:ext cx="8988552" cy="3977640"/>
          </a:xfrm>
          <a:prstGeom xmlns:a="http://schemas.openxmlformats.org/drawingml/2006/main" prst="rect">
            <a:avLst/>
          </a:prstGeom>
        </p:spPr>
      </p:pic>
      <p:sp>
        <p:nvSpPr>
          <p:cNvPr id="8" name="Text 4">
            <a:extLst xmlns:a="http://schemas.openxmlformats.org/drawingml/2006/main">
              <a:ext uri="{FF2B5EF4-FFF2-40B4-BE49-F238E27FC236}">
                <a16:creationId xmlns:a16="http://schemas.microsoft.com/office/drawing/2014/main" id="{FDDF4124-4D5E-4EFB-85E7-F127B445B789}"/>
              </a:ext>
            </a:extLst>
          </p:cNvPr>
          <p:cNvSpPr>
            <a:spLocks xmlns:a="http://schemas.openxmlformats.org/drawingml/2006/main" noGrp="1"/>
          </p:cNvSpPr>
          <p:nvPr/>
        </p:nvSpPr>
        <p:spPr>
          <a:xfrm xmlns:a="http://schemas.openxmlformats.org/drawingml/2006/main">
            <a:off x="640080" y="5989320"/>
            <a:ext cx="109087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B6259"/>
                </a:solidFill>
                <a:latin typeface="Calibri"/>
                <a:ea typeface="Calibri"/>
                <a:cs typeface="Calibri"/>
              </a:rPr>
              <a:t>Aus Kapital, Risiko-Toleranz und Stop-Loss-Distanz berechnet die App live Risikobetrag und maximale Positionsgröße — passend zur Volatilitätsklasse der Aktie.</a:t>
            </a:r>
          </a:p>
        </p:txBody>
      </p:sp>
      <p:sp>
        <p:nvSpPr>
          <p:cNvPr id="9" name="Text 5">
            <a:extLst xmlns:a="http://schemas.openxmlformats.org/drawingml/2006/main">
              <a:ext uri="{FF2B5EF4-FFF2-40B4-BE49-F238E27FC236}">
                <a16:creationId xmlns:a16="http://schemas.microsoft.com/office/drawing/2014/main" id="{33192543-2E14-426B-B36B-B3EB424CFB41}"/>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0" name="Text 6">
            <a:extLst xmlns:a="http://schemas.openxmlformats.org/drawingml/2006/main">
              <a:ext uri="{FF2B5EF4-FFF2-40B4-BE49-F238E27FC236}">
                <a16:creationId xmlns:a16="http://schemas.microsoft.com/office/drawing/2014/main" id="{AF435F20-B804-4FED-A10E-501934BEE732}"/>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30</a:t>
            </a:r>
          </a:p>
        </p:txBody>
      </p:sp>
    </p:spTree>
    <p:extLst>
      <p:ext uri="{BB962C8B-B14F-4D97-AF65-F5344CB8AC3E}">
        <p14:creationId xmlns:p14="http://schemas.microsoft.com/office/powerpoint/2010/main" val="1658675980"/>
      </p:ext>
    </p:extLst>
  </p:cSld>
</p:sld>
</file>

<file path=ppt/slides/slide31.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D08F13E-32C5-46D4-A431-4C6FEA732826}"/>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8ef5b9552db74e12"/>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15898D62-15A1-43C0-A7C9-8E16B611AB5E}"/>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BACKUP · LIVE-DEMO (2/2)</a:t>
            </a:r>
          </a:p>
        </p:txBody>
      </p:sp>
      <p:sp>
        <p:nvSpPr>
          <p:cNvPr id="5" name="Text 2">
            <a:extLst xmlns:a="http://schemas.openxmlformats.org/drawingml/2006/main">
              <a:ext uri="{FF2B5EF4-FFF2-40B4-BE49-F238E27FC236}">
                <a16:creationId xmlns:a16="http://schemas.microsoft.com/office/drawing/2014/main" id="{EC31A3C4-6B60-4108-8657-B30E82C5AB92}"/>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Portfolio-Simulator</a:t>
            </a:r>
          </a:p>
        </p:txBody>
      </p:sp>
      <p:sp>
        <p:nvSpPr>
          <p:cNvPr id="6" name="Shape 3">
            <a:extLst xmlns:a="http://schemas.openxmlformats.org/drawingml/2006/main">
              <a:ext uri="{FF2B5EF4-FFF2-40B4-BE49-F238E27FC236}">
                <a16:creationId xmlns:a16="http://schemas.microsoft.com/office/drawing/2014/main" id="{5922443F-4428-4E26-A0E0-139703307951}"/>
              </a:ext>
            </a:extLst>
          </p:cNvPr>
          <p:cNvSpPr>
            <a:spLocks xmlns:a="http://schemas.openxmlformats.org/drawingml/2006/main" noGrp="1"/>
          </p:cNvSpPr>
          <p:nvPr/>
        </p:nvSpPr>
        <p:spPr>
          <a:xfrm xmlns:a="http://schemas.openxmlformats.org/drawingml/2006/main">
            <a:off x="1417320" y="1463040"/>
            <a:ext cx="9354312" cy="4343400"/>
          </a:xfrm>
          <a:prstGeom xmlns:a="http://schemas.openxmlformats.org/drawingml/2006/main" prst="roundRect">
            <a:avLst>
              <a:gd name="adj" fmla="val 1263"/>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pic>
        <p:nvPicPr>
          <p:cNvPr id="18" name="Image 1"/>
          <p:cNvPicPr>
            <a:picLocks xmlns:a="http://schemas.openxmlformats.org/drawingml/2006/main" noChangeAspect="1"/>
          </p:cNvPicPr>
          <p:nvPr/>
        </p:nvPicPr>
        <p:blipFill>
          <a:blip xmlns:r="http://schemas.openxmlformats.org/officeDocument/2006/relationships" xmlns:a="http://schemas.openxmlformats.org/drawingml/2006/main" r:embed="Rc4357aaee0934f43"/>
          <a:srcRect xmlns:a="http://schemas.openxmlformats.org/drawingml/2006/main" l="0" t="0" r="0" b="0"/>
          <a:stretch xmlns:a="http://schemas.openxmlformats.org/drawingml/2006/main"/>
        </p:blipFill>
        <p:spPr>
          <a:xfrm xmlns:a="http://schemas.openxmlformats.org/drawingml/2006/main">
            <a:off x="1600200" y="1645920"/>
            <a:ext cx="8988552" cy="3977640"/>
          </a:xfrm>
          <a:prstGeom xmlns:a="http://schemas.openxmlformats.org/drawingml/2006/main" prst="rect">
            <a:avLst/>
          </a:prstGeom>
        </p:spPr>
      </p:pic>
      <p:sp>
        <p:nvSpPr>
          <p:cNvPr id="8" name="Text 4">
            <a:extLst xmlns:a="http://schemas.openxmlformats.org/drawingml/2006/main">
              <a:ext uri="{FF2B5EF4-FFF2-40B4-BE49-F238E27FC236}">
                <a16:creationId xmlns:a16="http://schemas.microsoft.com/office/drawing/2014/main" id="{3EEB41A6-2EF2-4D22-8B2E-51ACD8A537A5}"/>
              </a:ext>
            </a:extLst>
          </p:cNvPr>
          <p:cNvSpPr>
            <a:spLocks xmlns:a="http://schemas.openxmlformats.org/drawingml/2006/main" noGrp="1"/>
          </p:cNvSpPr>
          <p:nvPr/>
        </p:nvSpPr>
        <p:spPr>
          <a:xfrm xmlns:a="http://schemas.openxmlformats.org/drawingml/2006/main">
            <a:off x="640080" y="5989320"/>
            <a:ext cx="109087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B6259"/>
                </a:solidFill>
                <a:latin typeface="Calibri"/>
                <a:ea typeface="Calibri"/>
                <a:cs typeface="Calibri"/>
              </a:rPr>
              <a:t>Kapital wird über mehrere Titel verteilt; die Allokation ist live editierbar. Tortendiagramm und Herfindahl-Index zeigen sofort die Konzentration.</a:t>
            </a:r>
          </a:p>
        </p:txBody>
      </p:sp>
      <p:sp>
        <p:nvSpPr>
          <p:cNvPr id="9" name="Text 5">
            <a:extLst xmlns:a="http://schemas.openxmlformats.org/drawingml/2006/main">
              <a:ext uri="{FF2B5EF4-FFF2-40B4-BE49-F238E27FC236}">
                <a16:creationId xmlns:a16="http://schemas.microsoft.com/office/drawing/2014/main" id="{9B083E29-EDC4-4DB9-9641-EC7230252FA3}"/>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10" name="Text 6">
            <a:extLst xmlns:a="http://schemas.openxmlformats.org/drawingml/2006/main">
              <a:ext uri="{FF2B5EF4-FFF2-40B4-BE49-F238E27FC236}">
                <a16:creationId xmlns:a16="http://schemas.microsoft.com/office/drawing/2014/main" id="{C77CFFCA-7AB6-4682-8366-138359817592}"/>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31</a:t>
            </a:r>
          </a:p>
        </p:txBody>
      </p:sp>
    </p:spTree>
    <p:extLst>
      <p:ext uri="{BB962C8B-B14F-4D97-AF65-F5344CB8AC3E}">
        <p14:creationId xmlns:p14="http://schemas.microsoft.com/office/powerpoint/2010/main" val="177365000"/>
      </p:ext>
    </p:extLst>
  </p:cSld>
</p:sld>
</file>

<file path=ppt/slides/slide32.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9BAD68E-14F1-4144-97B8-DC9763AB71E2}"/>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2b0d083b2cf74595"/>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98CBCA93-C6CB-40D7-9D27-94B8B4FABC63}"/>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BACKUP · NACHWEISLOGIK</a:t>
            </a:r>
          </a:p>
        </p:txBody>
      </p:sp>
      <p:sp>
        <p:nvSpPr>
          <p:cNvPr id="5" name="Text 2">
            <a:extLst xmlns:a="http://schemas.openxmlformats.org/drawingml/2006/main">
              <a:ext uri="{FF2B5EF4-FFF2-40B4-BE49-F238E27FC236}">
                <a16:creationId xmlns:a16="http://schemas.microsoft.com/office/drawing/2014/main" id="{F9030419-8276-4017-8097-4FFA0685AA2F}"/>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Fünf Schritte machen Maßnahmen überprüfbar</a:t>
            </a:r>
          </a:p>
        </p:txBody>
      </p:sp>
      <p:sp>
        <p:nvSpPr>
          <p:cNvPr id="6" name="Shape 3">
            <a:extLst xmlns:a="http://schemas.openxmlformats.org/drawingml/2006/main">
              <a:ext uri="{FF2B5EF4-FFF2-40B4-BE49-F238E27FC236}">
                <a16:creationId xmlns:a16="http://schemas.microsoft.com/office/drawing/2014/main" id="{92E2FDE7-08F2-4A04-8502-A97793573BAF}"/>
              </a:ext>
            </a:extLst>
          </p:cNvPr>
          <p:cNvSpPr>
            <a:spLocks xmlns:a="http://schemas.openxmlformats.org/drawingml/2006/main" noGrp="1"/>
          </p:cNvSpPr>
          <p:nvPr/>
        </p:nvSpPr>
        <p:spPr>
          <a:xfrm xmlns:a="http://schemas.openxmlformats.org/drawingml/2006/main">
            <a:off x="548640" y="1600200"/>
            <a:ext cx="2084832" cy="324612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7" name="Shape 4">
            <a:extLst xmlns:a="http://schemas.openxmlformats.org/drawingml/2006/main">
              <a:ext uri="{FF2B5EF4-FFF2-40B4-BE49-F238E27FC236}">
                <a16:creationId xmlns:a16="http://schemas.microsoft.com/office/drawing/2014/main" id="{CC8051C1-BDB4-4524-A521-996F1B1BAA56}"/>
              </a:ext>
            </a:extLst>
          </p:cNvPr>
          <p:cNvSpPr>
            <a:spLocks xmlns:a="http://schemas.openxmlformats.org/drawingml/2006/main" noGrp="1"/>
          </p:cNvSpPr>
          <p:nvPr/>
        </p:nvSpPr>
        <p:spPr>
          <a:xfrm xmlns:a="http://schemas.openxmlformats.org/drawingml/2006/main">
            <a:off x="1289304" y="1874520"/>
            <a:ext cx="603504" cy="603504"/>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47" name="Image 1"/>
          <p:cNvPicPr>
            <a:picLocks xmlns:a="http://schemas.openxmlformats.org/drawingml/2006/main" noChangeAspect="1"/>
          </p:cNvPicPr>
          <p:nvPr/>
        </p:nvPicPr>
        <p:blipFill>
          <a:blip xmlns:r="http://schemas.openxmlformats.org/officeDocument/2006/relationships" xmlns:a="http://schemas.openxmlformats.org/drawingml/2006/main" r:embed="R30c90604a41746d4"/>
          <a:stretch xmlns:a="http://schemas.openxmlformats.org/drawingml/2006/main">
            <a:fillRect l="0" t="0" r="0" b="0"/>
          </a:stretch>
        </p:blipFill>
        <p:spPr>
          <a:xfrm xmlns:a="http://schemas.openxmlformats.org/drawingml/2006/main">
            <a:off x="1355689" y="1940905"/>
            <a:ext cx="470733" cy="470733"/>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35F71C1C-9ECC-4AFB-8B49-C1C68DBBD361}"/>
              </a:ext>
            </a:extLst>
          </p:cNvPr>
          <p:cNvSpPr>
            <a:spLocks xmlns:a="http://schemas.openxmlformats.org/drawingml/2006/main" noGrp="1"/>
          </p:cNvSpPr>
          <p:nvPr/>
        </p:nvSpPr>
        <p:spPr>
          <a:xfrm xmlns:a="http://schemas.openxmlformats.org/drawingml/2006/main">
            <a:off x="685800" y="269748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171A17"/>
                </a:solidFill>
                <a:latin typeface="Cambria"/>
                <a:ea typeface="Cambria"/>
                <a:cs typeface="Cambria"/>
              </a:rPr>
              <a:t>Finding</a:t>
            </a:r>
          </a:p>
        </p:txBody>
      </p:sp>
      <p:sp>
        <p:nvSpPr>
          <p:cNvPr id="10" name="Text 6">
            <a:extLst xmlns:a="http://schemas.openxmlformats.org/drawingml/2006/main">
              <a:ext uri="{FF2B5EF4-FFF2-40B4-BE49-F238E27FC236}">
                <a16:creationId xmlns:a16="http://schemas.microsoft.com/office/drawing/2014/main" id="{9434FA67-B758-4690-82D2-E944A7CA18E9}"/>
              </a:ext>
            </a:extLst>
          </p:cNvPr>
          <p:cNvSpPr>
            <a:spLocks xmlns:a="http://schemas.openxmlformats.org/drawingml/2006/main" noGrp="1"/>
          </p:cNvSpPr>
          <p:nvPr/>
        </p:nvSpPr>
        <p:spPr>
          <a:xfrm xmlns:a="http://schemas.openxmlformats.org/drawingml/2006/main">
            <a:off x="731520" y="3291840"/>
            <a:ext cx="1719072"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5B6259"/>
                </a:solidFill>
                <a:latin typeface="Calibri"/>
                <a:ea typeface="Calibri"/>
                <a:cs typeface="Calibri"/>
              </a:rPr>
              <a:t>Beobachtung präzise und ohne Übertreibung formulieren</a:t>
            </a:r>
          </a:p>
        </p:txBody>
      </p:sp>
      <p:sp>
        <p:nvSpPr>
          <p:cNvPr id="11" name="Shape 7">
            <a:extLst xmlns:a="http://schemas.openxmlformats.org/drawingml/2006/main">
              <a:ext uri="{FF2B5EF4-FFF2-40B4-BE49-F238E27FC236}">
                <a16:creationId xmlns:a16="http://schemas.microsoft.com/office/drawing/2014/main" id="{AB02578C-4B94-4776-B78D-07B43CEEBB7A}"/>
              </a:ext>
            </a:extLst>
          </p:cNvPr>
          <p:cNvSpPr>
            <a:spLocks xmlns:a="http://schemas.openxmlformats.org/drawingml/2006/main" noGrp="1"/>
          </p:cNvSpPr>
          <p:nvPr/>
        </p:nvSpPr>
        <p:spPr>
          <a:xfrm xmlns:a="http://schemas.openxmlformats.org/drawingml/2006/main">
            <a:off x="2816352" y="1600200"/>
            <a:ext cx="2084832" cy="324612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2" name="Shape 8">
            <a:extLst xmlns:a="http://schemas.openxmlformats.org/drawingml/2006/main">
              <a:ext uri="{FF2B5EF4-FFF2-40B4-BE49-F238E27FC236}">
                <a16:creationId xmlns:a16="http://schemas.microsoft.com/office/drawing/2014/main" id="{2B6D06C7-5D0D-4E15-8953-3839336449A7}"/>
              </a:ext>
            </a:extLst>
          </p:cNvPr>
          <p:cNvSpPr>
            <a:spLocks xmlns:a="http://schemas.openxmlformats.org/drawingml/2006/main" noGrp="1"/>
          </p:cNvSpPr>
          <p:nvPr/>
        </p:nvSpPr>
        <p:spPr>
          <a:xfrm xmlns:a="http://schemas.openxmlformats.org/drawingml/2006/main">
            <a:off x="3557016" y="1874520"/>
            <a:ext cx="603504" cy="603504"/>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c68b485bebc84153"/>
          <a:stretch xmlns:a="http://schemas.openxmlformats.org/drawingml/2006/main">
            <a:fillRect l="0" t="0" r="0" b="0"/>
          </a:stretch>
        </p:blipFill>
        <p:spPr>
          <a:xfrm xmlns:a="http://schemas.openxmlformats.org/drawingml/2006/main">
            <a:off x="3623401" y="1940905"/>
            <a:ext cx="470733" cy="470733"/>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A4DF0B00-6F99-42DA-95C6-8A02B74F5E19}"/>
              </a:ext>
            </a:extLst>
          </p:cNvPr>
          <p:cNvSpPr>
            <a:spLocks xmlns:a="http://schemas.openxmlformats.org/drawingml/2006/main" noGrp="1"/>
          </p:cNvSpPr>
          <p:nvPr/>
        </p:nvSpPr>
        <p:spPr>
          <a:xfrm xmlns:a="http://schemas.openxmlformats.org/drawingml/2006/main">
            <a:off x="2953512" y="269748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171A17"/>
                </a:solidFill>
                <a:latin typeface="Cambria"/>
                <a:ea typeface="Cambria"/>
                <a:cs typeface="Cambria"/>
              </a:rPr>
              <a:t>Maßnahme</a:t>
            </a:r>
          </a:p>
        </p:txBody>
      </p:sp>
      <p:sp>
        <p:nvSpPr>
          <p:cNvPr id="15" name="Text 10">
            <a:extLst xmlns:a="http://schemas.openxmlformats.org/drawingml/2006/main">
              <a:ext uri="{FF2B5EF4-FFF2-40B4-BE49-F238E27FC236}">
                <a16:creationId xmlns:a16="http://schemas.microsoft.com/office/drawing/2014/main" id="{F38577B5-0E37-44ED-80F9-F628C892C377}"/>
              </a:ext>
            </a:extLst>
          </p:cNvPr>
          <p:cNvSpPr>
            <a:spLocks xmlns:a="http://schemas.openxmlformats.org/drawingml/2006/main" noGrp="1"/>
          </p:cNvSpPr>
          <p:nvPr/>
        </p:nvSpPr>
        <p:spPr>
          <a:xfrm xmlns:a="http://schemas.openxmlformats.org/drawingml/2006/main">
            <a:off x="2999232" y="3291840"/>
            <a:ext cx="1719072"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5B6259"/>
                </a:solidFill>
                <a:latin typeface="Calibri"/>
                <a:ea typeface="Calibri"/>
                <a:cs typeface="Calibri"/>
              </a:rPr>
              <a:t>Direkt aus dem Finding ableiten und priorisieren</a:t>
            </a:r>
          </a:p>
        </p:txBody>
      </p:sp>
      <p:sp>
        <p:nvSpPr>
          <p:cNvPr id="16" name="Shape 11">
            <a:extLst xmlns:a="http://schemas.openxmlformats.org/drawingml/2006/main">
              <a:ext uri="{FF2B5EF4-FFF2-40B4-BE49-F238E27FC236}">
                <a16:creationId xmlns:a16="http://schemas.microsoft.com/office/drawing/2014/main" id="{3D5E427C-BBC8-4E65-8834-ED03F329C9C3}"/>
              </a:ext>
            </a:extLst>
          </p:cNvPr>
          <p:cNvSpPr>
            <a:spLocks xmlns:a="http://schemas.openxmlformats.org/drawingml/2006/main" noGrp="1"/>
          </p:cNvSpPr>
          <p:nvPr/>
        </p:nvSpPr>
        <p:spPr>
          <a:xfrm xmlns:a="http://schemas.openxmlformats.org/drawingml/2006/main">
            <a:off x="5084064" y="1600200"/>
            <a:ext cx="2084832" cy="324612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7" name="Shape 12">
            <a:extLst xmlns:a="http://schemas.openxmlformats.org/drawingml/2006/main">
              <a:ext uri="{FF2B5EF4-FFF2-40B4-BE49-F238E27FC236}">
                <a16:creationId xmlns:a16="http://schemas.microsoft.com/office/drawing/2014/main" id="{710EB1B7-D45D-4B7B-B0A6-868B58441785}"/>
              </a:ext>
            </a:extLst>
          </p:cNvPr>
          <p:cNvSpPr>
            <a:spLocks xmlns:a="http://schemas.openxmlformats.org/drawingml/2006/main" noGrp="1"/>
          </p:cNvSpPr>
          <p:nvPr/>
        </p:nvSpPr>
        <p:spPr>
          <a:xfrm xmlns:a="http://schemas.openxmlformats.org/drawingml/2006/main">
            <a:off x="5824728" y="1874520"/>
            <a:ext cx="603504" cy="603504"/>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57" name="Image 3"/>
          <p:cNvPicPr>
            <a:picLocks xmlns:a="http://schemas.openxmlformats.org/drawingml/2006/main" noChangeAspect="1"/>
          </p:cNvPicPr>
          <p:nvPr/>
        </p:nvPicPr>
        <p:blipFill>
          <a:blip xmlns:r="http://schemas.openxmlformats.org/officeDocument/2006/relationships" xmlns:a="http://schemas.openxmlformats.org/drawingml/2006/main" r:embed="R59730a7e668740d7"/>
          <a:stretch xmlns:a="http://schemas.openxmlformats.org/drawingml/2006/main">
            <a:fillRect l="0" t="0" r="0" b="0"/>
          </a:stretch>
        </p:blipFill>
        <p:spPr>
          <a:xfrm xmlns:a="http://schemas.openxmlformats.org/drawingml/2006/main">
            <a:off x="5891113" y="1940905"/>
            <a:ext cx="470733" cy="470733"/>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C4A0F476-2098-4AA0-B8E0-2CBE7C1A9A08}"/>
              </a:ext>
            </a:extLst>
          </p:cNvPr>
          <p:cNvSpPr>
            <a:spLocks xmlns:a="http://schemas.openxmlformats.org/drawingml/2006/main" noGrp="1"/>
          </p:cNvSpPr>
          <p:nvPr/>
        </p:nvSpPr>
        <p:spPr>
          <a:xfrm xmlns:a="http://schemas.openxmlformats.org/drawingml/2006/main">
            <a:off x="5221224" y="269748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171A17"/>
                </a:solidFill>
                <a:latin typeface="Cambria"/>
                <a:ea typeface="Cambria"/>
                <a:cs typeface="Cambria"/>
              </a:rPr>
              <a:t>Kriterium</a:t>
            </a:r>
          </a:p>
        </p:txBody>
      </p:sp>
      <p:sp>
        <p:nvSpPr>
          <p:cNvPr id="20" name="Text 14">
            <a:extLst xmlns:a="http://schemas.openxmlformats.org/drawingml/2006/main">
              <a:ext uri="{FF2B5EF4-FFF2-40B4-BE49-F238E27FC236}">
                <a16:creationId xmlns:a16="http://schemas.microsoft.com/office/drawing/2014/main" id="{A3DC96C3-D57C-4CE6-9F62-4CC7A6ECC905}"/>
              </a:ext>
            </a:extLst>
          </p:cNvPr>
          <p:cNvSpPr>
            <a:spLocks xmlns:a="http://schemas.openxmlformats.org/drawingml/2006/main" noGrp="1"/>
          </p:cNvSpPr>
          <p:nvPr/>
        </p:nvSpPr>
        <p:spPr>
          <a:xfrm xmlns:a="http://schemas.openxmlformats.org/drawingml/2006/main">
            <a:off x="5266944" y="3291840"/>
            <a:ext cx="1719072"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5B6259"/>
                </a:solidFill>
                <a:latin typeface="Calibri"/>
                <a:ea typeface="Calibri"/>
                <a:cs typeface="Calibri"/>
              </a:rPr>
              <a:t>Vorab festlegen, wann das Ziel erreicht ist</a:t>
            </a:r>
          </a:p>
        </p:txBody>
      </p:sp>
      <p:sp>
        <p:nvSpPr>
          <p:cNvPr id="21" name="Shape 15">
            <a:extLst xmlns:a="http://schemas.openxmlformats.org/drawingml/2006/main">
              <a:ext uri="{FF2B5EF4-FFF2-40B4-BE49-F238E27FC236}">
                <a16:creationId xmlns:a16="http://schemas.microsoft.com/office/drawing/2014/main" id="{1080096B-AF8E-4247-B7AF-FF66EF852BC0}"/>
              </a:ext>
            </a:extLst>
          </p:cNvPr>
          <p:cNvSpPr>
            <a:spLocks xmlns:a="http://schemas.openxmlformats.org/drawingml/2006/main" noGrp="1"/>
          </p:cNvSpPr>
          <p:nvPr/>
        </p:nvSpPr>
        <p:spPr>
          <a:xfrm xmlns:a="http://schemas.openxmlformats.org/drawingml/2006/main">
            <a:off x="7351776" y="1600200"/>
            <a:ext cx="2084832" cy="324612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2" name="Shape 16">
            <a:extLst xmlns:a="http://schemas.openxmlformats.org/drawingml/2006/main">
              <a:ext uri="{FF2B5EF4-FFF2-40B4-BE49-F238E27FC236}">
                <a16:creationId xmlns:a16="http://schemas.microsoft.com/office/drawing/2014/main" id="{A870697A-0008-4224-9BBC-937A53ABBE1A}"/>
              </a:ext>
            </a:extLst>
          </p:cNvPr>
          <p:cNvSpPr>
            <a:spLocks xmlns:a="http://schemas.openxmlformats.org/drawingml/2006/main" noGrp="1"/>
          </p:cNvSpPr>
          <p:nvPr/>
        </p:nvSpPr>
        <p:spPr>
          <a:xfrm xmlns:a="http://schemas.openxmlformats.org/drawingml/2006/main">
            <a:off x="8092440" y="1874520"/>
            <a:ext cx="603504" cy="603504"/>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62" name="Image 4"/>
          <p:cNvPicPr>
            <a:picLocks xmlns:a="http://schemas.openxmlformats.org/drawingml/2006/main" noChangeAspect="1"/>
          </p:cNvPicPr>
          <p:nvPr/>
        </p:nvPicPr>
        <p:blipFill>
          <a:blip xmlns:r="http://schemas.openxmlformats.org/officeDocument/2006/relationships" xmlns:a="http://schemas.openxmlformats.org/drawingml/2006/main" r:embed="R79273c48f86e42a2"/>
          <a:stretch xmlns:a="http://schemas.openxmlformats.org/drawingml/2006/main">
            <a:fillRect l="0" t="0" r="0" b="0"/>
          </a:stretch>
        </p:blipFill>
        <p:spPr>
          <a:xfrm xmlns:a="http://schemas.openxmlformats.org/drawingml/2006/main">
            <a:off x="8158825" y="1940905"/>
            <a:ext cx="470733" cy="470733"/>
          </a:xfrm>
          <a:prstGeom xmlns:a="http://schemas.openxmlformats.org/drawingml/2006/main" prst="rect">
            <a:avLst/>
          </a:prstGeom>
        </p:spPr>
      </p:pic>
      <p:sp>
        <p:nvSpPr>
          <p:cNvPr id="24" name="Text 17">
            <a:extLst xmlns:a="http://schemas.openxmlformats.org/drawingml/2006/main">
              <a:ext uri="{FF2B5EF4-FFF2-40B4-BE49-F238E27FC236}">
                <a16:creationId xmlns:a16="http://schemas.microsoft.com/office/drawing/2014/main" id="{572FD7F0-C6C6-4964-B063-D7987DE7A588}"/>
              </a:ext>
            </a:extLst>
          </p:cNvPr>
          <p:cNvSpPr>
            <a:spLocks xmlns:a="http://schemas.openxmlformats.org/drawingml/2006/main" noGrp="1"/>
          </p:cNvSpPr>
          <p:nvPr/>
        </p:nvSpPr>
        <p:spPr>
          <a:xfrm xmlns:a="http://schemas.openxmlformats.org/drawingml/2006/main">
            <a:off x="7488936" y="269748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171A17"/>
                </a:solidFill>
                <a:latin typeface="Cambria"/>
                <a:ea typeface="Cambria"/>
                <a:cs typeface="Cambria"/>
              </a:rPr>
              <a:t>Evidenz</a:t>
            </a:r>
          </a:p>
        </p:txBody>
      </p:sp>
      <p:sp>
        <p:nvSpPr>
          <p:cNvPr id="25" name="Text 18">
            <a:extLst xmlns:a="http://schemas.openxmlformats.org/drawingml/2006/main">
              <a:ext uri="{FF2B5EF4-FFF2-40B4-BE49-F238E27FC236}">
                <a16:creationId xmlns:a16="http://schemas.microsoft.com/office/drawing/2014/main" id="{4F582B26-16FC-4594-B701-4B99A8623BB0}"/>
              </a:ext>
            </a:extLst>
          </p:cNvPr>
          <p:cNvSpPr>
            <a:spLocks xmlns:a="http://schemas.openxmlformats.org/drawingml/2006/main" noGrp="1"/>
          </p:cNvSpPr>
          <p:nvPr/>
        </p:nvSpPr>
        <p:spPr>
          <a:xfrm xmlns:a="http://schemas.openxmlformats.org/drawingml/2006/main">
            <a:off x="7534656" y="3291840"/>
            <a:ext cx="1719072"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5B6259"/>
                </a:solidFill>
                <a:latin typeface="Calibri"/>
                <a:ea typeface="Calibri"/>
                <a:cs typeface="Calibri"/>
              </a:rPr>
              <a:t>Reproduzierbare Messung oder Auswertung hinterlegen</a:t>
            </a:r>
          </a:p>
        </p:txBody>
      </p:sp>
      <p:sp>
        <p:nvSpPr>
          <p:cNvPr id="26" name="Shape 19">
            <a:extLst xmlns:a="http://schemas.openxmlformats.org/drawingml/2006/main">
              <a:ext uri="{FF2B5EF4-FFF2-40B4-BE49-F238E27FC236}">
                <a16:creationId xmlns:a16="http://schemas.microsoft.com/office/drawing/2014/main" id="{8D4A4150-6389-473E-8140-4B79E875785C}"/>
              </a:ext>
            </a:extLst>
          </p:cNvPr>
          <p:cNvSpPr>
            <a:spLocks xmlns:a="http://schemas.openxmlformats.org/drawingml/2006/main" noGrp="1"/>
          </p:cNvSpPr>
          <p:nvPr/>
        </p:nvSpPr>
        <p:spPr>
          <a:xfrm xmlns:a="http://schemas.openxmlformats.org/drawingml/2006/main">
            <a:off x="9619488" y="1600200"/>
            <a:ext cx="2084832" cy="324612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7" name="Shape 20">
            <a:extLst xmlns:a="http://schemas.openxmlformats.org/drawingml/2006/main">
              <a:ext uri="{FF2B5EF4-FFF2-40B4-BE49-F238E27FC236}">
                <a16:creationId xmlns:a16="http://schemas.microsoft.com/office/drawing/2014/main" id="{863BA74D-E83B-4920-AE5A-086F1C02D5F0}"/>
              </a:ext>
            </a:extLst>
          </p:cNvPr>
          <p:cNvSpPr>
            <a:spLocks xmlns:a="http://schemas.openxmlformats.org/drawingml/2006/main" noGrp="1"/>
          </p:cNvSpPr>
          <p:nvPr/>
        </p:nvSpPr>
        <p:spPr>
          <a:xfrm xmlns:a="http://schemas.openxmlformats.org/drawingml/2006/main">
            <a:off x="10360152" y="1874520"/>
            <a:ext cx="603504" cy="603504"/>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67" name="Image 5"/>
          <p:cNvPicPr>
            <a:picLocks xmlns:a="http://schemas.openxmlformats.org/drawingml/2006/main" noChangeAspect="1"/>
          </p:cNvPicPr>
          <p:nvPr/>
        </p:nvPicPr>
        <p:blipFill>
          <a:blip xmlns:r="http://schemas.openxmlformats.org/officeDocument/2006/relationships" xmlns:a="http://schemas.openxmlformats.org/drawingml/2006/main" r:embed="R2136222673394160"/>
          <a:stretch xmlns:a="http://schemas.openxmlformats.org/drawingml/2006/main">
            <a:fillRect l="0" t="0" r="0" b="0"/>
          </a:stretch>
        </p:blipFill>
        <p:spPr>
          <a:xfrm xmlns:a="http://schemas.openxmlformats.org/drawingml/2006/main">
            <a:off x="10426537" y="1940905"/>
            <a:ext cx="470733" cy="470733"/>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203D6868-D967-4265-B90F-FE445A0B4609}"/>
              </a:ext>
            </a:extLst>
          </p:cNvPr>
          <p:cNvSpPr>
            <a:spLocks xmlns:a="http://schemas.openxmlformats.org/drawingml/2006/main" noGrp="1"/>
          </p:cNvSpPr>
          <p:nvPr/>
        </p:nvSpPr>
        <p:spPr>
          <a:xfrm xmlns:a="http://schemas.openxmlformats.org/drawingml/2006/main">
            <a:off x="9756648" y="269748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171A17"/>
                </a:solidFill>
                <a:latin typeface="Cambria"/>
                <a:ea typeface="Cambria"/>
                <a:cs typeface="Cambria"/>
              </a:rPr>
              <a:t>Review</a:t>
            </a:r>
          </a:p>
        </p:txBody>
      </p:sp>
      <p:sp>
        <p:nvSpPr>
          <p:cNvPr id="30" name="Text 22">
            <a:extLst xmlns:a="http://schemas.openxmlformats.org/drawingml/2006/main">
              <a:ext uri="{FF2B5EF4-FFF2-40B4-BE49-F238E27FC236}">
                <a16:creationId xmlns:a16="http://schemas.microsoft.com/office/drawing/2014/main" id="{A0FEF427-4E61-4D94-AD22-26289F23F94D}"/>
              </a:ext>
            </a:extLst>
          </p:cNvPr>
          <p:cNvSpPr>
            <a:spLocks xmlns:a="http://schemas.openxmlformats.org/drawingml/2006/main" noGrp="1"/>
          </p:cNvSpPr>
          <p:nvPr/>
        </p:nvSpPr>
        <p:spPr>
          <a:xfrm xmlns:a="http://schemas.openxmlformats.org/drawingml/2006/main">
            <a:off x="9802368" y="3291840"/>
            <a:ext cx="1719072"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5B6259"/>
                </a:solidFill>
                <a:latin typeface="Calibri"/>
                <a:ea typeface="Calibri"/>
                <a:cs typeface="Calibri"/>
              </a:rPr>
              <a:t>Ergebnis, Grenzen und nächsten Schritt aktualisieren</a:t>
            </a:r>
          </a:p>
        </p:txBody>
      </p:sp>
      <p:sp>
        <p:nvSpPr>
          <p:cNvPr id="31" name="Shape 23">
            <a:extLst xmlns:a="http://schemas.openxmlformats.org/drawingml/2006/main">
              <a:ext uri="{FF2B5EF4-FFF2-40B4-BE49-F238E27FC236}">
                <a16:creationId xmlns:a16="http://schemas.microsoft.com/office/drawing/2014/main" id="{A8718938-5F81-421D-95E4-3FBB0F39CB13}"/>
              </a:ext>
            </a:extLst>
          </p:cNvPr>
          <p:cNvSpPr>
            <a:spLocks xmlns:a="http://schemas.openxmlformats.org/drawingml/2006/main" noGrp="1"/>
          </p:cNvSpPr>
          <p:nvPr/>
        </p:nvSpPr>
        <p:spPr>
          <a:xfrm xmlns:a="http://schemas.openxmlformats.org/drawingml/2006/main">
            <a:off x="548640" y="5166360"/>
            <a:ext cx="11091672" cy="1005840"/>
          </a:xfrm>
          <a:prstGeom xmlns:a="http://schemas.openxmlformats.org/drawingml/2006/main" prst="roundRect">
            <a:avLst>
              <a:gd name="adj" fmla="val 5455"/>
            </a:avLst>
          </a:prstGeom>
          <a:solidFill xmlns:a="http://schemas.openxmlformats.org/drawingml/2006/main">
            <a:srgbClr val="F3E7C9"/>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32" name="Text 24">
            <a:extLst xmlns:a="http://schemas.openxmlformats.org/drawingml/2006/main">
              <a:ext uri="{FF2B5EF4-FFF2-40B4-BE49-F238E27FC236}">
                <a16:creationId xmlns:a16="http://schemas.microsoft.com/office/drawing/2014/main" id="{04D7B2A5-7EDA-4E81-A33C-FAFBFCF7B973}"/>
              </a:ext>
            </a:extLst>
          </p:cNvPr>
          <p:cNvSpPr>
            <a:spLocks xmlns:a="http://schemas.openxmlformats.org/drawingml/2006/main" noGrp="1"/>
          </p:cNvSpPr>
          <p:nvPr/>
        </p:nvSpPr>
        <p:spPr>
          <a:xfrm xmlns:a="http://schemas.openxmlformats.org/drawingml/2006/main">
            <a:off x="822960" y="5166360"/>
            <a:ext cx="1054303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171A17"/>
                </a:solidFill>
                <a:latin typeface="Calibri"/>
                <a:ea typeface="Calibri"/>
                <a:cs typeface="Calibri"/>
              </a:rPr>
              <a:t>Diese Kette verhindert, dass aus einer plausiblen Idee vorschnell ein belegtes Ergebnis wird.</a:t>
            </a:r>
          </a:p>
        </p:txBody>
      </p:sp>
      <p:sp>
        <p:nvSpPr>
          <p:cNvPr id="33" name="Text 25">
            <a:extLst xmlns:a="http://schemas.openxmlformats.org/drawingml/2006/main">
              <a:ext uri="{FF2B5EF4-FFF2-40B4-BE49-F238E27FC236}">
                <a16:creationId xmlns:a16="http://schemas.microsoft.com/office/drawing/2014/main" id="{47650406-1722-4A58-AC29-9919C3706F74}"/>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34" name="Text 26">
            <a:extLst xmlns:a="http://schemas.openxmlformats.org/drawingml/2006/main">
              <a:ext uri="{FF2B5EF4-FFF2-40B4-BE49-F238E27FC236}">
                <a16:creationId xmlns:a16="http://schemas.microsoft.com/office/drawing/2014/main" id="{9CF661B0-5F53-45B5-9E9A-4E6ECC612652}"/>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32</a:t>
            </a:r>
          </a:p>
        </p:txBody>
      </p:sp>
    </p:spTree>
    <p:extLst>
      <p:ext uri="{BB962C8B-B14F-4D97-AF65-F5344CB8AC3E}">
        <p14:creationId xmlns:p14="http://schemas.microsoft.com/office/powerpoint/2010/main" val="1243970616"/>
      </p:ext>
    </p:extLst>
  </p:cSld>
</p:sld>
</file>

<file path=ppt/slides/slide33.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68EDDB4-BDF7-402D-90FF-42C6B03F7BFD}"/>
              </a:ext>
            </a:extLst>
          </p:cNvPr>
          <p:cNvSpPr>
            <a:spLocks xmlns:a="http://schemas.openxmlformats.org/drawingml/2006/main" noGrp="1"/>
          </p:cNvSpPr>
          <p:nvPr/>
        </p:nvSpPr>
        <p:spPr>
          <a:xfrm xmlns:a="http://schemas.openxmlformats.org/drawingml/2006/main">
            <a:off x="548640" y="475488"/>
            <a:ext cx="566928" cy="566928"/>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58" name="Image 0"/>
          <p:cNvPicPr>
            <a:picLocks xmlns:a="http://schemas.openxmlformats.org/drawingml/2006/main" noChangeAspect="1"/>
          </p:cNvPicPr>
          <p:nvPr/>
        </p:nvPicPr>
        <p:blipFill>
          <a:blip xmlns:r="http://schemas.openxmlformats.org/officeDocument/2006/relationships" xmlns:a="http://schemas.openxmlformats.org/drawingml/2006/main" r:embed="Rc8d2c1bd041c4129"/>
          <a:stretch xmlns:a="http://schemas.openxmlformats.org/drawingml/2006/main">
            <a:fillRect l="0" t="0" r="0" b="0"/>
          </a:stretch>
        </p:blipFill>
        <p:spPr>
          <a:xfrm xmlns:a="http://schemas.openxmlformats.org/drawingml/2006/main">
            <a:off x="611002" y="537850"/>
            <a:ext cx="442204" cy="44220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B678C39A-014B-4E1E-8160-80DF85F42E20}"/>
              </a:ext>
            </a:extLst>
          </p:cNvPr>
          <p:cNvSpPr>
            <a:spLocks xmlns:a="http://schemas.openxmlformats.org/drawingml/2006/main" noGrp="1"/>
          </p:cNvSpPr>
          <p:nvPr/>
        </p:nvSpPr>
        <p:spPr>
          <a:xfrm xmlns:a="http://schemas.openxmlformats.org/drawingml/2006/main">
            <a:off x="123444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97C1E"/>
                </a:solidFill>
                <a:latin typeface="Calibri"/>
                <a:ea typeface="Calibri"/>
                <a:cs typeface="Calibri"/>
              </a:rPr>
              <a:t>ANHANG · BACKUP</a:t>
            </a:r>
          </a:p>
        </p:txBody>
      </p:sp>
      <p:sp>
        <p:nvSpPr>
          <p:cNvPr id="5" name="Text 2">
            <a:extLst xmlns:a="http://schemas.openxmlformats.org/drawingml/2006/main">
              <a:ext uri="{FF2B5EF4-FFF2-40B4-BE49-F238E27FC236}">
                <a16:creationId xmlns:a16="http://schemas.microsoft.com/office/drawing/2014/main" id="{494EB747-FB4D-4BF6-96B7-82533F18D337}"/>
              </a:ext>
            </a:extLst>
          </p:cNvPr>
          <p:cNvSpPr>
            <a:spLocks xmlns:a="http://schemas.openxmlformats.org/drawingml/2006/main" noGrp="1"/>
          </p:cNvSpPr>
          <p:nvPr/>
        </p:nvSpPr>
        <p:spPr>
          <a:xfrm xmlns:a="http://schemas.openxmlformats.org/drawingml/2006/main">
            <a:off x="1234440" y="713232"/>
            <a:ext cx="8686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71A17"/>
                </a:solidFill>
                <a:latin typeface="Cambria"/>
                <a:ea typeface="Cambria"/>
                <a:cs typeface="Cambria"/>
              </a:rPr>
              <a:t>Technischer Stack</a:t>
            </a:r>
          </a:p>
        </p:txBody>
      </p:sp>
      <p:sp>
        <p:nvSpPr>
          <p:cNvPr id="6" name="Shape 3">
            <a:extLst xmlns:a="http://schemas.openxmlformats.org/drawingml/2006/main">
              <a:ext uri="{FF2B5EF4-FFF2-40B4-BE49-F238E27FC236}">
                <a16:creationId xmlns:a16="http://schemas.microsoft.com/office/drawing/2014/main" id="{9EE025AB-505F-4F9A-92EA-F90BCB94D864}"/>
              </a:ext>
            </a:extLst>
          </p:cNvPr>
          <p:cNvSpPr>
            <a:spLocks xmlns:a="http://schemas.openxmlformats.org/drawingml/2006/main" noGrp="1"/>
          </p:cNvSpPr>
          <p:nvPr/>
        </p:nvSpPr>
        <p:spPr>
          <a:xfrm xmlns:a="http://schemas.openxmlformats.org/drawingml/2006/main">
            <a:off x="548640" y="1600200"/>
            <a:ext cx="2651760" cy="20574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7" name="Shape 4">
            <a:extLst xmlns:a="http://schemas.openxmlformats.org/drawingml/2006/main">
              <a:ext uri="{FF2B5EF4-FFF2-40B4-BE49-F238E27FC236}">
                <a16:creationId xmlns:a16="http://schemas.microsoft.com/office/drawing/2014/main" id="{36B949CC-2826-42DE-9D1A-BBA5BA88118C}"/>
              </a:ext>
            </a:extLst>
          </p:cNvPr>
          <p:cNvSpPr>
            <a:spLocks xmlns:a="http://schemas.openxmlformats.org/drawingml/2006/main" noGrp="1"/>
          </p:cNvSpPr>
          <p:nvPr/>
        </p:nvSpPr>
        <p:spPr>
          <a:xfrm xmlns:a="http://schemas.openxmlformats.org/drawingml/2006/main">
            <a:off x="777240" y="1828800"/>
            <a:ext cx="548640" cy="548640"/>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768fb635ee6e49f7"/>
          <a:stretch xmlns:a="http://schemas.openxmlformats.org/drawingml/2006/main">
            <a:fillRect l="0" t="0" r="0" b="0"/>
          </a:stretch>
        </p:blipFill>
        <p:spPr>
          <a:xfrm xmlns:a="http://schemas.openxmlformats.org/drawingml/2006/main">
            <a:off x="837590" y="1889150"/>
            <a:ext cx="427939" cy="427939"/>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D6D4C327-D8F8-4EEF-AE1A-873EB35F08BA}"/>
              </a:ext>
            </a:extLst>
          </p:cNvPr>
          <p:cNvSpPr>
            <a:spLocks xmlns:a="http://schemas.openxmlformats.org/drawingml/2006/main" noGrp="1"/>
          </p:cNvSpPr>
          <p:nvPr/>
        </p:nvSpPr>
        <p:spPr>
          <a:xfrm xmlns:a="http://schemas.openxmlformats.org/drawingml/2006/main">
            <a:off x="777240" y="246888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Sprache &amp; App</a:t>
            </a:r>
          </a:p>
        </p:txBody>
      </p:sp>
      <p:sp>
        <p:nvSpPr>
          <p:cNvPr id="10" name="Text 6">
            <a:extLst xmlns:a="http://schemas.openxmlformats.org/drawingml/2006/main">
              <a:ext uri="{FF2B5EF4-FFF2-40B4-BE49-F238E27FC236}">
                <a16:creationId xmlns:a16="http://schemas.microsoft.com/office/drawing/2014/main" id="{03FFDE58-CA4B-4C8A-BC8A-8BF873BA0E90}"/>
              </a:ext>
            </a:extLst>
          </p:cNvPr>
          <p:cNvSpPr>
            <a:spLocks xmlns:a="http://schemas.openxmlformats.org/drawingml/2006/main" noGrp="1"/>
          </p:cNvSpPr>
          <p:nvPr/>
        </p:nvSpPr>
        <p:spPr>
          <a:xfrm xmlns:a="http://schemas.openxmlformats.org/drawingml/2006/main">
            <a:off x="777240" y="2880360"/>
            <a:ext cx="21945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Python 3 · Streamlit</a:t>
            </a:r>
          </a:p>
          <a:p xmlns:a="http://schemas.openxmlformats.org/drawingml/2006/main">
            <a:pPr marL="0" indent="0">
              <a:buNone/>
            </a:pPr>
            <a:r>
              <a:rPr sz="1150">
                <a:solidFill>
                  <a:srgbClr val="5B6259"/>
                </a:solidFill>
                <a:latin typeface="Calibri"/>
                <a:ea typeface="Calibri"/>
                <a:cs typeface="Calibri"/>
              </a:rPr>
              <a:t>(st.navigation, Multipage)</a:t>
            </a:r>
          </a:p>
        </p:txBody>
      </p:sp>
      <p:sp>
        <p:nvSpPr>
          <p:cNvPr id="11" name="Shape 7">
            <a:extLst xmlns:a="http://schemas.openxmlformats.org/drawingml/2006/main">
              <a:ext uri="{FF2B5EF4-FFF2-40B4-BE49-F238E27FC236}">
                <a16:creationId xmlns:a16="http://schemas.microsoft.com/office/drawing/2014/main" id="{10E9B0D1-6E77-4625-AFE3-56E461E387AC}"/>
              </a:ext>
            </a:extLst>
          </p:cNvPr>
          <p:cNvSpPr>
            <a:spLocks xmlns:a="http://schemas.openxmlformats.org/drawingml/2006/main" noGrp="1"/>
          </p:cNvSpPr>
          <p:nvPr/>
        </p:nvSpPr>
        <p:spPr>
          <a:xfrm xmlns:a="http://schemas.openxmlformats.org/drawingml/2006/main">
            <a:off x="3364992" y="1600200"/>
            <a:ext cx="2651760" cy="20574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2" name="Shape 8">
            <a:extLst xmlns:a="http://schemas.openxmlformats.org/drawingml/2006/main">
              <a:ext uri="{FF2B5EF4-FFF2-40B4-BE49-F238E27FC236}">
                <a16:creationId xmlns:a16="http://schemas.microsoft.com/office/drawing/2014/main" id="{1105F2A2-E77D-474E-BDDD-F8F0E9ABC09E}"/>
              </a:ext>
            </a:extLst>
          </p:cNvPr>
          <p:cNvSpPr>
            <a:spLocks xmlns:a="http://schemas.openxmlformats.org/drawingml/2006/main" noGrp="1"/>
          </p:cNvSpPr>
          <p:nvPr/>
        </p:nvSpPr>
        <p:spPr>
          <a:xfrm xmlns:a="http://schemas.openxmlformats.org/drawingml/2006/main">
            <a:off x="3593592" y="1828800"/>
            <a:ext cx="548640" cy="548640"/>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68" name="Image 2"/>
          <p:cNvPicPr>
            <a:picLocks xmlns:a="http://schemas.openxmlformats.org/drawingml/2006/main" noChangeAspect="1"/>
          </p:cNvPicPr>
          <p:nvPr/>
        </p:nvPicPr>
        <p:blipFill>
          <a:blip xmlns:r="http://schemas.openxmlformats.org/officeDocument/2006/relationships" xmlns:a="http://schemas.openxmlformats.org/drawingml/2006/main" r:embed="Rb193ac706f5149e7"/>
          <a:stretch xmlns:a="http://schemas.openxmlformats.org/drawingml/2006/main">
            <a:fillRect l="0" t="0" r="0" b="0"/>
          </a:stretch>
        </p:blipFill>
        <p:spPr>
          <a:xfrm xmlns:a="http://schemas.openxmlformats.org/drawingml/2006/main">
            <a:off x="3653942" y="1889150"/>
            <a:ext cx="427939" cy="427939"/>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D3239582-6D85-4552-BF7B-130B5B4A38B0}"/>
              </a:ext>
            </a:extLst>
          </p:cNvPr>
          <p:cNvSpPr>
            <a:spLocks xmlns:a="http://schemas.openxmlformats.org/drawingml/2006/main" noGrp="1"/>
          </p:cNvSpPr>
          <p:nvPr/>
        </p:nvSpPr>
        <p:spPr>
          <a:xfrm xmlns:a="http://schemas.openxmlformats.org/drawingml/2006/main">
            <a:off x="3593592" y="246888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Daten</a:t>
            </a:r>
          </a:p>
        </p:txBody>
      </p:sp>
      <p:sp>
        <p:nvSpPr>
          <p:cNvPr id="15" name="Text 10">
            <a:extLst xmlns:a="http://schemas.openxmlformats.org/drawingml/2006/main">
              <a:ext uri="{FF2B5EF4-FFF2-40B4-BE49-F238E27FC236}">
                <a16:creationId xmlns:a16="http://schemas.microsoft.com/office/drawing/2014/main" id="{0AEC68DA-542F-4274-AF67-6F138A99DEC9}"/>
              </a:ext>
            </a:extLst>
          </p:cNvPr>
          <p:cNvSpPr>
            <a:spLocks xmlns:a="http://schemas.openxmlformats.org/drawingml/2006/main" noGrp="1"/>
          </p:cNvSpPr>
          <p:nvPr/>
        </p:nvSpPr>
        <p:spPr>
          <a:xfrm xmlns:a="http://schemas.openxmlformats.org/drawingml/2006/main">
            <a:off x="3593592" y="2880360"/>
            <a:ext cx="21945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pandas · numpy</a:t>
            </a:r>
          </a:p>
          <a:p xmlns:a="http://schemas.openxmlformats.org/drawingml/2006/main">
            <a:pPr marL="0" indent="0">
              <a:buNone/>
            </a:pPr>
            <a:r>
              <a:rPr sz="1150">
                <a:solidFill>
                  <a:srgbClr val="5B6259"/>
                </a:solidFill>
                <a:latin typeface="Calibri"/>
                <a:ea typeface="Calibri"/>
                <a:cs typeface="Calibri"/>
              </a:rPr>
              <a:t>Apache Parquet (PyArrow)</a:t>
            </a:r>
          </a:p>
        </p:txBody>
      </p:sp>
      <p:sp>
        <p:nvSpPr>
          <p:cNvPr id="16" name="Shape 11">
            <a:extLst xmlns:a="http://schemas.openxmlformats.org/drawingml/2006/main">
              <a:ext uri="{FF2B5EF4-FFF2-40B4-BE49-F238E27FC236}">
                <a16:creationId xmlns:a16="http://schemas.microsoft.com/office/drawing/2014/main" id="{C4E79882-4F94-4151-AC73-A161B0B62050}"/>
              </a:ext>
            </a:extLst>
          </p:cNvPr>
          <p:cNvSpPr>
            <a:spLocks xmlns:a="http://schemas.openxmlformats.org/drawingml/2006/main" noGrp="1"/>
          </p:cNvSpPr>
          <p:nvPr/>
        </p:nvSpPr>
        <p:spPr>
          <a:xfrm xmlns:a="http://schemas.openxmlformats.org/drawingml/2006/main">
            <a:off x="6181344" y="1600200"/>
            <a:ext cx="2651760" cy="20574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7" name="Shape 12">
            <a:extLst xmlns:a="http://schemas.openxmlformats.org/drawingml/2006/main">
              <a:ext uri="{FF2B5EF4-FFF2-40B4-BE49-F238E27FC236}">
                <a16:creationId xmlns:a16="http://schemas.microsoft.com/office/drawing/2014/main" id="{DBF550AA-FBC3-4775-BEF9-AD2D088B12F0}"/>
              </a:ext>
            </a:extLst>
          </p:cNvPr>
          <p:cNvSpPr>
            <a:spLocks xmlns:a="http://schemas.openxmlformats.org/drawingml/2006/main" noGrp="1"/>
          </p:cNvSpPr>
          <p:nvPr/>
        </p:nvSpPr>
        <p:spPr>
          <a:xfrm xmlns:a="http://schemas.openxmlformats.org/drawingml/2006/main">
            <a:off x="6409944" y="1828800"/>
            <a:ext cx="548640" cy="548640"/>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73" name="Image 3"/>
          <p:cNvPicPr>
            <a:picLocks xmlns:a="http://schemas.openxmlformats.org/drawingml/2006/main" noChangeAspect="1"/>
          </p:cNvPicPr>
          <p:nvPr/>
        </p:nvPicPr>
        <p:blipFill>
          <a:blip xmlns:r="http://schemas.openxmlformats.org/officeDocument/2006/relationships" xmlns:a="http://schemas.openxmlformats.org/drawingml/2006/main" r:embed="R0a7d3281c07a408e"/>
          <a:stretch xmlns:a="http://schemas.openxmlformats.org/drawingml/2006/main">
            <a:fillRect l="0" t="0" r="0" b="0"/>
          </a:stretch>
        </p:blipFill>
        <p:spPr>
          <a:xfrm xmlns:a="http://schemas.openxmlformats.org/drawingml/2006/main">
            <a:off x="6470294" y="1889150"/>
            <a:ext cx="427939" cy="427939"/>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5242BFEC-AC7D-486A-8FC3-1A161CC48A44}"/>
              </a:ext>
            </a:extLst>
          </p:cNvPr>
          <p:cNvSpPr>
            <a:spLocks xmlns:a="http://schemas.openxmlformats.org/drawingml/2006/main" noGrp="1"/>
          </p:cNvSpPr>
          <p:nvPr/>
        </p:nvSpPr>
        <p:spPr>
          <a:xfrm xmlns:a="http://schemas.openxmlformats.org/drawingml/2006/main">
            <a:off x="6409944" y="246888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Machine Learning</a:t>
            </a:r>
          </a:p>
        </p:txBody>
      </p:sp>
      <p:sp>
        <p:nvSpPr>
          <p:cNvPr id="20" name="Text 14">
            <a:extLst xmlns:a="http://schemas.openxmlformats.org/drawingml/2006/main">
              <a:ext uri="{FF2B5EF4-FFF2-40B4-BE49-F238E27FC236}">
                <a16:creationId xmlns:a16="http://schemas.microsoft.com/office/drawing/2014/main" id="{C8B0250B-857A-4A68-B226-AD107B2EFAA6}"/>
              </a:ext>
            </a:extLst>
          </p:cNvPr>
          <p:cNvSpPr>
            <a:spLocks xmlns:a="http://schemas.openxmlformats.org/drawingml/2006/main" noGrp="1"/>
          </p:cNvSpPr>
          <p:nvPr/>
        </p:nvSpPr>
        <p:spPr>
          <a:xfrm xmlns:a="http://schemas.openxmlformats.org/drawingml/2006/main">
            <a:off x="6409944" y="2880360"/>
            <a:ext cx="21945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scikit-learn</a:t>
            </a:r>
          </a:p>
          <a:p xmlns:a="http://schemas.openxmlformats.org/drawingml/2006/main">
            <a:pPr marL="0" indent="0">
              <a:buNone/>
            </a:pPr>
            <a:r>
              <a:rPr sz="1150">
                <a:solidFill>
                  <a:srgbClr val="5B6259"/>
                </a:solidFill>
                <a:latin typeface="Calibri"/>
                <a:ea typeface="Calibri"/>
                <a:cs typeface="Calibri"/>
              </a:rPr>
              <a:t>(5 Modelle, Pipeline, OOT)</a:t>
            </a:r>
          </a:p>
        </p:txBody>
      </p:sp>
      <p:sp>
        <p:nvSpPr>
          <p:cNvPr id="21" name="Shape 15">
            <a:extLst xmlns:a="http://schemas.openxmlformats.org/drawingml/2006/main">
              <a:ext uri="{FF2B5EF4-FFF2-40B4-BE49-F238E27FC236}">
                <a16:creationId xmlns:a16="http://schemas.microsoft.com/office/drawing/2014/main" id="{17972D48-3150-436C-B49C-DD5196B0A937}"/>
              </a:ext>
            </a:extLst>
          </p:cNvPr>
          <p:cNvSpPr>
            <a:spLocks xmlns:a="http://schemas.openxmlformats.org/drawingml/2006/main" noGrp="1"/>
          </p:cNvSpPr>
          <p:nvPr/>
        </p:nvSpPr>
        <p:spPr>
          <a:xfrm xmlns:a="http://schemas.openxmlformats.org/drawingml/2006/main">
            <a:off x="8997696" y="1600200"/>
            <a:ext cx="2651760" cy="20574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2" name="Shape 16">
            <a:extLst xmlns:a="http://schemas.openxmlformats.org/drawingml/2006/main">
              <a:ext uri="{FF2B5EF4-FFF2-40B4-BE49-F238E27FC236}">
                <a16:creationId xmlns:a16="http://schemas.microsoft.com/office/drawing/2014/main" id="{11A274A0-2097-4E4C-B74D-7ABF2150E806}"/>
              </a:ext>
            </a:extLst>
          </p:cNvPr>
          <p:cNvSpPr>
            <a:spLocks xmlns:a="http://schemas.openxmlformats.org/drawingml/2006/main" noGrp="1"/>
          </p:cNvSpPr>
          <p:nvPr/>
        </p:nvSpPr>
        <p:spPr>
          <a:xfrm xmlns:a="http://schemas.openxmlformats.org/drawingml/2006/main">
            <a:off x="9226296" y="1828800"/>
            <a:ext cx="548640" cy="548640"/>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78" name="Image 4"/>
          <p:cNvPicPr>
            <a:picLocks xmlns:a="http://schemas.openxmlformats.org/drawingml/2006/main" noChangeAspect="1"/>
          </p:cNvPicPr>
          <p:nvPr/>
        </p:nvPicPr>
        <p:blipFill>
          <a:blip xmlns:r="http://schemas.openxmlformats.org/officeDocument/2006/relationships" xmlns:a="http://schemas.openxmlformats.org/drawingml/2006/main" r:embed="Reab5da673d784804"/>
          <a:stretch xmlns:a="http://schemas.openxmlformats.org/drawingml/2006/main">
            <a:fillRect l="0" t="0" r="0" b="0"/>
          </a:stretch>
        </p:blipFill>
        <p:spPr>
          <a:xfrm xmlns:a="http://schemas.openxmlformats.org/drawingml/2006/main">
            <a:off x="9286646" y="1889150"/>
            <a:ext cx="427939" cy="427939"/>
          </a:xfrm>
          <a:prstGeom xmlns:a="http://schemas.openxmlformats.org/drawingml/2006/main" prst="rect">
            <a:avLst/>
          </a:prstGeom>
        </p:spPr>
      </p:pic>
      <p:sp>
        <p:nvSpPr>
          <p:cNvPr id="24" name="Text 17">
            <a:extLst xmlns:a="http://schemas.openxmlformats.org/drawingml/2006/main">
              <a:ext uri="{FF2B5EF4-FFF2-40B4-BE49-F238E27FC236}">
                <a16:creationId xmlns:a16="http://schemas.microsoft.com/office/drawing/2014/main" id="{286A432A-C303-42B0-AB2B-FCD8EFFAF41C}"/>
              </a:ext>
            </a:extLst>
          </p:cNvPr>
          <p:cNvSpPr>
            <a:spLocks xmlns:a="http://schemas.openxmlformats.org/drawingml/2006/main" noGrp="1"/>
          </p:cNvSpPr>
          <p:nvPr/>
        </p:nvSpPr>
        <p:spPr>
          <a:xfrm xmlns:a="http://schemas.openxmlformats.org/drawingml/2006/main">
            <a:off x="9226296" y="246888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Visualisierung</a:t>
            </a:r>
          </a:p>
        </p:txBody>
      </p:sp>
      <p:sp>
        <p:nvSpPr>
          <p:cNvPr id="25" name="Text 18">
            <a:extLst xmlns:a="http://schemas.openxmlformats.org/drawingml/2006/main">
              <a:ext uri="{FF2B5EF4-FFF2-40B4-BE49-F238E27FC236}">
                <a16:creationId xmlns:a16="http://schemas.microsoft.com/office/drawing/2014/main" id="{5AF18252-52C6-4998-BDE3-AA36C4D83848}"/>
              </a:ext>
            </a:extLst>
          </p:cNvPr>
          <p:cNvSpPr>
            <a:spLocks xmlns:a="http://schemas.openxmlformats.org/drawingml/2006/main" noGrp="1"/>
          </p:cNvSpPr>
          <p:nvPr/>
        </p:nvSpPr>
        <p:spPr>
          <a:xfrm xmlns:a="http://schemas.openxmlformats.org/drawingml/2006/main">
            <a:off x="9226296" y="2880360"/>
            <a:ext cx="21945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Plotly</a:t>
            </a:r>
          </a:p>
          <a:p xmlns:a="http://schemas.openxmlformats.org/drawingml/2006/main">
            <a:pPr marL="0" indent="0">
              <a:buNone/>
            </a:pPr>
            <a:r>
              <a:rPr sz="1150">
                <a:solidFill>
                  <a:srgbClr val="5B6259"/>
                </a:solidFill>
                <a:latin typeface="Calibri"/>
                <a:ea typeface="Calibri"/>
                <a:cs typeface="Calibri"/>
              </a:rPr>
              <a:t>(interaktive Charts)</a:t>
            </a:r>
          </a:p>
        </p:txBody>
      </p:sp>
      <p:sp>
        <p:nvSpPr>
          <p:cNvPr id="26" name="Shape 19">
            <a:extLst xmlns:a="http://schemas.openxmlformats.org/drawingml/2006/main">
              <a:ext uri="{FF2B5EF4-FFF2-40B4-BE49-F238E27FC236}">
                <a16:creationId xmlns:a16="http://schemas.microsoft.com/office/drawing/2014/main" id="{584C6FCA-7DD2-4409-BF74-F17258B263A3}"/>
              </a:ext>
            </a:extLst>
          </p:cNvPr>
          <p:cNvSpPr>
            <a:spLocks xmlns:a="http://schemas.openxmlformats.org/drawingml/2006/main" noGrp="1"/>
          </p:cNvSpPr>
          <p:nvPr/>
        </p:nvSpPr>
        <p:spPr>
          <a:xfrm xmlns:a="http://schemas.openxmlformats.org/drawingml/2006/main">
            <a:off x="548640" y="3840480"/>
            <a:ext cx="2651760" cy="20574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7" name="Shape 20">
            <a:extLst xmlns:a="http://schemas.openxmlformats.org/drawingml/2006/main">
              <a:ext uri="{FF2B5EF4-FFF2-40B4-BE49-F238E27FC236}">
                <a16:creationId xmlns:a16="http://schemas.microsoft.com/office/drawing/2014/main" id="{4FE68C70-2A0B-4E88-8350-6ADFB6291D10}"/>
              </a:ext>
            </a:extLst>
          </p:cNvPr>
          <p:cNvSpPr>
            <a:spLocks xmlns:a="http://schemas.openxmlformats.org/drawingml/2006/main" noGrp="1"/>
          </p:cNvSpPr>
          <p:nvPr/>
        </p:nvSpPr>
        <p:spPr>
          <a:xfrm xmlns:a="http://schemas.openxmlformats.org/drawingml/2006/main">
            <a:off x="777240" y="4069080"/>
            <a:ext cx="548640" cy="548640"/>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83" name="Image 5"/>
          <p:cNvPicPr>
            <a:picLocks xmlns:a="http://schemas.openxmlformats.org/drawingml/2006/main" noChangeAspect="1"/>
          </p:cNvPicPr>
          <p:nvPr/>
        </p:nvPicPr>
        <p:blipFill>
          <a:blip xmlns:r="http://schemas.openxmlformats.org/officeDocument/2006/relationships" xmlns:a="http://schemas.openxmlformats.org/drawingml/2006/main" r:embed="R51d1646d96cc4be1"/>
          <a:stretch xmlns:a="http://schemas.openxmlformats.org/drawingml/2006/main">
            <a:fillRect l="0" t="0" r="0" b="0"/>
          </a:stretch>
        </p:blipFill>
        <p:spPr>
          <a:xfrm xmlns:a="http://schemas.openxmlformats.org/drawingml/2006/main">
            <a:off x="837590" y="4129430"/>
            <a:ext cx="427939" cy="427939"/>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9DDF6FC8-ADBE-492B-A74D-0B33D582B063}"/>
              </a:ext>
            </a:extLst>
          </p:cNvPr>
          <p:cNvSpPr>
            <a:spLocks xmlns:a="http://schemas.openxmlformats.org/drawingml/2006/main" noGrp="1"/>
          </p:cNvSpPr>
          <p:nvPr/>
        </p:nvSpPr>
        <p:spPr>
          <a:xfrm xmlns:a="http://schemas.openxmlformats.org/drawingml/2006/main">
            <a:off x="777240" y="470916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Erklärbarkeit</a:t>
            </a:r>
          </a:p>
        </p:txBody>
      </p:sp>
      <p:sp>
        <p:nvSpPr>
          <p:cNvPr id="30" name="Text 22">
            <a:extLst xmlns:a="http://schemas.openxmlformats.org/drawingml/2006/main">
              <a:ext uri="{FF2B5EF4-FFF2-40B4-BE49-F238E27FC236}">
                <a16:creationId xmlns:a16="http://schemas.microsoft.com/office/drawing/2014/main" id="{D018D837-A9FC-4967-9204-F8D621050208}"/>
              </a:ext>
            </a:extLst>
          </p:cNvPr>
          <p:cNvSpPr>
            <a:spLocks xmlns:a="http://schemas.openxmlformats.org/drawingml/2006/main" noGrp="1"/>
          </p:cNvSpPr>
          <p:nvPr/>
        </p:nvSpPr>
        <p:spPr>
          <a:xfrm xmlns:a="http://schemas.openxmlformats.org/drawingml/2006/main">
            <a:off x="777240" y="5120640"/>
            <a:ext cx="21945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SHAP</a:t>
            </a:r>
          </a:p>
          <a:p xmlns:a="http://schemas.openxmlformats.org/drawingml/2006/main">
            <a:pPr marL="0" indent="0">
              <a:buNone/>
            </a:pPr>
            <a:r>
              <a:rPr sz="1150">
                <a:solidFill>
                  <a:srgbClr val="5B6259"/>
                </a:solidFill>
                <a:latin typeface="Calibri"/>
                <a:ea typeface="Calibri"/>
                <a:cs typeface="Calibri"/>
              </a:rPr>
              <a:t>(TreeExplainer)</a:t>
            </a:r>
          </a:p>
        </p:txBody>
      </p:sp>
      <p:sp>
        <p:nvSpPr>
          <p:cNvPr id="31" name="Shape 23">
            <a:extLst xmlns:a="http://schemas.openxmlformats.org/drawingml/2006/main">
              <a:ext uri="{FF2B5EF4-FFF2-40B4-BE49-F238E27FC236}">
                <a16:creationId xmlns:a16="http://schemas.microsoft.com/office/drawing/2014/main" id="{4375FC9B-ECA2-4F5A-AD5F-1EA2AAFFC9AB}"/>
              </a:ext>
            </a:extLst>
          </p:cNvPr>
          <p:cNvSpPr>
            <a:spLocks xmlns:a="http://schemas.openxmlformats.org/drawingml/2006/main" noGrp="1"/>
          </p:cNvSpPr>
          <p:nvPr/>
        </p:nvSpPr>
        <p:spPr>
          <a:xfrm xmlns:a="http://schemas.openxmlformats.org/drawingml/2006/main">
            <a:off x="3364992" y="3840480"/>
            <a:ext cx="2651760" cy="20574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32" name="Shape 24">
            <a:extLst xmlns:a="http://schemas.openxmlformats.org/drawingml/2006/main">
              <a:ext uri="{FF2B5EF4-FFF2-40B4-BE49-F238E27FC236}">
                <a16:creationId xmlns:a16="http://schemas.microsoft.com/office/drawing/2014/main" id="{A83A7584-926A-4491-8105-E30B91FF612F}"/>
              </a:ext>
            </a:extLst>
          </p:cNvPr>
          <p:cNvSpPr>
            <a:spLocks xmlns:a="http://schemas.openxmlformats.org/drawingml/2006/main" noGrp="1"/>
          </p:cNvSpPr>
          <p:nvPr/>
        </p:nvSpPr>
        <p:spPr>
          <a:xfrm xmlns:a="http://schemas.openxmlformats.org/drawingml/2006/main">
            <a:off x="3593592" y="4069080"/>
            <a:ext cx="548640" cy="548640"/>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fb7ffc14810046b0"/>
          <a:stretch xmlns:a="http://schemas.openxmlformats.org/drawingml/2006/main">
            <a:fillRect l="0" t="0" r="0" b="0"/>
          </a:stretch>
        </p:blipFill>
        <p:spPr>
          <a:xfrm xmlns:a="http://schemas.openxmlformats.org/drawingml/2006/main">
            <a:off x="3653942" y="4129430"/>
            <a:ext cx="427939" cy="427939"/>
          </a:xfrm>
          <a:prstGeom xmlns:a="http://schemas.openxmlformats.org/drawingml/2006/main" prst="rect">
            <a:avLst/>
          </a:prstGeom>
        </p:spPr>
      </p:pic>
      <p:sp>
        <p:nvSpPr>
          <p:cNvPr id="34" name="Text 25">
            <a:extLst xmlns:a="http://schemas.openxmlformats.org/drawingml/2006/main">
              <a:ext uri="{FF2B5EF4-FFF2-40B4-BE49-F238E27FC236}">
                <a16:creationId xmlns:a16="http://schemas.microsoft.com/office/drawing/2014/main" id="{252EFFE9-8822-4E78-BE6F-F7FB09CAD766}"/>
              </a:ext>
            </a:extLst>
          </p:cNvPr>
          <p:cNvSpPr>
            <a:spLocks xmlns:a="http://schemas.openxmlformats.org/drawingml/2006/main" noGrp="1"/>
          </p:cNvSpPr>
          <p:nvPr/>
        </p:nvSpPr>
        <p:spPr>
          <a:xfrm xmlns:a="http://schemas.openxmlformats.org/drawingml/2006/main">
            <a:off x="3593592" y="470916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Externe Dienste</a:t>
            </a:r>
          </a:p>
        </p:txBody>
      </p:sp>
      <p:sp>
        <p:nvSpPr>
          <p:cNvPr id="35" name="Text 26">
            <a:extLst xmlns:a="http://schemas.openxmlformats.org/drawingml/2006/main">
              <a:ext uri="{FF2B5EF4-FFF2-40B4-BE49-F238E27FC236}">
                <a16:creationId xmlns:a16="http://schemas.microsoft.com/office/drawing/2014/main" id="{E559D1D7-95CD-4146-AE8D-B665D3AC0E38}"/>
              </a:ext>
            </a:extLst>
          </p:cNvPr>
          <p:cNvSpPr>
            <a:spLocks xmlns:a="http://schemas.openxmlformats.org/drawingml/2006/main" noGrp="1"/>
          </p:cNvSpPr>
          <p:nvPr/>
        </p:nvSpPr>
        <p:spPr>
          <a:xfrm xmlns:a="http://schemas.openxmlformats.org/drawingml/2006/main">
            <a:off x="3593592" y="5120640"/>
            <a:ext cx="21945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yfinance · NewsAPI</a:t>
            </a:r>
          </a:p>
          <a:p xmlns:a="http://schemas.openxmlformats.org/drawingml/2006/main">
            <a:pPr marL="0" indent="0">
              <a:buNone/>
            </a:pPr>
            <a:r>
              <a:rPr sz="1150">
                <a:solidFill>
                  <a:srgbClr val="5B6259"/>
                </a:solidFill>
                <a:latin typeface="Calibri"/>
                <a:ea typeface="Calibri"/>
                <a:cs typeface="Calibri"/>
              </a:rPr>
              <a:t>Google Gemini</a:t>
            </a:r>
          </a:p>
        </p:txBody>
      </p:sp>
      <p:sp>
        <p:nvSpPr>
          <p:cNvPr id="36" name="Shape 27">
            <a:extLst xmlns:a="http://schemas.openxmlformats.org/drawingml/2006/main">
              <a:ext uri="{FF2B5EF4-FFF2-40B4-BE49-F238E27FC236}">
                <a16:creationId xmlns:a16="http://schemas.microsoft.com/office/drawing/2014/main" id="{915C7A71-642B-482F-886D-A46B6BD44E82}"/>
              </a:ext>
            </a:extLst>
          </p:cNvPr>
          <p:cNvSpPr>
            <a:spLocks xmlns:a="http://schemas.openxmlformats.org/drawingml/2006/main" noGrp="1"/>
          </p:cNvSpPr>
          <p:nvPr/>
        </p:nvSpPr>
        <p:spPr>
          <a:xfrm xmlns:a="http://schemas.openxmlformats.org/drawingml/2006/main">
            <a:off x="6181344" y="3840480"/>
            <a:ext cx="2651760" cy="20574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37" name="Shape 28">
            <a:extLst xmlns:a="http://schemas.openxmlformats.org/drawingml/2006/main">
              <a:ext uri="{FF2B5EF4-FFF2-40B4-BE49-F238E27FC236}">
                <a16:creationId xmlns:a16="http://schemas.microsoft.com/office/drawing/2014/main" id="{CC433CD4-CC01-4D9F-BF51-41C88CBFA6E7}"/>
              </a:ext>
            </a:extLst>
          </p:cNvPr>
          <p:cNvSpPr>
            <a:spLocks xmlns:a="http://schemas.openxmlformats.org/drawingml/2006/main" noGrp="1"/>
          </p:cNvSpPr>
          <p:nvPr/>
        </p:nvSpPr>
        <p:spPr>
          <a:xfrm xmlns:a="http://schemas.openxmlformats.org/drawingml/2006/main">
            <a:off x="6409944" y="4069080"/>
            <a:ext cx="548640" cy="548640"/>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93" name="Image 7"/>
          <p:cNvPicPr>
            <a:picLocks xmlns:a="http://schemas.openxmlformats.org/drawingml/2006/main" noChangeAspect="1"/>
          </p:cNvPicPr>
          <p:nvPr/>
        </p:nvPicPr>
        <p:blipFill>
          <a:blip xmlns:r="http://schemas.openxmlformats.org/officeDocument/2006/relationships" xmlns:a="http://schemas.openxmlformats.org/drawingml/2006/main" r:embed="Rfcc7133815324368"/>
          <a:stretch xmlns:a="http://schemas.openxmlformats.org/drawingml/2006/main">
            <a:fillRect l="0" t="0" r="0" b="0"/>
          </a:stretch>
        </p:blipFill>
        <p:spPr>
          <a:xfrm xmlns:a="http://schemas.openxmlformats.org/drawingml/2006/main">
            <a:off x="6470294" y="4129430"/>
            <a:ext cx="427939" cy="427939"/>
          </a:xfrm>
          <a:prstGeom xmlns:a="http://schemas.openxmlformats.org/drawingml/2006/main" prst="rect">
            <a:avLst/>
          </a:prstGeom>
        </p:spPr>
      </p:pic>
      <p:sp>
        <p:nvSpPr>
          <p:cNvPr id="39" name="Text 29">
            <a:extLst xmlns:a="http://schemas.openxmlformats.org/drawingml/2006/main">
              <a:ext uri="{FF2B5EF4-FFF2-40B4-BE49-F238E27FC236}">
                <a16:creationId xmlns:a16="http://schemas.microsoft.com/office/drawing/2014/main" id="{5C940664-FE6A-4277-BC34-F3DF3FD4AAE6}"/>
              </a:ext>
            </a:extLst>
          </p:cNvPr>
          <p:cNvSpPr>
            <a:spLocks xmlns:a="http://schemas.openxmlformats.org/drawingml/2006/main" noGrp="1"/>
          </p:cNvSpPr>
          <p:nvPr/>
        </p:nvSpPr>
        <p:spPr>
          <a:xfrm xmlns:a="http://schemas.openxmlformats.org/drawingml/2006/main">
            <a:off x="6409944" y="470916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Qualität</a:t>
            </a:r>
          </a:p>
        </p:txBody>
      </p:sp>
      <p:sp>
        <p:nvSpPr>
          <p:cNvPr id="40" name="Text 30">
            <a:extLst xmlns:a="http://schemas.openxmlformats.org/drawingml/2006/main">
              <a:ext uri="{FF2B5EF4-FFF2-40B4-BE49-F238E27FC236}">
                <a16:creationId xmlns:a16="http://schemas.microsoft.com/office/drawing/2014/main" id="{0EC477F0-146E-432A-85E0-A069D6562E3F}"/>
              </a:ext>
            </a:extLst>
          </p:cNvPr>
          <p:cNvSpPr>
            <a:spLocks xmlns:a="http://schemas.openxmlformats.org/drawingml/2006/main" noGrp="1"/>
          </p:cNvSpPr>
          <p:nvPr/>
        </p:nvSpPr>
        <p:spPr>
          <a:xfrm xmlns:a="http://schemas.openxmlformats.org/drawingml/2006/main">
            <a:off x="6409944" y="5120640"/>
            <a:ext cx="21945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pytest · Struktur-Checks</a:t>
            </a:r>
          </a:p>
          <a:p xmlns:a="http://schemas.openxmlformats.org/drawingml/2006/main">
            <a:pPr marL="0" indent="0">
              <a:buNone/>
            </a:pPr>
            <a:r>
              <a:rPr sz="1150">
                <a:solidFill>
                  <a:srgbClr val="5B6259"/>
                </a:solidFill>
                <a:latin typeface="Calibri"/>
                <a:ea typeface="Calibri"/>
                <a:cs typeface="Calibri"/>
              </a:rPr>
              <a:t>Walk-forward-Validierung</a:t>
            </a:r>
          </a:p>
        </p:txBody>
      </p:sp>
      <p:sp>
        <p:nvSpPr>
          <p:cNvPr id="41" name="Shape 31">
            <a:extLst xmlns:a="http://schemas.openxmlformats.org/drawingml/2006/main">
              <a:ext uri="{FF2B5EF4-FFF2-40B4-BE49-F238E27FC236}">
                <a16:creationId xmlns:a16="http://schemas.microsoft.com/office/drawing/2014/main" id="{8A446A87-96CC-45CE-91F7-791F8AA7FB51}"/>
              </a:ext>
            </a:extLst>
          </p:cNvPr>
          <p:cNvSpPr>
            <a:spLocks xmlns:a="http://schemas.openxmlformats.org/drawingml/2006/main" noGrp="1"/>
          </p:cNvSpPr>
          <p:nvPr/>
        </p:nvSpPr>
        <p:spPr>
          <a:xfrm xmlns:a="http://schemas.openxmlformats.org/drawingml/2006/main">
            <a:off x="8997696" y="3840480"/>
            <a:ext cx="2651760" cy="20574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DE2DA"/>
            </a:solidFill>
            <a:prstDash val="solid"/>
          </a:ln>
          <a:effectLst xmlns:a="http://schemas.openxmlformats.org/drawingml/2006/main">
            <a:outerShdw blurRad="101600" dist="38100" dir="54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42" name="Shape 32">
            <a:extLst xmlns:a="http://schemas.openxmlformats.org/drawingml/2006/main">
              <a:ext uri="{FF2B5EF4-FFF2-40B4-BE49-F238E27FC236}">
                <a16:creationId xmlns:a16="http://schemas.microsoft.com/office/drawing/2014/main" id="{D348BE40-D948-409E-AC11-F4659E3959A4}"/>
              </a:ext>
            </a:extLst>
          </p:cNvPr>
          <p:cNvSpPr>
            <a:spLocks xmlns:a="http://schemas.openxmlformats.org/drawingml/2006/main" noGrp="1"/>
          </p:cNvSpPr>
          <p:nvPr/>
        </p:nvSpPr>
        <p:spPr>
          <a:xfrm xmlns:a="http://schemas.openxmlformats.org/drawingml/2006/main">
            <a:off x="9226296" y="4069080"/>
            <a:ext cx="548640" cy="548640"/>
          </a:xfrm>
          <a:prstGeom xmlns:a="http://schemas.openxmlformats.org/drawingml/2006/main" prst="ellipse">
            <a:avLst/>
          </a:prstGeom>
          <a:solidFill xmlns:a="http://schemas.openxmlformats.org/drawingml/2006/main">
            <a:srgbClr val="E4EBE7"/>
          </a:solidFill>
        </p:spPr>
        <p:txBody>
          <a:bodyPr xmlns:a="http://schemas.openxmlformats.org/drawingml/2006/main"/>
          <a:lstStyle xmlns:a="http://schemas.openxmlformats.org/drawingml/2006/main"/>
          <a:p xmlns:a="http://schemas.openxmlformats.org/drawingml/2006/main"/>
        </p:txBody>
      </p:sp>
      <p:pic>
        <p:nvPicPr>
          <p:cNvPr id="98" name="Image 8"/>
          <p:cNvPicPr>
            <a:picLocks xmlns:a="http://schemas.openxmlformats.org/drawingml/2006/main" noChangeAspect="1"/>
          </p:cNvPicPr>
          <p:nvPr/>
        </p:nvPicPr>
        <p:blipFill>
          <a:blip xmlns:r="http://schemas.openxmlformats.org/officeDocument/2006/relationships" xmlns:a="http://schemas.openxmlformats.org/drawingml/2006/main" r:embed="R0387dd1cd77c4ac2"/>
          <a:stretch xmlns:a="http://schemas.openxmlformats.org/drawingml/2006/main">
            <a:fillRect l="0" t="0" r="0" b="0"/>
          </a:stretch>
        </p:blipFill>
        <p:spPr>
          <a:xfrm xmlns:a="http://schemas.openxmlformats.org/drawingml/2006/main">
            <a:off x="9286646" y="4129430"/>
            <a:ext cx="427939" cy="427939"/>
          </a:xfrm>
          <a:prstGeom xmlns:a="http://schemas.openxmlformats.org/drawingml/2006/main" prst="rect">
            <a:avLst/>
          </a:prstGeom>
        </p:spPr>
      </p:pic>
      <p:sp>
        <p:nvSpPr>
          <p:cNvPr id="44" name="Text 33">
            <a:extLst xmlns:a="http://schemas.openxmlformats.org/drawingml/2006/main">
              <a:ext uri="{FF2B5EF4-FFF2-40B4-BE49-F238E27FC236}">
                <a16:creationId xmlns:a16="http://schemas.microsoft.com/office/drawing/2014/main" id="{98FC4B71-9C6D-4EBA-ADCA-574660E147D4}"/>
              </a:ext>
            </a:extLst>
          </p:cNvPr>
          <p:cNvSpPr>
            <a:spLocks xmlns:a="http://schemas.openxmlformats.org/drawingml/2006/main" noGrp="1"/>
          </p:cNvSpPr>
          <p:nvPr/>
        </p:nvSpPr>
        <p:spPr>
          <a:xfrm xmlns:a="http://schemas.openxmlformats.org/drawingml/2006/main">
            <a:off x="9226296" y="4709160"/>
            <a:ext cx="2194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F5D53"/>
                </a:solidFill>
                <a:latin typeface="Cambria"/>
                <a:ea typeface="Cambria"/>
                <a:cs typeface="Cambria"/>
              </a:rPr>
              <a:t>Dokumentation</a:t>
            </a:r>
          </a:p>
        </p:txBody>
      </p:sp>
      <p:sp>
        <p:nvSpPr>
          <p:cNvPr id="45" name="Text 34">
            <a:extLst xmlns:a="http://schemas.openxmlformats.org/drawingml/2006/main">
              <a:ext uri="{FF2B5EF4-FFF2-40B4-BE49-F238E27FC236}">
                <a16:creationId xmlns:a16="http://schemas.microsoft.com/office/drawing/2014/main" id="{EFE29EA3-1AF2-4239-A88B-EB425B5D7681}"/>
              </a:ext>
            </a:extLst>
          </p:cNvPr>
          <p:cNvSpPr>
            <a:spLocks xmlns:a="http://schemas.openxmlformats.org/drawingml/2006/main" noGrp="1"/>
          </p:cNvSpPr>
          <p:nvPr/>
        </p:nvSpPr>
        <p:spPr>
          <a:xfrm xmlns:a="http://schemas.openxmlformats.org/drawingml/2006/main">
            <a:off x="9226296" y="5120640"/>
            <a:ext cx="21945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6259"/>
                </a:solidFill>
                <a:latin typeface="Calibri"/>
                <a:ea typeface="Calibri"/>
                <a:cs typeface="Calibri"/>
              </a:rPr>
              <a:t>8 Jupyter-Notebooks</a:t>
            </a:r>
          </a:p>
          <a:p xmlns:a="http://schemas.openxmlformats.org/drawingml/2006/main">
            <a:pPr marL="0" indent="0">
              <a:buNone/>
            </a:pPr>
            <a:r>
              <a:rPr sz="1150">
                <a:solidFill>
                  <a:srgbClr val="5B6259"/>
                </a:solidFill>
                <a:latin typeface="Calibri"/>
                <a:ea typeface="Calibri"/>
                <a:cs typeface="Calibri"/>
              </a:rPr>
              <a:t>QUA³CK · Lernstudio</a:t>
            </a:r>
          </a:p>
        </p:txBody>
      </p:sp>
      <p:sp>
        <p:nvSpPr>
          <p:cNvPr id="46" name="Text 35">
            <a:extLst xmlns:a="http://schemas.openxmlformats.org/drawingml/2006/main">
              <a:ext uri="{FF2B5EF4-FFF2-40B4-BE49-F238E27FC236}">
                <a16:creationId xmlns:a16="http://schemas.microsoft.com/office/drawing/2014/main" id="{4E283E74-8912-4452-903A-1E3745417330}"/>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B6259"/>
                </a:solidFill>
                <a:latin typeface="Calibri"/>
                <a:ea typeface="Calibri"/>
                <a:cs typeface="Calibri"/>
              </a:rPr>
              <a:t>WealthScope AI</a:t>
            </a:r>
          </a:p>
        </p:txBody>
      </p:sp>
      <p:sp>
        <p:nvSpPr>
          <p:cNvPr id="47" name="Text 36">
            <a:extLst xmlns:a="http://schemas.openxmlformats.org/drawingml/2006/main">
              <a:ext uri="{FF2B5EF4-FFF2-40B4-BE49-F238E27FC236}">
                <a16:creationId xmlns:a16="http://schemas.microsoft.com/office/drawing/2014/main" id="{AF7248C1-007E-4DC0-8F6D-F25AE82621DC}"/>
              </a:ext>
            </a:extLst>
          </p:cNvPr>
          <p:cNvSpPr>
            <a:spLocks xmlns:a="http://schemas.openxmlformats.org/drawingml/2006/main" noGrp="1"/>
          </p:cNvSpPr>
          <p:nvPr/>
        </p:nvSpPr>
        <p:spPr>
          <a:xfrm xmlns:a="http://schemas.openxmlformats.org/drawingml/2006/main">
            <a:off x="11274552" y="647395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B6259"/>
                </a:solidFill>
                <a:latin typeface="Calibri"/>
                <a:ea typeface="Calibri"/>
                <a:cs typeface="Calibri"/>
              </a:rPr>
              <a:t>33</a:t>
            </a:r>
          </a:p>
        </p:txBody>
      </p:sp>
    </p:spTree>
    <p:extLst>
      <p:ext uri="{BB962C8B-B14F-4D97-AF65-F5344CB8AC3E}">
        <p14:creationId xmlns:p14="http://schemas.microsoft.com/office/powerpoint/2010/main" val="27865373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2026-08-04T18:25:02.5580000Z</dcterms:created>
  <dcterms:modified xsi:type="dcterms:W3CDTF">2026-08-04T18:25:02.5580000Z</dcterms:modified>
</coreProperties>
</file>