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89336" cy="2240280"/>
          </a:xfrm>
          <a:prstGeom prst="rect">
            <a:avLst/>
          </a:prstGeom>
          <a:solidFill>
            <a:srgbClr val="10130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38912"/>
            <a:ext cx="841248" cy="841248"/>
          </a:xfrm>
          <a:prstGeom prst="ellipse">
            <a:avLst/>
          </a:prstGeom>
          <a:solidFill>
            <a:srgbClr val="23302A"/>
          </a:solidFill>
          <a:ln/>
        </p:spPr>
      </p:sp>
      <p:pic>
        <p:nvPicPr>
          <p:cNvPr id="4" name="Image 0" descr="/private/tmp/claude-501/-Users-soufianefed-Desktop-SosoSignalBot/fd57b771-7fec-4f60-a214-d2b5ebb5bd05/scratchpad/pptx_build/icons/chartline_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30936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27048" y="365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WealthScope AI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1545336" y="10515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C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ML-gestützte Finanzanalyse · QUA³CK-Prozessmodell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1719072"/>
            <a:ext cx="9683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und Big Data (DSDABD072501)  ·  Tutor: Klaus Quibeldey-Cirkel  ·  Soufiane Fedan  ·  Matrikelnr. 10247259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468880"/>
            <a:ext cx="9683496" cy="868680"/>
          </a:xfrm>
          <a:prstGeom prst="roundRect">
            <a:avLst>
              <a:gd name="adj" fmla="val 8421"/>
            </a:avLst>
          </a:prstGeom>
          <a:solidFill>
            <a:srgbClr val="E4EBE7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468880"/>
            <a:ext cx="9226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D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Leitfrage:  </a:t>
            </a:r>
            <a:pPr indent="0" marL="0">
              <a:buNone/>
            </a:pPr>
            <a:r>
              <a:rPr lang="en-US" sz="13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lassen sich historische US-Aktienmarktdaten nutzen, um mit Machine Learning eine interaktive Finanzanalyse-App zu bauen, die technische Analyse, ML-Signal und Risikoplanung nachvollziehbar verbindet — und ehrlich über ihre Grenzen ist?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3566160"/>
            <a:ext cx="9683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WISSENSCHAFTLICHE FAHRPLAN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02920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02920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907177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907177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1907177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311434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311434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3311434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715691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715691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4715691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119949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119949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6119949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524206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524206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300" dirty="0"/>
          </a:p>
        </p:txBody>
      </p:sp>
      <p:sp>
        <p:nvSpPr>
          <p:cNvPr id="28" name="Text 25"/>
          <p:cNvSpPr/>
          <p:nvPr/>
        </p:nvSpPr>
        <p:spPr>
          <a:xfrm>
            <a:off x="7524206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Conclude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8928463" y="3886200"/>
            <a:ext cx="1257953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928463" y="3977640"/>
            <a:ext cx="1257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300" dirty="0"/>
          </a:p>
        </p:txBody>
      </p:sp>
      <p:sp>
        <p:nvSpPr>
          <p:cNvPr id="31" name="Text 28"/>
          <p:cNvSpPr/>
          <p:nvPr/>
        </p:nvSpPr>
        <p:spPr>
          <a:xfrm>
            <a:off x="8928463" y="4434840"/>
            <a:ext cx="125795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02920" y="5074920"/>
            <a:ext cx="2249424" cy="960120"/>
          </a:xfrm>
          <a:prstGeom prst="roundRect">
            <a:avLst>
              <a:gd name="adj" fmla="val 6667"/>
            </a:avLst>
          </a:prstGeom>
          <a:solidFill>
            <a:srgbClr val="E4EBE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502920" y="51663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192.119</a:t>
            </a:r>
            <a:endParaRPr lang="en-US" sz="2500" dirty="0"/>
          </a:p>
        </p:txBody>
      </p:sp>
      <p:sp>
        <p:nvSpPr>
          <p:cNvPr id="34" name="Text 31"/>
          <p:cNvSpPr/>
          <p:nvPr/>
        </p:nvSpPr>
        <p:spPr>
          <a:xfrm>
            <a:off x="502920" y="567842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Datenpunkte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2980944" y="5074920"/>
            <a:ext cx="2249424" cy="960120"/>
          </a:xfrm>
          <a:prstGeom prst="roundRect">
            <a:avLst>
              <a:gd name="adj" fmla="val 6667"/>
            </a:avLst>
          </a:prstGeom>
          <a:solidFill>
            <a:srgbClr val="E4EBE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2980944" y="51663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500" dirty="0"/>
          </a:p>
        </p:txBody>
      </p:sp>
      <p:sp>
        <p:nvSpPr>
          <p:cNvPr id="37" name="Text 34"/>
          <p:cNvSpPr/>
          <p:nvPr/>
        </p:nvSpPr>
        <p:spPr>
          <a:xfrm>
            <a:off x="2980944" y="567842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Blue-Chip-Ticker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458968" y="5074920"/>
            <a:ext cx="2249424" cy="960120"/>
          </a:xfrm>
          <a:prstGeom prst="roundRect">
            <a:avLst>
              <a:gd name="adj" fmla="val 6667"/>
            </a:avLst>
          </a:prstGeom>
          <a:solidFill>
            <a:srgbClr val="E4EBE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5458968" y="51663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51,9 %</a:t>
            </a:r>
            <a:endParaRPr lang="en-US" sz="2500" dirty="0"/>
          </a:p>
        </p:txBody>
      </p:sp>
      <p:sp>
        <p:nvSpPr>
          <p:cNvPr id="40" name="Text 37"/>
          <p:cNvSpPr/>
          <p:nvPr/>
        </p:nvSpPr>
        <p:spPr>
          <a:xfrm>
            <a:off x="5458968" y="567842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Test-Accuracy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936992" y="5074920"/>
            <a:ext cx="2249424" cy="960120"/>
          </a:xfrm>
          <a:prstGeom prst="roundRect">
            <a:avLst>
              <a:gd name="adj" fmla="val 6667"/>
            </a:avLst>
          </a:prstGeom>
          <a:solidFill>
            <a:srgbClr val="E4EBE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36992" y="516636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97C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0,519</a:t>
            </a:r>
            <a:endParaRPr lang="en-US" sz="2500" dirty="0"/>
          </a:p>
        </p:txBody>
      </p:sp>
      <p:sp>
        <p:nvSpPr>
          <p:cNvPr id="43" name="Text 40"/>
          <p:cNvSpPr/>
          <p:nvPr/>
        </p:nvSpPr>
        <p:spPr>
          <a:xfrm>
            <a:off x="7936992" y="567842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(Out-of-Time)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502920" y="6263640"/>
            <a:ext cx="9683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KERNANALYSEN (ML-INSIGHTS)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502920" y="6565392"/>
            <a:ext cx="4704588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46" name="Image 1" descr="/private/tmp/claude-501/-Users-soufianefed-Desktop-SosoSignalBot/fd57b771-7fec-4f60-a214-d2b5ebb5bd05/scratchpad/pptx_build/shots/chart_korrel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6702552"/>
            <a:ext cx="4430268" cy="1737360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640080" y="8439912"/>
            <a:ext cx="4430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Abb. 1: Pearson-Korrelation der Features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5481828" y="6565392"/>
            <a:ext cx="4704588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65" name="Picture 64" descr="poster_confusion_matri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8988" y="6702552"/>
            <a:ext cx="4430268" cy="1737360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5618988" y="8439912"/>
            <a:ext cx="44302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Abb. 2: Konfusionsmatrix (Test-Set)</a:t>
            </a:r>
            <a:endParaRPr lang="en-US" sz="900" dirty="0"/>
          </a:p>
        </p:txBody>
      </p:sp>
      <p:sp>
        <p:nvSpPr>
          <p:cNvPr id="51" name="Shape 46"/>
          <p:cNvSpPr/>
          <p:nvPr/>
        </p:nvSpPr>
        <p:spPr>
          <a:xfrm>
            <a:off x="502920" y="8942832"/>
            <a:ext cx="9683496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pic>
        <p:nvPicPr>
          <p:cNvPr id="64" name="Picture 63" descr="poster_learning_cur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9079992"/>
            <a:ext cx="9409176" cy="1737360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640080" y="10817352"/>
            <a:ext cx="9409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Abb. 3: Lernkurve (ROC-AUC vs. Trainingsgröße, 4 expandierende Walk-forward-Folds) — Quelle: eigene Berechnung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502920" y="11338560"/>
            <a:ext cx="9683496" cy="1143000"/>
          </a:xfrm>
          <a:prstGeom prst="roundRect">
            <a:avLst>
              <a:gd name="adj" fmla="val 5600"/>
            </a:avLst>
          </a:prstGeom>
          <a:solidFill>
            <a:srgbClr val="F3E7C9"/>
          </a:solidFill>
          <a:ln/>
        </p:spPr>
      </p:sp>
      <p:sp>
        <p:nvSpPr>
          <p:cNvPr id="55" name="Text 49"/>
          <p:cNvSpPr/>
          <p:nvPr/>
        </p:nvSpPr>
        <p:spPr>
          <a:xfrm>
            <a:off x="731520" y="11338560"/>
            <a:ext cx="92262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51,9 % das ehrliche Ergebnis ist.  </a:t>
            </a:r>
            <a:pPr indent="0" marL="0">
              <a:buNone/>
            </a:pPr>
            <a:r>
              <a:rPr lang="en-US" sz="125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Test ist zeitlich unangetastet: Training bis 2006, Prüfung auf 2006–2017, dazwischen 20 Handelstage Sperrzone. So bleibt die Accuracy unter der Mehrheitsbaseline von 59,1 % und der ROC-AUC bei 0,519 — H1 ist damit falsifiziert, nicht ungeprüft. Genau das erwartet die Effizienzmarkthypothese (Fama 1970). Ein naiver Zufalls-Split bewertet dieselben Daten mit 0,581: ein 4,2-mal größeres scheinbares Signal.</a:t>
            </a:r>
            <a:endParaRPr lang="en-US" sz="1250" dirty="0"/>
          </a:p>
        </p:txBody>
      </p:sp>
      <p:sp>
        <p:nvSpPr>
          <p:cNvPr id="56" name="Shape 50"/>
          <p:cNvSpPr/>
          <p:nvPr/>
        </p:nvSpPr>
        <p:spPr>
          <a:xfrm>
            <a:off x="502920" y="12664440"/>
            <a:ext cx="47045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685800" y="12755880"/>
            <a:ext cx="43388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Methodik</a:t>
            </a:r>
            <a:endParaRPr lang="en-US" sz="1350" dirty="0"/>
          </a:p>
        </p:txBody>
      </p:sp>
      <p:sp>
        <p:nvSpPr>
          <p:cNvPr id="58" name="Text 52"/>
          <p:cNvSpPr/>
          <p:nvPr/>
        </p:nvSpPr>
        <p:spPr>
          <a:xfrm>
            <a:off x="685800" y="13085064"/>
            <a:ext cx="4338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 (Median-Imputer → RF; StandardScaler nur bei LogReg und Linear SVM, Bäume sind skaleninvariant). Purged Out-of-Time-Test plus 4 expandierende Walk-forward-Folds, alles nur im Trainingsfenster gefittet. 8 Features aus OHLCV, Ziel target_20d.</a:t>
            </a:r>
            <a:endParaRPr lang="en-US" sz="1100" dirty="0"/>
          </a:p>
        </p:txBody>
      </p:sp>
      <p:sp>
        <p:nvSpPr>
          <p:cNvPr id="59" name="Shape 53"/>
          <p:cNvSpPr/>
          <p:nvPr/>
        </p:nvSpPr>
        <p:spPr>
          <a:xfrm>
            <a:off x="5481828" y="12664440"/>
            <a:ext cx="47045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DE2DA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5664708" y="12755880"/>
            <a:ext cx="43388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D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Grenzen (ehrlich benannt)</a:t>
            </a:r>
            <a:endParaRPr lang="en-US" sz="1350" dirty="0"/>
          </a:p>
        </p:txBody>
      </p:sp>
      <p:sp>
        <p:nvSpPr>
          <p:cNvPr id="61" name="Text 55"/>
          <p:cNvSpPr/>
          <p:nvPr/>
        </p:nvSpPr>
        <p:spPr>
          <a:xfrm>
            <a:off x="5664708" y="13085064"/>
            <a:ext cx="4338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exogenen Faktoren (Makro, Geopolitik)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Sentiment im Modell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Statisches Modell ohne Nachtraining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7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Historie garantiert keine Zukunft</a:t>
            </a:r>
            <a:endParaRPr lang="en-US" sz="1100" dirty="0"/>
          </a:p>
        </p:txBody>
      </p:sp>
      <p:sp>
        <p:nvSpPr>
          <p:cNvPr id="62" name="Text 56"/>
          <p:cNvSpPr/>
          <p:nvPr/>
        </p:nvSpPr>
        <p:spPr>
          <a:xfrm>
            <a:off x="502920" y="14191488"/>
            <a:ext cx="9683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9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 (KURZ)</a:t>
            </a:r>
            <a:endParaRPr lang="en-US" sz="1050" dirty="0"/>
          </a:p>
        </p:txBody>
      </p:sp>
      <p:sp>
        <p:nvSpPr>
          <p:cNvPr id="63" name="Text 57"/>
          <p:cNvSpPr/>
          <p:nvPr/>
        </p:nvSpPr>
        <p:spPr>
          <a:xfrm>
            <a:off x="502920" y="14447520"/>
            <a:ext cx="9683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Géron (2023), Praxiseinstieg ML (Kurslehrbuch, Kap. 1–9)  ·  Fama (1970), Efficient Capital Markets  ·  Lundberg &amp; Lee (2017), SHAP  ·  Li et al. (2024), Imputation  ·  Pinheiro et al. (2025), Feature Scaling  ·  Stock et al. (2021), QUA³CK  ·  Daten: Kaggle „US Stocks &amp; ETFs“ (Marjanovic), CC0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Soufiane Fedan</dc:creator>
  <cp:lastModifiedBy>Soufiane Fedan</cp:lastModifiedBy>
  <cp:revision>1</cp:revision>
  <dcterms:created xsi:type="dcterms:W3CDTF">2026-07-11T20:22:07Z</dcterms:created>
  <dcterms:modified xsi:type="dcterms:W3CDTF">2026-07-11T20:22:07Z</dcterms:modified>
</cp:coreProperties>
</file>