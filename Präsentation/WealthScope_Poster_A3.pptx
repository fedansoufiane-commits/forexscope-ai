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2240280"/>
          </a:xfrm>
          <a:prstGeom prst="rect">
            <a:avLst/>
          </a:prstGeom>
          <a:solidFill>
            <a:srgbClr val="10130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841248" cy="841248"/>
          </a:xfrm>
          <a:prstGeom prst="ellipse">
            <a:avLst/>
          </a:prstGeom>
          <a:solidFill>
            <a:srgbClr val="23302A"/>
          </a:solidFill>
          <a:ln/>
        </p:spPr>
      </p:sp>
      <p:pic>
        <p:nvPicPr>
          <p:cNvPr id="4" name="Image 0" descr="/private/tmp/claude-501/-Users-soufianefed-Desktop-SosoSignalBot/fd57b771-7fec-4f60-a214-d2b5ebb5bd05/scratchpad/pptx_build/icons/chartline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30936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7048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WealthScope AI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545336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ML-gestützte Finanzanalyse · QUA³CK-Prozessmodell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719072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und Big Data (DSDABD072501)  ·  Tutor: Klaus Quibeldey-Cirkel  ·  Soufiane Fedan  ·  Matrikelnr. 10247259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468880"/>
            <a:ext cx="9683496" cy="868680"/>
          </a:xfrm>
          <a:prstGeom prst="roundRect">
            <a:avLst>
              <a:gd name="adj" fmla="val 8421"/>
            </a:avLst>
          </a:prstGeom>
          <a:solidFill>
            <a:srgbClr val="E4EBE7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9226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 </a:t>
            </a:r>
            <a:pPr indent="0" marL="0">
              <a:buNone/>
            </a:pPr>
            <a:r>
              <a:rPr lang="en-US" sz="1300" dirty="0">
                <a:solidFill>
                  <a:srgbClr val="17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lassen sich historische US-Aktienmarktdaten nutzen, um mit Machine Learning eine interaktive Finanzanalyse-App zu bauen, die technische Analyse, ML-Signal und Risikoplanung nachvollziehbar verbindet — und ehrlich über ihre Grenzen ist?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566160"/>
            <a:ext cx="9683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WISSENSCHAFTLICHE FAHRPLAN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886200"/>
            <a:ext cx="125795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3977640"/>
            <a:ext cx="12579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02920" y="4434840"/>
            <a:ext cx="12579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907177" y="3886200"/>
            <a:ext cx="125795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907177" y="3977640"/>
            <a:ext cx="12579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1907177" y="4434840"/>
            <a:ext cx="12579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11434" y="3886200"/>
            <a:ext cx="125795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311434" y="3977640"/>
            <a:ext cx="12579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3311434" y="4434840"/>
            <a:ext cx="12579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15691" y="3886200"/>
            <a:ext cx="125795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15691" y="3977640"/>
            <a:ext cx="12579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4715691" y="4434840"/>
            <a:ext cx="12579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19949" y="3886200"/>
            <a:ext cx="125795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19949" y="3977640"/>
            <a:ext cx="12579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6119949" y="4434840"/>
            <a:ext cx="12579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24206" y="3886200"/>
            <a:ext cx="125795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24206" y="3977640"/>
            <a:ext cx="12579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7524206" y="4434840"/>
            <a:ext cx="12579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928463" y="3886200"/>
            <a:ext cx="125795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928463" y="3977640"/>
            <a:ext cx="12579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300" dirty="0"/>
          </a:p>
        </p:txBody>
      </p:sp>
      <p:sp>
        <p:nvSpPr>
          <p:cNvPr id="31" name="Text 28"/>
          <p:cNvSpPr/>
          <p:nvPr/>
        </p:nvSpPr>
        <p:spPr>
          <a:xfrm>
            <a:off x="8928463" y="4434840"/>
            <a:ext cx="12579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2920" y="5074920"/>
            <a:ext cx="2249424" cy="960120"/>
          </a:xfrm>
          <a:prstGeom prst="roundRect">
            <a:avLst>
              <a:gd name="adj" fmla="val 6667"/>
            </a:avLst>
          </a:prstGeom>
          <a:solidFill>
            <a:srgbClr val="E4EBE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02920" y="51663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192.119</a:t>
            </a:r>
            <a:endParaRPr lang="en-US" sz="2500" dirty="0"/>
          </a:p>
        </p:txBody>
      </p:sp>
      <p:sp>
        <p:nvSpPr>
          <p:cNvPr id="34" name="Text 31"/>
          <p:cNvSpPr/>
          <p:nvPr/>
        </p:nvSpPr>
        <p:spPr>
          <a:xfrm>
            <a:off x="502920" y="567842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Datenpunkte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980944" y="5074920"/>
            <a:ext cx="2249424" cy="960120"/>
          </a:xfrm>
          <a:prstGeom prst="roundRect">
            <a:avLst>
              <a:gd name="adj" fmla="val 6667"/>
            </a:avLst>
          </a:prstGeom>
          <a:solidFill>
            <a:srgbClr val="E4EBE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2980944" y="51663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500" dirty="0"/>
          </a:p>
        </p:txBody>
      </p:sp>
      <p:sp>
        <p:nvSpPr>
          <p:cNvPr id="37" name="Text 34"/>
          <p:cNvSpPr/>
          <p:nvPr/>
        </p:nvSpPr>
        <p:spPr>
          <a:xfrm>
            <a:off x="2980944" y="567842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Blue-Chip-Ticker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458968" y="5074920"/>
            <a:ext cx="2249424" cy="960120"/>
          </a:xfrm>
          <a:prstGeom prst="roundRect">
            <a:avLst>
              <a:gd name="adj" fmla="val 6667"/>
            </a:avLst>
          </a:prstGeom>
          <a:solidFill>
            <a:srgbClr val="E4EBE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458968" y="51663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55,3 %</a:t>
            </a:r>
            <a:endParaRPr lang="en-US" sz="2500" dirty="0"/>
          </a:p>
        </p:txBody>
      </p:sp>
      <p:sp>
        <p:nvSpPr>
          <p:cNvPr id="40" name="Text 37"/>
          <p:cNvSpPr/>
          <p:nvPr/>
        </p:nvSpPr>
        <p:spPr>
          <a:xfrm>
            <a:off x="5458968" y="567842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Test-Accuracy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936992" y="5074920"/>
            <a:ext cx="2249424" cy="960120"/>
          </a:xfrm>
          <a:prstGeom prst="roundRect">
            <a:avLst>
              <a:gd name="adj" fmla="val 6667"/>
            </a:avLst>
          </a:prstGeom>
          <a:solidFill>
            <a:srgbClr val="E4EBE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936992" y="51663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97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0,588</a:t>
            </a:r>
            <a:endParaRPr lang="en-US" sz="2500" dirty="0"/>
          </a:p>
        </p:txBody>
      </p:sp>
      <p:sp>
        <p:nvSpPr>
          <p:cNvPr id="43" name="Text 40"/>
          <p:cNvSpPr/>
          <p:nvPr/>
        </p:nvSpPr>
        <p:spPr>
          <a:xfrm>
            <a:off x="7936992" y="567842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★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02920" y="6263640"/>
            <a:ext cx="9683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KERNANALYSEN (ML-INSIGHTS)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502920" y="6565392"/>
            <a:ext cx="47045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46" name="Image 1" descr="/private/tmp/claude-501/-Users-soufianefed-Desktop-SosoSignalBot/fd57b771-7fec-4f60-a214-d2b5ebb5bd05/scratchpad/pptx_build/shots/chart_korrel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6702552"/>
            <a:ext cx="4430268" cy="173736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640080" y="8439912"/>
            <a:ext cx="4430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Abb. 1: Pearson-Korrelation der Features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5481828" y="6565392"/>
            <a:ext cx="47045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49" name="Image 2" descr="/private/tmp/claude-501/-Users-soufianefed-Desktop-SosoSignalBot/fd57b771-7fec-4f60-a214-d2b5ebb5bd05/scratchpad/pptx_build/shots/chart_konfus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8988" y="6702552"/>
            <a:ext cx="4430268" cy="173736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618988" y="8439912"/>
            <a:ext cx="4430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Abb. 2: Konfusionsmatrix (Test-Set)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502920" y="8942832"/>
            <a:ext cx="968349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2" name="Image 3" descr="/private/tmp/claude-501/-Users-soufianefed-Desktop-SosoSignalBot/fd57b771-7fec-4f60-a214-d2b5ebb5bd05/scratchpad/pptx_build/shots/chart_lernkurv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9079992"/>
            <a:ext cx="9409176" cy="173736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640080" y="10817352"/>
            <a:ext cx="9409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Abb. 3: Lernkurve (ROC-AUC vs. Trainingsgröße, 5-Fold CV) — Quelle: eigene Berechnung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502920" y="11338560"/>
            <a:ext cx="9683496" cy="1143000"/>
          </a:xfrm>
          <a:prstGeom prst="roundRect">
            <a:avLst>
              <a:gd name="adj" fmla="val 5600"/>
            </a:avLst>
          </a:prstGeom>
          <a:solidFill>
            <a:srgbClr val="F3E7C9"/>
          </a:solidFill>
          <a:ln/>
        </p:spPr>
      </p:sp>
      <p:sp>
        <p:nvSpPr>
          <p:cNvPr id="55" name="Text 49"/>
          <p:cNvSpPr/>
          <p:nvPr/>
        </p:nvSpPr>
        <p:spPr>
          <a:xfrm>
            <a:off x="731520" y="11338560"/>
            <a:ext cx="9226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55,3 % kein schlechtes Ergebnis sind.  </a:t>
            </a:r>
            <a:pPr indent="0" marL="0">
              <a:buNone/>
            </a:pPr>
            <a:r>
              <a:rPr lang="en-US" sz="1250" dirty="0">
                <a:solidFill>
                  <a:srgbClr val="17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Efficient Market Hypothesis (Fama 1970) ist bei rein historischen Kursdaten eine Präzision knapp über 50 % das wissenschaftlich Erwartete. Ein Modell mit 55,3 %, das seine Grenzen kennt und erklärt (SHAP, Lernkurve), ist wertvoller als ein undurchsichtiges mit 95 %.</a:t>
            </a:r>
            <a:endParaRPr lang="en-US" sz="1250" dirty="0"/>
          </a:p>
        </p:txBody>
      </p:sp>
      <p:sp>
        <p:nvSpPr>
          <p:cNvPr id="56" name="Shape 50"/>
          <p:cNvSpPr/>
          <p:nvPr/>
        </p:nvSpPr>
        <p:spPr>
          <a:xfrm>
            <a:off x="502920" y="12664440"/>
            <a:ext cx="47045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85800" y="12755880"/>
            <a:ext cx="43388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Methodik</a:t>
            </a:r>
            <a:endParaRPr lang="en-US" sz="1350" dirty="0"/>
          </a:p>
        </p:txBody>
      </p:sp>
      <p:sp>
        <p:nvSpPr>
          <p:cNvPr id="58" name="Text 52"/>
          <p:cNvSpPr/>
          <p:nvPr/>
        </p:nvSpPr>
        <p:spPr>
          <a:xfrm>
            <a:off x="685800" y="13085064"/>
            <a:ext cx="4338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(Pipeline: Impute → Scale → RF), 5-Fold Stratified CV, StandardScaler nur auf Trainingsdaten (kein Data Leakage). 8 Features aus OHLCV, Ziel target_20d (Kurs in 20 Tagen höher?).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5481828" y="12664440"/>
            <a:ext cx="47045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DE2DA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5664708" y="12755880"/>
            <a:ext cx="43388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Grenzen (ehrlich benannt)</a:t>
            </a:r>
            <a:endParaRPr lang="en-US" sz="1350" dirty="0"/>
          </a:p>
        </p:txBody>
      </p:sp>
      <p:sp>
        <p:nvSpPr>
          <p:cNvPr id="61" name="Text 55"/>
          <p:cNvSpPr/>
          <p:nvPr/>
        </p:nvSpPr>
        <p:spPr>
          <a:xfrm>
            <a:off x="5664708" y="13085064"/>
            <a:ext cx="4338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7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exogenen Faktoren (Makro, Geopolitik)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7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Sentiment im Modell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7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Statisches Modell ohne Nachtraining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7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Historie garantiert keine Zukunft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502920" y="14191488"/>
            <a:ext cx="9683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9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(KURZ)</a:t>
            </a:r>
            <a:endParaRPr lang="en-US" sz="1050" dirty="0"/>
          </a:p>
        </p:txBody>
      </p:sp>
      <p:sp>
        <p:nvSpPr>
          <p:cNvPr id="63" name="Text 57"/>
          <p:cNvSpPr/>
          <p:nvPr/>
        </p:nvSpPr>
        <p:spPr>
          <a:xfrm>
            <a:off x="502920" y="14447520"/>
            <a:ext cx="9683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 (2023), Praxiseinstieg ML (Kurslehrbuch, Kap. 1–9)  ·  Fama (1970), Efficient Capital Markets  ·  Lundberg &amp; Lee (2017), SHAP  ·  Li et al. (2024), Imputation  ·  Pinheiro et al. (2025), Feature Scaling  ·  Stock et al. (2021), QUA³CK  ·  Daten: Kaggle „US Stocks &amp; ETFs“ (Marjanovic), CC0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Soufiane Fedan</dc:creator>
  <cp:lastModifiedBy>Soufiane Fedan</cp:lastModifiedBy>
  <cp:revision>1</cp:revision>
  <dcterms:created xsi:type="dcterms:W3CDTF">2026-07-11T20:22:07Z</dcterms:created>
  <dcterms:modified xsi:type="dcterms:W3CDTF">2026-07-11T20:22:07Z</dcterms:modified>
</cp:coreProperties>
</file>