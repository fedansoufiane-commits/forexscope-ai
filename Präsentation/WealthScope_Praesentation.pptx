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de8f41994e4c8f" /><Relationship Type="http://schemas.openxmlformats.org/officeDocument/2006/relationships/extended-properties" Target="/docProps/app.xml" Id="R316ffabe6cfe4ca6" /><Relationship Type="http://schemas.openxmlformats.org/officeDocument/2006/relationships/officeDocument" Target="/ppt/presentation.xml" Id="R07f929789a56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14a93c9c314f0f"/>
  </p:sldMasterIdLst>
  <p:notesMasterIdLst>
    <p:notesMasterId xmlns:r="http://schemas.openxmlformats.org/officeDocument/2006/relationships" r:id="Rb3d1fb4687824bfa"/>
  </p:notesMasterIdLst>
  <p:sldIdLst>
    <p:sldId xmlns:r="http://schemas.openxmlformats.org/officeDocument/2006/relationships" id="256" r:id="R14c74724cbd04f92"/>
    <p:sldId xmlns:r="http://schemas.openxmlformats.org/officeDocument/2006/relationships" id="257" r:id="Rca020f284ce1493b"/>
    <p:sldId xmlns:r="http://schemas.openxmlformats.org/officeDocument/2006/relationships" id="258" r:id="R01eb5bf8c09e43c8"/>
    <p:sldId xmlns:r="http://schemas.openxmlformats.org/officeDocument/2006/relationships" id="259" r:id="Rf1d3189519a247ed"/>
    <p:sldId xmlns:r="http://schemas.openxmlformats.org/officeDocument/2006/relationships" id="260" r:id="Rcc0a28ff542b478d"/>
    <p:sldId xmlns:r="http://schemas.openxmlformats.org/officeDocument/2006/relationships" id="261" r:id="Rb890c04647834524"/>
    <p:sldId xmlns:r="http://schemas.openxmlformats.org/officeDocument/2006/relationships" id="262" r:id="R0ca5408a7e6442d2"/>
    <p:sldId xmlns:r="http://schemas.openxmlformats.org/officeDocument/2006/relationships" id="263" r:id="Ra452adf4e2474f8f"/>
    <p:sldId xmlns:r="http://schemas.openxmlformats.org/officeDocument/2006/relationships" id="264" r:id="R0018e83a4d394148"/>
    <p:sldId xmlns:r="http://schemas.openxmlformats.org/officeDocument/2006/relationships" id="265" r:id="R6ecb14d316cc462d"/>
    <p:sldId xmlns:r="http://schemas.openxmlformats.org/officeDocument/2006/relationships" id="266" r:id="R2f9c89cfcac34969"/>
    <p:sldId xmlns:r="http://schemas.openxmlformats.org/officeDocument/2006/relationships" id="267" r:id="R4aaccf699ed5428d"/>
    <p:sldId xmlns:r="http://schemas.openxmlformats.org/officeDocument/2006/relationships" id="268" r:id="Rde1b6a31b5fc4ac6"/>
    <p:sldId xmlns:r="http://schemas.openxmlformats.org/officeDocument/2006/relationships" id="269" r:id="Rcf56f05380d44ffa"/>
    <p:sldId xmlns:r="http://schemas.openxmlformats.org/officeDocument/2006/relationships" id="270" r:id="Rc5c5aa3f122c480a"/>
    <p:sldId xmlns:r="http://schemas.openxmlformats.org/officeDocument/2006/relationships" id="271" r:id="Rf81a350a14bd4f94"/>
    <p:sldId xmlns:r="http://schemas.openxmlformats.org/officeDocument/2006/relationships" id="272" r:id="R17b5c42d58394da1"/>
    <p:sldId xmlns:r="http://schemas.openxmlformats.org/officeDocument/2006/relationships" id="273" r:id="Ra85cc4bacc5d48b2"/>
    <p:sldId xmlns:r="http://schemas.openxmlformats.org/officeDocument/2006/relationships" id="274" r:id="R66db011885c842ac"/>
    <p:sldId xmlns:r="http://schemas.openxmlformats.org/officeDocument/2006/relationships" id="275" r:id="R2d841585ada545ad"/>
    <p:sldId xmlns:r="http://schemas.openxmlformats.org/officeDocument/2006/relationships" id="276" r:id="Rdd67d66f1d914a19"/>
    <p:sldId xmlns:r="http://schemas.openxmlformats.org/officeDocument/2006/relationships" id="277" r:id="R97dbf10d4c154d0c"/>
    <p:sldId xmlns:r="http://schemas.openxmlformats.org/officeDocument/2006/relationships" id="278" r:id="R020d84bf0af44d19"/>
    <p:sldId xmlns:r="http://schemas.openxmlformats.org/officeDocument/2006/relationships" id="279" r:id="Rae1b5d3dcd174d89"/>
    <p:sldId xmlns:r="http://schemas.openxmlformats.org/officeDocument/2006/relationships" id="280" r:id="R069ecf9f71414f1d"/>
    <p:sldId xmlns:r="http://schemas.openxmlformats.org/officeDocument/2006/relationships" id="281" r:id="Rbc52583f4e384fc2"/>
    <p:sldId xmlns:r="http://schemas.openxmlformats.org/officeDocument/2006/relationships" id="282" r:id="R79bf456537fc46dc"/>
    <p:sldId xmlns:r="http://schemas.openxmlformats.org/officeDocument/2006/relationships" id="283" r:id="Ra6f2bd7e60924f9d"/>
    <p:sldId xmlns:r="http://schemas.openxmlformats.org/officeDocument/2006/relationships" id="284" r:id="Rbd8910ba933e4247"/>
    <p:sldId xmlns:r="http://schemas.openxmlformats.org/officeDocument/2006/relationships" id="285" r:id="Ra158a412b7ce4035"/>
    <p:sldId xmlns:r="http://schemas.openxmlformats.org/officeDocument/2006/relationships" id="286" r:id="R41c7968ba00b438d"/>
    <p:sldId xmlns:r="http://schemas.openxmlformats.org/officeDocument/2006/relationships" id="287" r:id="R1a4d483b13984663"/>
    <p:sldId xmlns:r="http://schemas.openxmlformats.org/officeDocument/2006/relationships" id="288" r:id="Re0bf286ca1af4d79"/>
    <p:sldId xmlns:r="http://schemas.openxmlformats.org/officeDocument/2006/relationships" id="289" r:id="R3259d0d8cfa845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a9e106ea7c48e5" /><Relationship Type="http://schemas.openxmlformats.org/officeDocument/2006/relationships/slideMaster" Target="/ppt/slideMasters/slideMaster1.xml" Id="Rd414a93c9c314f0f" /><Relationship Type="http://schemas.openxmlformats.org/officeDocument/2006/relationships/notesMaster" Target="/ppt/notesMasters/notesMaster1.xml" Id="Rb3d1fb4687824bfa" /><Relationship Type="http://schemas.openxmlformats.org/officeDocument/2006/relationships/presProps" Target="/ppt/presProps.xml" Id="R0909e65238994403" /><Relationship Type="http://schemas.openxmlformats.org/officeDocument/2006/relationships/viewProps" Target="/ppt/viewProps.xml" Id="R2307b90651f9403c" /><Relationship Type="http://schemas.openxmlformats.org/officeDocument/2006/relationships/tableStyles" Target="/ppt/tableStyles.xml" Id="Rf15e42eccc4847b9" /><Relationship Type="http://schemas.openxmlformats.org/officeDocument/2006/relationships/slide" Target="/ppt/slides/slide1.xml" Id="R14c74724cbd04f92" /><Relationship Type="http://schemas.openxmlformats.org/officeDocument/2006/relationships/slide" Target="/ppt/slides/slide2.xml" Id="Rca020f284ce1493b" /><Relationship Type="http://schemas.openxmlformats.org/officeDocument/2006/relationships/slide" Target="/ppt/slides/slide3.xml" Id="R01eb5bf8c09e43c8" /><Relationship Type="http://schemas.openxmlformats.org/officeDocument/2006/relationships/slide" Target="/ppt/slides/slide4.xml" Id="Rf1d3189519a247ed" /><Relationship Type="http://schemas.openxmlformats.org/officeDocument/2006/relationships/slide" Target="/ppt/slides/slide5.xml" Id="Rcc0a28ff542b478d" /><Relationship Type="http://schemas.openxmlformats.org/officeDocument/2006/relationships/slide" Target="/ppt/slides/slide6.xml" Id="Rb890c04647834524" /><Relationship Type="http://schemas.openxmlformats.org/officeDocument/2006/relationships/slide" Target="/ppt/slides/slide7.xml" Id="R0ca5408a7e6442d2" /><Relationship Type="http://schemas.openxmlformats.org/officeDocument/2006/relationships/slide" Target="/ppt/slides/slide8.xml" Id="Ra452adf4e2474f8f" /><Relationship Type="http://schemas.openxmlformats.org/officeDocument/2006/relationships/slide" Target="/ppt/slides/slide9.xml" Id="R0018e83a4d394148" /><Relationship Type="http://schemas.openxmlformats.org/officeDocument/2006/relationships/slide" Target="/ppt/slides/slide10.xml" Id="R6ecb14d316cc462d" /><Relationship Type="http://schemas.openxmlformats.org/officeDocument/2006/relationships/slide" Target="/ppt/slides/slide11.xml" Id="R2f9c89cfcac34969" /><Relationship Type="http://schemas.openxmlformats.org/officeDocument/2006/relationships/slide" Target="/ppt/slides/slide12.xml" Id="R4aaccf699ed5428d" /><Relationship Type="http://schemas.openxmlformats.org/officeDocument/2006/relationships/slide" Target="/ppt/slides/slide13.xml" Id="Rde1b6a31b5fc4ac6" /><Relationship Type="http://schemas.openxmlformats.org/officeDocument/2006/relationships/slide" Target="/ppt/slides/slide14.xml" Id="Rcf56f05380d44ffa" /><Relationship Type="http://schemas.openxmlformats.org/officeDocument/2006/relationships/slide" Target="/ppt/slides/slide15.xml" Id="Rc5c5aa3f122c480a" /><Relationship Type="http://schemas.openxmlformats.org/officeDocument/2006/relationships/slide" Target="/ppt/slides/slide16.xml" Id="Rf81a350a14bd4f94" /><Relationship Type="http://schemas.openxmlformats.org/officeDocument/2006/relationships/slide" Target="/ppt/slides/slide17.xml" Id="R17b5c42d58394da1" /><Relationship Type="http://schemas.openxmlformats.org/officeDocument/2006/relationships/slide" Target="/ppt/slides/slide18.xml" Id="Ra85cc4bacc5d48b2" /><Relationship Type="http://schemas.openxmlformats.org/officeDocument/2006/relationships/slide" Target="/ppt/slides/slide19.xml" Id="R66db011885c842ac" /><Relationship Type="http://schemas.openxmlformats.org/officeDocument/2006/relationships/slide" Target="/ppt/slides/slide20.xml" Id="R2d841585ada545ad" /><Relationship Type="http://schemas.openxmlformats.org/officeDocument/2006/relationships/slide" Target="/ppt/slides/slide21.xml" Id="Rdd67d66f1d914a19" /><Relationship Type="http://schemas.openxmlformats.org/officeDocument/2006/relationships/slide" Target="/ppt/slides/slide22.xml" Id="R97dbf10d4c154d0c" /><Relationship Type="http://schemas.openxmlformats.org/officeDocument/2006/relationships/slide" Target="/ppt/slides/slide23.xml" Id="R020d84bf0af44d19" /><Relationship Type="http://schemas.openxmlformats.org/officeDocument/2006/relationships/slide" Target="/ppt/slides/slide24.xml" Id="Rae1b5d3dcd174d89" /><Relationship Type="http://schemas.openxmlformats.org/officeDocument/2006/relationships/slide" Target="/ppt/slides/slide25.xml" Id="R069ecf9f71414f1d" /><Relationship Type="http://schemas.openxmlformats.org/officeDocument/2006/relationships/slide" Target="/ppt/slides/slide26.xml" Id="Rbc52583f4e384fc2" /><Relationship Type="http://schemas.openxmlformats.org/officeDocument/2006/relationships/slide" Target="/ppt/slides/slide27.xml" Id="R79bf456537fc46dc" /><Relationship Type="http://schemas.openxmlformats.org/officeDocument/2006/relationships/slide" Target="/ppt/slides/slide28.xml" Id="Ra6f2bd7e60924f9d" /><Relationship Type="http://schemas.openxmlformats.org/officeDocument/2006/relationships/slide" Target="/ppt/slides/slide29.xml" Id="Rbd8910ba933e4247" /><Relationship Type="http://schemas.openxmlformats.org/officeDocument/2006/relationships/slide" Target="/ppt/slides/slide30.xml" Id="Ra158a412b7ce4035" /><Relationship Type="http://schemas.openxmlformats.org/officeDocument/2006/relationships/slide" Target="/ppt/slides/slide31.xml" Id="R41c7968ba00b438d" /><Relationship Type="http://schemas.openxmlformats.org/officeDocument/2006/relationships/slide" Target="/ppt/slides/slide32.xml" Id="R1a4d483b13984663" /><Relationship Type="http://schemas.openxmlformats.org/officeDocument/2006/relationships/slide" Target="/ppt/slides/slide33.xml" Id="Re0bf286ca1af4d79" /><Relationship Type="http://schemas.openxmlformats.org/officeDocument/2006/relationships/slide" Target="/ppt/slides/slide34.xml" Id="R3259d0d8cfa845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a9ccc98f2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0b1ea028542ab" /><Relationship Type="http://schemas.openxmlformats.org/officeDocument/2006/relationships/notesMaster" Target="/ppt/notesMasters/notesMaster1.xml" Id="R18e4d25dd327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ecb87a69c9443b" /><Relationship Type="http://schemas.openxmlformats.org/officeDocument/2006/relationships/notesMaster" Target="/ppt/notesMasters/notesMaster1.xml" Id="R8bf79931673045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c6ea387424331" /><Relationship Type="http://schemas.openxmlformats.org/officeDocument/2006/relationships/notesMaster" Target="/ppt/notesMasters/notesMaster1.xml" Id="R17ee619b72e14b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8dd89005d44611" /><Relationship Type="http://schemas.openxmlformats.org/officeDocument/2006/relationships/notesMaster" Target="/ppt/notesMasters/notesMaster1.xml" Id="R8276bd6ffd32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d3d0b8644b4d37" /><Relationship Type="http://schemas.openxmlformats.org/officeDocument/2006/relationships/notesMaster" Target="/ppt/notesMasters/notesMaster1.xml" Id="R0825651af7fa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e9cd831bd48ec" /><Relationship Type="http://schemas.openxmlformats.org/officeDocument/2006/relationships/notesMaster" Target="/ppt/notesMasters/notesMaster1.xml" Id="R713882ec06da4c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824bf0ae944766" /><Relationship Type="http://schemas.openxmlformats.org/officeDocument/2006/relationships/notesMaster" Target="/ppt/notesMasters/notesMaster1.xml" Id="R589d1ede2092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e2f19a790459e" /><Relationship Type="http://schemas.openxmlformats.org/officeDocument/2006/relationships/notesMaster" Target="/ppt/notesMasters/notesMaster1.xml" Id="Rdcc144dcf71e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94d5f0154b48ed" /><Relationship Type="http://schemas.openxmlformats.org/officeDocument/2006/relationships/notesMaster" Target="/ppt/notesMasters/notesMaster1.xml" Id="Re872c0398bbc4e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4beb61dc7a4bb7" /><Relationship Type="http://schemas.openxmlformats.org/officeDocument/2006/relationships/notesMaster" Target="/ppt/notesMasters/notesMaster1.xml" Id="Rcdd2997e127b43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3ea64372934bb7" /><Relationship Type="http://schemas.openxmlformats.org/officeDocument/2006/relationships/notesMaster" Target="/ppt/notesMasters/notesMaster1.xml" Id="Re8da64e929394e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c9a0b82357437d" /><Relationship Type="http://schemas.openxmlformats.org/officeDocument/2006/relationships/notesMaster" Target="/ppt/notesMasters/notesMaster1.xml" Id="R3006f4285351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3ff7ab817b4746" /><Relationship Type="http://schemas.openxmlformats.org/officeDocument/2006/relationships/notesMaster" Target="/ppt/notesMasters/notesMaster1.xml" Id="R14bf81c603894d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0587b6f0414c45" /><Relationship Type="http://schemas.openxmlformats.org/officeDocument/2006/relationships/notesMaster" Target="/ppt/notesMasters/notesMaster1.xml" Id="R4b695eebd52c48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8ae2873e864254" /><Relationship Type="http://schemas.openxmlformats.org/officeDocument/2006/relationships/notesMaster" Target="/ppt/notesMasters/notesMaster1.xml" Id="R2b4ea3735d5946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c649f58037443a" /><Relationship Type="http://schemas.openxmlformats.org/officeDocument/2006/relationships/notesMaster" Target="/ppt/notesMasters/notesMaster1.xml" Id="R14eeede9bbb940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0d01c715bd4eba" /><Relationship Type="http://schemas.openxmlformats.org/officeDocument/2006/relationships/notesMaster" Target="/ppt/notesMasters/notesMaster1.xml" Id="Raa0b6d31b5fd45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b025d6f10048f7" /><Relationship Type="http://schemas.openxmlformats.org/officeDocument/2006/relationships/notesMaster" Target="/ppt/notesMasters/notesMaster1.xml" Id="R352e79623a734b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4a9a7e75e449dc" /><Relationship Type="http://schemas.openxmlformats.org/officeDocument/2006/relationships/notesMaster" Target="/ppt/notesMasters/notesMaster1.xml" Id="R552ad7cfc0184a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2724ad42094735" /><Relationship Type="http://schemas.openxmlformats.org/officeDocument/2006/relationships/notesMaster" Target="/ppt/notesMasters/notesMaster1.xml" Id="Rc6177fc1083643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ae41ff057e4feb" /><Relationship Type="http://schemas.openxmlformats.org/officeDocument/2006/relationships/notesMaster" Target="/ppt/notesMasters/notesMaster1.xml" Id="Rce4e7c25c3834a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2d1a527ebb40b3" /><Relationship Type="http://schemas.openxmlformats.org/officeDocument/2006/relationships/notesMaster" Target="/ppt/notesMasters/notesMaster1.xml" Id="R7bddba1b89054c7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2c760e100b4010" /><Relationship Type="http://schemas.openxmlformats.org/officeDocument/2006/relationships/notesMaster" Target="/ppt/notesMasters/notesMaster1.xml" Id="Rdbb8d8c63aec45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9596dd3cce4767" /><Relationship Type="http://schemas.openxmlformats.org/officeDocument/2006/relationships/notesMaster" Target="/ppt/notesMasters/notesMaster1.xml" Id="R7d400be61c5349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b198ed4a7142e4" /><Relationship Type="http://schemas.openxmlformats.org/officeDocument/2006/relationships/notesMaster" Target="/ppt/notesMasters/notesMaster1.xml" Id="Ra9e6907c4e3045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cbc3aa4fc74b70" /><Relationship Type="http://schemas.openxmlformats.org/officeDocument/2006/relationships/notesMaster" Target="/ppt/notesMasters/notesMaster1.xml" Id="Reec892fb3f5841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0b9211e7134ede" /><Relationship Type="http://schemas.openxmlformats.org/officeDocument/2006/relationships/notesMaster" Target="/ppt/notesMasters/notesMaster1.xml" Id="R9f35a84f004f43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69578e7d2e48d8" /><Relationship Type="http://schemas.openxmlformats.org/officeDocument/2006/relationships/notesMaster" Target="/ppt/notesMasters/notesMaster1.xml" Id="R2edc233842ab4d2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154c973def4fc6" /><Relationship Type="http://schemas.openxmlformats.org/officeDocument/2006/relationships/notesMaster" Target="/ppt/notesMasters/notesMaster1.xml" Id="R847718b4c3dc4c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44992ac925941ff" /><Relationship Type="http://schemas.openxmlformats.org/officeDocument/2006/relationships/notesMaster" Target="/ppt/notesMasters/notesMaster1.xml" Id="R7820611af5254f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a76330051e044a6" /><Relationship Type="http://schemas.openxmlformats.org/officeDocument/2006/relationships/notesMaster" Target="/ppt/notesMasters/notesMaster1.xml" Id="R84683550013c41d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68ff210fdd74989" /><Relationship Type="http://schemas.openxmlformats.org/officeDocument/2006/relationships/notesMaster" Target="/ppt/notesMasters/notesMaster1.xml" Id="R5ee69bbdc31c4a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896a2c5c57433f" /><Relationship Type="http://schemas.openxmlformats.org/officeDocument/2006/relationships/notesMaster" Target="/ppt/notesMasters/notesMaster1.xml" Id="R283c012239e5493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c07d27b18ce4d3f" /><Relationship Type="http://schemas.openxmlformats.org/officeDocument/2006/relationships/notesMaster" Target="/ppt/notesMasters/notesMaster1.xml" Id="R296362c120a345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- https://doi.org/10.2307/2325486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- https://doi.org/10.2307/2325486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- https://doi.org/10.2307/2325486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- https://doi.org/10.2307/2325486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https://github.com/fedansoufiane-commits/forexscope-ai/blob/main/models/diagnostics.json</a:t>
            </a:r>
          </a:p>
          <a:p xmlns:a="http://schemas.openxmlformats.org/drawingml/2006/main">
            <a:r>
              <a:t>- https://doi.org/10.2307/2325486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199c46c7f4f9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2e30fe653947f1" /><Relationship Type="http://schemas.openxmlformats.org/officeDocument/2006/relationships/slideLayout" Target="/ppt/slideLayouts/slideLayout1.xml" Id="R8a10735fcc13408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0735fcc13408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f83ce55024498" /><Relationship Type="http://schemas.openxmlformats.org/officeDocument/2006/relationships/image" Target="/ppt/media/image.png" Id="R166f00f6adf14c64" /><Relationship Type="http://schemas.openxmlformats.org/officeDocument/2006/relationships/notesSlide" Target="/ppt/notesSlides/notesSlide1.xml" Id="R4dba514299f0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f5956838c4252" /><Relationship Type="http://schemas.openxmlformats.org/officeDocument/2006/relationships/image" Target="/ppt/media/image2.png" Id="R39545b2b6bb44e95" /><Relationship Type="http://schemas.openxmlformats.org/officeDocument/2006/relationships/notesSlide" Target="/ppt/notesSlides/notesSlide2.xml" Id="R41a7027e550444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78d9df1134430" /><Relationship Type="http://schemas.openxmlformats.org/officeDocument/2006/relationships/image" Target="/ppt/media/image3.png" Id="Rbaf92ce96aee4582" /><Relationship Type="http://schemas.openxmlformats.org/officeDocument/2006/relationships/notesSlide" Target="/ppt/notesSlides/notesSlide3.xml" Id="R28ee86ad2fcd4f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4e53488a2457b" /><Relationship Type="http://schemas.openxmlformats.org/officeDocument/2006/relationships/image" Target="/ppt/media/image4.png" Id="Rbdff8e0e682847c5" /><Relationship Type="http://schemas.openxmlformats.org/officeDocument/2006/relationships/image" Target="/ppt/media/image5.png" Id="R8b053f4e185f4f6f" /><Relationship Type="http://schemas.openxmlformats.org/officeDocument/2006/relationships/notesSlide" Target="/ppt/notesSlides/notesSlide4.xml" Id="Re96766473f2743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36188f36f48b9" /><Relationship Type="http://schemas.openxmlformats.org/officeDocument/2006/relationships/image" Target="/ppt/media/image6.png" Id="Rb904f91e81c54438" /><Relationship Type="http://schemas.openxmlformats.org/officeDocument/2006/relationships/image" Target="/ppt/media/image7.png" Id="R4ac4401b771b42a8" /><Relationship Type="http://schemas.openxmlformats.org/officeDocument/2006/relationships/image" Target="/ppt/media/image8.png" Id="Rc1edc28979064347" /><Relationship Type="http://schemas.openxmlformats.org/officeDocument/2006/relationships/image" Target="/ppt/media/image9.png" Id="Rcf0f3732257e4878" /><Relationship Type="http://schemas.openxmlformats.org/officeDocument/2006/relationships/image" Target="/ppt/media/image10.png" Id="R216926f121f14a70" /><Relationship Type="http://schemas.openxmlformats.org/officeDocument/2006/relationships/image" Target="/ppt/media/image11.png" Id="R87f1dfe1b46441b4" /><Relationship Type="http://schemas.openxmlformats.org/officeDocument/2006/relationships/notesSlide" Target="/ppt/notesSlides/notesSlide5.xml" Id="R5010428c799043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60829cd8045be" /><Relationship Type="http://schemas.openxmlformats.org/officeDocument/2006/relationships/image" Target="/ppt/media/image12.png" Id="Rb15f5339c81a423f" /><Relationship Type="http://schemas.openxmlformats.org/officeDocument/2006/relationships/image" Target="/ppt/media/image13.png" Id="Ra5f31b8e1bc44e5b" /><Relationship Type="http://schemas.openxmlformats.org/officeDocument/2006/relationships/image" Target="/ppt/media/image14.png" Id="Rbf90ca8b5d4e4bfc" /><Relationship Type="http://schemas.openxmlformats.org/officeDocument/2006/relationships/image" Target="/ppt/media/image15.png" Id="R51c1293e8e6d46cc" /><Relationship Type="http://schemas.openxmlformats.org/officeDocument/2006/relationships/image" Target="/ppt/media/image16.png" Id="Re2e2ce9848ba4a89" /><Relationship Type="http://schemas.openxmlformats.org/officeDocument/2006/relationships/image" Target="/ppt/media/image17.png" Id="R90ec4bc3899447d6" /><Relationship Type="http://schemas.openxmlformats.org/officeDocument/2006/relationships/notesSlide" Target="/ppt/notesSlides/notesSlide6.xml" Id="Rcffed7072994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f4ec2a58f4409" /><Relationship Type="http://schemas.openxmlformats.org/officeDocument/2006/relationships/image" Target="/ppt/media/image18.png" Id="Ref1680584eb24680" /><Relationship Type="http://schemas.openxmlformats.org/officeDocument/2006/relationships/image" Target="/ppt/media/image19.png" Id="R16e068105f764dcc" /><Relationship Type="http://schemas.openxmlformats.org/officeDocument/2006/relationships/image" Target="/ppt/media/image20.png" Id="R1c2e2a7184f746bc" /><Relationship Type="http://schemas.openxmlformats.org/officeDocument/2006/relationships/image" Target="/ppt/media/image21.png" Id="R7086a96ba119495b" /><Relationship Type="http://schemas.openxmlformats.org/officeDocument/2006/relationships/image" Target="/ppt/media/image22.png" Id="Rc000aea6f17e4d33" /><Relationship Type="http://schemas.openxmlformats.org/officeDocument/2006/relationships/image" Target="/ppt/media/image23.png" Id="R84612bce87704d04" /><Relationship Type="http://schemas.openxmlformats.org/officeDocument/2006/relationships/image" Target="/ppt/media/image24.png" Id="R556702bf05df48ae" /><Relationship Type="http://schemas.openxmlformats.org/officeDocument/2006/relationships/image" Target="/ppt/media/image25.png" Id="Rafdb20c9b24d4996" /><Relationship Type="http://schemas.openxmlformats.org/officeDocument/2006/relationships/image" Target="/ppt/media/image26.png" Id="Re780f18d58374abd" /><Relationship Type="http://schemas.openxmlformats.org/officeDocument/2006/relationships/notesSlide" Target="/ppt/notesSlides/notesSlide7.xml" Id="Rf19bedfba439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5b400b5c4a99" /><Relationship Type="http://schemas.openxmlformats.org/officeDocument/2006/relationships/image" Target="/ppt/media/image27.png" Id="Rec9b84179d314d42" /><Relationship Type="http://schemas.openxmlformats.org/officeDocument/2006/relationships/notesSlide" Target="/ppt/notesSlides/notesSlide8.xml" Id="R539125e32d1c4c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9ac6cef44184" /><Relationship Type="http://schemas.openxmlformats.org/officeDocument/2006/relationships/image" Target="/ppt/media/image28.png" Id="R0a2d2e84a2de40de" /><Relationship Type="http://schemas.openxmlformats.org/officeDocument/2006/relationships/notesSlide" Target="/ppt/notesSlides/notesSlide9.xml" Id="R78ae1d92933341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df260bd4e4f54" /><Relationship Type="http://schemas.openxmlformats.org/officeDocument/2006/relationships/image" Target="/ppt/media/image29.png" Id="R230796e7903b473c" /><Relationship Type="http://schemas.openxmlformats.org/officeDocument/2006/relationships/notesSlide" Target="/ppt/notesSlides/notesSlide10.xml" Id="R668a7b951a5545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12f397e844c00" /><Relationship Type="http://schemas.openxmlformats.org/officeDocument/2006/relationships/image" Target="/ppt/media/image30.png" Id="R1906e25a1db64a3e" /><Relationship Type="http://schemas.openxmlformats.org/officeDocument/2006/relationships/image" Target="/ppt/media/image31.png" Id="R1ccf146eff7c4b8e" /><Relationship Type="http://schemas.openxmlformats.org/officeDocument/2006/relationships/notesSlide" Target="/ppt/notesSlides/notesSlide11.xml" Id="Rf64f1efe0e7b43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cf2c4fd2346ca" /><Relationship Type="http://schemas.openxmlformats.org/officeDocument/2006/relationships/image" Target="/ppt/media/image32.png" Id="R98ebbe3cdfed420a" /><Relationship Type="http://schemas.openxmlformats.org/officeDocument/2006/relationships/notesSlide" Target="/ppt/notesSlides/notesSlide12.xml" Id="R079fc47e32384e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ed159bef041e9" /><Relationship Type="http://schemas.openxmlformats.org/officeDocument/2006/relationships/image" Target="/ppt/media/image33.png" Id="R88c2b97a41e24258" /><Relationship Type="http://schemas.openxmlformats.org/officeDocument/2006/relationships/notesSlide" Target="/ppt/notesSlides/notesSlide13.xml" Id="Rcf44529f527b42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0a07d7b884a86" /><Relationship Type="http://schemas.openxmlformats.org/officeDocument/2006/relationships/image" Target="/ppt/media/image34.png" Id="Rade3717697984693" /><Relationship Type="http://schemas.openxmlformats.org/officeDocument/2006/relationships/notesSlide" Target="/ppt/notesSlides/notesSlide14.xml" Id="R127db860c5794d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106109998413a" /><Relationship Type="http://schemas.openxmlformats.org/officeDocument/2006/relationships/image" Target="/ppt/media/image35.png" Id="R89828646918f41d3" /><Relationship Type="http://schemas.openxmlformats.org/officeDocument/2006/relationships/notesSlide" Target="/ppt/notesSlides/notesSlide15.xml" Id="Rd11f3243d21240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24897d37d4508" /><Relationship Type="http://schemas.openxmlformats.org/officeDocument/2006/relationships/image" Target="/ppt/media/image36.png" Id="R28c20ebb377e4d46" /><Relationship Type="http://schemas.openxmlformats.org/officeDocument/2006/relationships/notesSlide" Target="/ppt/notesSlides/notesSlide16.xml" Id="R3752bac5bbbb46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7159d0c1d4489" /><Relationship Type="http://schemas.openxmlformats.org/officeDocument/2006/relationships/image" Target="/ppt/media/image37.png" Id="R66b657d1be8446c1" /><Relationship Type="http://schemas.openxmlformats.org/officeDocument/2006/relationships/notesSlide" Target="/ppt/notesSlides/notesSlide17.xml" Id="R89843e6a05c74d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1f9bab1014995" /><Relationship Type="http://schemas.openxmlformats.org/officeDocument/2006/relationships/image" Target="/ppt/media/image38.png" Id="R913452ec61fd4706" /><Relationship Type="http://schemas.openxmlformats.org/officeDocument/2006/relationships/image" Target="/ppt/media/image.jpeg" Id="Rf7084769c6b74f8c" /><Relationship Type="http://schemas.openxmlformats.org/officeDocument/2006/relationships/image" Target="/ppt/media/image2.jpeg" Id="Re610c8372e2a48cb" /><Relationship Type="http://schemas.openxmlformats.org/officeDocument/2006/relationships/notesSlide" Target="/ppt/notesSlides/notesSlide18.xml" Id="R64a80c1d62394a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cf079e1d4ee8" /><Relationship Type="http://schemas.openxmlformats.org/officeDocument/2006/relationships/image" Target="/ppt/media/image39.png" Id="R076e8fbc4acf4a54" /><Relationship Type="http://schemas.openxmlformats.org/officeDocument/2006/relationships/image" Target="/ppt/media/image3.jpeg" Id="R8e5134e0b7ca4938" /><Relationship Type="http://schemas.openxmlformats.org/officeDocument/2006/relationships/notesSlide" Target="/ppt/notesSlides/notesSlide19.xml" Id="R8e348a2648bf43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0862d5b94fab" /><Relationship Type="http://schemas.openxmlformats.org/officeDocument/2006/relationships/image" Target="/ppt/media/image40.png" Id="R3d3997cc8b684e64" /><Relationship Type="http://schemas.openxmlformats.org/officeDocument/2006/relationships/image" Target="/ppt/media/image4.jpeg" Id="Red8fb5e1fd494011" /><Relationship Type="http://schemas.openxmlformats.org/officeDocument/2006/relationships/image" Target="/ppt/media/image41.png" Id="R588ef9b14eae491e" /><Relationship Type="http://schemas.openxmlformats.org/officeDocument/2006/relationships/notesSlide" Target="/ppt/notesSlides/notesSlide20.xml" Id="R3cd7f8a7ed3b43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758d5668445a8" /><Relationship Type="http://schemas.openxmlformats.org/officeDocument/2006/relationships/image" Target="/ppt/media/image42.png" Id="R381ce466cf514cb2" /><Relationship Type="http://schemas.openxmlformats.org/officeDocument/2006/relationships/notesSlide" Target="/ppt/notesSlides/notesSlide21.xml" Id="Rc9fd8f5af47049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95c4847f548ad" /><Relationship Type="http://schemas.openxmlformats.org/officeDocument/2006/relationships/image" Target="/ppt/media/image43.png" Id="R3ecb112e233b4a4a" /><Relationship Type="http://schemas.openxmlformats.org/officeDocument/2006/relationships/notesSlide" Target="/ppt/notesSlides/notesSlide22.xml" Id="R7d560a3212a64d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b6674fa5441a5" /><Relationship Type="http://schemas.openxmlformats.org/officeDocument/2006/relationships/image" Target="/ppt/media/image44.png" Id="Rda65c5b29b3e47dd" /><Relationship Type="http://schemas.openxmlformats.org/officeDocument/2006/relationships/image" Target="/ppt/media/image45.png" Id="Rf3876cda6c1243f4" /><Relationship Type="http://schemas.openxmlformats.org/officeDocument/2006/relationships/image" Target="/ppt/media/image46.png" Id="R7a4798d12609460c" /><Relationship Type="http://schemas.openxmlformats.org/officeDocument/2006/relationships/image" Target="/ppt/media/image47.png" Id="R1fa92f77559f4194" /><Relationship Type="http://schemas.openxmlformats.org/officeDocument/2006/relationships/image" Target="/ppt/media/image48.png" Id="R103580f22fb045d9" /><Relationship Type="http://schemas.openxmlformats.org/officeDocument/2006/relationships/image" Target="/ppt/media/image49.png" Id="Raf83047b84854602" /><Relationship Type="http://schemas.openxmlformats.org/officeDocument/2006/relationships/image" Target="/ppt/media/image50.png" Id="R81c2ce150bd24790" /><Relationship Type="http://schemas.openxmlformats.org/officeDocument/2006/relationships/notesSlide" Target="/ppt/notesSlides/notesSlide23.xml" Id="Rddeb65f83c2747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3807de3842c0" /><Relationship Type="http://schemas.openxmlformats.org/officeDocument/2006/relationships/image" Target="/ppt/media/image51.png" Id="R3ed4defbc67047f3" /><Relationship Type="http://schemas.openxmlformats.org/officeDocument/2006/relationships/image" Target="/ppt/media/image52.png" Id="R2195af35f4784cb3" /><Relationship Type="http://schemas.openxmlformats.org/officeDocument/2006/relationships/notesSlide" Target="/ppt/notesSlides/notesSlide24.xml" Id="Rdee8d6e0080143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ed929ea584e35" /><Relationship Type="http://schemas.openxmlformats.org/officeDocument/2006/relationships/image" Target="/ppt/media/image53.png" Id="Ra0821fa44766448b" /><Relationship Type="http://schemas.openxmlformats.org/officeDocument/2006/relationships/image" Target="/ppt/media/image54.png" Id="Re0e1a92fd1004401" /><Relationship Type="http://schemas.openxmlformats.org/officeDocument/2006/relationships/image" Target="/ppt/media/image55.png" Id="R10077d5342fe49e0" /><Relationship Type="http://schemas.openxmlformats.org/officeDocument/2006/relationships/notesSlide" Target="/ppt/notesSlides/notesSlide25.xml" Id="R5e80f200b40544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b6f10e8b340ac" /><Relationship Type="http://schemas.openxmlformats.org/officeDocument/2006/relationships/image" Target="/ppt/media/image56.png" Id="Re3e031844a3e4fd8" /><Relationship Type="http://schemas.openxmlformats.org/officeDocument/2006/relationships/image" Target="/ppt/media/image5.jpeg" Id="R9776836528d944ff" /><Relationship Type="http://schemas.openxmlformats.org/officeDocument/2006/relationships/image" Target="/ppt/media/image6.jpeg" Id="R44b78e1019ec4518" /><Relationship Type="http://schemas.openxmlformats.org/officeDocument/2006/relationships/notesSlide" Target="/ppt/notesSlides/notesSlide26.xml" Id="R7b3bb6a5770540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a465232604301" /><Relationship Type="http://schemas.openxmlformats.org/officeDocument/2006/relationships/image" Target="/ppt/media/image57.png" Id="R79ed2ac003f341fb" /><Relationship Type="http://schemas.openxmlformats.org/officeDocument/2006/relationships/image" Target="/ppt/media/image7.jpeg" Id="R732ed0ef6b8c4d68" /><Relationship Type="http://schemas.openxmlformats.org/officeDocument/2006/relationships/image" Target="/ppt/media/image8.jpeg" Id="R44c5843f9deb4010" /><Relationship Type="http://schemas.openxmlformats.org/officeDocument/2006/relationships/notesSlide" Target="/ppt/notesSlides/notesSlide27.xml" Id="R8f209b9bace44c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3614a98ea49f6" /><Relationship Type="http://schemas.openxmlformats.org/officeDocument/2006/relationships/image" Target="/ppt/media/image58.png" Id="R049b20f25e374f3b" /><Relationship Type="http://schemas.openxmlformats.org/officeDocument/2006/relationships/image" Target="/ppt/media/image59.png" Id="R8b5e8754956a4d12" /><Relationship Type="http://schemas.openxmlformats.org/officeDocument/2006/relationships/notesSlide" Target="/ppt/notesSlides/notesSlide28.xml" Id="R3c144ca7609e42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3792c47ff42c4" /><Relationship Type="http://schemas.openxmlformats.org/officeDocument/2006/relationships/image" Target="/ppt/media/image60.png" Id="R76592916538f43c6" /><Relationship Type="http://schemas.openxmlformats.org/officeDocument/2006/relationships/image" Target="/ppt/media/image61.png" Id="R5b6caa4732464cd8" /><Relationship Type="http://schemas.openxmlformats.org/officeDocument/2006/relationships/notesSlide" Target="/ppt/notesSlides/notesSlide29.xml" Id="R3b031390cfec4f6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de5fb0e7d4eec" /><Relationship Type="http://schemas.openxmlformats.org/officeDocument/2006/relationships/image" Target="/ppt/media/image62.png" Id="Raa6869526546473c" /><Relationship Type="http://schemas.openxmlformats.org/officeDocument/2006/relationships/notesSlide" Target="/ppt/notesSlides/notesSlide30.xml" Id="Reb88b2ed93ca42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2224146a84a09" /><Relationship Type="http://schemas.openxmlformats.org/officeDocument/2006/relationships/image" Target="/ppt/media/image63.png" Id="R0a2cab14ff6c46c1" /><Relationship Type="http://schemas.openxmlformats.org/officeDocument/2006/relationships/notesSlide" Target="/ppt/notesSlides/notesSlide31.xml" Id="Rdff72c05361641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82033e6124788" /><Relationship Type="http://schemas.openxmlformats.org/officeDocument/2006/relationships/image" Target="/ppt/media/image64.png" Id="R6c47579c0e1743bb" /><Relationship Type="http://schemas.openxmlformats.org/officeDocument/2006/relationships/notesSlide" Target="/ppt/notesSlides/notesSlide32.xml" Id="R6fcb6ef48e3c4d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da746407f4737" /><Relationship Type="http://schemas.openxmlformats.org/officeDocument/2006/relationships/image" Target="/ppt/media/image65.png" Id="Ra8f27874c04348d5" /><Relationship Type="http://schemas.openxmlformats.org/officeDocument/2006/relationships/notesSlide" Target="/ppt/notesSlides/notesSlide33.xml" Id="Rc78a5cbf8c77426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e67cd71c4ddd" /><Relationship Type="http://schemas.openxmlformats.org/officeDocument/2006/relationships/image" Target="/ppt/media/image66.png" Id="Re8070cab62a5420a" /><Relationship Type="http://schemas.openxmlformats.org/officeDocument/2006/relationships/notesSlide" Target="/ppt/notesSlides/notesSlide34.xml" Id="R4d4675760cf1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EEA764-712D-489F-A1FE-1A5C742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71BB07F-B114-425E-BC2B-6CEF01EE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17D8AC-14AE-4002-9B3E-EDB21C0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665434B-79D8-4A60-9D22-41277437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A28284B-76FE-4DF1-BDA1-3468E13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E44F93D-8734-4B1B-84D7-E52CAC4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E0478E4-E036-4216-B1E4-1C204621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1E8E46-18A9-4610-BE57-367E151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25CFAE-B545-4FE8-A201-1BE9347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CB11A98-5010-49F3-A4FF-2790D50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8D41B4F-EA85-43C0-AD47-10E11F7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4EA19D-817C-4AB6-A32F-CC97BC6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EDA4C11-1EFC-4791-B87E-3334277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ED27118-5871-46C7-AC5A-5E2C43F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02A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f00f6adf14c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369" y="893369"/>
            <a:ext cx="499262" cy="499262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E9087C-7593-4E0F-B760-A65622F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10058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WealthScope AI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2D6B115-215E-4B6C-8EAC-795A5D9B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Interaktive Finanzanalyse mit Machine Learning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24DE9A2-C018-4859-BE05-51A42023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4343400" cy="402336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C231D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0947E6D-4CEF-4934-A005-2A30E9BD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4343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79A3C"/>
                </a:solidFill>
                <a:latin typeface="Calibri"/>
                <a:ea typeface="Calibri"/>
                <a:cs typeface="Calibri"/>
              </a:rPr>
              <a:t>Referat  ·  25 Minuten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3AC4124-3CA1-43B8-8DC9-1552548C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300" b="1">
                <a:solidFill>
                  <a:srgbClr val="C7CFC9"/>
                </a:solidFill>
                <a:latin typeface="Calibri"/>
                <a:ea typeface="Calibri"/>
                <a:cs typeface="Calibri"/>
              </a:rPr>
              <a:t>Soufiane Fedan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300">
                <a:solidFill>
                  <a:srgbClr val="C7CFC9"/>
                </a:solidFill>
                <a:latin typeface="Calibri"/>
                <a:ea typeface="Calibri"/>
                <a:cs typeface="Calibri"/>
              </a:rPr>
              <a:t>Data Analytics und Big Data (DSDABD072501)  ·  Tutor: Klaus Quibeldey-Cirkel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300">
                <a:solidFill>
                  <a:srgbClr val="C7CFC9"/>
                </a:solidFill>
                <a:latin typeface="Calibri"/>
                <a:ea typeface="Calibri"/>
                <a:cs typeface="Calibri"/>
              </a:rPr>
              <a:t>IU Internationale Hochschule  ·  Wirtschaftsinformatik (Duales Studium)</a:t>
            </a:r>
          </a:p>
        </p:txBody>
      </p:sp>
    </p:spTree>
    <p:extLst>
      <p:ext uri="{BB962C8B-B14F-4D97-AF65-F5344CB8AC3E}">
        <p14:creationId xmlns:p14="http://schemas.microsoft.com/office/powerpoint/2010/main" val="320723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490CF3-257B-47FD-944C-E0B361D8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45b2b6bb44e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ED8E6DC-8977-4326-83F8-BEF198FB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2064"/>
            <a:ext cx="8686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Zeitplan auf einen Blick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2256CB4-41E7-404E-B120-37D0939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86" y="457200"/>
            <a:ext cx="143926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44DA54E-674B-46F8-8E59-933DF3CF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86" y="457200"/>
            <a:ext cx="143926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25 Min gesamt</a:t>
            </a:r>
          </a:p>
        </p:txBody>
      </p:sp>
      <p:graphicFrame>
        <p:nvGraphicFramePr>
          <p:cNvPr id="17" name="Table 0"/>
          <p:cNvGraphicFramePr/>
          <p:nvPr/>
        </p:nvGraphicFramePr>
        <p:xfrm>
          <a:off xmlns:a="http://schemas.openxmlformats.org/drawingml/2006/main" x="548640" y="1371600"/>
          <a:ext xmlns:a="http://schemas.openxmlformats.org/drawingml/2006/main" cx="11091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7498080"/>
                <a:gridCol w="139903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Zeit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Abschnitt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Dauer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0:00 – 2:00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Einstieg — Das Problem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2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2:00 – 4:00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Lösung — Was ist WealthScope AI?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2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4:00 – 5:00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QUA³CK — Der wissenschaftliche Fahrplan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1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5:00 – 6:30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Q — Question: Leitfrage &amp; Hypothesen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1,5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6:30 – 10:00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U — Understanding: Daten, EDA, Qualität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3,5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10:00 – 12:30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A — Analytics: Feature Engineering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2,5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12:30 – 15:00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A — Algorithm: Modellauswahl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2,5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15:00 – 18:00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A — Adaption: Optimierung &amp; Ergebnisse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3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18:00 – 19:30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C — Conclude: Fazit &amp; Grenzen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1,5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19:30 – 23:00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K — Knowledge: Live-Demo der App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3,5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23:00 – 24:30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Fazit &amp; Ausblick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1,5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24:30 – 25:00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Übergang zu Fragen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0,5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</a:tbl>
          </a:graphicData>
        </a:graphic>
      </p:graphicFrame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2E25B97-A7E0-4736-8301-5DD4575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076731E-BD3B-4BEB-A084-A8BEAF61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0051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3A4B4F-9895-4329-AA5F-8B11B29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92ce96aee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F287C7F-1876-46CE-81E1-86FDFF62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1 · EINSTIEG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03ED99-F810-4A21-B8AE-33A3359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Das Problem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339862E-2B20-4E14-A445-26C2C83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C58FE2C-C2BA-4EEA-86BB-BC9E087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578AD17-C17A-4687-A5ED-79FF8DA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881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„Ihr habt 5.000 € gespart. Inflation frisst euer Sparkonto auf. Also wollt ihr investieren. Aber wohin schaut ihr?“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96B3882-18D2-4987-BFC8-EDB5351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260604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59E87C-4D5F-4C91-90A7-7001FB4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2037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Yahoo Finance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1852A5C-4CFB-4CCD-ACAC-8DDACB5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37560"/>
            <a:ext cx="220370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Ein Chart mit tausend Zahlen — ohne Einordnung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A49E56-88AB-47A8-A873-7459DEA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51760"/>
            <a:ext cx="260604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B0E5C11-AD75-4582-85B7-C72D7CD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834640"/>
            <a:ext cx="22037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Bloomberg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5B9E72F-0476-4A30-B66E-33188A6B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37560"/>
            <a:ext cx="220370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Professionelle Daten, aber hinter einer Paywall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5CBA716-D5CD-47B1-9B6D-FC9605CD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51760"/>
            <a:ext cx="260604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A4EB369-0159-4DB6-BA17-B58AAFB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834640"/>
            <a:ext cx="22037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ChatGPT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BB02653-CF84-4E01-82CA-6114340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337560"/>
            <a:ext cx="220370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„Ich kann keine Finanzberatung geben.“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F5B93A0-A1ED-4684-8842-B562F24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51760"/>
            <a:ext cx="260604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BEC3E2B-EE7A-40A0-9F81-645D4F55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834640"/>
            <a:ext cx="22037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Bankberater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2A60CFC-7213-4D11-B01F-0EE5332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3337560"/>
            <a:ext cx="220370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Empfiehlt den eigenen, teuersten Fonds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35A0A3-4021-416B-9A52-D6F8645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8813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54D70C4-BB3B-4BF7-90D2-A1AF8FF9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Das zentrale Problem: Es gibt keine zugängliche, transparente, datengetriebene Plattform, die Privatanlegern zeigt, was hinter den Zahlen steckt — und die dabei ehrlich über ihre eigenen Grenzen ist.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FD5DF14-9C5F-4E09-9E14-0BAC8848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963DC2-45C4-4F24-B3E6-A96A1A2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5832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F6FEF77-C9F4-4311-8DE5-862786E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f8e0e682847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3D9287F-0D12-4DE5-8096-F7EE348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2 · LÖSUNG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72E2801-ABE5-4418-B976-812DF09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Was ist WealthScope AI?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8F2B5AF-1A48-4175-BF7F-41BAFF7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AF6B811-95D9-47B0-8C26-2373668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4D5E1CE-8BBE-4176-90BC-5786550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949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5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Eine interaktive Webanwendung — Python &amp; Streamlit —, die historische Aktienmarktdaten mit Machine Learning verbindet. Kein Wundermittel, kein Handelssystem: ein wissenschaftlich fundiertes Analyse-Werkzeug, das Klarheit schafft.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29111E1-1F40-4E2B-96C0-BF06A37D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5394960" cy="301752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06D869C-C3D0-465D-B8B2-AC325CF9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Die Datenbasis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78E5E57-0853-4DD3-A189-190F2643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0"/>
            <a:ext cx="210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192.119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780E1D4-F47F-4599-957E-91AEF9DC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97764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Datenpunkte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231A538-74AD-4089-A9BC-DA20E08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210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26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B5082F4-C682-4B9E-98FE-C1FDE7F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75488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Blue-Chip-Ticker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B0E2A73-5314-43F2-B704-F941466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210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1962–2017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F0E2F58-4434-4078-87A7-3355AB9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53212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+ live via yfinance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D442CD6-FDC0-4CF7-97AF-A264CFCB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285232" cy="48006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3f4e185f4f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19088" y="1572768"/>
            <a:ext cx="4974336" cy="448970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0823A94-BFE2-4409-A015-688BA2B8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4D03F06-D1C0-45CC-B405-9EA3EC3D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5117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BAD68E-14F1-4144-97B8-DC9763A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4f91e81c54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8CBCA93-C6CB-40D7-9D27-94B8B4F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2 · LÖSUNG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030419-8276-4017-8097-4FFA068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Fünf Bausteine, ein Werkzeug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2E2FDE7-08F2-4A04-8502-A977935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084832" cy="32461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C8051C1-BDB4-4524-A521-996F1B1B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4401b771b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5689" y="1940905"/>
            <a:ext cx="470733" cy="470733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5F71C1C-9ECC-4AFB-8B49-C1C68DB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7480"/>
            <a:ext cx="18105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Marktanalyse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434FA67-B758-4690-82D2-E944A7C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171907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Kurscharts, Candlesticks, gleitende Durchschnitte, Drawdown</a:t>
            </a: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B02578C-4B94-4776-B78D-07B43CE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600200"/>
            <a:ext cx="2084832" cy="32461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B6D06C7-5D0D-4E15-8953-3839336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dc2897906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3401" y="1940905"/>
            <a:ext cx="470733" cy="470733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4DF0B00-6F99-42DA-95C6-8A02B74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697480"/>
            <a:ext cx="18105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ML-Insights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F38577B5-0E37-44ED-80F9-F628C89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91840"/>
            <a:ext cx="171907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Korrelationsmatrix, Konfusionsmatrix, Lernkurve, ROC/PR, SHAP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D5E427C-BBC8-4E65-8834-ED03F32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600200"/>
            <a:ext cx="2084832" cy="32461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710EB1B7-D45D-4B7B-B0A6-868B5844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5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f3732257e48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1113" y="1940905"/>
            <a:ext cx="470733" cy="470733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C4A0F476-2098-4AA0-B8E0-2CBE7C1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2697480"/>
            <a:ext cx="18105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Kapital-Kompass</a:t>
            </a:r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A3DC96C3-D57C-4CE6-9F62-4CC7A6EC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291840"/>
            <a:ext cx="171907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Risikoeinschätzung &amp; Positionsgrößen-Empfehlung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1080096B-AF8E-4247-B7AF-FF66EF8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1600200"/>
            <a:ext cx="2084832" cy="32461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A870697A-0008-4224-9BBC-937A53A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926f121f14a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8825" y="1940905"/>
            <a:ext cx="470733" cy="470733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72FD7F0-C6C6-4964-B063-D7987DE7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2697480"/>
            <a:ext cx="18105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Portfolio-Simulator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4F582B26-16FC-4594-B701-4B99A86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291840"/>
            <a:ext cx="171907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Allokation über mehrere Titel, Konzentrationsmaß</a:t>
            </a:r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8D4A4150-6389-473E-8140-4B79E87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1600200"/>
            <a:ext cx="2084832" cy="32461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863BA74D-E83B-4920-AE5A-086F1C0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1dfe1b464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6537" y="1940905"/>
            <a:ext cx="470733" cy="470733"/>
          </a:xfrm>
          <a:prstGeom xmlns:a="http://schemas.openxmlformats.org/drawingml/2006/main" prst="rect">
            <a:avLst/>
          </a:prstGeom>
        </p:spPr>
      </p:pic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203D6868-D967-4265-B90F-FE445A0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697480"/>
            <a:ext cx="18105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Methodik &amp; Export</a:t>
            </a:r>
          </a:p>
        </p:txBody>
      </p:sp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A0FEF427-4E61-4D94-AD22-26289F2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291840"/>
            <a:ext cx="171907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QUA³CK interaktiv erklärt, Bericht als PDF/CSV/ZIP</a:t>
            </a:r>
          </a:p>
        </p:txBody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A8718938-5F81-421D-95E4-3FBB0F39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66360"/>
            <a:ext cx="11091672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04D7B2A5-7EDA-4E81-A33C-FAFBFCF7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1054303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Das Besondere ist nicht, dass die App bessere Prognosen macht. Das Besondere ist, dass sie zeigt, warum ML bei Aktienkursen an seine Grenzen stößt — und was man trotzdem sinnvoll damit anfangen kann.</a:t>
            </a:r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47650406-1722-4A58-AC29-9919C370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9CF661B0-5F53-45B5-9E9A-4E6ECC6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3970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023107-B3E2-4A7E-8FD9-E6BFADE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f5339c81a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8FC034-F4DC-42FD-9365-B2C5EFF1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LÖSUNG · SYSTEMÜBERBLICK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0BD9B5-CE36-41FF-8AFA-07D899B6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Von den Rohdaten zur App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AE6D1E3-ECCD-49AE-9087-1FB90B4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1874520" cy="2286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468F876-E084-4D29-AA0A-1503633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36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31b8e1bc4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4798" y="2576962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A5097B2-BF64-4380-B526-F652974F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691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Kaggle-Rohdaten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A4EAFFA-9427-485F-A3C5-2C723E0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192.119 Zeilen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26 Ticker · CC0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EE5636E-D7EC-4B82-A971-ED1D457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154680"/>
            <a:ext cx="5212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814C75C-9CDC-43DE-B2CE-645A421C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286000"/>
            <a:ext cx="1874520" cy="2286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064FB75-1FBE-4669-9B40-D48FBB1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24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0ca8b5d4e4b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9086" y="2576962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5711F86-1AF8-499B-A8CC-4B8AC39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200400"/>
            <a:ext cx="1691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Feature Engineering</a:t>
            </a: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0E03F61-A3FF-4FFD-9525-927D977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70332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8 Features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Renditen · MAs · Vola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8FBB57F6-7A01-46AA-AC52-1270D22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154680"/>
            <a:ext cx="5212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B0A528B9-FF72-4C90-B0F0-22D97D55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286000"/>
            <a:ext cx="1874520" cy="2286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C49BC2D-C136-4AB4-8B4D-DF44260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012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1293e8e6d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3374" y="2576962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C34ED2C-D81E-416C-B789-86DB12CE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200400"/>
            <a:ext cx="1691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Modellvergleich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B71695A-8636-4409-A824-D68F3086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70332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5 Modelle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Out-of-Time-Test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CB07EDF-0BCC-40FE-A0B0-6BD38F8F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3154680"/>
            <a:ext cx="5212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A056024-E022-4310-A868-06C890F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286000"/>
            <a:ext cx="1874520" cy="2286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7D2D8DF-4CE7-4838-A644-B1C0500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2ce9848ba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7662" y="2576962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A50D27E5-CCFD-4651-9081-758ED52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3200400"/>
            <a:ext cx="1691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Diagnostik-Cache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E68B5945-EDBB-4601-803F-6C5BF10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370332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JSON — einmal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vorberechnet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3A31D96E-012D-4872-A3ED-F9C20278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154680"/>
            <a:ext cx="5212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47F89278-7411-4188-93A1-9EAFAF97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2286000"/>
            <a:ext cx="1874520" cy="2286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3297C77B-DA0D-4F01-9211-26565A01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588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c4bc38994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1950" y="2576962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F3F4EFD1-1F46-4F30-9108-D6A39576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200400"/>
            <a:ext cx="1691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Streamlit-App</a:t>
            </a:r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5703A5AE-CDB1-4A38-8986-47B3DE3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70332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16 Seiten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live &amp; interaktiv</a:t>
            </a:r>
          </a:p>
        </p:txBody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97D6AE32-E592-4350-AF32-4C70E7D1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91672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C7FA576D-3BF1-4C7E-BFC3-7ACB1D0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54303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Warum ein Diagnostik-Cache?  Out-of-Time-Metriken, ROC/PR und vier Walk-forward-Folds werden reproduzierbar offline berechnet. Die App liest nur validierte JSON-Artefakte — schnell, transparent und ohne Training beim Seitenaufruf.</a:t>
            </a:r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2ED47655-95EE-4B15-A17D-1478E35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F7C9BE6D-76E7-4203-8F9D-1F190874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9444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8EDDB4-BDF7-402D-90FF-42C6B03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680584eb2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678C39A-014B-4E1E-8160-80DF85F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LÖSUNG · WERKZEUGE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94EB747-FB4D-4BF6-96B7-82533F1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Technischer Stack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EE025AB-505F-4F9A-92EA-F90BCB94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B949CC-2826-42DE-9D1A-BBA5BA88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068105f76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90" y="188915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6D4C327-D8F8-4EEF-AE1A-873EB35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Sprache &amp; App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3FFDE58-CA4B-4C8A-BC8A-8BF873B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Python 3 · Streamlit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(st.navigation, Multipage)</a:t>
            </a: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0E9B0D1-6E77-4625-AFE3-56E461E3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60020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105F2A2-E77D-474E-BDDD-F8F0E9A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8288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e2a7184f7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3942" y="188915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D3239582-6D85-4552-BF7B-130B5B4A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Daten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AEC68DA-542F-4274-AF67-6F138A9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88036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pandas · numpy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Apache Parquet (PyArrow)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4E79882-4F94-4151-AC73-A161B0B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60020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BF550AA-FBC3-4775-BEF9-AD2D088B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8288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6a96ba11949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0294" y="188915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242BFEC-AC7D-486A-8FC3-1A161CC4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Machine Learning</a:t>
            </a:r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C8B0250B-857A-4A68-B226-AD107B2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8036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scikit-learn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(5 Modelle, Pipeline, OOT)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17972D48-3150-436C-B49C-DD5196B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60020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11A274A0-2097-4E4C-B74D-7ABF215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18288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0aea6f17e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6646" y="188915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286A432A-C303-42B0-AB2B-FCD8EFFA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Visualisierung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5AF18252-52C6-4998-BDE3-AA36C4D8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88036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Plotly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(interaktive Charts)</a:t>
            </a:r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584C6FCA-7DD2-4409-BF74-F17258B2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4FE68C70-2A0B-4E88-8350-6ADFB629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8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12bce87704d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90" y="4129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9DDF6FC8-ADBE-492B-A74D-0B33D582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Erklärbarkeit</a:t>
            </a:r>
          </a:p>
        </p:txBody>
      </p:sp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D018D837-A9FC-4967-9204-F8D62105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064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SHAP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(TreeExplainer)</a:t>
            </a:r>
          </a:p>
        </p:txBody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4375FC9B-ECA2-4F5A-AD5F-1EA2AAF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4048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A83A7584-926A-4491-8105-E30B91F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8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702bf05df48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3942" y="4129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252EFFE9-8822-4E78-BE6F-F7FB09C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7091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Externe Dienste</a:t>
            </a:r>
          </a:p>
        </p:txBody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E559D1D7-95CD-4146-AE8D-B665D3A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512064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yfinance · NewsAPI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Google Gemini</a:t>
            </a:r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915C7A71-642B-482F-886D-A46B6BD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4048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8">
            <a:extLst xmlns:a="http://schemas.openxmlformats.org/drawingml/2006/main">
              <a:ext uri="{FF2B5EF4-FFF2-40B4-BE49-F238E27FC236}">
                <a16:creationId xmlns:a16="http://schemas.microsoft.com/office/drawing/2014/main" id="{CC433CD4-CC01-4D9F-BF51-41C88CB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9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b20c9b24d49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0294" y="4129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5C940664-FE6A-4277-BC34-F3DF3FD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7091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Qualität</a:t>
            </a:r>
          </a:p>
        </p:txBody>
      </p:sp>
      <p:sp>
        <p:nvSpPr>
          <p:cNvPr id="40" name="Text 30">
            <a:extLst xmlns:a="http://schemas.openxmlformats.org/drawingml/2006/main">
              <a:ext uri="{FF2B5EF4-FFF2-40B4-BE49-F238E27FC236}">
                <a16:creationId xmlns:a16="http://schemas.microsoft.com/office/drawing/2014/main" id="{0EC477F0-146E-432A-85E0-A069D656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512064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pytest · Struktur-Checks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Walk-forward-Validierung</a:t>
            </a:r>
          </a:p>
        </p:txBody>
      </p:sp>
      <p:sp>
        <p:nvSpPr>
          <p:cNvPr id="41" name="Shape 31">
            <a:extLst xmlns:a="http://schemas.openxmlformats.org/drawingml/2006/main">
              <a:ext uri="{FF2B5EF4-FFF2-40B4-BE49-F238E27FC236}">
                <a16:creationId xmlns:a16="http://schemas.microsoft.com/office/drawing/2014/main" id="{8A446A87-96CC-45CE-91F7-791F8AA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840480"/>
            <a:ext cx="2651760" cy="2057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2">
            <a:extLst xmlns:a="http://schemas.openxmlformats.org/drawingml/2006/main">
              <a:ext uri="{FF2B5EF4-FFF2-40B4-BE49-F238E27FC236}">
                <a16:creationId xmlns:a16="http://schemas.microsoft.com/office/drawing/2014/main" id="{D348BE40-D948-409E-AC11-F4659E3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9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0f18d58374a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6646" y="4129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4" name="Text 33">
            <a:extLst xmlns:a="http://schemas.openxmlformats.org/drawingml/2006/main">
              <a:ext uri="{FF2B5EF4-FFF2-40B4-BE49-F238E27FC236}">
                <a16:creationId xmlns:a16="http://schemas.microsoft.com/office/drawing/2014/main" id="{98FC4B71-9C6D-4EBA-ADCA-574660E1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7091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Dokumentation</a:t>
            </a:r>
          </a:p>
        </p:txBody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EFE29EA3-1AF2-4239-A88B-EB425B5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120640"/>
            <a:ext cx="2194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8 Jupyter-Notebooks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QUA³CK · Lernstudio</a:t>
            </a:r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4E283E74-8912-4452-903A-1E37454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AF7248C1-007E-4DC0-8F6D-F25AE82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8653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FCFA3C-EF6E-47C7-8027-DBE2464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02A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b84179d314d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BFFDCDB-748A-4AF1-AEA1-31373349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2064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QUA³CK — der wissenschaftliche Fahrplan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F34D0F-69FB-4410-80DD-EF6566F1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0B2336A-E5FD-45B8-804D-9824633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1 Min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B1284B3-4220-4E29-9F70-55D4FD8B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Stock et al. (2021), KIT ITIV — ein praxisnaher Leitfaden, der verhindert, dass man modelliert, bevor man die Daten wirklich verstanden hat.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F6FF966-8A2B-4B40-95AB-237D241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F67B3D-BC44-4C4E-B68A-7F73A28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Q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45702A9-8840-442F-A163-D668714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0CDCA4C-FAA7-4975-8577-C3CDA6C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Leitfrage &amp;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Hypothesen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9B38CCA-77F7-4E7F-B9D0-591046F5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47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9443F5-FAEA-4A9F-8568-72723278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903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372EC24-F66C-4653-A6A9-D2F95C81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903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U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A327CFC-C912-4BAC-BE9D-A73D694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055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Understanding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25E67F-FAFD-4449-9D8D-2A0A0B7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055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Daten, EDA,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Qualität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9272539-089C-431D-811B-9463600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710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2371BCE-19AC-413F-9899-64F4DCF6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166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63983B9-854C-4B2D-83B6-F25B931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166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5BB03A8-920A-40C2-B10D-9F57381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318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Analytics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C9D5E15-7933-4746-94A6-50C55EA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318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Feature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Engineering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E58B725-C54F-4639-9DD1-ADA0FDC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73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24AE84E-CA7D-4441-BF47-64693BAD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429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4960076-05B0-4282-A04D-6C136F34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429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630506B-4302-488D-BCBF-CF7C746A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581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Algorithm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6ED9EBF-7AED-4445-ADF0-09FEC31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581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Modell-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auswahl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125A84D-9742-4D1A-ABB5-136A29C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235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0B009A8-94BC-4FC1-948E-D149C76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691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24A6D40-69D8-40FC-A624-855905C8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691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8F57F00-9D90-4ABD-8809-C19EA95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843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Adaption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5B27DDC-B64A-4C67-AB72-BF0AD2C7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843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Optimierung &amp;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Ergebnisse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F68D08C-FAAE-4B41-BC71-F42A5CF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498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62DF908-8291-4A16-BC84-EA5DD42C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954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847BBC7-D3D8-4D0F-860F-06FAF88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954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9E1C7E7-A45B-4AF9-A98A-D968CEB5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106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Conclude</a:t>
            </a:r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9290B356-E5BF-496A-B91C-FB0B436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106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Fazit &amp;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Grenzen</a:t>
            </a:r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F89B7E3B-65C9-4BAB-93EA-91B4ADDD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61" y="3246120"/>
            <a:ext cx="47548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44523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DFFB7E5-44C6-4A43-B282-A8B6274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17" y="2331720"/>
            <a:ext cx="1412095" cy="3200400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EE049851-535B-48EE-92A2-CB5ACF3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17" y="2514600"/>
            <a:ext cx="14120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K</a:t>
            </a:r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D415DDF4-E846-4536-BA91-120E7C6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369" y="3383280"/>
            <a:ext cx="126579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5F0"/>
                </a:solidFill>
                <a:latin typeface="Calibri"/>
                <a:ea typeface="Calibri"/>
                <a:cs typeface="Calibri"/>
              </a:rPr>
              <a:t>Knowledge</a:t>
            </a:r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AE74758-1FB5-48E1-A9D3-047B67F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369" y="3931920"/>
            <a:ext cx="1265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Live-Demo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der App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FDD978C-8B17-4C44-9E5B-15A495B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Jede Phase ist bei WealthScope AI durch ein eigenes Jupyter-Notebook dokumentiert.</a:t>
            </a:r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E905EC32-DC0E-4448-9A87-0F099D0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3036B6B-1C03-4631-882E-19C21E2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7755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F1E9D1E-AE6D-4533-A498-C7ED5A3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d2e84a2de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FB01F11-68B9-4599-BA99-64A569F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4 · Q — QUESTION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C2165D6-141D-4428-976B-D93DDF0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Die Leitfrage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17339BD-8A4B-49A0-96FB-2BCA8AE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1C1F447-C764-46A3-A8A6-734C752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1,5 Min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41F98D8-4072-4348-912A-440A740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88136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BADF500-8FD0-4390-8653-4BFF24E8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8760"/>
            <a:ext cx="103327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i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„Wie können historische US-Aktienmarktdaten genutzt werden, um mit Machine Learning eine interaktive Finanzanalyse-App zu entwickeln, die technische Marktanalyse, ML-basierte Signalgebung und risikobasierte Positionsplanung nachvollziehbar kombiniert?“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DFF1F03-CE88-4EF4-8483-B0307F1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3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51FF309-7805-4F2B-B053-1117B1A0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H1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F5F6D83-A6FE-4B40-AB15-02895E6D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063240"/>
            <a:ext cx="10058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Ein Random-Forest-Modell wird gegen Baseline und vier Alternativen in einem zeitlich sauberen Out-of-Time-Test geprüft.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BB35C3-996B-456C-A359-5C860D36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3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8C44BD-BAD6-401F-8D45-36849256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H2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22355DC-3B9F-41FC-A1EE-3EB27F9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40480"/>
            <a:ext cx="10058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Eine Streamlit-App macht die Methodik für Nicht-Experten verständlich zugänglich.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29498CC-BD81-48E7-A704-58E84A6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3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C21F17-4915-41C4-8790-BA2FD4E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H3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D271573-F534-419D-811D-DC4DC172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0058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Die Kombination aus technischen Indikatoren und ML-Signal verbessert die Nutzbarkeit gegenüber Einzelansätzen.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849E73B-2E29-4BF3-BA7F-20F0082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88136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E1DD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39DB5F0-3257-42B8-A213-9BFBBC5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32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A83C30"/>
                </a:solidFill>
                <a:latin typeface="Calibri"/>
                <a:ea typeface="Calibri"/>
                <a:cs typeface="Calibri"/>
              </a:rPr>
              <a:t>Ausdrücklich nicht: kein Handelsbot, keine Anlageberatung, kein Kursprognose-Tool. Ein wissenschaftlicher Prototyp zur Demonstration datengetriebener Analysemethoden.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1F45095-F4D6-408C-8778-EA0D0F6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097E0F9-A0CB-4A30-897C-7E2163CE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2417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20112D7-BEDF-4267-93CC-E69FDBDE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796e7903b47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13269C-DBBA-4696-B301-7CC49AD4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5 · U — UNDERSTANDING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AB80D50-24BB-477A-A092-E3EE54C9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Die Datenbasis kennenlernen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FC463C1-4E68-42FC-990C-96AE0CE2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F8FF192-E2DB-4616-89DB-CD6B7D7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3,5 Min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6D86E4E-1A1B-4A7D-B0A9-D7B28A3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Kaggle-Datensatz „US Stocks &amp; ETFs“ von Boris Marjanovic, CC0 Public Domain — vollständige Datenfreiheit, keine lizenzrechtlichen Probleme.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82ECD74-4830-4095-A5A1-01992D1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26060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311C945-CB63-42CC-9E3E-7448F51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192.119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ECC7DCE-6637-48A4-8254-DBF0FD5C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Feature-Datenpunkte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D1C386-9682-41C7-B2B2-DE147575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40280"/>
            <a:ext cx="26060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C48F66E-1210-46F5-B96E-B0D64197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37744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26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B81DD5F-9099-4936-B816-4433407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0175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Blue-Chip-Ticker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F0B8AFC-94E8-4418-A6D6-ED1B0318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40280"/>
            <a:ext cx="26060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392E0F0-089C-4248-BFFD-78EB975E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37744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1962–2017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1EB17DE-A988-4CE2-B49C-A8C576BC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0175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Zeitraum (+ live)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A9FBE2-1D4E-40FC-9162-0C8C046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240280"/>
            <a:ext cx="26060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B01C922-2CD8-4A5C-A343-BD954632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7744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Parquet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E997EA3-1AA7-43D6-A52B-4971C62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30175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Format, optimiert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976C886-E202-4780-A443-B481BF4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Warum so viele Titel?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0643741-7088-4B69-B266-41B0E55C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10881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4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Nicht nur Umfang — sondern weil unterschiedliche Sektoren und Marktphasen die Generalisierung des Modells verbessern.</a:t>
            </a:r>
          </a:p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4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Von Apple und Microsoft über Coca-Cola und McDonald’s bis zu Boeing und General Electric.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FF1B8AD-4D95-427E-BEAA-60487F90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502EFD3-A867-4F88-8FFB-CC7039D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332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Methodische Einschränkung: Survivorship-Bias — nur heute noch existierende Ticker sind enthalten.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C9FB0B7-F349-4053-A0BD-B43FBCFC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8DBC017-1EE5-40D6-A9CA-6FC60BC5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1428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1C4565E-2D15-47E6-9AB2-D6DA7AB1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6e25a1db6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8536B3F-98A5-4AAF-95F0-B164F114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5 · U — UNDERSTANDING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9A9D3CE-D305-4AA0-874D-159D9B8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Explorative Datenanalyse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ADE2AB1-75F3-49C1-BE71-6E3F16D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0292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Histogramme mit Kernel-Dichte-Schätzung für alle acht ML-Features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Boxplots zur Ausreißer-Identifikation (IQR-Methode)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Scatterplots zwischen Features und Zielvariable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Pearson- und Spearman-Korrelationsmatrizen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2242B27-9AC3-4B5E-9F9F-6E14A0FF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5029200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7B51B9-B17B-4DB4-A050-46B90231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4572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Ergebnis: Features sind leicht schiefsymmetrisch (→ Median-Imputation), Korrelationen moderat — kein extremes Multikollinearitätsproblem.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8C9CBA0-4746-4819-A787-5DB8D0AF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63040"/>
            <a:ext cx="5559552" cy="429768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f146eff7c4b8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72200" y="1645920"/>
            <a:ext cx="5193792" cy="393192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B94F3C5-11FD-4926-921F-42FF906F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C5A1424-0D60-4628-ABCB-3EE1DEE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2500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FA5EB5-7E51-4920-84D5-BCDAC6A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bbe3cdfed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E6DA419-AFCB-4D68-96A2-32E2D4F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5 · U — UNDERSTANDING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24752B-EC8B-4D45-A074-5E8A9F50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Fehlende Werte: MCAR, MAR, MNAR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5897D35-8444-4A63-88CE-39136AFD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Fehlende Werte in den Moving-Average-Features — die ersten 20 bis 200 Handelstage je Ticker, weil der gleitende Durchschnitt noch keinen vollständigen Berechnungszeitraum hatte.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A67A981-9C16-4BB9-9085-511C743F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5349240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A43F9B-0FDE-4D76-8D75-00DD3C8D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4203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MCAR — Missing Completely at Random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D70F65-82B9-458E-B159-B1402BB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44368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Das Fehlen ist unabhängig vom tatsächlichen Wert und von anderen Variablen — die beste Ausgangslage für eine Imputation.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4F9FE9-A505-4A47-B2E7-EE006C3D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7440"/>
            <a:ext cx="5349240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06FABA-91F8-48D6-8E95-92659AA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203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Drei Strategien verglichen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14E2AF6-59CF-42A3-9844-D193360A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23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Mean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C9EAC83-2D78-4717-A55F-5703678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9232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einfach, anfällig für Ausreißer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FA809ED-5483-40AE-B989-D3518CF8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49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Median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51403CA-04DA-4C44-B41B-47E631EA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4992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robust — gewählt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632BFFE-84B9-4247-B02A-1A3449A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KNN (k=5)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788F7AB-CE20-4442-8157-55CFC814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0752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gleichwertig, aber teurer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2A6C24E-29EE-45BF-AB21-88BB92A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1088136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92DFDB4-F221-4532-AE89-60D2D08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A97C1E"/>
                </a:solidFill>
                <a:latin typeface="Cambria"/>
                <a:ea typeface="Cambria"/>
                <a:cs typeface="Cambria"/>
              </a:rPr>
              <a:t>Kein akademisches Detail — eine direkte Qualitätsentscheidung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EC5E04F-45FA-43EC-8313-048D9FAB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10332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Li et al. (2024), BMC: bereits 5–10 % fehlende Werte können den Accuracy-Verlust um bis zu 15 % erhöhen. Median-Imputation ist damit nicht Beiwerk, sondern eine belegte Weichenstellung für die Modellgüte.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C021D94-CEB1-4823-82B5-41D6042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748FA33-3987-4DAC-9A46-ECD0B0E8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7072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9D196C-6CC5-4326-8B2B-BDDCBDC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2b97a41e242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E4EF7AB-7FFB-460E-B158-764E6A6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5 · U — UNDERSTANDING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6447050-2C04-4E9E-ACB7-F66B1996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Feature Scaling &amp; Data Leakage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F688154-32E1-4E2B-9D08-78A4C1C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257800" cy="18745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90A62E8-FD5F-491F-BF08-DE31145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8"/>
            <a:ext cx="4800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StandardScaler statt MinMaxScaler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B23002E-39F8-4F06-9C92-D652DC8F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800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Z-Score-Normierung, Mittelwert 0, Standardabweichung 1 — optimal für Algorithmen, die auf Abständen operieren.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E317231-4E1B-444E-A50D-60D0B60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3040"/>
            <a:ext cx="5376672" cy="18745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BB15FD-FD21-4676-BAE6-B2E27786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4208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Pinheiro et al. (2025)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0EA55D2-DF67-4D1E-B155-E2B9635A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arXiv:2506.08274 — korrektes Feature Scaling verbessert die Modell-Performance um bis zu 25 %.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9EE2EB5-A54F-4CF8-918B-9F595E3A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908792" cy="233172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E1DD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820AB3-537E-44EA-8351-91EA181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A83C30"/>
                </a:solidFill>
                <a:latin typeface="Cambria"/>
                <a:ea typeface="Cambria"/>
                <a:cs typeface="Cambria"/>
              </a:rPr>
              <a:t>Data Leakage — und wie es verhindert wird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4F572DE-45A3-4E09-9FD6-2763232F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Der Scaler wird ausschließlich auf den Trainingsdaten gefittet — niemals auf dem Gesamtdatensatz, niemals auf den Testdaten. Nur auf X_train. Das ist der Unterschied zwischen einem Modell, das in der Realität funktioniert, und einem, das nur im Labor gut aussieht.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F4B7280-EC2D-4E5F-BD8A-A968672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AB0E15-3812-4FF4-9017-E0CB1656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4334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48088E-5534-4310-B481-D8E5CC0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371769798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EFDFCF0-FB67-4DDD-98E5-DA4DB67A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6 · A — ANALYTICS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BE725E-FA0B-457E-8831-84F816EE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Feature Engineering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BD1C2A-8680-4FE4-8133-D69329D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31EFD-0640-4FB2-BD24-8EFF1DA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2,5 Min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5E631A-4D73-4954-AC23-1114514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Aus OHLCV-Rohdaten (Open, High, Low, Close, Volume) werden acht Features destilliert: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D9871DE-7787-48A3-8FA9-FD729006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108813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AC51C09-4F96-4B84-A92F-0D277BDA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Rendite-Features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0757880-D034-41E4-B7CC-D90F80C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5960"/>
            <a:ext cx="3749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daily_return · return_5d · return_20d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1A67F1-78B1-43EF-91FA-BDCF79E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65960"/>
            <a:ext cx="4114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Kurzfristige bis mittelfristige Kursentwicklung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FD77320-5B94-43E4-8A60-C68DDA74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7AA88F4-C8C4-4F6E-9072-F79B8FC3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Trend-Features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F98E8B-3BD2-48D2-A2F1-77CAE81D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3749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MA-20 / MA-50 / MA-200 Distance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02EC4C1-6DD1-4E4F-927A-A23FB00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114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Abstand zu gleitenden Durchschnitten — Mean-Reversion-Signal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33A9AB8-1782-4C8E-8C10-A22F954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813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F251C70-101C-4E0B-B73D-513BFB02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Risiko-Features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6F2EB7E-CAF9-456C-A9E7-A8B8521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7640"/>
            <a:ext cx="3749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volatility_20d · Drawdown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96A647E-2F4E-42D3-B7F0-D8EB13D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77640"/>
            <a:ext cx="4114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Schwankung und Abstand vom letzten Höchststand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CBDAACE-C9AD-4DA5-AA42-B4ED596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881360" cy="12344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454637-B2BF-434A-9950-8473FB1E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Zielvariable target_20d: </a:t>
            </a: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binär — ist der Schlusskurs in 20 Handelstagen höher als heute? Richtungsvorhersage statt Regression: realistischer und robuster quantifizierbar bei effizienten Märkten.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56369F1-727D-4097-BAD2-28DBEC2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54F7B4C-DE4A-4371-9C4A-EF23C80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4178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028619-3E42-4C4B-A9A5-C682A0B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28646918f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44B116F-6DFF-4747-B5FD-851BA12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7 · A — ALGORITHM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53D0AA-82CA-4223-BA1E-496E5B6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Modellauswahl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6B90296-05BA-4750-9156-7A45D17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149B6C7-57DE-4787-B485-7401E01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2,5 Min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E68B9A8-17B0-482E-B830-159A807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42900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7ABF846-AFF3-475B-B98F-0A169163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459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Baseline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76DBABB-74D9-4ABF-9A4B-EF616D0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DummyClassifier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6040D63-3761-4F2C-B6F6-744911B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Referenzpunkt — immer häufigste Klasse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300DCF6-E380-43DC-9269-B8E1F17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103120"/>
            <a:ext cx="292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879DD4D-176C-4F32-B10E-7BB0571E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463040"/>
            <a:ext cx="342900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38AC3D-FBF4-4C2B-8622-D2145C0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6459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Lineare Modelle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01CF4A4-C39E-4C8C-8A43-6DAF6621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031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LogReg + Linear SVM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AA05BB5-A9E9-439B-ACEB-5A76A38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51460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Schnell, nachvollziehbar, starke Referenz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5D4357B-C477-4963-B640-C096287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103120"/>
            <a:ext cx="292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3EF7197-2A3A-4991-9E7C-4377B1CD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63040"/>
            <a:ext cx="342900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F5D53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9E2AEBD-9203-4D80-8E5B-88A31A5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459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Baumfamilie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2B81D55-877C-43DB-812D-408AF31E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1031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CFE3DA"/>
                </a:solidFill>
                <a:latin typeface="Calibri"/>
                <a:ea typeface="Calibri"/>
                <a:cs typeface="Calibri"/>
              </a:rPr>
              <a:t>Decision Tree + RF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91016C-2AB0-4199-9956-73ACD3C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51460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4EEE8"/>
                </a:solidFill>
                <a:latin typeface="Calibri"/>
                <a:ea typeface="Calibri"/>
                <a:cs typeface="Calibri"/>
              </a:rPr>
              <a:t>Nichtlinear, erklärbar, vergleichbar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94D214C-7B85-44D8-8477-8798430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Warum fünf Modellgenerationen?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EE3145F-B8A8-4E5A-B4B4-46849C4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10881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900"/>
              </a:spcAft>
              <a:buSzPct val="100000"/>
              <a:buChar char="▪"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Baseline trennt Mehrwert von Klassenhäufigkeit</a:t>
            </a:r>
          </a:p>
          <a:p xmlns:a="http://schemas.openxmlformats.org/drawingml/2006/main">
            <a:pPr marL="228600" indent="-228600">
              <a:spcAft>
                <a:spcPts val="900"/>
              </a:spcAft>
              <a:buSzPct val="100000"/>
              <a:buChar char="▪"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LogReg und Linear SVM prüfen lineare Signalstruktur</a:t>
            </a:r>
          </a:p>
          <a:p xmlns:a="http://schemas.openxmlformats.org/drawingml/2006/main">
            <a:pPr marL="228600" indent="-228600">
              <a:spcAft>
                <a:spcPts val="900"/>
              </a:spcAft>
              <a:buSzPct val="100000"/>
              <a:buChar char="▪"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Decision Tree zeigt den Schritt zu nichtlinearen Regeln</a:t>
            </a:r>
          </a:p>
          <a:p xmlns:a="http://schemas.openxmlformats.org/drawingml/2006/main">
            <a:pPr marL="228600" indent="-228600">
              <a:spcAft>
                <a:spcPts val="900"/>
              </a:spcAft>
              <a:buSzPct val="100000"/>
              <a:buChar char="▪"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Random Forest reduziert Varianz und liefert Feature Importance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030D562-E0B3-4192-B52E-E42D8ED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A8A1020-6333-46D9-ACFF-AB987CA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Kein neuronales Netz: Datengröße und Feature-Set rechtfertigen die Komplexität nicht — Occam’s Razor.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79C876B-B0E5-4F60-B953-A1965E9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06B47F0-5EDD-40AD-A36F-C794C953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4643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C70C58-2EDE-4851-94C1-7DE7882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20ebb377e4d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EF6B0DC-5F47-47C4-8B1D-932E372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8 · A — ADAPTION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2D87300-2658-4AF4-8D1B-D1B6894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Training ohne Zukunftswissen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55EED33-903A-4055-A450-B677A2C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6876B6F-6B00-48B2-B98A-43D73F4C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616" y="457200"/>
            <a:ext cx="1088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1AD5388-4440-4992-8DA9-768C65B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2578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5E1FAA-A5B6-4B96-81BB-72632E4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n_estimators = 200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A7BF0F7-19CB-4751-B984-4817C3B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67128"/>
            <a:ext cx="52578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00BD04-E6F6-48D4-BD64-889CDD80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671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max_depth = 8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7C6C1E2-40E4-43BC-8AE5-378B35BA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25496"/>
            <a:ext cx="52578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CCAB258-79E7-4142-B4B0-F4C41CF2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25496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min_samples_leaf = 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55E6A6-2D17-4BDC-8258-380F0AC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08760"/>
            <a:ext cx="5394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200 Bäume für stabile Schätzungen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5859FB6-A341-43E6-8B94-CFAA69F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67128"/>
            <a:ext cx="5394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Tiefe begrenzt die Modellkomplexität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905CEC4-6E7B-4389-9E16-85A1EC4F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825496"/>
            <a:ext cx="5394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Blätter regularisiert gegen Rauschen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E27F45-3A0E-4269-B100-3D4A4D41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88136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DFDE3BA-DEE7-42A0-A954-5667A70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Pipeline (Data-Leakage-Prävention)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6CEB595-8568-4081-93D1-C0241E5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Imputation  →  Scaling  →  Modell   —   Pipeline verhindert Leakage innerhalb jedes Trainingsfensters; Zeitordnung und Sperrzone schützen zusätzlich.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C0D473-7363-4DF5-8721-433BC37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10881360" cy="15544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C26BB92-8B95-47B5-B4B8-8FBC77E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Out-of-Time-Test + 4 Walk-forward-Folds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078D13-53BE-4037-BB32-6445ECC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4241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Training bis 09.10.2006, danach 20 Handelstage Sperrzone; unangetasteter Test vom 07.11.2006 bis 10.11.2017. Vier expandierende Walk-forward-Folds prüfen zusätzlich, ob das schwache Signal über Zeiträume stabil bleibt.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52C8D37-5DF1-4C66-A47E-D4D074F1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797C413-4B3D-4DAA-BCA2-1F69071F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4817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81A184-3C65-4E4E-8594-F16C5E24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657d1be84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D65EEED-32FA-4AE8-BEA4-218967C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8 · A — ADAPTION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D803DCD-0620-49E2-8F11-3C6D1D5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Die Ergebnisse</a:t>
            </a:r>
          </a:p>
        </p:txBody>
      </p:sp>
      <p:graphicFrame>
        <p:nvGraphicFramePr>
          <p:cNvPr id="19" name="Table 0"/>
          <p:cNvGraphicFramePr/>
          <p:nvPr/>
        </p:nvGraphicFramePr>
        <p:xfrm>
          <a:off xmlns:a="http://schemas.openxmlformats.org/drawingml/2006/main" x="640080" y="1463040"/>
          <a:ext xmlns:a="http://schemas.openxmlformats.org/drawingml/2006/main" cx="108813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2587752"/>
                <a:gridCol w="2587752"/>
                <a:gridCol w="2596896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Metrik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2F5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59,1 %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51,8 %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51,9 %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Balanced Acc.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50,0 %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51,3 %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51,3 %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71A17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0,500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5B6259"/>
                          </a:solidFill>
                          <a:latin typeface="Calibri"/>
                          <a:ea typeface="Calibri"/>
                          <a:cs typeface="Calibri"/>
                        </a:rPr>
                        <a:t>0,518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A97C1E"/>
                          </a:solidFill>
                          <a:latin typeface="Calibri"/>
                          <a:ea typeface="Calibri"/>
                          <a:cs typeface="Calibri"/>
                        </a:rPr>
                        <a:t>0,519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DDE2DA"/>
                      </a:solidFill>
                      <a:prstDash val="solid"/>
                    </a:lnL>
                    <a:lnR w="6350" cmpd="sng">
                      <a:solidFill>
                        <a:srgbClr val="DDE2DA"/>
                      </a:solidFill>
                      <a:prstDash val="solid"/>
                    </a:lnR>
                    <a:lnT w="6350" cmpd="sng">
                      <a:solidFill>
                        <a:srgbClr val="DDE2DA"/>
                      </a:solidFill>
                      <a:prstDash val="solid"/>
                    </a:lnT>
                    <a:lnB w="6350" cmpd="sng">
                      <a:solidFill>
                        <a:srgbClr val="DDE2DA"/>
                      </a:solidFill>
                      <a:prstDash val="solid"/>
                    </a:lnB>
                    <a:solidFill>
                      <a:srgbClr val="E4EBE7"/>
                    </a:solidFill>
                  </a:tcPr>
                </a:tc>
              </a:tr>
            </a:tbl>
          </a:graphicData>
        </a:graphic>
      </p:graphicFrame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1FF8A83-35D5-4847-844A-87BFA9CA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881360" cy="265176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2A0F0E3-F38C-43DB-A2EA-2291CE0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Was zeigt der ehrliche Out-of-Time-Test?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A31AB28-1022-4735-8F4A-CB16C61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32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Die Accuracy des Random Forest liegt unter der Majority-Baseline. Balanced Accuracy und ROC-AUC liegen nur knapp über 0,5. Damit zeigt das Projekt keinen belastbaren Handelsvorteil — aber eine belastbare, reproduzierbare Negativdiagnose.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C42C712-6177-48E9-8C62-29D5090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Random Forest: ROC-AUC 0,519 im Test und 0,514 über vier Walk-forward-Folds. H1 wird nicht bestätigt; Komplexität ersetzt keine echte Information.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7305E45-F99F-467C-B536-76DD19F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6830D31-BF83-4D52-BCAA-2CD2C57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33988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3E1539-065F-4C62-A710-4DA973E2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452ec61fd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64EA9A4-0CF4-4114-9ED2-D170A3C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8 · A — ADAPTION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0C502B-915A-4206-ACA9-2D06BA54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Konfusionsmatrix &amp; ROC-Kurve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434311A-2C48-4E49-B111-3F4B7F5E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977640" cy="370332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84769c6b74f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04672" y="1572768"/>
            <a:ext cx="3648456" cy="3383280"/>
          </a:xfrm>
          <a:prstGeom xmlns:a="http://schemas.openxmlformats.org/drawingml/2006/main" prst="rect">
            <a:avLst/>
          </a:prstGeom>
        </p:spPr>
      </p:pic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5D102716-F9F0-4E73-8DE7-8885AEC4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17320"/>
            <a:ext cx="6720840" cy="370332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0c8372e2a48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965192" y="1737360"/>
            <a:ext cx="6391656" cy="3063240"/>
          </a:xfrm>
          <a:prstGeom xmlns:a="http://schemas.openxmlformats.org/drawingml/2006/main" prst="rect">
            <a:avLst/>
          </a:prstGeom>
        </p:spPr>
      </p:pic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10C8A32-6BCF-4406-AB63-331D483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88136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E180616C-C9A8-4193-93AC-FF9B4DA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10332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Im Test-Set sind 59,1 % der Beobachtungen bullish. Deshalb ist Accuracy allein irreführend: 51,9 % liegt unter der Majority-Baseline. ROC-AUC 0,519 und Balanced Accuracy 0,513 zeigen nur ein sehr schwaches Trennsignal.</a:t>
            </a: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BF74722-5E70-40FF-9156-C86980B8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9020686-78EE-4A5D-B197-7DD6DAEF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81244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29819-7BE1-49B7-8B36-C172890D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e8fbc4acf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066E11D-7DDB-4C85-83BC-633E2AF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8 · A — ADAPTION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D915B26-4D09-42E3-8370-6557AA00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Die Lernkurve — Bias oder Varianz?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1AFD5FA-48D1-44BF-ADFC-C0A0082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94944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134e0b7ca493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22960" y="1600200"/>
            <a:ext cx="6583680" cy="3794760"/>
          </a:xfrm>
          <a:prstGeom xmlns:a="http://schemas.openxmlformats.org/drawingml/2006/main" prst="rect">
            <a:avLst/>
          </a:prstGeom>
        </p:spPr>
      </p:pic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EAFF23F6-DA1F-406B-B7CA-B1C49F22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3730752" cy="416052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D7EA84-6C65-4D07-8A13-168B320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Was zeigt das?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E8C91B4-3019-489C-9C54-3299EC1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32918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Training und Validierung nähern sich auf niedrigem Niveau</a:t>
            </a:r>
          </a:p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Mehr Daten schließen die Lücke nur begrenzt</a:t>
            </a:r>
          </a:p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Kein großer Varianzhebel — Signal bleibt schwach</a:t>
            </a:r>
          </a:p>
          <a:p xmlns:a="http://schemas.openxmlformats.org/drawingml/2006/main"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Konsistent mit der Efficient Market Hypothesis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812ACD3-C366-4834-8457-24ABF6C5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4337686-86DC-4085-A3D2-A8EF4599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740705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0EFE91-D2A0-4A28-99E3-CCAE416C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997cc8b68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62A018C-FC3B-4218-8BAB-B6FA98B1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8 · A — ADAPTION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AA3A20-F89C-4EC8-9647-B3A635F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Erklärbarkeit — warum das Modell so entscheidet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C85E511-FEA5-441D-B20E-543CB559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440680" cy="3429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FAC290F-9272-4755-8F1E-E471FA3C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RandomForest Feature Importance (Gini)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fb5e1fd49401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04672" y="1965960"/>
            <a:ext cx="5111496" cy="2788920"/>
          </a:xfrm>
          <a:prstGeom xmlns:a="http://schemas.openxmlformats.org/drawingml/2006/main" prst="rect">
            <a:avLst/>
          </a:prstGeom>
        </p:spPr>
      </p:pic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64C3EC2-7A5B-493F-A2C5-5419982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5285232" cy="3429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D990502-014F-4B9C-92AD-5D3FE1B7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7276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SHAP — mittlerer Beitrag je Feature</a:t>
            </a:r>
          </a:p>
        </p:txBody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ef9b14eae49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28232" y="1965960"/>
            <a:ext cx="4956048" cy="2788920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249A89D1-D52C-4939-AB8C-0F98ED3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10908792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DCF7A58-C1FC-4478-AC7C-3258B7E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6015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Erklärbarkeit ohne Übertreibung: Drawdown und Volatilität prägen das Modell stärker als reine Renditen. Feature Importance und SHAP erklären Entscheidungen — sie beweisen jedoch weder Kausalität noch wirtschaftlichen Mehrwert.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93EAF32-5DD0-47BE-9B66-4D257F8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7E33B85-D58F-4227-BA4C-A6991F0A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55464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74B5DC-50A4-4824-85FD-B622512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ce466cf51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2DEC867-8B5A-4BDB-A740-147D82C9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9 · C — CONCLUDE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DC4ACC3-9546-47E8-A0A0-19CDE8A4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Was haben wir gelernt?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34BECA8-92F6-40BE-A91C-0F78F8E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0811E2-145E-4F90-AE2B-EDA2687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1,5 Min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6BA78FC-8058-4B4B-9A5B-FDA92D0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8813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563A612-37E6-4FD6-B12F-7990961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2821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3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3945BCC-6176-4843-A89D-FDA9976B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2821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FF3CAB-7629-498A-92D5-8E94FDE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664208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nicht bestätigt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8D5E86B-F5B6-4FE6-A2FF-8030FB8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56816"/>
            <a:ext cx="8778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Out-of-Time-AUC 0,519 und Walk-forward-AUC 0,514 — kein belastbares Handelssignal.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B24BE56-5C47-4351-A9CA-5C65325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8813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4EFC647-DF80-4DD8-B3C2-136C2D4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7977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3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152D284-E760-4B43-8ECA-B874B70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7977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4A4D0B3-BE65-46EA-8257-DBC9EA85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715768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bestätigt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94A29C3-39F3-4A52-8565-81ED4691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08376"/>
            <a:ext cx="8778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Streamlit-App macht Methodik zugänglich — vollständige Erklärungsebene mit Methodik-Seite.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D917E17-99B5-486C-8FB3-0B0AD6E9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8813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99517D1-7EA8-497D-8404-2D525E59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313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C1E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F868B08-D9E5-4EC2-A9C2-32B70A31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313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CDE220E-69EC-472E-B521-533D7AF5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767328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teilweise bestätigt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D52E6BF-0332-4E8A-A804-E8A63EFE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059936"/>
            <a:ext cx="8778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ML-Signal + Indikatoren + Portfolio-Tools bieten Mehrwert — formale Nutzerstudie fehlt.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5BBB220-8A71-4A84-A528-5C1DA65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9ECFC7E-80C4-44D5-A84E-707EAA6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883009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02EAC2-B659-4240-98BC-DE4096B4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b112e233b4a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E9DB39A-9F7C-49F6-B1F3-C05538E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ABSCHNITT 9 · C — CONCLUDE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1845987-4583-4943-ADE0-52671AA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Grenzen des Projekts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D33B0D-B848-4E6D-AFAD-46A29E81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25780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33B44DA-335C-4684-A92F-54BF987F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73352"/>
            <a:ext cx="4800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83C30"/>
                </a:solidFill>
                <a:latin typeface="Cambria"/>
                <a:ea typeface="Cambria"/>
                <a:cs typeface="Cambria"/>
              </a:rPr>
              <a:t>Keine exogenen Faktoren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FB177C3-3283-45FA-BDA0-71A2A1A8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Makrodaten, Zentralbank-Entscheidungen, Geopolitik fließen nicht ein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D775455-952D-4BD1-8FF4-D8DF98A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25780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DDBB3D5-6A04-4A87-9C62-1D41DBD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4800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83C30"/>
                </a:solidFill>
                <a:latin typeface="Cambria"/>
                <a:ea typeface="Cambria"/>
                <a:cs typeface="Cambria"/>
              </a:rPr>
              <a:t>Kein Sentiment im Modell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31A7D5D-10E6-4563-A745-B38355C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0312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Nachrichten werden angezeigt, aber nicht als ML-Feature genutzt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8691486-8D2D-428E-AE94-04D15B2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525780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BB55BEC-19B9-4A71-9558-6C961FC3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73552"/>
            <a:ext cx="4800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83C30"/>
                </a:solidFill>
                <a:latin typeface="Cambria"/>
                <a:ea typeface="Cambria"/>
                <a:cs typeface="Cambria"/>
              </a:rPr>
              <a:t>Statisches Modell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DC54609-D0CA-4102-9E37-A2D57B0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Kein automatisches Nachtraining bei neuen Daten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E8E7ACB-710D-406F-A307-0591EC1B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525780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D9C809A-6B1E-4901-A97E-BF740630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73552"/>
            <a:ext cx="4800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83C30"/>
                </a:solidFill>
                <a:latin typeface="Cambria"/>
                <a:ea typeface="Cambria"/>
                <a:cs typeface="Cambria"/>
              </a:rPr>
              <a:t>Historie ≠ Zukunft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2BB2FF-C55F-4C3A-A2AF-D877F699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0332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Gilt für jedes Finanzmodell der Welt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CAC2DA-281B-4C53-B4AE-7C9CE9C8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1088136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B5F0DCA-C177-4570-8792-B78A2E3A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i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Diese Grenzen sind kein Versagen des Projekts. Sie sind der ehrliche Abschluss eines wissenschaftlichen Projekts, das genau weiß, was es kann — und was nicht.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9BA94CF-C1CA-40DE-A63E-2AF8DE8A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CC33699-2BF9-4981-98A4-8DA3C48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662165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12C4A6-E415-4958-B124-B24FD1B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02A"/>
          </a:solidFill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c5b29b3e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D92E48B-6340-42F1-B613-9BCD0403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2064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K — Knowledge: Die App in Aktion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EAB3D3C-4B03-471D-B0B3-6988B6D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54B3A06-FE91-4936-82D3-C45CEDF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3,5 Min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3EEF3BA-BCB7-404E-AD9E-5F91278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Jetzt live. Falls die Verbindung ausfällt: die nächsten Folien zeigen jede Station als Screenshot.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CB1522E-AC5E-4D36-9D9A-617C834F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66ED0B7-D6D4-425E-A5D6-198F132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317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76cda6c1243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3820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44ECD89-45E3-4EB5-886F-E67AC60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Start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BCED1AC-C687-4514-9D3E-FAAB10BC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260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Aktuelles Signal, KPIs, Kursverlauf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4942AE2-2E62-4391-A4CC-7F22B11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9A9BCD9-EA21-4111-9932-AAB19A90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3317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798d12609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3148" y="23820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2D8A367-54E9-49AA-89B8-E990DC65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3317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Marktanalyse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E40CF22C-1441-42A1-BC42-B28F8093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9260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Candlestick, MA-20/50/200, Drawdown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8445A64C-9956-4E61-99C7-68779CC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6957694-DB0D-4525-9543-97F64B6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3317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92f77559f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756" y="23820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2A295016-28C0-4B98-A878-27D38C8F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23317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ML-Insights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E5201877-2569-4E24-B5EA-84EED6F5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9260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Korrelation → Konfusion → Lernkurve → SHAP</a:t>
            </a:r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E09CBDA3-63BE-4BF0-8759-3D4D3B7D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F796BF8-2A22-4005-8CDB-6C229E7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60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580f22fb045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2108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311017B5-9C00-4854-992C-619DC6B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605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Kapital-Kompass</a:t>
            </a: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53F3EAB-C2B4-4D2A-B484-BBA764F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Risikobetrag &amp; Positionsgröße live berechnet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7D59C8B7-9C33-4E07-B87D-4263E9A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9776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9055213F-B22B-4A5C-8797-E67B2DF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160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3047b84854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3148" y="42108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CA01B2BF-947D-4378-9DB1-7D493AE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605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Simulator</a:t>
            </a:r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94CAF596-11CB-4358-9109-898D0557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7548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Allokation über 4 Ticker, Konzentrationsmaß</a:t>
            </a:r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8AE6906F-3FE9-43DA-9E6E-2330406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977640"/>
            <a:ext cx="342900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5DDD2DEF-D8AA-43CA-97DE-3092990F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0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62E"/>
          </a:solidFill>
        </p:spPr>
      </p:sp>
      <p:pic>
        <p:nvPicPr>
          <p:cNvPr id="8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2ce150bd2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756" y="4210812"/>
            <a:ext cx="356616" cy="356616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F122A1FC-0D18-4606-B0FA-BF8925A8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416052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Methodik &amp; Lernen</a:t>
            </a:r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23E51774-84FB-48A1-904B-FBEE474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754880"/>
            <a:ext cx="30266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QUA³CK · Lernstudio · Export</a:t>
            </a: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76D4177C-F43C-402C-8FF5-46C44F39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F12AB4C8-2DDB-4EF1-B93A-ECBEF52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81290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9B728A-53DA-4049-B269-EF76ED72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defbc670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03B0AA4-76C1-4848-BA29-95256D9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MARKTANALYSE (1/2)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C9322EF-508D-4A4A-A15A-DF532B8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Kursverlauf &amp; gleitende Durchschnitte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ACECBF-1058-4EBD-AD57-67C6424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0879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5af35f4784c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14400" y="1691640"/>
            <a:ext cx="10360152" cy="388620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F9EA70-6E16-4A2E-9102-A1493D82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SPY über 1 Jahr — Schlusskurs mit MA-20/50/200. Der Kurs liegt über allen drei Durchschnitten: ein intakter Aufwärtstrend, der den hohen Trend-Score speist.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9B1C810-C108-47A1-976D-A5915078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F3D0751-D78D-4A33-8967-5D153196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132853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B55693-A5B3-4601-8EA4-B77DAB3E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21fa4476644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0143323-EC4F-4299-9170-531A396C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MARKTANALYSE (2/2)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5CBD860-5EF7-40D8-B16D-9134640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Candlestick &amp; Drawdown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2C0805B-8EB8-48C0-B0A7-9613A662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440680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302B53-66D1-4FFE-BD3D-1A17BB55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Candlestick (OHLC)</a:t>
            </a: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1a92fd10044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4672" y="2011680"/>
            <a:ext cx="5111496" cy="3611880"/>
          </a:xfrm>
          <a:prstGeom xmlns:a="http://schemas.openxmlformats.org/drawingml/2006/main" prst="rect">
            <a:avLst/>
          </a:prstGeom>
        </p:spPr>
      </p:pic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E915D49-DD65-4EA3-A076-0384F2DB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528523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1651DF3-0F99-4A8A-B669-D278497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4828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Drawdown vom Allzeithoch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7d5342fe49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28232" y="2011680"/>
            <a:ext cx="4956048" cy="36118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76CD63AF-AAE6-4A84-80BD-4DB32B7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Candlesticks zeigen die Tagesspannen; der Drawdown-Chart misst den Abstand zum letzten Hoch — Grundlage des Risiko-Scores.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AB98062-344B-4870-BF63-A1800D93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DD30F57-BD74-42E7-A31A-87B363A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966563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A82BF9-C240-4391-B9F8-ACBF898C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031844a3e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C2CC047-2DC2-4145-972D-EE45AF4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ML-INSIGHTS (1/2)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683BD3B-E122-4A4D-8A60-3A06F89B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Modellvergleich &amp; Fehleranalyse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226ECB7-B7A6-4DBC-8357-EEB0A34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806440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1028B2E-E553-453F-AED4-1DB89279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5349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Fünf Modellgenerationen im Zeitvergleich</a:t>
            </a: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6836528d944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04672" y="2011680"/>
            <a:ext cx="5477256" cy="3611880"/>
          </a:xfrm>
          <a:prstGeom xmlns:a="http://schemas.openxmlformats.org/drawingml/2006/main" prst="rect">
            <a:avLst/>
          </a:prstGeom>
        </p:spPr>
      </p:pic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1ABA957-5846-4F4A-8AD6-20587812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63040"/>
            <a:ext cx="491947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B6529CB-4B82-422B-A886-32731BE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4622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Fehleranalyse im Out-of-Time-Test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78e1019ec45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793992" y="2011680"/>
            <a:ext cx="4590288" cy="36118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EBA93FEB-BFE8-470D-B772-DEEAC24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Links: Baseline, lineare Modelle und Baumverfahren unter identischen Zeitfenstern. Rechts: Accuracy unter Majority-Baseline, AUC 0,519 — transparent statt beschönigt.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F45BC9C-9107-4D40-9F8E-08152A6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5DB778A-52C3-476C-9BED-DCB8838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72440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8ED307-A734-4902-9EDC-BAC1C42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d2ac003f3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2C4E55A-330B-4A14-96CB-227E0ED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ML-INSIGHTS (2/2)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3462AB-18FC-42E2-9234-D0AB06C6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Lernkurve &amp; Erklärbarkeit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054AA91-A60F-4C0B-9B93-52086C27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806440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0BDB9CE-FF3E-4ACA-8721-84DC370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5349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Lernkurve im zeitlichen Test</a:t>
            </a: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ed0ef6b8c4d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04672" y="2011680"/>
            <a:ext cx="5477256" cy="3611880"/>
          </a:xfrm>
          <a:prstGeom xmlns:a="http://schemas.openxmlformats.org/drawingml/2006/main" prst="rect">
            <a:avLst/>
          </a:prstGeom>
        </p:spPr>
      </p:pic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5B1B386-5F53-4D91-8E45-68B6ED3A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63040"/>
            <a:ext cx="491947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8E76E90-904A-4579-B522-D2B3AC7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4622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Erklärbarkeit: Feature Importance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5843f9deb40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793992" y="2011680"/>
            <a:ext cx="4590288" cy="36118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1DB279A-5EC5-4EB3-85E7-803CAA18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Links: mehr Daten schließen die Lücke nur begrenzt. Rechts: Erklärbarkeit zeigt, welche Variablen das schwache Signal treiben — ohne Kausalität zu behaupten.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C68181A-A6EC-44AE-9CD4-2AD1409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A80C603-4F40-4A5B-A1D4-191BC54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4370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2F8049-F17F-45E0-86C9-A958BAC9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b20f25e374f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997BDE-BBF0-4A43-B272-AEAC3AFD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LIVE-DEMO (1/2)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592C5F6-673E-4833-AB7B-AA3E23DE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Kapital-Kompass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1A5B663-9C96-44DE-9593-EE4C811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63040"/>
            <a:ext cx="935431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e8754956a4d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00200" y="1645920"/>
            <a:ext cx="8988552" cy="397764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DDF4124-4D5E-4EFB-85E7-F127B44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Aus Kapital, Risiko-Toleranz und Stop-Loss-Distanz berechnet die App live Risikobetrag und maximale Positionsgröße — passend zur Volatilitätsklasse der Aktie.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3192543-2E14-426B-B36B-B3EB424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F435F20-B804-4FED-A10E-501934B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586759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08F13E-32C5-46D4-A431-4C6FEA73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92916538f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5898D62-15A1-43C0-A7C9-8E16B61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BACKUP · LIVE-DEMO (2/2)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C31A3C4-6B60-4108-8657-B30E82C5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Portfolio-Simulator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922443F-4428-4E26-A0E0-1397033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63040"/>
            <a:ext cx="9354312" cy="434340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caa4732464c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00200" y="1645920"/>
            <a:ext cx="8988552" cy="397764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EEB41A6-2EF2-4D22-8B2E-51ACD8A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08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Kapital wird über mehrere Titel verteilt; die Allokation ist live editierbar. Tortendiagramm und Herfindahl-Index zeigen sofort die Konzentration.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B083E29-EDC4-4DB9-9641-EC72302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77CFFCA-7AB6-4682-8366-13835981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73650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033443-BEB1-4179-B556-4B38D93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02A"/>
          </a:solidFill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86952654647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63C340B-D3F1-4C79-80E7-4F51BC2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2064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Fazit — Was bleibt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90BEB6-2886-425C-B3DC-6C94ED6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EBE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B626EC-259A-479A-B2F1-77DE5114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834" y="457200"/>
            <a:ext cx="117591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1,5 Min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41815B2-DE55-42A8-B80B-D3BE79D5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i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„Ein ehrliches Modell, das im Out-of-Time-Test kaum besser als Zufall ist, ist wissenschaftlich wertvoller als ein beeindruckender Wert mit Zukunftswissen.“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151EA31-2DCB-4A1C-8407-8D5718AD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3429000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3F22549-70D0-47AE-8FD1-711DD17C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3756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Modulare Architektur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C9AF30-6C2D-45E4-A02D-A2BF17C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statt Monolith — 20+ fachlich getrennte Module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977144-C794-4D81-A241-29815D1F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200400"/>
            <a:ext cx="3429000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CB1AB52-A295-4675-A53C-9FE43AF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33756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4C48D43-A728-40C5-9B2B-D8416CB8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93192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vollständig kommentierte Jupyter-Notebooks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D7C52B2-FCE3-4901-B415-5F1F397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200400"/>
            <a:ext cx="3429000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9525">
            <a:solidFill>
              <a:srgbClr val="2A332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89219A1-8FE8-495A-ADFF-94545F51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333756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79A3C"/>
                </a:solidFill>
                <a:latin typeface="Cambria"/>
                <a:ea typeface="Cambria"/>
                <a:cs typeface="Cambria"/>
              </a:rPr>
              <a:t>51,9 % / 0,519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BDF3CD1-FB52-42A9-9698-92F189A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3931920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Accuracy / ROC-AUC, out-of-time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1290F13-B0A6-490A-8D6E-8733E03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Der größere Impact: Moderne AI beschleunigt Entwicklung und Erklärung. Wissenschaftliche Qualität entsteht aber wie früher durch saubere Fragen, zeitliche Trennung, Baselines, reproduzierbare Tests und das offene Benennen von Grenzen.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F73C157-0804-4C1A-AACB-7DD749E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2C2819F-9C03-4D70-AC7B-F404208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39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716577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BD4E23-4D41-41D0-87AC-C06BD12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cab14ff6c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AEA87C7-BD64-480E-BF3E-3B676A02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FAZIT &amp; AUSBLICK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1E9D35-689D-4FFA-88E0-C15C8EF0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Wie geht es weiter?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9241A27-53DA-4E5E-9610-BC3CE71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D01F9F8-C430-4E0F-AE5F-F28FEF8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820620-49E3-4905-9723-CCB22C4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508760"/>
            <a:ext cx="1019556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A7348F-2877-4B9C-A851-4ADFF89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50876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Online Learning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6B26387-BFD7-486A-8475-2358757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508760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Modell automatisch mit neuen Daten aktualisieren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DF4C47-42C7-4A70-AC14-630F443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B1B397C-6B52-4828-B8F4-3994DA3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48E2E6C-8681-4C37-ACAB-23697A1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560320"/>
            <a:ext cx="1019556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E3A632-C039-4C9D-AE8D-075D2B65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6032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Sentiment-Integration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F7FFB92-5426-4EB1-B71B-2D20CCC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560320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Nachrichten-Tonalität als weiteres ML-Feature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0030B0B-309B-4464-95F6-FA90892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CDF3568-ED1B-41A7-AB24-E11A1B7C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51831E2-97E5-4980-AFCF-05EAA756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11880"/>
            <a:ext cx="1019556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3B6F90-6C77-4ADA-A63E-96E431F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61188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Multiklassen-Klassifikation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9D7E76-1F6C-4A7F-9E9E-218C74A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11880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Nicht nur auf/ab, sondern stark / mäßig / neutral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94A8665-D660-4E4A-9F6C-FEBF194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F5DE8FD-B3A2-4B18-8438-A61D623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EE8584E-DBD6-4C72-886B-37ADFBB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663440"/>
            <a:ext cx="1019556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1D58D96-3614-4E13-850B-7DDBD0A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66344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Erweiterte Backtesting-Engine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4E5FFA1-A3D7-4F7C-AB22-4393ED1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63440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Simulierte Handelsstrategien auf historischen Daten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E59E08A-FE3E-4DD2-A5C0-E870A81B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954CAD4-4972-400F-9794-2ED1A9D1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02900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A0154-00AE-4C08-A28D-A13E556B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7579c0e1743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D6340D6-9582-428B-A4CE-E031D4B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WISSENSCHAFTLICHE GRUNDLAGE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41A19C-B310-4F32-B748-ADC2946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Quellen &amp; Kursbezug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72ABBF1-4131-40DD-B64B-449F788C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440680" cy="4709160"/>
          </a:xfrm>
          <a:prstGeom xmlns:a="http://schemas.openxmlformats.org/drawingml/2006/main" prst="roundRect">
            <a:avLst>
              <a:gd name="adj" fmla="val 1165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4FF5C5-3694-4101-9A5F-A076CC86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27632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Kursbuch &amp; Kursbezug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17AC661-04B3-4942-8556-DCEAE55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57400"/>
            <a:ext cx="4983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Géron, A.: </a:t>
            </a:r>
            <a:r>
              <a:rPr sz="12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Praxiseinstieg Machine Learning mit Scikit-Learn, Keras &amp; TensorFlow (Kap. 1–9). O’Reilly — das Kurslehrbuch.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D28387-D473-43E5-86B6-160D9E6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4983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Daraus im Projekt: Klassifikationsmetriken, Pipeline, Linear SVM, Decision Tree, Random Forest, Konfusionsmatrix, ROC und zeitliche Validierung.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3BFA50F-580D-46A5-B549-B91B7741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0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5D53"/>
                </a:solidFill>
                <a:latin typeface="Calibri"/>
                <a:ea typeface="Calibri"/>
                <a:cs typeface="Calibri"/>
              </a:rPr>
              <a:t>Direkter Kursbezug: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0F9CD2-30B3-43B6-A261-3927DD5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4983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800"/>
              </a:spcAft>
              <a:buSzPct val="100000"/>
              <a:buChar char="▪"/>
            </a:pPr>
            <a:r>
              <a:rPr sz="11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Kap. 1 &amp; 3 — ML-Grundlagen, Klassifikation und Metriken</a:t>
            </a:r>
          </a:p>
          <a:p xmlns:a="http://schemas.openxmlformats.org/drawingml/2006/main">
            <a:pPr marL="228600" indent="-228600">
              <a:spcAft>
                <a:spcPts val="800"/>
              </a:spcAft>
              <a:buSzPct val="100000"/>
              <a:buChar char="▪"/>
            </a:pPr>
            <a:r>
              <a:rPr sz="11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Kap. 4 &amp; 5 — Training, Lernkurven und Support Vector Machines</a:t>
            </a:r>
          </a:p>
          <a:p xmlns:a="http://schemas.openxmlformats.org/drawingml/2006/main">
            <a:pPr marL="228600" indent="-228600">
              <a:spcAft>
                <a:spcPts val="800"/>
              </a:spcAft>
              <a:buSzPct val="100000"/>
              <a:buChar char="▪"/>
            </a:pPr>
            <a:r>
              <a:rPr sz="11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Kap. 6 &amp; 7 — Entscheidungsbäume und Random Forests</a:t>
            </a:r>
          </a:p>
          <a:p xmlns:a="http://schemas.openxmlformats.org/drawingml/2006/main">
            <a:pPr marL="228600" indent="-228600">
              <a:spcAft>
                <a:spcPts val="800"/>
              </a:spcAft>
              <a:buSzPct val="100000"/>
              <a:buChar char="▪"/>
            </a:pPr>
            <a:r>
              <a:rPr sz="11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QUA³CK — Datenphase, Prozess und nachvollziehbare Dokumentation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98A374B-F249-473A-BED4-26CED55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5285232" cy="4709160"/>
          </a:xfrm>
          <a:prstGeom xmlns:a="http://schemas.openxmlformats.org/drawingml/2006/main" prst="roundRect">
            <a:avLst>
              <a:gd name="adj" fmla="val 1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F48B089-CDB5-454E-B52B-6E13477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27632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Wissenschaftliche Quellen &amp; Daten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E02F7A7-0025-464D-B50E-D9DE5ED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03120"/>
            <a:ext cx="484632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Fama, E. (1970): Efficient Capital Markets. J. of Finance 25(2).</a:t>
            </a:r>
          </a:p>
          <a:p xmlns:a="http://schemas.openxmlformats.org/drawingml/2006/main"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Lundberg &amp; Lee (2017): A Unified Approach to Interpreting Model Predictions (SHAP). NeurIPS.</a:t>
            </a:r>
          </a:p>
          <a:p xmlns:a="http://schemas.openxmlformats.org/drawingml/2006/main"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Li et al. (2024): Comparison of Imputation Methods. BMC Med. Research Methodology.</a:t>
            </a:r>
          </a:p>
          <a:p xmlns:a="http://schemas.openxmlformats.org/drawingml/2006/main"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Pinheiro et al. (2025): The Impact of Feature Scaling in ML. arXiv:2506.08274.</a:t>
            </a:r>
          </a:p>
          <a:p xmlns:a="http://schemas.openxmlformats.org/drawingml/2006/main"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sz="120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Stock et al. (2021): QUA³CK — A ML Development Process. KIT ITIV.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B70197-A9F5-459C-AD82-B3DE2084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5780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Datenbasis: </a:t>
            </a:r>
            <a:r>
              <a:rPr sz="1150">
                <a:solidFill>
                  <a:srgbClr val="171A17"/>
                </a:solidFill>
                <a:latin typeface="Calibri"/>
                <a:ea typeface="Calibri"/>
                <a:cs typeface="Calibri"/>
              </a:rPr>
              <a:t>Kaggle „US Stocks &amp; ETFs“ (B. Marjanovic), CC0 Public Domain — 192.119 Zeilen, 26 Ticker, 1962–2017.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27DA589-470E-4E92-B786-CE3C6B0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4665CFD-2173-4340-A22F-FCF37C4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423217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A83BA25-D34F-4256-B4CB-7BCF95F8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25900C5-875F-4EF1-9426-216609A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C3AB9B-30E3-4777-BE64-1740495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89674B-1D1F-41F0-A086-008C8F10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2C12127-5F42-43A9-A1B0-6E9BD3B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0ABD94B-E6F5-4575-A4EA-7730605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81087F4-2B5E-4D5E-9AD7-9352D08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882D830-4416-4421-94AE-5576F35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21A3F5-68C5-4E6E-8903-58DFD4A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36E4465-5750-462B-9959-11BF135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1894109-835C-44B6-8502-4F50179F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71C2AD2-00D2-4FCC-A4BD-67FC0F8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ABF1DFF-612E-44E7-B663-BCE1849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1C221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60C38E-EA31-4CB2-AF3A-7AC629F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996" y="196596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02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27874c04348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3522" y="2056486"/>
            <a:ext cx="641909" cy="641909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3C5551C-79CE-41FE-A7F1-171C1679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4F5F0"/>
                </a:solidFill>
                <a:latin typeface="Cambria"/>
                <a:ea typeface="Cambria"/>
                <a:cs typeface="Cambria"/>
              </a:rPr>
              <a:t>Vielen Dank für eure Aufmerksamkeit.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6F3D208-4D5F-445E-8DA2-0A892128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9FC2B4"/>
                </a:solidFill>
                <a:latin typeface="Calibri"/>
                <a:ea typeface="Calibri"/>
                <a:cs typeface="Calibri"/>
              </a:rPr>
              <a:t>Ich freue mich auf eure Fragen.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F2BB0FD-2D43-4F8A-9DC6-B42DFCF2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350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E7A6C"/>
                </a:solidFill>
                <a:latin typeface="Calibri"/>
                <a:ea typeface="Calibri"/>
                <a:cs typeface="Calibri"/>
              </a:rPr>
              <a:t>Soufiane Fedan  ·  soufiane.fedan@solvvision.de  ·  IU Internationale Hochschule Frankfurt</a:t>
            </a:r>
          </a:p>
        </p:txBody>
      </p:sp>
    </p:spTree>
    <p:extLst>
      <p:ext uri="{BB962C8B-B14F-4D97-AF65-F5344CB8AC3E}">
        <p14:creationId xmlns:p14="http://schemas.microsoft.com/office/powerpoint/2010/main" val="15632337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587FD0-FB40-45DA-9297-8366A7F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BE7"/>
          </a:solidFill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70cab62a5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002" y="537850"/>
            <a:ext cx="442204" cy="4422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05D8D52-1CAB-43A6-B89D-943AC10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97C1E"/>
                </a:solidFill>
                <a:latin typeface="Calibri"/>
                <a:ea typeface="Calibri"/>
                <a:cs typeface="Calibri"/>
              </a:rPr>
              <a:t>ANHANG · BACKUP — NICHT VORLESEN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F1E016-D859-419F-AAA5-03D7AFBC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13232"/>
            <a:ext cx="8686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A17"/>
                </a:solidFill>
                <a:latin typeface="Cambria"/>
                <a:ea typeface="Cambria"/>
                <a:cs typeface="Cambria"/>
              </a:rPr>
              <a:t>Mögliche Prüferfragen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5C3D197-E726-435D-A2AA-FC8C845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25780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5FB5963-A66F-47B4-BA4D-56793AB3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4800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Warum nur ROC-AUC 0,519?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3CA1BB6-5486-490C-8F05-331E2835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4800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Der zeitlich unangetastete Test entfernt Zukunftswissen. Mit historischen Kursmerkmalen bleibt gemäß EMH nur ein sehr schwaches Signal — genau das zeigt AUC 0,519.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652798D-B4BA-4EDE-A426-28B2E50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25780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4292EC-C8B6-46AD-BFAE-9DAAEB14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91640"/>
            <a:ext cx="4800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Was ist Data Leakage und wie verhindert?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EDEEAF4-750B-4064-B37B-973EAC55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800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Zeitordnung, 20 Handelstage Sperrzone und Pipeline: Imputer/Scaler werden ausschließlich im jeweiligen Trainingsfenster gefittet.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F2CE460-BB2C-4E61-AA25-C7B9150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525780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8EDD687-63F5-4E39-965E-E9B5A9E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4800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Warum binäre Klassifikation statt Regression?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F8A23E4-D5E6-4AA7-812E-7A13516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800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Richtungsvorhersage ist bei effizienten Märkten die realistischere, robustere Fragestellung.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327410E-68C5-41BB-8820-F8EFD159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86200"/>
            <a:ext cx="525780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DA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8225CD4-BE7E-4CD5-89F2-D7FBE61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69080"/>
            <a:ext cx="4800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F5D53"/>
                </a:solidFill>
                <a:latin typeface="Cambria"/>
                <a:ea typeface="Cambria"/>
                <a:cs typeface="Cambria"/>
              </a:rPr>
              <a:t>Warum Random Forest statt neuronales Netz?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B1254E6-A06A-4DFF-BBC6-D023920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54880"/>
            <a:ext cx="4800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Fünf Modelle wurden bewusst verglichen. Der Random Forest ergänzt Nichtlinearität und Erklärbarkeit; kein Modell erzeugt jedoch ein belastbares Signal.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820FD1F-6067-437B-A8C7-BB75D5F1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WealthScope AI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57F3102-6939-4AA4-BA07-55C7F4E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259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777877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2026-07-26T14:20:43.7940000Z</dcterms:created>
  <dcterms:modified xsi:type="dcterms:W3CDTF">2026-07-26T14:20:43.7940000Z</dcterms:modified>
</coreProperties>
</file>