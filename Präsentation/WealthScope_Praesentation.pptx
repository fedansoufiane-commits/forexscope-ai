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822960"/>
            <a:ext cx="640080" cy="640080"/>
          </a:xfrm>
          <a:prstGeom prst="ellipse">
            <a:avLst/>
          </a:prstGeom>
          <a:solidFill>
            <a:srgbClr val="23302A"/>
          </a:solidFill>
          <a:ln/>
        </p:spPr>
      </p:sp>
      <p:pic>
        <p:nvPicPr>
          <p:cNvPr id="16" name="Image 0" descr="/private/tmp/claude-501/-Users-soufianefed-Desktop-SosoSignalBot/fd57b771-7fec-4f60-a214-d2b5ebb5bd05/scratchpad/pptx_build/icons/chartline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369" y="893369"/>
            <a:ext cx="499262" cy="49926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77240" y="237744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WealthScope AI</a:t>
            </a:r>
            <a:endParaRPr lang="en-US" sz="5400" dirty="0"/>
          </a:p>
        </p:txBody>
      </p:sp>
      <p:sp>
        <p:nvSpPr>
          <p:cNvPr id="18" name="Text 15"/>
          <p:cNvSpPr/>
          <p:nvPr/>
        </p:nvSpPr>
        <p:spPr>
          <a:xfrm>
            <a:off x="822960" y="3429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Interaktive Finanzanalyse mit Machine Learning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22960" y="4297680"/>
            <a:ext cx="4343400" cy="402336"/>
          </a:xfrm>
          <a:prstGeom prst="roundRect">
            <a:avLst>
              <a:gd name="adj" fmla="val 20455"/>
            </a:avLst>
          </a:prstGeom>
          <a:solidFill>
            <a:srgbClr val="1C231D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29768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79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Referat  ·  25 Minuten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2960" y="58064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7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Soufiane Fedan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7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und Big Data (DSDABD072501)  ·  Tutor: Klaus Quibeldey-Cirkel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7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 Internationale Hochschule  ·  Wirtschaftsinformatik (Duales Studium)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project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51206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Zeitplan auf einen Blick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10292486" y="457200"/>
            <a:ext cx="1439266" cy="329184"/>
          </a:xfrm>
          <a:prstGeom prst="roundRect">
            <a:avLst>
              <a:gd name="adj" fmla="val 22222"/>
            </a:avLst>
          </a:prstGeom>
          <a:solidFill>
            <a:srgbClr val="E4EBE7"/>
          </a:solidFill>
          <a:ln/>
        </p:spPr>
      </p:sp>
      <p:sp>
        <p:nvSpPr>
          <p:cNvPr id="6" name="Text 3"/>
          <p:cNvSpPr/>
          <p:nvPr/>
        </p:nvSpPr>
        <p:spPr>
          <a:xfrm>
            <a:off x="10292486" y="457200"/>
            <a:ext cx="14392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 gesamt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498080"/>
                <a:gridCol w="13990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Abschnitt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Dauer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0:00 – 2:00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Einstieg — Das Problem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2:00 – 4:00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Lösung — Was ist WealthScope AI?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4:00 – 5:00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QUA³CK — Der wissenschaftliche Fahrplan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 – 6:30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— Question: Leitfrage &amp; Hypothesen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6:30 – 10:00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 — Understanding: Daten, EDA, Qualität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10:00 – 12:30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Analytics: Feature Engineering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12:30 – 15:00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Algorithm: Modellauswahl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15:00 – 18:00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Adaption: Optimierung &amp; Ergebnisse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18:00 – 19:30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Conclude: Fazit &amp; Grenzen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19:30 – 23:00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— Knowledge: Live-Demo der App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23:00 – 24:30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Fazit &amp; Ausblick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24:30 – 25:00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Übergang zu Fragen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search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1 · EINSTIEG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Problem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0643616" y="457200"/>
            <a:ext cx="1088136" cy="329184"/>
          </a:xfrm>
          <a:prstGeom prst="roundRect">
            <a:avLst>
              <a:gd name="adj" fmla="val 22222"/>
            </a:avLst>
          </a:prstGeom>
          <a:solidFill>
            <a:srgbClr val="E4EBE7"/>
          </a:solidFill>
          <a:ln/>
        </p:spPr>
      </p:sp>
      <p:sp>
        <p:nvSpPr>
          <p:cNvPr id="7" name="Text 4"/>
          <p:cNvSpPr/>
          <p:nvPr/>
        </p:nvSpPr>
        <p:spPr>
          <a:xfrm>
            <a:off x="10643616" y="457200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„Ihr habt 5.000 € gespart. Inflation frisst euer Sparkonto auf. Also wollt ihr investieren. Aber wohin schaut ihr?“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2651760"/>
            <a:ext cx="26060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283464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Yahoo Finance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41248" y="3337560"/>
            <a:ext cx="22037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Chart mit tausend Zahlen — ohne Einordnung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502152" y="2651760"/>
            <a:ext cx="26060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703320" y="283464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Bloomberg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703320" y="3337560"/>
            <a:ext cx="22037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Professionelle Daten, aber hinter einer Paywall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364224" y="2651760"/>
            <a:ext cx="26060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65392" y="283464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ChatGPT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565392" y="3337560"/>
            <a:ext cx="22037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„Ich kann keine Finanzberatung geben.“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226296" y="2651760"/>
            <a:ext cx="26060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427464" y="283464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Bankberater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9427464" y="3337560"/>
            <a:ext cx="22037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Empfiehlt den eigenen, teuersten Fonds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40080" y="4892040"/>
            <a:ext cx="10881360" cy="1325880"/>
          </a:xfrm>
          <a:prstGeom prst="roundRect">
            <a:avLst>
              <a:gd name="adj" fmla="val 4138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14400" y="507492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zentrale Problem: Es gibt keine zugängliche, transparente, datengetriebene Plattform, die Privatanlegern zeigt, was hinter den Zahlen steckt — und die dabei ehrlich über ihre eigenen Grenzen ist.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lightbulb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2 · LÖSUNG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WealthScope AI?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0643616" y="457200"/>
            <a:ext cx="1088136" cy="329184"/>
          </a:xfrm>
          <a:prstGeom prst="roundRect">
            <a:avLst>
              <a:gd name="adj" fmla="val 22222"/>
            </a:avLst>
          </a:prstGeom>
          <a:solidFill>
            <a:srgbClr val="E4EBE7"/>
          </a:solidFill>
          <a:ln/>
        </p:spPr>
      </p:sp>
      <p:sp>
        <p:nvSpPr>
          <p:cNvPr id="7" name="Text 4"/>
          <p:cNvSpPr/>
          <p:nvPr/>
        </p:nvSpPr>
        <p:spPr>
          <a:xfrm>
            <a:off x="10643616" y="457200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141732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interaktive Webanwendung — Python &amp; Streamlit —, die historische Aktienmarktdaten mit Machine Learning verbindet. Kein Wundermittel, kein Handelssystem: ein wissenschaftlich fundiertes Analyse-Werkzeug, das Klarheit schafft.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3200400"/>
            <a:ext cx="5394960" cy="3017520"/>
          </a:xfrm>
          <a:prstGeom prst="roundRect">
            <a:avLst>
              <a:gd name="adj" fmla="val 1818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3383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Datenbasis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192.119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301752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Datenpunkte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6177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017520" y="4754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Blue-Chip-Ticker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68680" y="5394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1962–2017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3017520" y="5532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live via yfinance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263640" y="1417320"/>
            <a:ext cx="5285232" cy="48006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8" name="Image 1" descr="/private/tmp/claude-501/-Users-soufianefed-Desktop-SosoSignalBot/fd57b771-7fec-4f60-a214-d2b5ebb5bd05/scratchpad/pptx_build/shots/sta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19088" y="1572768"/>
            <a:ext cx="4974336" cy="448970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layers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2 · LÖSUNG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Bausteine, ein Werkzeug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084832" cy="32461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1874520"/>
            <a:ext cx="603504" cy="603504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8" name="Image 1" descr="/private/tmp/claude-501/-Users-soufianefed-Desktop-SosoSignalBot/fd57b771-7fec-4f60-a214-d2b5ebb5bd05/scratchpad/pptx_build/icons/chartbar_p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689" y="1940905"/>
            <a:ext cx="470733" cy="47073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269748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Marktanalyse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731520" y="3291840"/>
            <a:ext cx="1719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Kurscharts, Candlesticks, gleitende Durchschnitte, Drawdown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2816352" y="1600200"/>
            <a:ext cx="2084832" cy="32461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57016" y="1874520"/>
            <a:ext cx="603504" cy="603504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13" name="Image 2" descr="/private/tmp/claude-501/-Users-soufianefed-Desktop-SosoSignalBot/fd57b771-7fec-4f60-a214-d2b5ebb5bd05/scratchpad/pptx_build/icons/heartbeat_p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3401" y="1940905"/>
            <a:ext cx="470733" cy="47073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953512" y="269748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ML-Insights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999232" y="3291840"/>
            <a:ext cx="1719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Korrelationsmatrix, Konfusionsmatrix, Lernkurve, ROC/PR, SHAP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084064" y="1600200"/>
            <a:ext cx="2084832" cy="32461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5824728" y="1874520"/>
            <a:ext cx="603504" cy="603504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18" name="Image 3" descr="/private/tmp/claude-501/-Users-soufianefed-Desktop-SosoSignalBot/fd57b771-7fec-4f60-a214-d2b5ebb5bd05/scratchpad/pptx_build/icons/compass_p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1113" y="1940905"/>
            <a:ext cx="470733" cy="47073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221224" y="269748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Kapital-Kompass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266944" y="3291840"/>
            <a:ext cx="1719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Risikoeinschätzung &amp; Positionsgrößen-Empfehlung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7351776" y="1600200"/>
            <a:ext cx="2084832" cy="32461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092440" y="1874520"/>
            <a:ext cx="603504" cy="603504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23" name="Image 4" descr="/private/tmp/claude-501/-Users-soufianefed-Desktop-SosoSignalBot/fd57b771-7fec-4f60-a214-d2b5ebb5bd05/scratchpad/pptx_build/icons/briefcase_p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825" y="1940905"/>
            <a:ext cx="470733" cy="47073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88936" y="269748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Portfolio-Simulator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7534656" y="3291840"/>
            <a:ext cx="1719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Allokation über mehrere Titel, Konzentrationsmaß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9619488" y="1600200"/>
            <a:ext cx="2084832" cy="32461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10360152" y="1874520"/>
            <a:ext cx="603504" cy="603504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28" name="Image 5" descr="/private/tmp/claude-501/-Users-soufianefed-Desktop-SosoSignalBot/fd57b771-7fec-4f60-a214-d2b5ebb5bd05/scratchpad/pptx_build/icons/book_p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6537" y="1940905"/>
            <a:ext cx="470733" cy="47073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756648" y="269748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Methodik &amp; Export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9802368" y="3291840"/>
            <a:ext cx="1719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QUA³CK interaktiv erklärt, Bericht als PDF/CSV/ZIP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548640" y="5166360"/>
            <a:ext cx="11091672" cy="1005840"/>
          </a:xfrm>
          <a:prstGeom prst="roundRect">
            <a:avLst>
              <a:gd name="adj" fmla="val 5455"/>
            </a:avLst>
          </a:prstGeom>
          <a:solidFill>
            <a:srgbClr val="F3E7C9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32" name="Text 24"/>
          <p:cNvSpPr/>
          <p:nvPr/>
        </p:nvSpPr>
        <p:spPr>
          <a:xfrm>
            <a:off x="822960" y="516636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Besondere ist nicht, dass die App bessere Prognosen macht. Das Besondere ist, dass sie zeigt, warum ML bei Aktienkursen an seine Grenzen stößt — und was man trotzdem sinnvoll damit anfangen kann.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project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LÖSUNG · SYSTEMÜBERBLICK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Von den Rohdaten zur App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874520" cy="228600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02436" y="2514600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8" name="Image 1" descr="/private/tmp/claude-501/-Users-soufianefed-Desktop-SosoSignalBot/fd57b771-7fec-4f60-a214-d2b5ebb5bd05/scratchpad/pptx_build/icons/database_p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798" y="2576962"/>
            <a:ext cx="442204" cy="4422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2004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Kaggle-Rohdaten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40080" y="3703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192.119 Zeilen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Ticker · CC0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2377440" y="3154680"/>
            <a:ext cx="521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2852928" y="2286000"/>
            <a:ext cx="1874520" cy="228600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506724" y="2514600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14" name="Image 2" descr="/private/tmp/claude-501/-Users-soufianefed-Desktop-SosoSignalBot/fd57b771-7fec-4f60-a214-d2b5ebb5bd05/scratchpad/pptx_build/icons/cogs_p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9086" y="2576962"/>
            <a:ext cx="442204" cy="4422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944368" y="32004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2944368" y="3703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Features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Renditen · MAs · Vola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4681728" y="3154680"/>
            <a:ext cx="521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3"/>
          <p:cNvSpPr/>
          <p:nvPr/>
        </p:nvSpPr>
        <p:spPr>
          <a:xfrm>
            <a:off x="5157216" y="2286000"/>
            <a:ext cx="1874520" cy="228600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811012" y="2514600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20" name="Image 3" descr="/private/tmp/claude-501/-Users-soufianefed-Desktop-SosoSignalBot/fd57b771-7fec-4f60-a214-d2b5ebb5bd05/scratchpad/pptx_build/icons/robot_p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3374" y="2576962"/>
            <a:ext cx="442204" cy="44220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248656" y="32004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RF-Pipeline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5248656" y="3703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 → Scale → RF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6986016" y="3154680"/>
            <a:ext cx="521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7461504" y="2286000"/>
            <a:ext cx="1874520" cy="228600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115300" y="2514600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26" name="Image 4" descr="/private/tmp/claude-501/-Users-soufianefed-Desktop-SosoSignalBot/fd57b771-7fec-4f60-a214-d2b5ebb5bd05/scratchpad/pptx_build/icons/layers_p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7662" y="2576962"/>
            <a:ext cx="442204" cy="44220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552944" y="32004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Diagnostik-Cache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7552944" y="3703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— einmal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vorberechnet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9290304" y="3154680"/>
            <a:ext cx="521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9765792" y="2286000"/>
            <a:ext cx="1874520" cy="2286000"/>
          </a:xfrm>
          <a:prstGeom prst="roundRect">
            <a:avLst>
              <a:gd name="adj" fmla="val 2927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10419588" y="2514600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2" name="Image 5" descr="/private/tmp/claude-501/-Users-soufianefed-Desktop-SosoSignalBot/fd57b771-7fec-4f60-a214-d2b5ebb5bd05/scratchpad/pptx_build/icons/chartline_p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1950" y="2576962"/>
            <a:ext cx="442204" cy="44220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857232" y="32004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Streamlit-App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9857232" y="3703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Seiten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&amp; interaktiv</a:t>
            </a:r>
            <a:endParaRPr lang="en-US" sz="1050" dirty="0"/>
          </a:p>
        </p:txBody>
      </p:sp>
      <p:sp>
        <p:nvSpPr>
          <p:cNvPr id="35" name="Shape 27"/>
          <p:cNvSpPr/>
          <p:nvPr/>
        </p:nvSpPr>
        <p:spPr>
          <a:xfrm>
            <a:off x="548640" y="5074920"/>
            <a:ext cx="11091672" cy="1097280"/>
          </a:xfrm>
          <a:prstGeom prst="roundRect">
            <a:avLst>
              <a:gd name="adj" fmla="val 5000"/>
            </a:avLst>
          </a:prstGeom>
          <a:solidFill>
            <a:srgbClr val="F3E7C9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36" name="Text 28"/>
          <p:cNvSpPr/>
          <p:nvPr/>
        </p:nvSpPr>
        <p:spPr>
          <a:xfrm>
            <a:off x="822960" y="5074920"/>
            <a:ext cx="10543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ein Diagnostik-Cache?  </a:t>
            </a:r>
            <a:pPr indent="0" marL="0">
              <a:buNone/>
            </a:pPr>
            <a:r>
              <a:rPr lang="en-US" sz="13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Lernkurve fittet allein ~40 RandomForest-Modelle. Das im laufenden App-Rerun zu berechnen wäre zu langsam — ein Skript rechnet alle Metriken einmal offline vor, die App liest nur noch JSON.</a:t>
            </a:r>
            <a:endParaRPr lang="en-US" sz="1300" dirty="0"/>
          </a:p>
        </p:txBody>
      </p:sp>
      <p:sp>
        <p:nvSpPr>
          <p:cNvPr id="37" name="Text 29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38" name="Text 30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cogs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LÖSUNG · WERKZEUGE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Technischer Stack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65176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828800"/>
            <a:ext cx="548640" cy="548640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8" name="Image 1" descr="/private/tmp/claude-501/-Users-soufianefed-Desktop-SosoSignalBot/fd57b771-7fec-4f60-a214-d2b5ebb5bd05/scratchpad/pptx_build/icons/chartline_p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590" y="1889150"/>
            <a:ext cx="427939" cy="42793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7724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Sprache &amp; App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777240" y="28803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 · Streamlit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(st.navigation, Multipage)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364992" y="1600200"/>
            <a:ext cx="265176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93592" y="1828800"/>
            <a:ext cx="548640" cy="548640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13" name="Image 2" descr="/private/tmp/claude-501/-Users-soufianefed-Desktop-SosoSignalBot/fd57b771-7fec-4f60-a214-d2b5ebb5bd05/scratchpad/pptx_build/icons/database_p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942" y="1889150"/>
            <a:ext cx="427939" cy="42793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93592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Daten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3593592" y="28803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· numpy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Parquet (PyArrow)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181344" y="1600200"/>
            <a:ext cx="265176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409944" y="1828800"/>
            <a:ext cx="548640" cy="548640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18" name="Image 3" descr="/private/tmp/claude-501/-Users-soufianefed-Desktop-SosoSignalBot/fd57b771-7fec-4f60-a214-d2b5ebb5bd05/scratchpad/pptx_build/icons/robot_p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0294" y="1889150"/>
            <a:ext cx="427939" cy="42793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409944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Learning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6409944" y="28803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(RandomForest, Pipeline, CV)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8997696" y="1600200"/>
            <a:ext cx="265176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226296" y="1828800"/>
            <a:ext cx="548640" cy="548640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23" name="Image 4" descr="/private/tmp/claude-501/-Users-soufianefed-Desktop-SosoSignalBot/fd57b771-7fec-4f60-a214-d2b5ebb5bd05/scratchpad/pptx_build/icons/chartbar_p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6646" y="1889150"/>
            <a:ext cx="427939" cy="427939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226296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Visualisierung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9226296" y="28803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(interaktive Charts)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548640" y="3840480"/>
            <a:ext cx="265176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777240" y="4069080"/>
            <a:ext cx="548640" cy="548640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28" name="Image 5" descr="/private/tmp/claude-501/-Users-soufianefed-Desktop-SosoSignalBot/fd57b771-7fec-4f60-a214-d2b5ebb5bd05/scratchpad/pptx_build/icons/flask_p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590" y="4129430"/>
            <a:ext cx="427939" cy="427939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77724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Erklärbarkeit</a:t>
            </a:r>
            <a:endParaRPr lang="en-US" sz="1350" dirty="0"/>
          </a:p>
        </p:txBody>
      </p:sp>
      <p:sp>
        <p:nvSpPr>
          <p:cNvPr id="30" name="Text 22"/>
          <p:cNvSpPr/>
          <p:nvPr/>
        </p:nvSpPr>
        <p:spPr>
          <a:xfrm>
            <a:off x="777240" y="5120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(TreeExplainer)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3364992" y="3840480"/>
            <a:ext cx="265176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3593592" y="4069080"/>
            <a:ext cx="548640" cy="548640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3" name="Image 6" descr="/private/tmp/claude-501/-Users-soufianefed-Desktop-SosoSignalBot/fd57b771-7fec-4f60-a214-d2b5ebb5bd05/scratchpad/pptx_build/icons/comment_pin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3942" y="4129430"/>
            <a:ext cx="427939" cy="427939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3593592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Externe Dienste</a:t>
            </a:r>
            <a:endParaRPr lang="en-US" sz="1350" dirty="0"/>
          </a:p>
        </p:txBody>
      </p:sp>
      <p:sp>
        <p:nvSpPr>
          <p:cNvPr id="35" name="Text 26"/>
          <p:cNvSpPr/>
          <p:nvPr/>
        </p:nvSpPr>
        <p:spPr>
          <a:xfrm>
            <a:off x="3593592" y="5120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yfinance · NewsAPI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150" dirty="0"/>
          </a:p>
        </p:txBody>
      </p:sp>
      <p:sp>
        <p:nvSpPr>
          <p:cNvPr id="36" name="Shape 27"/>
          <p:cNvSpPr/>
          <p:nvPr/>
        </p:nvSpPr>
        <p:spPr>
          <a:xfrm>
            <a:off x="6181344" y="3840480"/>
            <a:ext cx="265176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37" name="Shape 28"/>
          <p:cNvSpPr/>
          <p:nvPr/>
        </p:nvSpPr>
        <p:spPr>
          <a:xfrm>
            <a:off x="6409944" y="4069080"/>
            <a:ext cx="548640" cy="548640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8" name="Image 7" descr="/private/tmp/claude-501/-Users-soufianefed-Desktop-SosoSignalBot/fd57b771-7fec-4f60-a214-d2b5ebb5bd05/scratchpad/pptx_build/icons/check_pin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0294" y="4129430"/>
            <a:ext cx="427939" cy="427939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6409944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Qualität</a:t>
            </a:r>
            <a:endParaRPr lang="en-US" sz="1350" dirty="0"/>
          </a:p>
        </p:txBody>
      </p:sp>
      <p:sp>
        <p:nvSpPr>
          <p:cNvPr id="40" name="Text 30"/>
          <p:cNvSpPr/>
          <p:nvPr/>
        </p:nvSpPr>
        <p:spPr>
          <a:xfrm>
            <a:off x="6409944" y="5120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· Struktur-Checks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150" dirty="0"/>
          </a:p>
        </p:txBody>
      </p:sp>
      <p:sp>
        <p:nvSpPr>
          <p:cNvPr id="41" name="Shape 31"/>
          <p:cNvSpPr/>
          <p:nvPr/>
        </p:nvSpPr>
        <p:spPr>
          <a:xfrm>
            <a:off x="8997696" y="3840480"/>
            <a:ext cx="265176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42" name="Shape 32"/>
          <p:cNvSpPr/>
          <p:nvPr/>
        </p:nvSpPr>
        <p:spPr>
          <a:xfrm>
            <a:off x="9226296" y="4069080"/>
            <a:ext cx="548640" cy="548640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43" name="Image 8" descr="/private/tmp/claude-501/-Users-soufianefed-Desktop-SosoSignalBot/fd57b771-7fec-4f60-a214-d2b5ebb5bd05/scratchpad/pptx_build/icons/book_pin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86646" y="4129430"/>
            <a:ext cx="427939" cy="427939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9226296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Dokumentation</a:t>
            </a:r>
            <a:endParaRPr lang="en-US" sz="1350" dirty="0"/>
          </a:p>
        </p:txBody>
      </p:sp>
      <p:sp>
        <p:nvSpPr>
          <p:cNvPr id="45" name="Text 34"/>
          <p:cNvSpPr/>
          <p:nvPr/>
        </p:nvSpPr>
        <p:spPr>
          <a:xfrm>
            <a:off x="9226296" y="5120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Jupyter-Notebooks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QUA³CK-Methodik</a:t>
            </a:r>
            <a:endParaRPr lang="en-US" sz="1150" dirty="0"/>
          </a:p>
        </p:txBody>
      </p:sp>
      <p:sp>
        <p:nvSpPr>
          <p:cNvPr id="46" name="Text 35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23302A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project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512064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QUA³CK — der wissenschaftliche Fahrplan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10643616" y="457200"/>
            <a:ext cx="1088136" cy="329184"/>
          </a:xfrm>
          <a:prstGeom prst="roundRect">
            <a:avLst>
              <a:gd name="adj" fmla="val 22222"/>
            </a:avLst>
          </a:prstGeom>
          <a:solidFill>
            <a:srgbClr val="E4EBE7"/>
          </a:solidFill>
          <a:ln/>
        </p:spPr>
      </p:sp>
      <p:sp>
        <p:nvSpPr>
          <p:cNvPr id="6" name="Text 3"/>
          <p:cNvSpPr/>
          <p:nvPr/>
        </p:nvSpPr>
        <p:spPr>
          <a:xfrm>
            <a:off x="10643616" y="457200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et al. (2021), KIT ITIV — ein praxisnaher Leitfaden, der verhindert, dass man modelliert, bevor man die Daten wirklich verstanden hat.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331720"/>
            <a:ext cx="1412095" cy="3200400"/>
          </a:xfrm>
          <a:prstGeom prst="roundRect">
            <a:avLst>
              <a:gd name="adj" fmla="val 4533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514600"/>
            <a:ext cx="1412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7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621792" y="3383280"/>
            <a:ext cx="1265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21792" y="3931920"/>
            <a:ext cx="126579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 &amp;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942447" y="3246120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45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161903" y="2331720"/>
            <a:ext cx="1412095" cy="3200400"/>
          </a:xfrm>
          <a:prstGeom prst="roundRect">
            <a:avLst>
              <a:gd name="adj" fmla="val 4533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161903" y="2514600"/>
            <a:ext cx="1412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7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2235055" y="3383280"/>
            <a:ext cx="1265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235055" y="3931920"/>
            <a:ext cx="126579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Daten, EDA,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555710" y="3246120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45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3775166" y="2331720"/>
            <a:ext cx="1412095" cy="3200400"/>
          </a:xfrm>
          <a:prstGeom prst="roundRect">
            <a:avLst>
              <a:gd name="adj" fmla="val 4533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75166" y="2514600"/>
            <a:ext cx="1412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7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3848318" y="3383280"/>
            <a:ext cx="1265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848318" y="3931920"/>
            <a:ext cx="126579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168973" y="3246120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45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5388429" y="2331720"/>
            <a:ext cx="1412095" cy="3200400"/>
          </a:xfrm>
          <a:prstGeom prst="roundRect">
            <a:avLst>
              <a:gd name="adj" fmla="val 4533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88429" y="2514600"/>
            <a:ext cx="1412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7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400" dirty="0"/>
          </a:p>
        </p:txBody>
      </p:sp>
      <p:sp>
        <p:nvSpPr>
          <p:cNvPr id="25" name="Text 22"/>
          <p:cNvSpPr/>
          <p:nvPr/>
        </p:nvSpPr>
        <p:spPr>
          <a:xfrm>
            <a:off x="5461581" y="3383280"/>
            <a:ext cx="1265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461581" y="3931920"/>
            <a:ext cx="126579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Modell-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auswahl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782235" y="3246120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45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7001691" y="2331720"/>
            <a:ext cx="1412095" cy="3200400"/>
          </a:xfrm>
          <a:prstGeom prst="roundRect">
            <a:avLst>
              <a:gd name="adj" fmla="val 4533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001691" y="2514600"/>
            <a:ext cx="1412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7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400" dirty="0"/>
          </a:p>
        </p:txBody>
      </p:sp>
      <p:sp>
        <p:nvSpPr>
          <p:cNvPr id="30" name="Text 27"/>
          <p:cNvSpPr/>
          <p:nvPr/>
        </p:nvSpPr>
        <p:spPr>
          <a:xfrm>
            <a:off x="7074843" y="3383280"/>
            <a:ext cx="1265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Adaption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7074843" y="3931920"/>
            <a:ext cx="126579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 &amp;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395498" y="3246120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45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8614954" y="2331720"/>
            <a:ext cx="1412095" cy="3200400"/>
          </a:xfrm>
          <a:prstGeom prst="roundRect">
            <a:avLst>
              <a:gd name="adj" fmla="val 4533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614954" y="2514600"/>
            <a:ext cx="1412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7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400" dirty="0"/>
          </a:p>
        </p:txBody>
      </p:sp>
      <p:sp>
        <p:nvSpPr>
          <p:cNvPr id="35" name="Text 32"/>
          <p:cNvSpPr/>
          <p:nvPr/>
        </p:nvSpPr>
        <p:spPr>
          <a:xfrm>
            <a:off x="8688106" y="3383280"/>
            <a:ext cx="1265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Conclude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8688106" y="3931920"/>
            <a:ext cx="126579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&amp;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Grenzen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10008761" y="3246120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45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8" name="Shape 35"/>
          <p:cNvSpPr/>
          <p:nvPr/>
        </p:nvSpPr>
        <p:spPr>
          <a:xfrm>
            <a:off x="10228217" y="2331720"/>
            <a:ext cx="1412095" cy="3200400"/>
          </a:xfrm>
          <a:prstGeom prst="roundRect">
            <a:avLst>
              <a:gd name="adj" fmla="val 4533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0228217" y="2514600"/>
            <a:ext cx="1412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7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3400" dirty="0"/>
          </a:p>
        </p:txBody>
      </p:sp>
      <p:sp>
        <p:nvSpPr>
          <p:cNvPr id="40" name="Text 37"/>
          <p:cNvSpPr/>
          <p:nvPr/>
        </p:nvSpPr>
        <p:spPr>
          <a:xfrm>
            <a:off x="10301369" y="3383280"/>
            <a:ext cx="1265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250" dirty="0"/>
          </a:p>
        </p:txBody>
      </p:sp>
      <p:sp>
        <p:nvSpPr>
          <p:cNvPr id="41" name="Text 38"/>
          <p:cNvSpPr/>
          <p:nvPr/>
        </p:nvSpPr>
        <p:spPr>
          <a:xfrm>
            <a:off x="10301369" y="3931920"/>
            <a:ext cx="126579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Live-Demo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App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Phase ist bei WealthScope AI durch ein eigenes Jupyter-Notebook dokumentiert.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question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4 · Q — QUESTION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Leitfrage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0555834" y="457200"/>
            <a:ext cx="1175918" cy="329184"/>
          </a:xfrm>
          <a:prstGeom prst="roundRect">
            <a:avLst>
              <a:gd name="adj" fmla="val 22222"/>
            </a:avLst>
          </a:prstGeom>
          <a:solidFill>
            <a:srgbClr val="E4EBE7"/>
          </a:solidFill>
          <a:ln/>
        </p:spPr>
      </p:sp>
      <p:sp>
        <p:nvSpPr>
          <p:cNvPr id="7" name="Text 4"/>
          <p:cNvSpPr/>
          <p:nvPr/>
        </p:nvSpPr>
        <p:spPr>
          <a:xfrm>
            <a:off x="10555834" y="457200"/>
            <a:ext cx="11759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417320"/>
            <a:ext cx="10881360" cy="1417320"/>
          </a:xfrm>
          <a:prstGeom prst="roundRect">
            <a:avLst>
              <a:gd name="adj" fmla="val 3871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14400" y="150876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„Wie können historische US-Aktienmarktdaten genutzt werden, um mit Machine Learning eine interaktive Finanzanalyse-App zu entwickeln, die technische Marktanalyse, ML-basierte Signalgebung und risikobasierte Positionsplanung nachvollziehbar kombiniert?“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566928" cy="566928"/>
          </a:xfrm>
          <a:prstGeom prst="ellipse">
            <a:avLst/>
          </a:prstGeom>
          <a:solidFill>
            <a:srgbClr val="2F5D53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417320" y="306324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Random-Forest-Modell erzielt eine ROC-AUC signifikant über dem Zufallsniveau von 0.5.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840480"/>
            <a:ext cx="566928" cy="566928"/>
          </a:xfrm>
          <a:prstGeom prst="ellipse">
            <a:avLst/>
          </a:prstGeom>
          <a:solidFill>
            <a:srgbClr val="2F5D53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840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417320" y="384048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Streamlit-App macht die Methodik für Nicht-Experten verständlich zugänglich.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617720"/>
            <a:ext cx="566928" cy="566928"/>
          </a:xfrm>
          <a:prstGeom prst="ellipse">
            <a:avLst/>
          </a:prstGeom>
          <a:solidFill>
            <a:srgbClr val="2F5D53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417320" y="461772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Kombination aus technischen Indikatoren und ML-Signal verbessert die Nutzbarkeit gegenüber Einzelansätzen.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486400"/>
            <a:ext cx="10881360" cy="822960"/>
          </a:xfrm>
          <a:prstGeom prst="roundRect">
            <a:avLst>
              <a:gd name="adj" fmla="val 6667"/>
            </a:avLst>
          </a:prstGeom>
          <a:solidFill>
            <a:srgbClr val="F5E1DD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14400" y="54864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3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Ausdrücklich nicht: kein Handelsbot, keine Anlageberatung, kein Kursprognose-Tool. Ein wissenschaftlicher Prototyp zur Demonstration datengetriebener Analysemethoden.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database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5 · U — UNDERSTANDING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Datenbasis kennenlernen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0555834" y="457200"/>
            <a:ext cx="1175918" cy="329184"/>
          </a:xfrm>
          <a:prstGeom prst="roundRect">
            <a:avLst>
              <a:gd name="adj" fmla="val 22222"/>
            </a:avLst>
          </a:prstGeom>
          <a:solidFill>
            <a:srgbClr val="E4EBE7"/>
          </a:solidFill>
          <a:ln/>
        </p:spPr>
      </p:sp>
      <p:sp>
        <p:nvSpPr>
          <p:cNvPr id="7" name="Text 4"/>
          <p:cNvSpPr/>
          <p:nvPr/>
        </p:nvSpPr>
        <p:spPr>
          <a:xfrm>
            <a:off x="10555834" y="457200"/>
            <a:ext cx="11759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 Min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1463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Kaggle-Datensatz „US Stocks &amp; ETFs“ von Boris Marjanovic, CC0 Public Domain — vollständige Datenfreiheit, keine lizenzrechtlichen Probleme.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2240280"/>
            <a:ext cx="2606040" cy="1417320"/>
          </a:xfrm>
          <a:prstGeom prst="roundRect">
            <a:avLst>
              <a:gd name="adj" fmla="val 3871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23774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192.119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77240" y="3017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Feature-Datenpunkte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02152" y="2240280"/>
            <a:ext cx="2606040" cy="1417320"/>
          </a:xfrm>
          <a:prstGeom prst="roundRect">
            <a:avLst>
              <a:gd name="adj" fmla="val 3871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02152" y="23774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3639312" y="3017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Blue-Chip-Ticker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364224" y="2240280"/>
            <a:ext cx="2606040" cy="1417320"/>
          </a:xfrm>
          <a:prstGeom prst="roundRect">
            <a:avLst>
              <a:gd name="adj" fmla="val 3871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364224" y="23774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1962–2017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6501384" y="3017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 (+ live)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226296" y="2240280"/>
            <a:ext cx="2606040" cy="1417320"/>
          </a:xfrm>
          <a:prstGeom prst="roundRect">
            <a:avLst>
              <a:gd name="adj" fmla="val 3871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226296" y="23774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Parquet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363456" y="3017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optimiert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so viele Titel?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0080" y="443484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nur Umfang — sondern weil unterschiedliche Sektoren und Marktphasen die Generalisierung des Modells verbessern.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Apple und Microsoft über Coca-Cola und McDonald’s bis zu Boeing und General Electric.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0080" y="5806440"/>
            <a:ext cx="10881360" cy="594360"/>
          </a:xfrm>
          <a:prstGeom prst="roundRect">
            <a:avLst>
              <a:gd name="adj" fmla="val 9231"/>
            </a:avLst>
          </a:prstGeom>
          <a:solidFill>
            <a:srgbClr val="F3E7C9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914400" y="580644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Methodische Einschränkung: Survivorship-Bias — nur heute noch existierende Ticker sind enthalten.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chartbar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5 · U — UNDERSTANDING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Explorative Datenanalyse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Histogramme mit Kernel-Dichte-Schätzung für alle acht ML-Features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Boxplots zur Ausreißer-Identifikation (IQR-Methode)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Scatterplots zwischen Features und Zielvariable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Pearson- und Spearman-Korrelationsmatrizen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3977640"/>
            <a:ext cx="5029200" cy="1783080"/>
          </a:xfrm>
          <a:prstGeom prst="roundRect">
            <a:avLst>
              <a:gd name="adj" fmla="val 3077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1605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Ergebnis: Features sind leicht schiefsymmetrisch (→ Median-Imputation), Korrelationen moderat — kein extremes Multikollinearitätsproblem.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463040"/>
            <a:ext cx="5559552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/private/tmp/claude-501/-Users-soufianefed-Desktop-SosoSignalBot/fd57b771-7fec-4f60-a214-d2b5ebb5bd05/scratchpad/pptx_build/shots/chart_korrela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645920"/>
            <a:ext cx="5193792" cy="3931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warning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5 · U — UNDERSTANDING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Fehlende Werte: MCAR, MAR, MNAR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Fehlende Werte in den Moving-Average-Features — die ersten 20 bis 200 Handelstage je Ticker, weil der gleitende Durchschnitt noch keinen vollständigen Berechnungszeitraum hatte.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377440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5420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MCAR — Missing Completely at Random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8680" y="2944368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Fehlen ist unabhängig vom tatsächlichen Wert und von anderen Variablen — die beste Ausgangslage für eine Imputation.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2377440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00800" y="25420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Strategien verglichen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00800" y="29992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001000" y="299923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einfach, anfällig für Ausreißer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0" y="336499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001000" y="336499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— gewählt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0" y="3730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(k=5)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001000" y="373075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gleichwertig, aber teurer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0080" y="443484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3E7C9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14400" y="47091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 akademisches Detail — eine direkte Qualitätsentscheidung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914400" y="51663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(2024), BMC: bereits 5–10 % fehlende Werte können den Accuracy-Verlust um bis zu 15 % erhöhen. Median-Imputation ist damit nicht Beiwerk, sondern eine belegte Weichenstellung für die Modellgüte.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balance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5 · U — UNDERSTANDING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Scaling &amp; Data Leakage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2578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66420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StandardScaler statt MinMaxScaler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6868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Z-Score-Normierung, Mittelwert 0, Standardabweichung 1 — optimal für Algorithmen, die auf Abständen operieren.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463040"/>
            <a:ext cx="537667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0" y="166420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Pinheiro et al. (2025)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00800" y="21488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arXiv:2506.08274 — korrektes Feature Scaling verbessert die Modell-Performance um bis zu 25 %.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611880"/>
            <a:ext cx="10908792" cy="2331720"/>
          </a:xfrm>
          <a:prstGeom prst="roundRect">
            <a:avLst>
              <a:gd name="adj" fmla="val 2353"/>
            </a:avLst>
          </a:prstGeom>
          <a:solidFill>
            <a:srgbClr val="F5E1DD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14400" y="38862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3C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Leakage — und wie es verhindert wird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14400" y="438912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Scaler wird ausschließlich auf den Trainingsdaten gefittet — niemals auf dem Gesamtdatensatz, niemals auf den Testdaten. Nur auf X_train. Das ist der Unterschied zwischen einem Modell, das in der Realität funktioniert, und einem, das nur im Labor gut aussieht.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cogs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6 · A — ANALYTICS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0555834" y="457200"/>
            <a:ext cx="1175918" cy="329184"/>
          </a:xfrm>
          <a:prstGeom prst="roundRect">
            <a:avLst>
              <a:gd name="adj" fmla="val 22222"/>
            </a:avLst>
          </a:prstGeom>
          <a:solidFill>
            <a:srgbClr val="E4EBE7"/>
          </a:solidFill>
          <a:ln/>
        </p:spPr>
      </p:sp>
      <p:sp>
        <p:nvSpPr>
          <p:cNvPr id="7" name="Text 4"/>
          <p:cNvSpPr/>
          <p:nvPr/>
        </p:nvSpPr>
        <p:spPr>
          <a:xfrm>
            <a:off x="10555834" y="457200"/>
            <a:ext cx="11759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 Min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OHLCV-Rohdaten (Open, High, Low, Close, Volume) werden acht Features destilliert: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196596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19659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Rendite-Features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3429000" y="19659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daily_return · return_5d · return_20d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269480" y="196596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Kurzfristige bis mittelfristige Kursentwicklung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297180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68680" y="29718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Trend-Features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429000" y="29718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MA-20 / MA-50 / MA-200 Distance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269480" y="29718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Abstand zu gleitenden Durchschnitten — Mean-Reversion-Signal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0080" y="397764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68680" y="39776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Risiko-Features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429000" y="39776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volatility_20d · Drawdown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7269480" y="39776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Schwankung und Abstand vom letzten Höchststand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Zielvariable target_20d: </a:t>
            </a:r>
            <a:pPr indent="0" marL="0">
              <a:buNone/>
            </a:pPr>
            <a:r>
              <a:rPr lang="en-US" sz="13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binär — ist der Schlusskurs in 20 Handelstagen höher als heute? Richtungsvorhersage statt Regression: realistischer und robuster quantifizierbar bei effizienten Märkten.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robot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7 · A — ALGORITHM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Modellauswahl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0555834" y="457200"/>
            <a:ext cx="1175918" cy="329184"/>
          </a:xfrm>
          <a:prstGeom prst="roundRect">
            <a:avLst>
              <a:gd name="adj" fmla="val 22222"/>
            </a:avLst>
          </a:prstGeom>
          <a:solidFill>
            <a:srgbClr val="E4EBE7"/>
          </a:solidFill>
          <a:ln/>
        </p:spPr>
      </p:sp>
      <p:sp>
        <p:nvSpPr>
          <p:cNvPr id="7" name="Text 4"/>
          <p:cNvSpPr/>
          <p:nvPr/>
        </p:nvSpPr>
        <p:spPr>
          <a:xfrm>
            <a:off x="10555834" y="457200"/>
            <a:ext cx="11759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 Min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463040"/>
            <a:ext cx="34290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16459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68680" y="2103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DummyClassifier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68680" y="25146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Referenzpunkt — immer häufigste Klasse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069080" y="21031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361688" y="1463040"/>
            <a:ext cx="34290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590288" y="16459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Logistische Regression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90288" y="2103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Parametrisch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90288" y="25146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Interpretierbar, schnell, linear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790688" y="21031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083296" y="1463040"/>
            <a:ext cx="3429000" cy="1920240"/>
          </a:xfrm>
          <a:prstGeom prst="roundRect">
            <a:avLst>
              <a:gd name="adj" fmla="val 2857"/>
            </a:avLst>
          </a:prstGeom>
          <a:solidFill>
            <a:srgbClr val="2F5D53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311896" y="16459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311896" y="2103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— gewählt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8311896" y="25146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Nichtlinear, robust, Feature Importance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0080" y="3703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Random Forest?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40080" y="41148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Ensemble-Methode — viele unabhängige Bäume reduzieren Varianz</a:t>
            </a:r>
            <a:endParaRPr lang="en-US" sz="1350" dirty="0"/>
          </a:p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Erfasst nichtlineare Zusammenhänge — kaum lineare Muster bei Aktiendaten zu erwarten</a:t>
            </a:r>
            <a:endParaRPr lang="en-US" sz="1350" dirty="0"/>
          </a:p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gegenüber Ausreißern und Feature-Korrelationen</a:t>
            </a:r>
            <a:endParaRPr lang="en-US" sz="1350" dirty="0"/>
          </a:p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direkt verfügbar — macht das Modell interpretierbar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0909"/>
            </a:avLst>
          </a:prstGeom>
          <a:solidFill>
            <a:srgbClr val="F3E7C9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neuronales Netz: Datengröße und Feature-Set rechtfertigen die Komplexität nicht — Occam’s Razor.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sliders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8 · A — ADAPTION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Hyperparameter &amp; Pipeline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0643616" y="457200"/>
            <a:ext cx="1088136" cy="329184"/>
          </a:xfrm>
          <a:prstGeom prst="roundRect">
            <a:avLst>
              <a:gd name="adj" fmla="val 22222"/>
            </a:avLst>
          </a:prstGeom>
          <a:solidFill>
            <a:srgbClr val="E4EBE7"/>
          </a:solidFill>
          <a:ln/>
        </p:spPr>
      </p:sp>
      <p:sp>
        <p:nvSpPr>
          <p:cNvPr id="7" name="Text 4"/>
          <p:cNvSpPr/>
          <p:nvPr/>
        </p:nvSpPr>
        <p:spPr>
          <a:xfrm>
            <a:off x="10643616" y="457200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50876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15087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 = 200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40080" y="2167128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216712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 = 8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0080" y="2825496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68680" y="2825496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 = 'balanced'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126480" y="15087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Bäume für stabile Schätzungen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126480" y="216712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Regularisierung gegen Overfitting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126480" y="282549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Ausgleich der leichten Klassen-Imbalance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0080" y="370332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68680" y="3840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(Data-Leakage-Prävention)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68680" y="4206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Imputation  →  Scaling  →  Modell   —   als scikit-learn-Pipeline implementiert, garantiert vollständige Leakage-Prävention.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40080" y="4937760"/>
            <a:ext cx="108813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68680" y="5074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5-Fold Stratified Cross-Validation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868680" y="544068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 eines einfachen Train-Test-Splits: Das Modell wird fünfmal trainiert und getestet, auf verschiedenen Datensegmenten. Robuster als ein einzelner Split — zeigt, ob das Modell konsistent performt oder nur auf einem bestimmten Zeitraum gut funktioniert.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chartbar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8 · A — ADAPTION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Ergebnisse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87752"/>
                <a:gridCol w="2587752"/>
                <a:gridCol w="2596896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Log. Regression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~56,5 %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~53 %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55,3 %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0,588 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(weighted)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B62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7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E7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" y="3657600"/>
            <a:ext cx="10881360" cy="2651760"/>
          </a:xfrm>
          <a:prstGeom prst="roundRect">
            <a:avLst>
              <a:gd name="adj" fmla="val 2069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914400" y="384048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ist 55,3 % kein schlechtes Ergebnis?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914400" y="43434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Eugene Fama formulierte 1970 die Efficient Market Hypothesis: In einem effizienten Markt sind alle verfügbaren Informationen bereits im Preis eingepreist. Wer nur mit historischen Kursdaten arbeitet — ohne Insider-Wissen, ohne Sentiment, ohne Makro-Daten — für den ist eine Präzision knapp über 50 % das wissenschaftlich Erwartete.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914400" y="553212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Random Forest erreicht 0,588 ROC-AUC — statistisch signifikant besser als Zufall. Hypothese 1 ist damit bestätigt.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bullseye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8 · A — ADAPTION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Konfusionsmatrix &amp; ROC-Kurve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1417320"/>
            <a:ext cx="3977640" cy="370332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private/tmp/claude-501/-Users-soufianefed-Desktop-SosoSignalBot/fd57b771-7fec-4f60-a214-d2b5ebb5bd05/scratchpad/pptx_build/shots/chart_konfus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4672" y="1572768"/>
            <a:ext cx="3648456" cy="33832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800600" y="1417320"/>
            <a:ext cx="6720840" cy="370332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2" descr="/private/tmp/claude-501/-Users-soufianefed-Desktop-SosoSignalBot/fd57b771-7fec-4f60-a214-d2b5ebb5bd05/scratchpad/pptx_build/shots/chart_rocp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965192" y="1737360"/>
            <a:ext cx="6391656" cy="30632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640080" y="5303520"/>
            <a:ext cx="10881360" cy="1188720"/>
          </a:xfrm>
          <a:prstGeom prst="roundRect">
            <a:avLst>
              <a:gd name="adj" fmla="val 4615"/>
            </a:avLst>
          </a:prstGeom>
          <a:solidFill>
            <a:srgbClr val="F3E7C9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914400" y="530352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Klassen-Imbalance (Bullish 56,5 % / Bearish 43,5 %) ist Accuracy allein irreführend — deshalb ROC-AUC als primäre Metrik. Die Konfusionsmatrix zeigt: das Modell erkennt beide Klassen, mit Schwerpunkt auf Bearish-Präzision.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heartbeat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8 · A — ADAPTION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Lernkurve — Bias oder Varianz?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1417320"/>
            <a:ext cx="694944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private/tmp/claude-501/-Users-soufianefed-Desktop-SosoSignalBot/fd57b771-7fec-4f60-a214-d2b5ebb5bd05/scratchpad/pptx_build/shots/chart_lernk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22960" y="1600200"/>
            <a:ext cx="6583680" cy="37947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818120" y="1417320"/>
            <a:ext cx="3730752" cy="4160520"/>
          </a:xfrm>
          <a:prstGeom prst="roundRect">
            <a:avLst>
              <a:gd name="adj" fmla="val 1471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04672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zeigt das?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8046720" y="201168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Trainings-Score sinkt, Validierungs-Score steigt leicht mit mehr Daten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Kurven laufen auf niedrigem Niveau flach zusammen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Overfitting — aber auch kein großer Hebel durch noch mehr Daten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Konsistent mit der Efficient Market Hypothesis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flask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8 · A — ADAPTION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Erklärbarkeit — warum das Modell so entscheidet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5727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RandomForest Feature Importance (Gini)</a:t>
            </a:r>
            <a:endParaRPr lang="en-US" sz="1250" dirty="0"/>
          </a:p>
        </p:txBody>
      </p:sp>
      <p:pic>
        <p:nvPicPr>
          <p:cNvPr id="8" name="Image 1" descr="/private/tmp/claude-501/-Users-soufianefed-Desktop-SosoSignalBot/fd57b771-7fec-4f60-a214-d2b5ebb5bd05/scratchpad/pptx_build/shots/chart_importa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4672" y="1965960"/>
            <a:ext cx="5111496" cy="27889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63640" y="1463040"/>
            <a:ext cx="5285232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446520" y="15727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 — mittlerer Beitrag je Feature</a:t>
            </a:r>
            <a:endParaRPr lang="en-US" sz="1250" dirty="0"/>
          </a:p>
        </p:txBody>
      </p:sp>
      <p:pic>
        <p:nvPicPr>
          <p:cNvPr id="11" name="Image 2" descr="/private/tmp/claude-501/-Users-soufianefed-Desktop-SosoSignalBot/fd57b771-7fec-4f60-a214-d2b5ebb5bd05/scratchpad/pptx_build/shots/chart_shap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28232" y="1965960"/>
            <a:ext cx="4956048" cy="2788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40080" y="5120640"/>
            <a:ext cx="10908792" cy="1051560"/>
          </a:xfrm>
          <a:prstGeom prst="roundRect">
            <a:avLst>
              <a:gd name="adj" fmla="val 5217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914400" y="5120640"/>
            <a:ext cx="103601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Perspektiven, ein Bild:  </a:t>
            </a:r>
            <a:pPr indent="0" marL="0">
              <a:buNone/>
            </a:pPr>
            <a:r>
              <a:rPr lang="en-US" sz="13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Drawdown und 20-Tage-Volatilität dominieren — Risiko-Features wiegen schwerer als reine Renditen. SHAP (Lundberg &amp; Lee, 2017) bestätigt die Gini-Rangfolge und macht den Beitrag pro Datenpunkt nachvollziehbar.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check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9 · C — CONCLUDE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haben wir gelernt?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0555834" y="457200"/>
            <a:ext cx="1175918" cy="329184"/>
          </a:xfrm>
          <a:prstGeom prst="roundRect">
            <a:avLst>
              <a:gd name="adj" fmla="val 22222"/>
            </a:avLst>
          </a:prstGeom>
          <a:solidFill>
            <a:srgbClr val="E4EBE7"/>
          </a:solidFill>
          <a:ln/>
        </p:spPr>
      </p:sp>
      <p:sp>
        <p:nvSpPr>
          <p:cNvPr id="7" name="Text 4"/>
          <p:cNvSpPr/>
          <p:nvPr/>
        </p:nvSpPr>
        <p:spPr>
          <a:xfrm>
            <a:off x="10555834" y="457200"/>
            <a:ext cx="11759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55448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68680" y="1728216"/>
            <a:ext cx="566928" cy="566928"/>
          </a:xfrm>
          <a:prstGeom prst="ellipse">
            <a:avLst/>
          </a:prstGeom>
          <a:solidFill>
            <a:srgbClr val="2F5D53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45920" y="166420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bestätigt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645920" y="1956816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übertrifft Zufallsniveau — AUC 0,588, statistisch signifikant.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40080" y="2606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68680" y="2779776"/>
            <a:ext cx="566928" cy="566928"/>
          </a:xfrm>
          <a:prstGeom prst="ellipse">
            <a:avLst/>
          </a:prstGeom>
          <a:solidFill>
            <a:srgbClr val="2F5D53"/>
          </a:solidFill>
          <a:ln/>
        </p:spPr>
      </p:sp>
      <p:sp>
        <p:nvSpPr>
          <p:cNvPr id="15" name="Text 12"/>
          <p:cNvSpPr/>
          <p:nvPr/>
        </p:nvSpPr>
        <p:spPr>
          <a:xfrm>
            <a:off x="868680" y="2779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645920" y="2715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bestätigt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645920" y="3008376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Streamlit-App macht Methodik zugänglich — vollständige Erklärungsebene mit Methodik-Seite.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40080" y="365760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68680" y="3831336"/>
            <a:ext cx="566928" cy="566928"/>
          </a:xfrm>
          <a:prstGeom prst="ellipse">
            <a:avLst/>
          </a:prstGeom>
          <a:solidFill>
            <a:srgbClr val="A97C1E"/>
          </a:solidFill>
          <a:ln/>
        </p:spPr>
      </p:sp>
      <p:sp>
        <p:nvSpPr>
          <p:cNvPr id="20" name="Text 17"/>
          <p:cNvSpPr/>
          <p:nvPr/>
        </p:nvSpPr>
        <p:spPr>
          <a:xfrm>
            <a:off x="86868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645920" y="37673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teilweise bestätigt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645920" y="4059936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ML-Signal + Indikatoren + Portfolio-Tools bieten Mehrwert — formale Nutzerstudie fehlt.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warning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9 · C — CONCLUDE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Grenzen des Projekts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150876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67335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3C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exogenen Faktoren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68680" y="21031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Makrodaten, Zentralbank-Entscheidungen, Geopolitik fließen nicht ein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50876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67335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3C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 Sentiment im Modell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92240" y="21031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Nachrichten werden angezeigt, aber nicht als ML-Feature genutzt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310896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68680" y="327355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3C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Statisches Modell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68680" y="37033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automatisches Nachtraining bei neuen Daten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63640" y="310896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492240" y="327355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3C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Historie ≠ Zukunft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492240" y="37033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Gilt für jedes Finanzmodell der Welt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0080" y="4846320"/>
            <a:ext cx="10881360" cy="1463040"/>
          </a:xfrm>
          <a:prstGeom prst="roundRect">
            <a:avLst>
              <a:gd name="adj" fmla="val 3750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Diese Grenzen sind kein Versagen des Projekts. Sie sind der ehrliche Abschluss eines wissenschaftlichen Projekts, das genau weiß, was es kann — und was nicht.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23302A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laptop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512064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— Knowledge: Die App in Aktion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10555834" y="457200"/>
            <a:ext cx="1175918" cy="329184"/>
          </a:xfrm>
          <a:prstGeom prst="roundRect">
            <a:avLst>
              <a:gd name="adj" fmla="val 22222"/>
            </a:avLst>
          </a:prstGeom>
          <a:solidFill>
            <a:srgbClr val="E4EBE7"/>
          </a:solidFill>
          <a:ln/>
        </p:spPr>
      </p:sp>
      <p:sp>
        <p:nvSpPr>
          <p:cNvPr id="6" name="Text 3"/>
          <p:cNvSpPr/>
          <p:nvPr/>
        </p:nvSpPr>
        <p:spPr>
          <a:xfrm>
            <a:off x="10555834" y="457200"/>
            <a:ext cx="11759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 Min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live. Falls die Verbindung ausfällt: die nächsten Folien zeigen jede Station als Screenshot.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148840"/>
            <a:ext cx="3429000" cy="1600200"/>
          </a:xfrm>
          <a:prstGeom prst="roundRect">
            <a:avLst>
              <a:gd name="adj" fmla="val 4000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" y="2331720"/>
            <a:ext cx="457200" cy="457200"/>
          </a:xfrm>
          <a:prstGeom prst="ellipse">
            <a:avLst/>
          </a:prstGeom>
          <a:solidFill>
            <a:srgbClr val="2A362E"/>
          </a:solidFill>
          <a:ln/>
        </p:spPr>
      </p:sp>
      <p:pic>
        <p:nvPicPr>
          <p:cNvPr id="10" name="Image 1" descr="/private/tmp/claude-501/-Users-soufianefed-Desktop-SosoSignalBot/fd57b771-7fec-4f60-a214-d2b5ebb5bd05/scratchpad/pptx_build/icons/home_m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238201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3317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841248" y="2926080"/>
            <a:ext cx="3026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Aktuelles Signal, KPIs, Kursverlauf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361688" y="2148840"/>
            <a:ext cx="3429000" cy="1600200"/>
          </a:xfrm>
          <a:prstGeom prst="roundRect">
            <a:avLst>
              <a:gd name="adj" fmla="val 4000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62856" y="2331720"/>
            <a:ext cx="457200" cy="457200"/>
          </a:xfrm>
          <a:prstGeom prst="ellipse">
            <a:avLst/>
          </a:prstGeom>
          <a:solidFill>
            <a:srgbClr val="2A362E"/>
          </a:solidFill>
          <a:ln/>
        </p:spPr>
      </p:sp>
      <p:pic>
        <p:nvPicPr>
          <p:cNvPr id="15" name="Image 2" descr="/private/tmp/claude-501/-Users-soufianefed-Desktop-SosoSignalBot/fd57b771-7fec-4f60-a214-d2b5ebb5bd05/scratchpad/pptx_build/icons/chartline_m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3148" y="238201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138928" y="23317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Marktanalyse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4562856" y="2926080"/>
            <a:ext cx="3026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Candlestick, MA-20/50/200, Drawdown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8083296" y="2148840"/>
            <a:ext cx="3429000" cy="1600200"/>
          </a:xfrm>
          <a:prstGeom prst="roundRect">
            <a:avLst>
              <a:gd name="adj" fmla="val 4000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284464" y="2331720"/>
            <a:ext cx="457200" cy="457200"/>
          </a:xfrm>
          <a:prstGeom prst="ellipse">
            <a:avLst/>
          </a:prstGeom>
          <a:solidFill>
            <a:srgbClr val="2A362E"/>
          </a:solidFill>
          <a:ln/>
        </p:spPr>
      </p:sp>
      <p:pic>
        <p:nvPicPr>
          <p:cNvPr id="20" name="Image 3" descr="/private/tmp/claude-501/-Users-soufianefed-Desktop-SosoSignalBot/fd57b771-7fec-4f60-a214-d2b5ebb5bd05/scratchpad/pptx_build/icons/heartbeat_m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4756" y="238201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860536" y="23317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ML-Insights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8284464" y="2926080"/>
            <a:ext cx="3026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Korrelation → Konfusion → Lernkurve → SHAP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40080" y="3977640"/>
            <a:ext cx="3429000" cy="1600200"/>
          </a:xfrm>
          <a:prstGeom prst="roundRect">
            <a:avLst>
              <a:gd name="adj" fmla="val 4000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41248" y="4160520"/>
            <a:ext cx="457200" cy="457200"/>
          </a:xfrm>
          <a:prstGeom prst="ellipse">
            <a:avLst/>
          </a:prstGeom>
          <a:solidFill>
            <a:srgbClr val="2A362E"/>
          </a:solidFill>
          <a:ln/>
        </p:spPr>
      </p:sp>
      <p:pic>
        <p:nvPicPr>
          <p:cNvPr id="25" name="Image 4" descr="/private/tmp/claude-501/-Users-soufianefed-Desktop-SosoSignalBot/fd57b771-7fec-4f60-a214-d2b5ebb5bd05/scratchpad/pptx_build/icons/compass_mi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4210812"/>
            <a:ext cx="356616" cy="35661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17320" y="4160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Kapital-Kompass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841248" y="4754880"/>
            <a:ext cx="3026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Risikobetrag &amp; Positionsgröße live berechnet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4361688" y="3977640"/>
            <a:ext cx="3429000" cy="1600200"/>
          </a:xfrm>
          <a:prstGeom prst="roundRect">
            <a:avLst>
              <a:gd name="adj" fmla="val 4000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4562856" y="4160520"/>
            <a:ext cx="457200" cy="457200"/>
          </a:xfrm>
          <a:prstGeom prst="ellipse">
            <a:avLst/>
          </a:prstGeom>
          <a:solidFill>
            <a:srgbClr val="2A362E"/>
          </a:solidFill>
          <a:ln/>
        </p:spPr>
      </p:sp>
      <p:pic>
        <p:nvPicPr>
          <p:cNvPr id="30" name="Image 5" descr="/private/tmp/claude-501/-Users-soufianefed-Desktop-SosoSignalBot/fd57b771-7fec-4f60-a214-d2b5ebb5bd05/scratchpad/pptx_build/icons/briefcase_mi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3148" y="4210812"/>
            <a:ext cx="356616" cy="35661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5138928" y="4160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Simulator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4562856" y="4754880"/>
            <a:ext cx="3026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Allokation über 4 Ticker, Konzentrationsmaß</a:t>
            </a:r>
            <a:endParaRPr lang="en-US" sz="1050" dirty="0"/>
          </a:p>
        </p:txBody>
      </p:sp>
      <p:sp>
        <p:nvSpPr>
          <p:cNvPr id="33" name="Shape 25"/>
          <p:cNvSpPr/>
          <p:nvPr/>
        </p:nvSpPr>
        <p:spPr>
          <a:xfrm>
            <a:off x="8083296" y="3977640"/>
            <a:ext cx="3429000" cy="1600200"/>
          </a:xfrm>
          <a:prstGeom prst="roundRect">
            <a:avLst>
              <a:gd name="adj" fmla="val 4000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284464" y="4160520"/>
            <a:ext cx="457200" cy="457200"/>
          </a:xfrm>
          <a:prstGeom prst="ellipse">
            <a:avLst/>
          </a:prstGeom>
          <a:solidFill>
            <a:srgbClr val="2A362E"/>
          </a:solidFill>
          <a:ln/>
        </p:spPr>
      </p:sp>
      <p:pic>
        <p:nvPicPr>
          <p:cNvPr id="35" name="Image 6" descr="/private/tmp/claude-501/-Users-soufianefed-Desktop-SosoSignalBot/fd57b771-7fec-4f60-a214-d2b5ebb5bd05/scratchpad/pptx_build/icons/book_mi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4756" y="4210812"/>
            <a:ext cx="356616" cy="35661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860536" y="4160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Methodik</a:t>
            </a:r>
            <a:endParaRPr lang="en-US" sz="1350" dirty="0"/>
          </a:p>
        </p:txBody>
      </p:sp>
      <p:sp>
        <p:nvSpPr>
          <p:cNvPr id="37" name="Text 28"/>
          <p:cNvSpPr/>
          <p:nvPr/>
        </p:nvSpPr>
        <p:spPr>
          <a:xfrm>
            <a:off x="8284464" y="4754880"/>
            <a:ext cx="3026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QUA³CK-Prozess &amp; Export</a:t>
            </a:r>
            <a:endParaRPr lang="en-US" sz="1050" dirty="0"/>
          </a:p>
        </p:txBody>
      </p:sp>
      <p:sp>
        <p:nvSpPr>
          <p:cNvPr id="38" name="Text 29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39" name="Text 30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chartline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MARKTANALYSE (1/2)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Kursverlauf &amp; gleitende Durchschnitte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908792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private/tmp/claude-501/-Users-soufianefed-Desktop-SosoSignalBot/fd57b771-7fec-4f60-a214-d2b5ebb5bd05/scratchpad/pptx_build/shots/mk_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4400" y="1691640"/>
            <a:ext cx="10360152" cy="3886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989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SPY über 1 Jahr — Schlusskurs mit MA-20/50/200. Der Kurs liegt über allen drei Durchschnitten: ein intakter Aufwärtstrend, der den hohen Trend-Score speist.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chartline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MARKTANALYSE (2/2)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Candlestick &amp; Drawdown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44068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6002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Candlestick (OHLC)</a:t>
            </a:r>
            <a:endParaRPr lang="en-US" sz="1300" dirty="0"/>
          </a:p>
        </p:txBody>
      </p:sp>
      <p:pic>
        <p:nvPicPr>
          <p:cNvPr id="8" name="Image 1" descr="/private/tmp/claude-501/-Users-soufianefed-Desktop-SosoSignalBot/fd57b771-7fec-4f60-a214-d2b5ebb5bd05/scratchpad/pptx_build/shots/mk_cand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4672" y="2011680"/>
            <a:ext cx="5111496" cy="36118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63640" y="1463040"/>
            <a:ext cx="5285232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492240" y="1600200"/>
            <a:ext cx="4828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Drawdown vom Allzeithoch</a:t>
            </a:r>
            <a:endParaRPr lang="en-US" sz="1300" dirty="0"/>
          </a:p>
        </p:txBody>
      </p:sp>
      <p:pic>
        <p:nvPicPr>
          <p:cNvPr id="11" name="Image 2" descr="/private/tmp/claude-501/-Users-soufianefed-Desktop-SosoSignalBot/fd57b771-7fec-4f60-a214-d2b5ebb5bd05/scratchpad/pptx_build/shots/mk_drawdow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28232" y="2011680"/>
            <a:ext cx="4956048" cy="36118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40080" y="5989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Candlesticks zeigen die Tagesspannen; der Drawdown-Chart misst den Abstand zum letzten Hoch — Grundlage des Risiko-Scores.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cube dir="r"/>
      </p:transition>
    </mc:Choice>
    <mc:Fallback>
      <p:transition spd="slow">
        <p:push dir="l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heartbeat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ML-INSIGHTS (1/2)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Korrelationsmatrix &amp; Konfusionsmatrix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80644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60020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Pearson-Korrelation der Features</a:t>
            </a:r>
            <a:endParaRPr lang="en-US" sz="1300" dirty="0"/>
          </a:p>
        </p:txBody>
      </p:sp>
      <p:pic>
        <p:nvPicPr>
          <p:cNvPr id="8" name="Image 1" descr="/private/tmp/claude-501/-Users-soufianefed-Desktop-SosoSignalBot/fd57b771-7fec-4f60-a214-d2b5ebb5bd05/scratchpad/pptx_build/shots/chart_korrela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4672" y="2011680"/>
            <a:ext cx="5477256" cy="36118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629400" y="1463040"/>
            <a:ext cx="4919472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858000" y="1600200"/>
            <a:ext cx="4462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Konfusionsmatrix (Test-Set)</a:t>
            </a:r>
            <a:endParaRPr lang="en-US" sz="1300" dirty="0"/>
          </a:p>
        </p:txBody>
      </p:sp>
      <p:pic>
        <p:nvPicPr>
          <p:cNvPr id="11" name="Image 2" descr="/private/tmp/claude-501/-Users-soufianefed-Desktop-SosoSignalBot/fd57b771-7fec-4f60-a214-d2b5ebb5bd05/scratchpad/pptx_build/shots/chart_konfus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93992" y="2011680"/>
            <a:ext cx="4590288" cy="36118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40080" y="5989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Links: welche Features zusammenhängen (Rendite-Features stark, Risiko-Features unabhängig). Rechts: wie gut das Modell Bullish/Bearish trennt.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heartbeat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ML-INSIGHTS (2/2)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Lernkurve &amp; ROC/PR-Kurve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80644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60020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Lernkurve (5-Fold CV)</a:t>
            </a:r>
            <a:endParaRPr lang="en-US" sz="1300" dirty="0"/>
          </a:p>
        </p:txBody>
      </p:sp>
      <p:pic>
        <p:nvPicPr>
          <p:cNvPr id="8" name="Image 1" descr="/private/tmp/claude-501/-Users-soufianefed-Desktop-SosoSignalBot/fd57b771-7fec-4f60-a214-d2b5ebb5bd05/scratchpad/pptx_build/shots/chart_lernk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4672" y="2011680"/>
            <a:ext cx="5477256" cy="36118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629400" y="1463040"/>
            <a:ext cx="4919472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858000" y="1600200"/>
            <a:ext cx="4462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ROC- &amp; Precision-Recall-Kurve</a:t>
            </a:r>
            <a:endParaRPr lang="en-US" sz="1300" dirty="0"/>
          </a:p>
        </p:txBody>
      </p:sp>
      <p:pic>
        <p:nvPicPr>
          <p:cNvPr id="11" name="Image 2" descr="/private/tmp/claude-501/-Users-soufianefed-Desktop-SosoSignalBot/fd57b771-7fec-4f60-a214-d2b5ebb5bd05/scratchpad/pptx_build/shots/chart_rocp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93992" y="2011680"/>
            <a:ext cx="4590288" cy="36118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40080" y="5989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Links: mehr Daten schließen die Bias/Variance-Lücke kaum — das Modell stößt an die EMH-Grenze. Rechts: AUC 0,588, klar über der Zufallslinie.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cube dir="r"/>
      </p:transition>
    </mc:Choice>
    <mc:Fallback>
      <p:transition spd="slow">
        <p:push dir="l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compass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LIVE-DEMO (1/2)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Kapital-Kompass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417320" y="1463040"/>
            <a:ext cx="9354312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private/tmp/claude-501/-Users-soufianefed-Desktop-SosoSignalBot/fd57b771-7fec-4f60-a214-d2b5ebb5bd05/scratchpad/pptx_build/shots/kompass_mai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00200" y="1645920"/>
            <a:ext cx="8988552" cy="3977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989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Kapital, Risiko-Toleranz und Stop-Loss-Distanz berechnet die App live Risikobetrag und maximale Positionsgröße — passend zur Volatilitätsklasse der Aktie.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briefcase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LIVE-DEMO (2/2)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Portfolio-Simulator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417320" y="1463040"/>
            <a:ext cx="9354312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private/tmp/claude-501/-Users-soufianefed-Desktop-SosoSignalBot/fd57b771-7fec-4f60-a214-d2b5ebb5bd05/scratchpad/pptx_build/shots/simulator_mai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00200" y="1645920"/>
            <a:ext cx="8988552" cy="3977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989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Kapital wird über mehrere Titel verteilt; die Allokation ist live editierbar. Tortendiagramm und Herfindahl-Index zeigen sofort die Konzentration.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cube dir="r"/>
      </p:transition>
    </mc:Choice>
    <mc:Fallback>
      <p:transition spd="slow">
        <p:push dir="l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23302A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clipboard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512064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Fazit — Was bleibt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10555834" y="457200"/>
            <a:ext cx="1175918" cy="329184"/>
          </a:xfrm>
          <a:prstGeom prst="roundRect">
            <a:avLst>
              <a:gd name="adj" fmla="val 22222"/>
            </a:avLst>
          </a:prstGeom>
          <a:solidFill>
            <a:srgbClr val="E4EBE7"/>
          </a:solidFill>
          <a:ln/>
        </p:spPr>
      </p:sp>
      <p:sp>
        <p:nvSpPr>
          <p:cNvPr id="6" name="Text 3"/>
          <p:cNvSpPr/>
          <p:nvPr/>
        </p:nvSpPr>
        <p:spPr>
          <a:xfrm>
            <a:off x="10555834" y="457200"/>
            <a:ext cx="11759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" y="15087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4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„Ein Modell mit 55 % Accuracy, das seine Grenzen kennt und erklärt, ist wertvoller als ein Modell mit 95 % Accuracy, das seine eigene Unsicherheit verschweigt.“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3200400"/>
            <a:ext cx="3429000" cy="1371600"/>
          </a:xfrm>
          <a:prstGeom prst="roundRect">
            <a:avLst>
              <a:gd name="adj" fmla="val 4667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33375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Modulare Architektur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05840" y="39319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 Monolith — 20+ fachlich getrennte Module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44568" y="3200400"/>
            <a:ext cx="3429000" cy="1371600"/>
          </a:xfrm>
          <a:prstGeom prst="roundRect">
            <a:avLst>
              <a:gd name="adj" fmla="val 4667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27448" y="33375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727448" y="39319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 kommentierte Jupyter-Notebooks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266176" y="3200400"/>
            <a:ext cx="3429000" cy="1371600"/>
          </a:xfrm>
          <a:prstGeom prst="roundRect">
            <a:avLst>
              <a:gd name="adj" fmla="val 4667"/>
            </a:avLst>
          </a:prstGeom>
          <a:solidFill>
            <a:srgbClr val="171A15"/>
          </a:solidFill>
          <a:ln w="9525">
            <a:solidFill>
              <a:srgbClr val="2A33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49056" y="33375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55,3 % / 0,588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449056" y="39319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/ ROC-AUC, reproduzierbar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4892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größere Impact: Data Science muss nicht im Forschungslabor stattfinden. Mit offenen Daten, Open-Source-Tools und dem richtigen Prozessmodell entsteht das heute in einem Semester.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road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&amp; AUSBLICK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geht es weiter?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E4EBE7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325880" y="1508760"/>
            <a:ext cx="101955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554480" y="15087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 Learning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937760" y="150876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 automatisch mit neuen Daten aktualisieren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2606040"/>
            <a:ext cx="502920" cy="502920"/>
          </a:xfrm>
          <a:prstGeom prst="ellipse">
            <a:avLst/>
          </a:prstGeom>
          <a:solidFill>
            <a:srgbClr val="E4EBE7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325880" y="2560320"/>
            <a:ext cx="101955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554480" y="25603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Sentiment-Integration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937760" y="25603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Nachrichten-Tonalität als weiteres ML-Feature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40080" y="3657600"/>
            <a:ext cx="502920" cy="502920"/>
          </a:xfrm>
          <a:prstGeom prst="ellipse">
            <a:avLst/>
          </a:prstGeom>
          <a:solidFill>
            <a:srgbClr val="E4EBE7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325880" y="3611880"/>
            <a:ext cx="101955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1554480" y="3611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Multiklassen-Klassifikation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937760" y="361188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nur auf/ab, sondern stark / mäßig / neutral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40080" y="4709160"/>
            <a:ext cx="502920" cy="502920"/>
          </a:xfrm>
          <a:prstGeom prst="ellipse">
            <a:avLst/>
          </a:prstGeom>
          <a:solidFill>
            <a:srgbClr val="E4EBE7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4709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1325880" y="4663440"/>
            <a:ext cx="101955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554480" y="46634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Erweiterte Backtesting-Engine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937760" y="466344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Simulierte Handelsstrategien auf historischen Daten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book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WISSENSCHAFTLICHE GRUNDLAGE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Quellen &amp; Kursbezug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440680" cy="4709160"/>
          </a:xfrm>
          <a:prstGeom prst="roundRect">
            <a:avLst>
              <a:gd name="adj" fmla="val 1165"/>
            </a:avLst>
          </a:prstGeom>
          <a:solidFill>
            <a:srgbClr val="E4EBE7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62763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Kursbuch &amp; Kursbezug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05740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Géron, A.: </a:t>
            </a:r>
            <a:pPr indent="0" marL="0">
              <a:buNone/>
            </a:pPr>
            <a:r>
              <a:rPr lang="en-US" sz="12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Praxiseinstieg Machine Learning mit Scikit-Learn, Keras &amp; TensorFlow (Kap. 1–9). O’Reilly — das Kurslehrbuch.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68680" y="297180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Daraus im Projekt: RandomForest, scikit-learn-Pipeline, StandardScaler, Cross-Validation, Konfusionsmatrix &amp; ROC.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68680" y="384048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Kursbezug: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20624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Kap. 3 Klassifikation — Metriken, „warum 95 % Accuracy wertlos sein können“</a:t>
            </a:r>
            <a:endParaRPr lang="en-US" sz="11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Kap. 1 ML-Grundlagen — Verortung in der ML-Landkarte</a:t>
            </a:r>
            <a:endParaRPr lang="en-US" sz="11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Kap. 4 Trainieren von Modellen — Overfitting &amp; Lernkurven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63640" y="1463040"/>
            <a:ext cx="5285232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92240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Wissenschaftliche Quellen &amp; Daten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92240" y="210312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100"/>
              </a:spcAft>
              <a:buSzPct val="100000"/>
              <a:buChar char="▪"/>
            </a:pPr>
            <a:r>
              <a:rPr lang="en-US" sz="12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Fama, E. (1970): Efficient Capital Markets. J. of Finance 25(2).</a:t>
            </a:r>
            <a:endParaRPr lang="en-US" sz="1200" dirty="0"/>
          </a:p>
          <a:p>
            <a:pPr marL="228600" indent="-228600">
              <a:spcAft>
                <a:spcPts val="1100"/>
              </a:spcAft>
              <a:buSzPct val="100000"/>
              <a:buChar char="▪"/>
            </a:pPr>
            <a:r>
              <a:rPr lang="en-US" sz="12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Lundberg &amp; Lee (2017): A Unified Approach to Interpreting Model Predictions (SHAP). NeurIPS.</a:t>
            </a:r>
            <a:endParaRPr lang="en-US" sz="1200" dirty="0"/>
          </a:p>
          <a:p>
            <a:pPr marL="228600" indent="-228600">
              <a:spcAft>
                <a:spcPts val="1100"/>
              </a:spcAft>
              <a:buSzPct val="100000"/>
              <a:buChar char="▪"/>
            </a:pPr>
            <a:r>
              <a:rPr lang="en-US" sz="12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(2024): Comparison of Imputation Methods. BMC Med. Research Methodology.</a:t>
            </a:r>
            <a:endParaRPr lang="en-US" sz="1200" dirty="0"/>
          </a:p>
          <a:p>
            <a:pPr marL="228600" indent="-228600">
              <a:spcAft>
                <a:spcPts val="1100"/>
              </a:spcAft>
              <a:buSzPct val="100000"/>
              <a:buChar char="▪"/>
            </a:pPr>
            <a:r>
              <a:rPr lang="en-US" sz="12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Pinheiro et al. (2025): The Impact of Feature Scaling in ML. arXiv:2506.08274.</a:t>
            </a:r>
            <a:endParaRPr lang="en-US" sz="1200" dirty="0"/>
          </a:p>
          <a:p>
            <a:pPr marL="228600" indent="-228600">
              <a:spcAft>
                <a:spcPts val="1100"/>
              </a:spcAft>
              <a:buSzPct val="100000"/>
              <a:buChar char="▪"/>
            </a:pPr>
            <a:r>
              <a:rPr lang="en-US" sz="12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et al. (2021): QUA³CK — A ML Development Process. KIT ITIV.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92240" y="5257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Datenbasis: </a:t>
            </a:r>
            <a:pPr indent="0" marL="0">
              <a:buNone/>
            </a:pPr>
            <a:r>
              <a:rPr lang="en-US" sz="11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„US Stocks &amp; ETFs“ (B. Marjanovic), CC0 Public Domain — 192.119 Zeilen, 26 Ticker, 1962–2017.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6350">
            <a:solidFill>
              <a:srgbClr val="1C22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82996" y="1965960"/>
            <a:ext cx="822960" cy="822960"/>
          </a:xfrm>
          <a:prstGeom prst="ellipse">
            <a:avLst/>
          </a:prstGeom>
          <a:solidFill>
            <a:srgbClr val="23302A"/>
          </a:solidFill>
          <a:ln/>
        </p:spPr>
      </p:sp>
      <p:pic>
        <p:nvPicPr>
          <p:cNvPr id="16" name="Image 0" descr="/private/tmp/claude-501/-Users-soufianefed-Desktop-SosoSignalBot/fd57b771-7fec-4f60-a214-d2b5ebb5bd05/scratchpad/pptx_build/icons/comment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3522" y="2056486"/>
            <a:ext cx="641909" cy="641909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22960" y="3063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4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 für eure Aufmerksamkeit.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822960" y="3886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freue mich auf eure Fragen.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Soufiane Fedan  ·  soufiane.fedan@solvvision.de  ·  IU Internationale Hochschule Frankfurt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66928" cy="566928"/>
          </a:xfrm>
          <a:prstGeom prst="ellipse">
            <a:avLst/>
          </a:prstGeom>
          <a:solidFill>
            <a:srgbClr val="E4EBE7"/>
          </a:solidFill>
          <a:ln/>
        </p:spPr>
      </p:sp>
      <p:pic>
        <p:nvPicPr>
          <p:cNvPr id="3" name="Image 0" descr="/private/tmp/claude-501/-Users-soufianefed-Desktop-SosoSignalBot/fd57b771-7fec-4f60-a214-d2b5ebb5bd05/scratchpad/pptx_build/icons/question_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02" y="537850"/>
            <a:ext cx="442204" cy="442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· BACKUP — NICHT VORLESEN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3444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Mögliche Prüferfragen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1508760"/>
            <a:ext cx="52578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6916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55,3 % und nicht besser?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68680" y="237744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EMH (Fama 1970): historische Kursdaten enthalten keine Information, die nicht bereits im Preis eingepreist ist.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1508760"/>
            <a:ext cx="52578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6916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Data Leakage und wie verhindert?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92240" y="237744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Scaler/Imputer nur auf X_train gefittet — scikit-learn-Pipeline erzwingt das strukturell.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886200"/>
            <a:ext cx="52578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68680" y="406908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binäre Klassifikation statt Regression?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68680" y="475488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Richtungsvorhersage ist bei effizienten Märkten die realistischere, robustere Fragestellung.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63640" y="3886200"/>
            <a:ext cx="52578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492240" y="406908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Random Forest statt neuronales Netz?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492240" y="475488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Occam's Razor — einfacheres Modell erfüllt die Aufgabe, liefert zusätzlich Feature Importance.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WealthScope AI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WealthScope AI — Präsentation</dc:title>
  <dc:subject>PptxGenJS Presentation</dc:subject>
  <dc:creator>Soufiane Fedan</dc:creator>
  <cp:lastModifiedBy>Soufiane Fedan</cp:lastModifiedBy>
  <cp:revision>1</cp:revision>
  <dcterms:created xsi:type="dcterms:W3CDTF">2026-07-11T19:55:22Z</dcterms:created>
  <dcterms:modified xsi:type="dcterms:W3CDTF">2026-07-11T19:55:22Z</dcterms:modified>
</cp:coreProperties>
</file>