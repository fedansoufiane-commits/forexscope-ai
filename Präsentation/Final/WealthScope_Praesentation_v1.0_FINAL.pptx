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0" r:id="rId15"/>
    <p:sldId id="269" r:id="rId16"/>
    <p:sldId id="270" r:id="rId17"/>
    <p:sldId id="271" r:id="rId18"/>
    <p:sldId id="272" r:id="rId19"/>
    <p:sldId id="292" r:id="rId43"/>
    <p:sldId id="278" r:id="rId20"/>
    <p:sldId id="291" r:id="rId21"/>
    <p:sldId id="276" r:id="rId22"/>
    <p:sldId id="277" r:id="rId23"/>
    <p:sldId id="285" r:id="rId24"/>
    <p:sldId id="286" r:id="rId25"/>
    <p:sldId id="287" r:id="rId26"/>
    <p:sldId id="288" r:id="rId27"/>
    <p:sldId id="289" r:id="rId28"/>
    <p:sldId id="273" r:id="rId29"/>
    <p:sldId id="274" r:id="rId30"/>
    <p:sldId id="275" r:id="rId31"/>
    <p:sldId id="279" r:id="rId32"/>
    <p:sldId id="280" r:id="rId33"/>
    <p:sldId id="281" r:id="rId34"/>
    <p:sldId id="282" r:id="rId35"/>
    <p:sldId id="283" r:id="rId36"/>
    <p:sldId id="284"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85"/>
    <p:restoredTop sz="94682"/>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2:00–2:40  ·  ca. 40 Sek</a:t>
            </a:r>
          </a:p>
          <a:p>
            <a:pPr>
              <a:spcBef>
                <a:spcPts val="1200"/>
              </a:spcBef>
            </a:pPr>
            <a:r>
              <a:rPr lang="de-DE" sz="1200" b="1" dirty="0"/>
              <a:t>SPRECHTEXT</a:t>
            </a:r>
          </a:p>
          <a:p>
            <a:pPr>
              <a:spcBef>
                <a:spcPts val="400"/>
              </a:spcBef>
            </a:pPr>
            <a:r>
              <a:rPr lang="de-DE" sz="1200" dirty="0"/>
              <a:t>WealthScope AI ist eine interaktive Webanwendung, gebaut in Python mit Streamlit. Streamlit ist ein Framework, mit dem man aus reinem Python-Code direkt eine Website macht — ohne eine einzige Zeile HTML.</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192.119 Datenpunkte, 26 Blue-Chip-Ticker — das sind die großen, etablierten Unternehmen wie Apple oder Coca-Cola — über den Zeitraum 1962 bis 2017. Dazu Live-Kurse über die Schnittstelle yfinance.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2:40–3:15  ·  ca. 35 Sek</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3:15–3:40  ·  ca. 25 Sek</a:t>
            </a:r>
          </a:p>
          <a:p>
            <a:pPr>
              <a:spcBef>
                <a:spcPts val="1200"/>
              </a:spcBef>
            </a:pPr>
            <a:r>
              <a:rPr lang="de-DE" sz="1200" b="1" dirty="0"/>
              <a:t>SPRECHTEXT</a:t>
            </a:r>
          </a:p>
          <a:p>
            <a:pPr>
              <a:spcBef>
                <a:spcPts val="400"/>
              </a:spcBef>
            </a:pPr>
            <a:r>
              <a:rPr lang="de-DE" sz="1200" dirty="0"/>
              <a:t>Der Weg der Daten: Kaggle-Rohdaten, dann Feature Engineering — daraus entstehen acht Merkmale —, dann der Vergleich von fünf Modellen, dann ein Diagnostik-Cache, dann die App.</a:t>
            </a:r>
          </a:p>
          <a:p>
            <a:pPr>
              <a:spcBef>
                <a:spcPts val="400"/>
              </a:spcBef>
            </a:pPr>
            <a:r>
              <a:rPr lang="de-DE" sz="1200" dirty="0"/>
              <a:t>Warum dieser Cache? Weil alle Kennzahlen einmalig offline berechnet und als JSON-Datei abgelegt werden. Die App trainiert also nichts beim Seitenaufruf, sie liest nur geprüfte Ergebnisse. Das macht sie schnell — und vor allem reproduzierbar.</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3:40–4:00  ·  ca. 20 Sek</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4:00–5:00  ·  ca. 60 Sek</a:t>
            </a:r>
          </a:p>
          <a:p>
            <a:pPr>
              <a:spcBef>
                <a:spcPts val="1200"/>
              </a:spcBef>
            </a:pPr>
            <a:r>
              <a:rPr lang="de-DE" sz="1200" b="1" dirty="0"/>
              <a:t>SPRECHTEXT</a:t>
            </a:r>
          </a:p>
          <a:p>
            <a:pPr>
              <a:spcBef>
                <a:spcPts val="400"/>
              </a:spcBef>
            </a:pPr>
            <a:r>
              <a:rPr lang="de-DE" sz="1200" dirty="0"/>
              <a:t>QUA³CK ist ein Prozessmodell für Machine-Learning-Projekte vom KIT, von Stock und Kollegen aus 2021.</a:t>
            </a:r>
          </a:p>
          <a:p>
            <a:pPr>
              <a:spcBef>
                <a:spcPts val="400"/>
              </a:spcBef>
            </a:pPr>
            <a:r>
              <a:rPr lang="de-DE" sz="1200" dirty="0"/>
              <a:t>Der Name ist ein Akronym: Question — die Frage. Understanding — die Daten verstehen. Dann die drei A: Analytics, also Merkmale bauen; Algorithm, also Modelle auswählen; Adaption, also optimieren und testen. Dann Conclude, das Fazit. Und Knowledge Transfer, die Weitergabe — das ist nachher die Live-Demo.</a:t>
            </a:r>
          </a:p>
          <a:p>
            <a:pPr>
              <a:spcBef>
                <a:spcPts val="400"/>
              </a:spcBef>
            </a:pPr>
            <a:r>
              <a:rPr lang="de-DE" sz="1200" dirty="0"/>
              <a:t>Der Sinn dahinter ist simpel — und gleichzeitig der häufigste Anfängerfehler, den er verhindert: Man soll nicht modellieren, bevor man die Daten wirklich verstanden hat. Erst fragen, dann verstehen, dann bauen.</a:t>
            </a:r>
          </a:p>
          <a:p>
            <a:pPr>
              <a:spcBef>
                <a:spcPts val="400"/>
              </a:spcBef>
            </a:pPr>
            <a:r>
              <a:rPr lang="de-DE" sz="1200" dirty="0"/>
              <a:t>Jede dieser sieben Phasen ist bei mir durch ein eigenes Jupyter-Notebook dokumentiert. Und genau in dieser Reihenfolge gehen wir jetzt durch.</a:t>
            </a:r>
          </a:p>
          <a:p>
            <a:pPr>
              <a:spcBef>
                <a:spcPts val="1200"/>
              </a:spcBef>
            </a:pPr>
            <a:r>
              <a:rPr lang="de-DE" sz="1200" b="1" dirty="0"/>
              <a:t>REGIE</a:t>
            </a:r>
          </a:p>
          <a:p>
            <a:pPr>
              <a:spcBef>
                <a:spcPts val="400"/>
              </a:spcBef>
            </a:pPr>
            <a:r>
              <a:rPr lang="de-DE" sz="1200" dirty="0"/>
              <a:t>Die sieben Buchstaben mit der Hand abschreiten. Ab hier weiß das Publikum immer, wo es sich befindet.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5:00–6:30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6:30–7:30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7:30–8:10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8:10–9:10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zeigen 2024, dass bereits fünf bis zehn Prozent fehlende Werte den Genauigkeitsverlust um bis zu 15 Prozent erhöhen können. Die Wahl der Imputation ist also eine belegte Weichenstellung für die Modellgüte.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9:10–10:10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beziffern den Effekt korrekter Skalierung 2025 auf bis zu 25 Prozent Modell-Performance.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10:10–10:55  ·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10:55–13:25  ·  ca. 150 Sek  ·  KERNFOLIE</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13:25–15:55  ·  ca. 150 Sek  ·  KERNFOLIE</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15:55–16:40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16:40–17:25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18:10–22:40  ·  ca. 270 Sek  ·  LIVE-DEMO  (Kernstück)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22:40–23:25  ·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23:25–24:10  ·  ca. 45 Sek</a:t>
            </a:r>
          </a:p>
          <a:p>
            <a:pPr>
              <a:spcBef>
                <a:spcPts val="1200"/>
              </a:spcBef>
            </a:pPr>
            <a:r>
              <a:rPr lang="de-DE" sz="1200" b="1" dirty="0"/>
              <a:t>SPRECHTEXT</a:t>
            </a:r>
          </a:p>
          <a:p>
            <a:pPr>
              <a:spcBef>
                <a:spcPts val="400"/>
              </a:spcBef>
            </a:pPr>
            <a:r>
              <a:rPr lang="de-DE" sz="1200" dirty="0"/>
              <a:t>H1, das Modell: nicht bestätigt. AUC 0,519 im Out-of-Time-Test, 0,514 über vier Walk-forward-Folds. Kein belastbares Handelssignal. Und wichtig für die Bewertung: „nicht bestätigt“ heißt hier falsifiziert, nicht ungeprüft. H1 war so formuliert, dass sie scheitern konnte — genau das macht sie zu einer wissenschaftlichen Hypothese. Eine Hypothese, die nicht scheitern kann, ist keine.</a:t>
            </a:r>
          </a:p>
          <a:p>
            <a:pPr>
              <a:spcBef>
                <a:spcPts val="400"/>
              </a:spcBef>
            </a:pPr>
            <a:r>
              <a:rPr lang="de-DE" sz="1200" dirty="0"/>
              <a:t>H2, die Zugänglichkeit: bestätigt — und das habt ihr gerade selbst überprüft. Die App erklärt jeden Schritt, inklusive eigener Methodik-Seite und Lernstudio.</a:t>
            </a:r>
          </a:p>
          <a:p>
            <a:pPr>
              <a:spcBef>
                <a:spcPts val="400"/>
              </a:spcBef>
            </a:pPr>
            <a:r>
              <a:rPr lang="de-DE" sz="1200" dirty="0"/>
              <a:t>H3, die Kombination: teilweise bestätigt. ML-Signal, Indikatoren und Portfolio-Werkzeuge ergeben zusammen ein sinnvolles Werkzeug — aber ich habe keine formale Nutzerstudie durchgeführt. Und ohne Beleg sage ich nicht „bestätigt“, sondern „teilweise“.</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24:10–24:55  ·  ca. 45 Sek</a:t>
            </a:r>
          </a:p>
          <a:p>
            <a:pPr>
              <a:spcBef>
                <a:spcPts val="1200"/>
              </a:spcBef>
            </a:pPr>
            <a:r>
              <a:rPr lang="de-DE" sz="1200" b="1" dirty="0"/>
              <a:t>SPRECHTEXT</a:t>
            </a:r>
          </a:p>
          <a:p>
            <a:pPr>
              <a:spcBef>
                <a:spcPts val="400"/>
              </a:spcBef>
            </a:pPr>
            <a:r>
              <a:rPr lang="de-DE" sz="1200" dirty="0"/>
              <a:t>Erstens: keine exogenen Faktoren. Zinsentscheidungen, Konjunkturdaten, Geopolitik — nichts davon steckt im Modell.</a:t>
            </a:r>
          </a:p>
          <a:p>
            <a:pPr>
              <a:spcBef>
                <a:spcPts val="400"/>
              </a:spcBef>
            </a:pPr>
            <a:r>
              <a:rPr lang="de-DE" sz="1200" dirty="0"/>
              <a:t>Zweitens: kein Sentiment. Die App zeigt Nachrichten an, aber ihre Tonalität ist kein ML-Feature.</a:t>
            </a:r>
          </a:p>
          <a:p>
            <a:pPr>
              <a:spcBef>
                <a:spcPts val="400"/>
              </a:spcBef>
            </a:pPr>
            <a:r>
              <a:rPr lang="de-DE" sz="1200" dirty="0"/>
              <a:t>Drittens: Das Modell ist statisch. Es trainiert sich bei neuen Daten nicht automatisch nach.</a:t>
            </a:r>
          </a:p>
          <a:p>
            <a:pPr>
              <a:spcBef>
                <a:spcPts val="400"/>
              </a:spcBef>
            </a:pPr>
            <a:r>
              <a:rPr lang="de-DE" sz="1200" dirty="0"/>
              <a:t>Viertens, und das gilt für jedes Finanzmodell der Welt: Historie ist nicht Zukunft.</a:t>
            </a:r>
          </a:p>
          <a:p>
            <a:pPr>
              <a:spcBef>
                <a:spcPts val="400"/>
              </a:spcBef>
            </a:pPr>
            <a:r>
              <a:rPr lang="de-DE" sz="1200" dirty="0"/>
              <a:t>Diese Grenzen sind kein Versagen des Projekts. Sie sind der ehrliche Abschluss eines wissenschaftlichen Projekts, das genau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24:55–25:50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25:50–26:30  ·  ca. 40 Sek</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26:30–26:45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26:45–27:00  ·  ca. 15 Sek  ·  danach offene Fragerunde</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17:25–18:10  ·  ca. 45 Sek  ·  HÖHEPUNKT DES VORTRAGS</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5.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9.png"/><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27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4:00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4:00 – 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Der wissenschaftliche Fahrplan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1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5:00 – 6:30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6:30 – 10:10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10:10 – 10:55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10:55 – 13:25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13:25 – 15:55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15:55 – 18:10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18:10 – 22:40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22:40 – 23:25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23:25 – 27:00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6</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WERKZEUGE</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 Min</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8</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MCAR, MAR, MNAR</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bereits 5–10 % fehlende Werte können den Accuracy-Verlust um bis zu 15 % erhöhen. Median-Imputation ist damit nicht Beiwerk, sondern eine belegte Weichenstellung für die Modellgüte.</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12</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18</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19</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20</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haben wir gelernt?</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Out-of-Time-AUC 0,519 und Walk-forward-AUC 0,514 — kein belastbares Handelssignal.</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22</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des Projekts</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Makrodaten, Zentralbank-Entscheidungen, Geopolitik fließen nicht ein</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Nachrichten werden angezeigt, aber nicht als ML-Feature genutzt</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Kein automatisches Nachtraining bei neuen Daten</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Gilt für jedes Finanzmodell der Welt</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24</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FAZIT &amp; AUSBLICK</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soufiane.fedan@solvvision.de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pic>
        <p:nvPicPr>
          <p:cNvPr id="29" name="Grafik 28"/>
          <p:cNvPicPr>
            <a:picLocks noChangeAspect="1"/>
          </p:cNvPicPr>
          <p:nvPr/>
        </p:nvPicPr>
        <p:blipFill>
          <a:blip r:embed="rId4"/>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25" name="Grafik 24"/>
          <p:cNvPicPr>
            <a:picLocks noChangeAspect="1"/>
          </p:cNvPicPr>
          <p:nvPr/>
        </p:nvPicPr>
        <p:blipFill>
          <a:blip r:embed="rId4"/>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9047</Words>
  <Application>Microsoft Macintosh PowerPoint</Application>
  <DocSecurity>0</DocSecurity>
  <PresentationFormat>Breitbild</PresentationFormat>
  <Paragraphs>849</Paragraphs>
  <Slides>36</Slides>
  <Notes>36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36</vt:i4>
      </vt:variant>
    </vt:vector>
  </HeadingPairs>
  <TitlesOfParts>
    <vt:vector size="40"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2026-07-30T07:51:00Z</dcterms:modified>
</cp:coreProperties>
</file>