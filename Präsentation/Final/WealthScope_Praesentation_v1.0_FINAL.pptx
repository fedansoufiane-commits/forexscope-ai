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0" r:id="rId15"/>
    <p:sldId id="269" r:id="rId16"/>
    <p:sldId id="270" r:id="rId17"/>
    <p:sldId id="271" r:id="rId18"/>
    <p:sldId id="272" r:id="rId19"/>
    <p:sldId id="292" r:id="rId43"/>
    <p:sldId id="278" r:id="rId20"/>
    <p:sldId id="291" r:id="rId21"/>
    <p:sldId id="276" r:id="rId22"/>
    <p:sldId id="277" r:id="rId23"/>
    <p:sldId id="285" r:id="rId24"/>
    <p:sldId id="286" r:id="rId25"/>
    <p:sldId id="287" r:id="rId26"/>
    <p:sldId id="288" r:id="rId27"/>
    <p:sldId id="289" r:id="rId28"/>
    <p:sldId id="273" r:id="rId29"/>
    <p:sldId id="274" r:id="rId30"/>
    <p:sldId id="275" r:id="rId31"/>
    <p:sldId id="279" r:id="rId32"/>
    <p:sldId id="280" r:id="rId33"/>
    <p:sldId id="281" r:id="rId34"/>
    <p:sldId id="282" r:id="rId35"/>
    <p:sldId id="283" r:id="rId36"/>
    <p:sldId id="284" r:id="rId3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94682"/>
  </p:normalViewPr>
  <p:slideViewPr>
    <p:cSldViewPr snapToGrid="0" snapToObjects="1">
      <p:cViewPr varScale="1">
        <p:scale>
          <a:sx n="125" d="100"/>
          <a:sy n="125"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0:00–0:25  ·  ca. 25 Sek</a:t>
            </a:r>
          </a:p>
          <a:p>
            <a:pPr>
              <a:spcBef>
                <a:spcPts val="1200"/>
              </a:spcBef>
            </a:pPr>
            <a:r>
              <a:rPr lang="de-DE" sz="1200" b="1" dirty="0"/>
              <a:t>SPRECHTEXT</a:t>
            </a:r>
          </a:p>
          <a:p>
            <a:pPr>
              <a:spcBef>
                <a:spcPts val="400"/>
              </a:spcBef>
            </a:pPr>
            <a:r>
              <a:rPr lang="de-DE" sz="1200" dirty="0"/>
              <a:t>Stellt euch vor, ihr habt gerade euer erstes eigenes Geld gespart. Fünftausend Euro. Und ihr wollt es nicht auf dem Konto verrotten lassen.</a:t>
            </a:r>
          </a:p>
          <a:p>
            <a:pPr>
              <a:spcBef>
                <a:spcPts val="400"/>
              </a:spcBef>
            </a:pPr>
            <a:r>
              <a:rPr lang="de-DE" sz="1200" dirty="0"/>
              <a:t>Genau da fängt diese Geschichte an. Mein Name ist Soufiane Fedan, und ich stelle euch in den nächsten 27 Minuten WealthScope AI vor: eine Finanzanalyse-App, die mit Machine Learning arbeitet — und die, das ist der ungewöhnliche Teil, am Ende ehrlich zugibt, wo Machine Learning versagt.</a:t>
            </a:r>
          </a:p>
          <a:p>
            <a:pPr>
              <a:spcBef>
                <a:spcPts val="1200"/>
              </a:spcBef>
            </a:pPr>
            <a:r>
              <a:rPr lang="de-DE" sz="1200" b="1" dirty="0"/>
              <a:t>REGIE</a:t>
            </a:r>
          </a:p>
          <a:p>
            <a:pPr>
              <a:spcBef>
                <a:spcPts val="400"/>
              </a:spcBef>
            </a:pPr>
            <a:r>
              <a:rPr lang="de-DE" sz="1200" dirty="0"/>
              <a:t>Ruhig starten, Blickkontakt ins Publikum, noch nicht auf die Folie schauen. „Fünftausend Euro“ ist der Aufhänger — kurze Pause danach.</a:t>
            </a:r>
          </a:p>
          <a:p>
            <a:pPr>
              <a:spcBef>
                <a:spcPts val="1200"/>
              </a:spcBef>
            </a:pPr>
            <a:r>
              <a:rPr lang="de-DE" sz="1200" b="1" dirty="0"/>
              <a:t>ÜBERLEITUNG</a:t>
            </a:r>
          </a:p>
          <a:p>
            <a:pPr>
              <a:spcBef>
                <a:spcPts val="400"/>
              </a:spcBef>
            </a:pPr>
            <a:r>
              <a:rPr lang="de-DE" sz="1200" dirty="0"/>
              <a:t>„Damit ihr wisst, wo wir hinlaufen — hier der Fahrplan.“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0:25–0:55  ·  ca. 30 Sek</a:t>
            </a:r>
          </a:p>
          <a:p>
            <a:pPr>
              <a:spcBef>
                <a:spcPts val="1200"/>
              </a:spcBef>
            </a:pPr>
            <a:r>
              <a:rPr lang="de-DE" sz="1200" b="1" dirty="0"/>
              <a:t>SPRECHTEXT</a:t>
            </a:r>
          </a:p>
          <a:p>
            <a:pPr>
              <a:spcBef>
                <a:spcPts val="400"/>
              </a:spcBef>
            </a:pPr>
            <a:r>
              <a:rPr lang="de-DE" sz="1200" dirty="0"/>
              <a:t>Kurz der Fahrplan. Zuerst das Problem und die Lösung — zusammen vier Minuten. Dann führe ich euch durch QUA³CK; das ist der wissenschaftliche Prozess, nach dem das ganze Projekt aufgebaut ist.</a:t>
            </a:r>
          </a:p>
          <a:p>
            <a:pPr>
              <a:spcBef>
                <a:spcPts val="400"/>
              </a:spcBef>
            </a:pPr>
            <a:r>
              <a:rPr lang="de-DE" sz="1200" dirty="0"/>
              <a:t>In der Mitte, bei etwa achtzehn Minuten, klappe ich die Folien zu und wir gehen live in die App. Danach kommen Fazit, Grenzen und Ausblick.</a:t>
            </a:r>
          </a:p>
          <a:p>
            <a:pPr>
              <a:spcBef>
                <a:spcPts val="400"/>
              </a:spcBef>
            </a:pPr>
            <a:r>
              <a:rPr lang="de-DE" sz="1200" dirty="0"/>
              <a:t>Und zu den Fragen: Verständnisfragen jederzeit dazwischen — ein Satz, eine Antwort. Alles Größere sammle ich in zwei kurzen Fragefenstern, die ihr hier im Zeitplan sehen könnt. Am Ende ist dann offene Runde.</a:t>
            </a:r>
          </a:p>
          <a:p>
            <a:pPr>
              <a:spcBef>
                <a:spcPts val="1200"/>
              </a:spcBef>
            </a:pPr>
            <a:r>
              <a:rPr lang="de-DE" sz="1200" b="1" dirty="0"/>
              <a:t>REGIE</a:t>
            </a:r>
          </a:p>
          <a:p>
            <a:pPr>
              <a:spcBef>
                <a:spcPts val="400"/>
              </a:spcBef>
            </a:pPr>
            <a:r>
              <a:rPr lang="de-DE" sz="1200" dirty="0"/>
              <a:t>Die Tabelle nicht vorlesen. Auf drei Punkte zeigen: den Demo-Block bei 18:10 und die zwei Fragefenster. Die Frageregel ausdrücklich ansagen — sie ist später deine Zeitversicherung.</a:t>
            </a:r>
          </a:p>
          <a:p>
            <a:pPr>
              <a:spcBef>
                <a:spcPts val="1200"/>
              </a:spcBef>
            </a:pPr>
            <a:r>
              <a:rPr lang="de-DE" sz="1200" b="1" dirty="0"/>
              <a:t>ÜBERLEITUNG</a:t>
            </a:r>
          </a:p>
          <a:p>
            <a:pPr>
              <a:spcBef>
                <a:spcPts val="400"/>
              </a:spcBef>
            </a:pPr>
            <a:r>
              <a:rPr lang="de-DE" sz="1200" dirty="0"/>
              <a:t>„Fangen wir mit dem Problem an — und zwar mit euren fünftausend Euro.“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0:55–2:00  ·  ca. 65 Sek</a:t>
            </a:r>
          </a:p>
          <a:p>
            <a:pPr>
              <a:spcBef>
                <a:spcPts val="1200"/>
              </a:spcBef>
            </a:pPr>
            <a:r>
              <a:rPr lang="de-DE" sz="1200" b="1" dirty="0"/>
              <a:t>SPRECHTEXT</a:t>
            </a:r>
          </a:p>
          <a:p>
            <a:pPr>
              <a:spcBef>
                <a:spcPts val="400"/>
              </a:spcBef>
            </a:pPr>
            <a:r>
              <a:rPr lang="de-DE" sz="1200" dirty="0"/>
              <a:t>Also: Fünftausend Euro sind da. Die Inflation frisst das Sparkonto auf. Ihr wollt investieren — aber wohin schaut ihr?</a:t>
            </a:r>
          </a:p>
          <a:p>
            <a:pPr>
              <a:spcBef>
                <a:spcPts val="400"/>
              </a:spcBef>
            </a:pPr>
            <a:r>
              <a:rPr lang="de-DE" sz="1200" dirty="0"/>
              <a:t>Yahoo Finance zeigt euch einen Chart mit tausend Zahlen und null Einordnung. Bloomberg hat die professionellen Daten — aber ein Terminal kostet im Jahr etwa so viel wie ein Kleinwagen. ChatGPT sagt euch: „Ich kann keine Finanzberatung geben.“ Und der Bankberater? Der empfiehlt den hauseigenen Fonds mit der höchsten Provision.</a:t>
            </a:r>
          </a:p>
          <a:p>
            <a:pPr>
              <a:spcBef>
                <a:spcPts val="400"/>
              </a:spcBef>
            </a:pPr>
            <a:r>
              <a:rPr lang="de-DE" sz="1200" dirty="0"/>
              <a:t>Vier Türen, vier Sackgassen.</a:t>
            </a:r>
          </a:p>
          <a:p>
            <a:pPr>
              <a:spcBef>
                <a:spcPts val="400"/>
              </a:spcBef>
            </a:pPr>
            <a:r>
              <a:rPr lang="de-DE" sz="1200" dirty="0"/>
              <a:t>Das ist die Lücke: Es gibt keine zugängliche, transparente, datengetriebene Plattform, die einem Privatanleger zeigt, was hinter den Zahlen steckt — und die dabei ehrlich über ihre eigenen Grenzen ist.</a:t>
            </a:r>
          </a:p>
          <a:p>
            <a:pPr>
              <a:spcBef>
                <a:spcPts val="400"/>
              </a:spcBef>
            </a:pPr>
            <a:r>
              <a:rPr lang="de-DE" sz="1200" dirty="0"/>
              <a:t>Merkt euch dieses eine Wort: ehrlich. Es zieht sich durch den kompletten Vortrag.</a:t>
            </a:r>
          </a:p>
          <a:p>
            <a:pPr>
              <a:spcBef>
                <a:spcPts val="1200"/>
              </a:spcBef>
            </a:pPr>
            <a:r>
              <a:rPr lang="de-DE" sz="1200" b="1" dirty="0"/>
              <a:t>REGIE</a:t>
            </a:r>
          </a:p>
          <a:p>
            <a:pPr>
              <a:spcBef>
                <a:spcPts val="400"/>
              </a:spcBef>
            </a:pPr>
            <a:r>
              <a:rPr lang="de-DE" sz="1200" dirty="0"/>
              <a:t>Die vier Kacheln einzeln antippen, je ca. 8 Sekunden. Bei „Bankberater“ darf ein Schmunzeln rein.</a:t>
            </a:r>
          </a:p>
          <a:p>
            <a:pPr>
              <a:spcBef>
                <a:spcPts val="1200"/>
              </a:spcBef>
            </a:pPr>
            <a:r>
              <a:rPr lang="de-DE" sz="1200" b="1" dirty="0"/>
              <a:t>ÜBERLEITUNG</a:t>
            </a:r>
          </a:p>
          <a:p>
            <a:pPr>
              <a:spcBef>
                <a:spcPts val="400"/>
              </a:spcBef>
            </a:pPr>
            <a:r>
              <a:rPr lang="de-DE" sz="1200" dirty="0"/>
              <a:t>„Genau in diese Lücke geht WealthScope 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2:00–2:40  ·  ca. 40 Sek</a:t>
            </a:r>
          </a:p>
          <a:p>
            <a:pPr>
              <a:spcBef>
                <a:spcPts val="1200"/>
              </a:spcBef>
            </a:pPr>
            <a:r>
              <a:rPr lang="de-DE" sz="1200" b="1" dirty="0"/>
              <a:t>SPRECHTEXT</a:t>
            </a:r>
          </a:p>
          <a:p>
            <a:pPr>
              <a:spcBef>
                <a:spcPts val="400"/>
              </a:spcBef>
            </a:pPr>
            <a:r>
              <a:rPr lang="de-DE" sz="1200" dirty="0"/>
              <a:t>WealthScope AI ist eine interaktive Webanwendung, gebaut in Python mit Streamlit. Streamlit ist ein Framework, mit dem man aus reinem Python-Code direkt eine Website macht — ohne eine einzige Zeile HTML.</a:t>
            </a:r>
          </a:p>
          <a:p>
            <a:pPr>
              <a:spcBef>
                <a:spcPts val="400"/>
              </a:spcBef>
            </a:pPr>
            <a:r>
              <a:rPr lang="de-DE" sz="1200" dirty="0"/>
              <a:t>Was sie macht: Sie verbindet historische Aktienmarktdaten mit Machine Learning. Was sie nicht ist: kein Wundermittel und kein Handelssystem. Sie ist ein Analyse-Werkzeug.</a:t>
            </a:r>
          </a:p>
          <a:p>
            <a:pPr>
              <a:spcBef>
                <a:spcPts val="400"/>
              </a:spcBef>
            </a:pPr>
            <a:r>
              <a:rPr lang="de-DE" sz="1200" dirty="0"/>
              <a:t>Die Datenbasis: 192.119 Datenpunkte, 26 Blue-Chip-Ticker — das sind die großen, etablierten Unternehmen wie Apple oder Coca-Cola — über den Zeitraum 1962 bis 2017. Dazu Live-Kurse über die Schnittstelle yfinance.</a:t>
            </a:r>
          </a:p>
          <a:p>
            <a:pPr>
              <a:spcBef>
                <a:spcPts val="1200"/>
              </a:spcBef>
            </a:pPr>
            <a:r>
              <a:rPr lang="de-DE" sz="1200" b="1" dirty="0"/>
              <a:t>REGIE</a:t>
            </a:r>
          </a:p>
          <a:p>
            <a:pPr>
              <a:spcBef>
                <a:spcPts val="400"/>
              </a:spcBef>
            </a:pPr>
            <a:r>
              <a:rPr lang="de-DE" sz="1200" dirty="0"/>
              <a:t>Die drei großen Kennzahlen mit der Hand markieren, nicht einzeln vorlesen.</a:t>
            </a:r>
          </a:p>
          <a:p>
            <a:pPr>
              <a:spcBef>
                <a:spcPts val="1200"/>
              </a:spcBef>
            </a:pPr>
            <a:r>
              <a:rPr lang="de-DE" sz="1200" b="1" dirty="0"/>
              <a:t>ÜBERLEITUNG</a:t>
            </a:r>
          </a:p>
          <a:p>
            <a:pPr>
              <a:spcBef>
                <a:spcPts val="400"/>
              </a:spcBef>
            </a:pPr>
            <a:r>
              <a:rPr lang="de-DE" sz="1200" dirty="0"/>
              <a:t>„Konkret besteht die App aus fünf Bausteinen.“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2:40–3:15  ·  ca. 35 Sek</a:t>
            </a:r>
          </a:p>
          <a:p>
            <a:pPr>
              <a:spcBef>
                <a:spcPts val="1200"/>
              </a:spcBef>
            </a:pPr>
            <a:r>
              <a:rPr lang="de-DE" sz="1200" b="1" dirty="0"/>
              <a:t>SPRECHTEXT</a:t>
            </a:r>
          </a:p>
          <a:p>
            <a:pPr>
              <a:spcBef>
                <a:spcPts val="400"/>
              </a:spcBef>
            </a:pPr>
            <a:r>
              <a:rPr lang="de-DE" sz="1200" dirty="0"/>
              <a:t>Fünf Bausteine. Marktanalyse: Kurscharts und Trendindikatoren. ML-Insights: alles, was das Modell erklärt — Korrelationen, Lernkurve, SHAP. Der Kapital-Kompass rechnet aus, wie groß eine Position überhaupt sein darf. Der Portfolio-Simulator verteilt Kapital auf mehrere Titel. Und die Methodik-Seite erklärt den Prozess und exportiert den Bericht.</a:t>
            </a:r>
          </a:p>
          <a:p>
            <a:pPr>
              <a:spcBef>
                <a:spcPts val="400"/>
              </a:spcBef>
            </a:pPr>
            <a:r>
              <a:rPr lang="de-DE" sz="1200" dirty="0"/>
              <a:t>Diese fünf Bausteine sehen wir uns nachher live an. Der entscheidende Satz steht unten: Das Besondere ist nicht, dass die App bessere Prognosen macht. Das Besondere ist, dass sie zeigt, warum Machine Learning bei Aktienkursen an seine Grenzen stößt — und was man trotzdem sinnvoll damit anfangen kann.</a:t>
            </a:r>
          </a:p>
          <a:p>
            <a:pPr>
              <a:spcBef>
                <a:spcPts val="1200"/>
              </a:spcBef>
            </a:pPr>
            <a:r>
              <a:rPr lang="de-DE" sz="1200" b="1" dirty="0"/>
              <a:t>REGIE</a:t>
            </a:r>
          </a:p>
          <a:p>
            <a:pPr>
              <a:spcBef>
                <a:spcPts val="400"/>
              </a:spcBef>
            </a:pPr>
            <a:r>
              <a:rPr lang="de-DE" sz="1200" dirty="0"/>
              <a:t>Beim Schlusssatz das Tempo bewusst herausnehmen. Das ist die These des Vortrags.</a:t>
            </a:r>
          </a:p>
          <a:p>
            <a:pPr>
              <a:spcBef>
                <a:spcPts val="1200"/>
              </a:spcBef>
            </a:pPr>
            <a:r>
              <a:rPr lang="de-DE" sz="1200" b="1" dirty="0"/>
              <a:t>ÜBERLEITUNG</a:t>
            </a:r>
          </a:p>
          <a:p>
            <a:pPr>
              <a:spcBef>
                <a:spcPts val="400"/>
              </a:spcBef>
            </a:pPr>
            <a:r>
              <a:rPr lang="de-DE" sz="1200" dirty="0"/>
              <a:t>„Wie kommen die Daten dahin? In einem Bild.“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3:15–3:40  ·  ca. 25 Sek</a:t>
            </a:r>
          </a:p>
          <a:p>
            <a:pPr>
              <a:spcBef>
                <a:spcPts val="1200"/>
              </a:spcBef>
            </a:pPr>
            <a:r>
              <a:rPr lang="de-DE" sz="1200" b="1" dirty="0"/>
              <a:t>SPRECHTEXT</a:t>
            </a:r>
          </a:p>
          <a:p>
            <a:pPr>
              <a:spcBef>
                <a:spcPts val="400"/>
              </a:spcBef>
            </a:pPr>
            <a:r>
              <a:rPr lang="de-DE" sz="1200" dirty="0"/>
              <a:t>Der Weg der Daten: Kaggle-Rohdaten, dann Feature Engineering — daraus entstehen acht Merkmale —, dann der Vergleich von fünf Modellen, dann ein Diagnostik-Cache, dann die App.</a:t>
            </a:r>
          </a:p>
          <a:p>
            <a:pPr>
              <a:spcBef>
                <a:spcPts val="400"/>
              </a:spcBef>
            </a:pPr>
            <a:r>
              <a:rPr lang="de-DE" sz="1200" dirty="0"/>
              <a:t>Warum dieser Cache? Weil alle Kennzahlen einmalig offline berechnet und als JSON-Datei abgelegt werden. Die App trainiert also nichts beim Seitenaufruf, sie liest nur geprüfte Ergebnisse. Das macht sie schnell — und vor allem reproduzierbar.</a:t>
            </a:r>
          </a:p>
          <a:p>
            <a:pPr>
              <a:spcBef>
                <a:spcPts val="1200"/>
              </a:spcBef>
            </a:pPr>
            <a:r>
              <a:rPr lang="de-DE" sz="1200" b="1" dirty="0"/>
              <a:t>REGIE</a:t>
            </a:r>
          </a:p>
          <a:p>
            <a:pPr>
              <a:spcBef>
                <a:spcPts val="400"/>
              </a:spcBef>
            </a:pPr>
            <a:r>
              <a:rPr lang="de-DE" sz="1200" dirty="0"/>
              <a:t>Mit der Hand der Pfeilkette von links nach rechts folgen.</a:t>
            </a:r>
          </a:p>
          <a:p>
            <a:pPr>
              <a:spcBef>
                <a:spcPts val="1200"/>
              </a:spcBef>
            </a:pPr>
            <a:r>
              <a:rPr lang="de-DE" sz="1200" b="1" dirty="0"/>
              <a:t>ÜBERLEITUNG</a:t>
            </a:r>
          </a:p>
          <a:p>
            <a:pPr>
              <a:spcBef>
                <a:spcPts val="400"/>
              </a:spcBef>
            </a:pPr>
            <a:r>
              <a:rPr lang="de-DE" sz="1200" dirty="0"/>
              <a:t>„Kurz, womit das gebaut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3:40–4:00  ·  ca. 20 Sek</a:t>
            </a:r>
          </a:p>
          <a:p>
            <a:pPr>
              <a:spcBef>
                <a:spcPts val="1200"/>
              </a:spcBef>
            </a:pPr>
            <a:r>
              <a:rPr lang="de-DE" sz="1200" b="1" dirty="0"/>
              <a:t>SPRECHTEXT</a:t>
            </a:r>
          </a:p>
          <a:p>
            <a:pPr>
              <a:spcBef>
                <a:spcPts val="400"/>
              </a:spcBef>
            </a:pPr>
            <a:r>
              <a:rPr lang="de-DE" sz="1200" dirty="0"/>
              <a:t>Der Stack in zwanzig Sekunden: Python und Streamlit für die App. pandas für die Daten, gespeichert in Parquet — ein spaltenorientiertes Format, das deutlich schneller lädt als CSV. scikit-learn für die Modelle, Plotly für die interaktiven Charts, SHAP für die Erklärbarkeit, pytest für die Tests.</a:t>
            </a:r>
          </a:p>
          <a:p>
            <a:pPr>
              <a:spcBef>
                <a:spcPts val="400"/>
              </a:spcBef>
            </a:pPr>
            <a:r>
              <a:rPr lang="de-DE" sz="1200" dirty="0"/>
              <a:t>Alles Open Source, alles reproduzierbar.</a:t>
            </a:r>
          </a:p>
          <a:p>
            <a:pPr>
              <a:spcBef>
                <a:spcPts val="1200"/>
              </a:spcBef>
            </a:pPr>
            <a:r>
              <a:rPr lang="de-DE" sz="1200" b="1" dirty="0"/>
              <a:t>REGIE</a:t>
            </a:r>
          </a:p>
          <a:p>
            <a:pPr>
              <a:spcBef>
                <a:spcPts val="400"/>
              </a:spcBef>
            </a:pPr>
            <a:r>
              <a:rPr lang="de-DE" sz="1200" dirty="0"/>
              <a:t>Bewusst zügig. Nicht alle acht Zeilen vorlesen — die Folie spricht für sich. Wenn du im Zeitdruck bist: Diese Folie ist die erste, die du überspringen kannst.</a:t>
            </a:r>
          </a:p>
          <a:p>
            <a:pPr>
              <a:spcBef>
                <a:spcPts val="1200"/>
              </a:spcBef>
            </a:pPr>
            <a:r>
              <a:rPr lang="de-DE" sz="1200" b="1" dirty="0"/>
              <a:t>ÜBERLEITUNG</a:t>
            </a:r>
          </a:p>
          <a:p>
            <a:pPr>
              <a:spcBef>
                <a:spcPts val="400"/>
              </a:spcBef>
            </a:pPr>
            <a:r>
              <a:rPr lang="de-DE" sz="1200" dirty="0"/>
              <a:t>„Jetzt zur Methode — dem roten Faden für den ganzen 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4:00–5:00  ·  ca. 60 Sek</a:t>
            </a:r>
          </a:p>
          <a:p>
            <a:pPr>
              <a:spcBef>
                <a:spcPts val="1200"/>
              </a:spcBef>
            </a:pPr>
            <a:r>
              <a:rPr lang="de-DE" sz="1200" b="1" dirty="0"/>
              <a:t>SPRECHTEXT</a:t>
            </a:r>
          </a:p>
          <a:p>
            <a:pPr>
              <a:spcBef>
                <a:spcPts val="400"/>
              </a:spcBef>
            </a:pPr>
            <a:r>
              <a:rPr lang="de-DE" sz="1200" dirty="0"/>
              <a:t>QUA³CK ist ein Prozessmodell für Machine-Learning-Projekte vom KIT, von Stock und Kollegen aus 2021.</a:t>
            </a:r>
          </a:p>
          <a:p>
            <a:pPr>
              <a:spcBef>
                <a:spcPts val="400"/>
              </a:spcBef>
            </a:pPr>
            <a:r>
              <a:rPr lang="de-DE" sz="1200" dirty="0"/>
              <a:t>Der Name ist ein Akronym: Question — die Frage. Understanding — die Daten verstehen. Dann die drei A: Analytics, also Merkmale bauen; Algorithm, also Modelle auswählen; Adaption, also optimieren und testen. Dann Conclude, das Fazit. Und Knowledge Transfer, die Weitergabe — das ist nachher die Live-Demo.</a:t>
            </a:r>
          </a:p>
          <a:p>
            <a:pPr>
              <a:spcBef>
                <a:spcPts val="400"/>
              </a:spcBef>
            </a:pPr>
            <a:r>
              <a:rPr lang="de-DE" sz="1200" dirty="0"/>
              <a:t>Der Sinn dahinter ist simpel — und gleichzeitig der häufigste Anfängerfehler, den er verhindert: Man soll nicht modellieren, bevor man die Daten wirklich verstanden hat. Erst fragen, dann verstehen, dann bauen.</a:t>
            </a:r>
          </a:p>
          <a:p>
            <a:pPr>
              <a:spcBef>
                <a:spcPts val="400"/>
              </a:spcBef>
            </a:pPr>
            <a:r>
              <a:rPr lang="de-DE" sz="1200" dirty="0"/>
              <a:t>Jede dieser sieben Phasen ist bei mir durch ein eigenes Jupyter-Notebook dokumentiert. Und genau in dieser Reihenfolge gehen wir jetzt durch.</a:t>
            </a:r>
          </a:p>
          <a:p>
            <a:pPr>
              <a:spcBef>
                <a:spcPts val="1200"/>
              </a:spcBef>
            </a:pPr>
            <a:r>
              <a:rPr lang="de-DE" sz="1200" b="1" dirty="0"/>
              <a:t>REGIE</a:t>
            </a:r>
          </a:p>
          <a:p>
            <a:pPr>
              <a:spcBef>
                <a:spcPts val="400"/>
              </a:spcBef>
            </a:pPr>
            <a:r>
              <a:rPr lang="de-DE" sz="1200" dirty="0"/>
              <a:t>Die sieben Buchstaben mit der Hand abschreiten. Ab hier weiß das Publikum immer, wo es sich befindet.</a:t>
            </a:r>
          </a:p>
          <a:p>
            <a:pPr>
              <a:spcBef>
                <a:spcPts val="1200"/>
              </a:spcBef>
            </a:pPr>
            <a:r>
              <a:rPr lang="de-DE" sz="1200" b="1" dirty="0"/>
              <a:t>ÜBERLEITUNG</a:t>
            </a:r>
          </a:p>
          <a:p>
            <a:pPr>
              <a:spcBef>
                <a:spcPts val="400"/>
              </a:spcBef>
            </a:pPr>
            <a:r>
              <a:rPr lang="de-DE" sz="1200" dirty="0"/>
              <a:t>„Phase eins: die Frage.“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5:00–6:30  ·  ca. 90 Sek</a:t>
            </a:r>
          </a:p>
          <a:p>
            <a:pPr>
              <a:spcBef>
                <a:spcPts val="1200"/>
              </a:spcBef>
            </a:pPr>
            <a:r>
              <a:rPr lang="de-DE" sz="1200" b="1" dirty="0"/>
              <a:t>SPRECHTEXT</a:t>
            </a:r>
          </a:p>
          <a:p>
            <a:pPr>
              <a:spcBef>
                <a:spcPts val="400"/>
              </a:spcBef>
            </a:pPr>
            <a:r>
              <a:rPr lang="de-DE" sz="1200" dirty="0"/>
              <a:t>Die Leitfrage lautet: Wie können historische US-Aktienmarktdaten genutzt werden, um mit Machine Learning eine interaktive Finanzanalyse-App zu entwickeln, die technische Marktanalyse, ML-basierte Signalgebung und risikobasierte Positionsplanung nachvollziehbar kombiniert?</a:t>
            </a:r>
          </a:p>
          <a:p>
            <a:pPr>
              <a:spcBef>
                <a:spcPts val="400"/>
              </a:spcBef>
            </a:pPr>
            <a:r>
              <a:rPr lang="de-DE" sz="1200" dirty="0"/>
              <a:t>Daraus habe ich drei Hypothesen abgeleitet — drei Behauptungen, die am Ende überprüfbar sein müssen.</a:t>
            </a:r>
          </a:p>
          <a:p>
            <a:pPr>
              <a:spcBef>
                <a:spcPts val="400"/>
              </a:spcBef>
            </a:pPr>
            <a:r>
              <a:rPr lang="de-DE" sz="1200" dirty="0"/>
              <a:t>H1, die Modellhypothese: Ein Random-Forest-Modell wird gegen eine Baseline und vier Alternativen geprüft, und zwar in einem Out-of-Time-Test. Out-of-Time heißt: Ich trainiere ausschließlich auf der Vergangenheit und teste ausschließlich auf einer Zukunft, die das Modell nie gesehen hat. Merkt euch das — daran entscheidet sich später alles.</a:t>
            </a:r>
          </a:p>
          <a:p>
            <a:pPr>
              <a:spcBef>
                <a:spcPts val="400"/>
              </a:spcBef>
            </a:pPr>
            <a:r>
              <a:rPr lang="de-DE" sz="1200" dirty="0"/>
              <a:t>H2, die Vermittlungshypothese: Die App macht die Methodik für Nicht-Experten verständlich zugänglich. Über die urteilt ihr nachher selbst, wenn ihr die App gesehen habt.</a:t>
            </a:r>
          </a:p>
          <a:p>
            <a:pPr>
              <a:spcBef>
                <a:spcPts val="400"/>
              </a:spcBef>
            </a:pPr>
            <a:r>
              <a:rPr lang="de-DE" sz="1200" dirty="0"/>
              <a:t>H3, die Kombinationshypothese: Technische Indikatoren plus ML-Signal plus Risikorechner sind zusammen nützlicher als jedes Werkzeug allein.</a:t>
            </a:r>
          </a:p>
          <a:p>
            <a:pPr>
              <a:spcBef>
                <a:spcPts val="400"/>
              </a:spcBef>
            </a:pPr>
            <a:r>
              <a:rPr lang="de-DE" sz="1200" dirty="0"/>
              <a:t>Und ganz wichtig, was das Projekt ausdrücklich nicht ist: kein Handelsbot, keine Anlageberatung, kein Kursprognose-Tool. Ein wissenschaftlicher Prototyp.</a:t>
            </a:r>
          </a:p>
          <a:p>
            <a:pPr>
              <a:spcBef>
                <a:spcPts val="1200"/>
              </a:spcBef>
            </a:pPr>
            <a:r>
              <a:rPr lang="de-DE" sz="1200" b="1" dirty="0"/>
              <a:t>REGIE</a:t>
            </a:r>
          </a:p>
          <a:p>
            <a:pPr>
              <a:spcBef>
                <a:spcPts val="400"/>
              </a:spcBef>
            </a:pPr>
            <a:r>
              <a:rPr lang="de-DE" sz="1200" dirty="0"/>
              <a:t>Die Leitfrage nicht Wort für Wort ablesen — sinngemäß sprechen, das Publikum liest mit. Bei H1 kurz innehalten. Der Zusatz bei H2 bindet das Publikum an die Demo.</a:t>
            </a:r>
          </a:p>
          <a:p>
            <a:pPr>
              <a:spcBef>
                <a:spcPts val="1200"/>
              </a:spcBef>
            </a:pPr>
            <a:r>
              <a:rPr lang="de-DE" sz="1200" b="1" dirty="0"/>
              <a:t>ÜBERLEITUNG</a:t>
            </a:r>
          </a:p>
          <a:p>
            <a:pPr>
              <a:spcBef>
                <a:spcPts val="400"/>
              </a:spcBef>
            </a:pPr>
            <a:r>
              <a:rPr lang="de-DE" sz="1200" dirty="0"/>
              <a:t>„Phase zwei: Bevor man modelliert, muss man die Daten kennen.“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6:30–7:30  ·  ca. 60 Sek</a:t>
            </a:r>
          </a:p>
          <a:p>
            <a:pPr>
              <a:spcBef>
                <a:spcPts val="1200"/>
              </a:spcBef>
            </a:pPr>
            <a:r>
              <a:rPr lang="de-DE" sz="1200" b="1" dirty="0"/>
              <a:t>SPRECHTEXT</a:t>
            </a:r>
          </a:p>
          <a:p>
            <a:pPr>
              <a:spcBef>
                <a:spcPts val="400"/>
              </a:spcBef>
            </a:pPr>
            <a:r>
              <a:rPr lang="de-DE" sz="1200" dirty="0"/>
              <a:t>Die Basis ist ein Kaggle-Datensatz von Boris Marjanovic, lizenziert als CC0 — also gemeinfrei. Kein Lizenzrisiko, volle Nutzungsfreiheit.</a:t>
            </a:r>
          </a:p>
          <a:p>
            <a:pPr>
              <a:spcBef>
                <a:spcPts val="400"/>
              </a:spcBef>
            </a:pPr>
            <a:r>
              <a:rPr lang="de-DE" sz="1200" dirty="0"/>
              <a:t>192.119 Feature-Datenpunkte, 26 Blue-Chip-Ticker, 1962 bis 2017, gespeichert als Parquet.</a:t>
            </a:r>
          </a:p>
          <a:p>
            <a:pPr>
              <a:spcBef>
                <a:spcPts val="400"/>
              </a:spcBef>
            </a:pPr>
            <a:r>
              <a:rPr lang="de-DE" sz="1200" dirty="0"/>
              <a:t>Warum 26 verschiedene Titel und nicht nur einer? Nicht wegen der Menge. Sondern weil unterschiedliche Branchen und unterschiedliche Marktphasen — Boom, Crash, Seitwärtsmarkt — das Modell zwingen, allgemeine Muster zu lernen statt der Eigenheiten einer einzigen Aktie. Von Apple und Microsoft über Coca-Cola und McDonald’s bis Boeing und General Electric.</a:t>
            </a:r>
          </a:p>
          <a:p>
            <a:pPr>
              <a:spcBef>
                <a:spcPts val="400"/>
              </a:spcBef>
            </a:pPr>
            <a:r>
              <a:rPr lang="de-DE" sz="1200" dirty="0"/>
              <a:t>Eine Einschränkung nenne ich direkt hier, nicht erst im Fazit: Survivorship-Bias, die Überlebenden-Verzerrung. Im Datensatz sind nur Unternehmen, die es heute noch gibt. Die pleitegegangenen fehlen — und das schönt systematisch jedes Ergebnis.</a:t>
            </a:r>
          </a:p>
          <a:p>
            <a:pPr>
              <a:spcBef>
                <a:spcPts val="1200"/>
              </a:spcBef>
            </a:pPr>
            <a:r>
              <a:rPr lang="de-DE" sz="1200" b="1" dirty="0"/>
              <a:t>REGIE</a:t>
            </a:r>
          </a:p>
          <a:p>
            <a:pPr>
              <a:spcBef>
                <a:spcPts val="400"/>
              </a:spcBef>
            </a:pPr>
            <a:r>
              <a:rPr lang="de-DE" sz="1200" dirty="0"/>
              <a:t>Survivorship-Bias ist ein Punkt, der oft in der Fragerunde kommt. Wer ihn selbst nennt, nimmt ihm die Schärfe.</a:t>
            </a:r>
          </a:p>
          <a:p>
            <a:pPr>
              <a:spcBef>
                <a:spcPts val="1200"/>
              </a:spcBef>
            </a:pPr>
            <a:r>
              <a:rPr lang="de-DE" sz="1200" b="1" dirty="0"/>
              <a:t>ÜBERLEITUNG</a:t>
            </a:r>
          </a:p>
          <a:p>
            <a:pPr>
              <a:spcBef>
                <a:spcPts val="400"/>
              </a:spcBef>
            </a:pPr>
            <a:r>
              <a:rPr lang="de-DE" sz="1200" dirty="0"/>
              <a:t>„Bevor gerechnet wird, wird geschaut — explorative Datenanalyse.“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7:30–8:10  ·  ca. 40 Sek</a:t>
            </a:r>
          </a:p>
          <a:p>
            <a:pPr>
              <a:spcBef>
                <a:spcPts val="1200"/>
              </a:spcBef>
            </a:pPr>
            <a:r>
              <a:rPr lang="de-DE" sz="1200" b="1" dirty="0"/>
              <a:t>SPRECHTEXT</a:t>
            </a:r>
          </a:p>
          <a:p>
            <a:pPr>
              <a:spcBef>
                <a:spcPts val="400"/>
              </a:spcBef>
            </a:pPr>
            <a:r>
              <a:rPr lang="de-DE" sz="1200" dirty="0"/>
              <a:t>Explorative Datenanalyse ist der Schritt, in dem man die Daten anschaut, bevor man rechnet.</a:t>
            </a:r>
          </a:p>
          <a:p>
            <a:pPr>
              <a:spcBef>
                <a:spcPts val="400"/>
              </a:spcBef>
            </a:pPr>
            <a:r>
              <a:rPr lang="de-DE" sz="1200" dirty="0"/>
              <a:t>Ich habe für alle acht Features Histogramme mit Dichteschätzung erstellt, Boxplots zur Ausreißer-Erkennung, Streudiagramme gegen die Zielvariable und zwei Korrelationsmatrizen — Pearson für lineare, Spearman für rangbasierte Zusammenhänge.</a:t>
            </a:r>
          </a:p>
          <a:p>
            <a:pPr>
              <a:spcBef>
                <a:spcPts val="400"/>
              </a:spcBef>
            </a:pPr>
            <a:r>
              <a:rPr lang="de-DE" sz="1200" dirty="0"/>
              <a:t>Das Ergebnis in zwei Sätzen: Die Verteilungen sind leicht schief — deshalb fällt später die Entscheidung für den Median statt für den Mittelwert. Und die Korrelationen sind nur moderat, es gibt also kein Multikollinearitätsproblem: Keine zwei Features sagen im Kern dasselbe aus.</a:t>
            </a:r>
          </a:p>
          <a:p>
            <a:pPr>
              <a:spcBef>
                <a:spcPts val="1200"/>
              </a:spcBef>
            </a:pPr>
            <a:r>
              <a:rPr lang="de-DE" sz="1200" b="1" dirty="0"/>
              <a:t>REGIE</a:t>
            </a:r>
          </a:p>
          <a:p>
            <a:pPr>
              <a:spcBef>
                <a:spcPts val="400"/>
              </a:spcBef>
            </a:pPr>
            <a:r>
              <a:rPr lang="de-DE" sz="1200" dirty="0"/>
              <a:t>Zwischenschritt — zügig sprechen, Blick auf die Charts lenken. Bei Zeitdruck kürzbar.</a:t>
            </a:r>
          </a:p>
          <a:p>
            <a:pPr>
              <a:spcBef>
                <a:spcPts val="1200"/>
              </a:spcBef>
            </a:pPr>
            <a:r>
              <a:rPr lang="de-DE" sz="1200" b="1" dirty="0"/>
              <a:t>ÜBERLEITUNG</a:t>
            </a:r>
          </a:p>
          <a:p>
            <a:pPr>
              <a:spcBef>
                <a:spcPts val="400"/>
              </a:spcBef>
            </a:pPr>
            <a:r>
              <a:rPr lang="de-DE" sz="1200" dirty="0"/>
              <a:t>„Ein Befund aus der EDA war aber wichtig genug für eine eigene Folie: fehlende Werte.“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8:10–9:10  ·  ca. 60 Sek</a:t>
            </a:r>
          </a:p>
          <a:p>
            <a:pPr>
              <a:spcBef>
                <a:spcPts val="1200"/>
              </a:spcBef>
            </a:pPr>
            <a:r>
              <a:rPr lang="de-DE" sz="1200" b="1" dirty="0"/>
              <a:t>SPRECHTEXT</a:t>
            </a:r>
          </a:p>
          <a:p>
            <a:pPr>
              <a:spcBef>
                <a:spcPts val="400"/>
              </a:spcBef>
            </a:pPr>
            <a:r>
              <a:rPr lang="de-DE" sz="1200" dirty="0"/>
              <a:t>In den Moving-Average-Features fehlen Werte — und zwar systematisch am Anfang jeder Aktie. Ein 200-Tage-Durchschnitt braucht eben erst einmal 200 Handelstage, bevor er überhaupt existiert.</a:t>
            </a:r>
          </a:p>
          <a:p>
            <a:pPr>
              <a:spcBef>
                <a:spcPts val="400"/>
              </a:spcBef>
            </a:pPr>
            <a:r>
              <a:rPr lang="de-DE" sz="1200" dirty="0"/>
              <a:t>In der Statistik unterscheidet man drei Arten fehlender Werte: MCAR, MAR und MNAR. MCAR heißt Missing Completely At Random — das Fehlen hängt weder vom Wert selbst noch von anderen Variablen ab. Genau das ist hier der Fall, und das ist der günstigste Fall überhaupt, weil man die Lücken dann gefahrlos auffüllen darf.</a:t>
            </a:r>
          </a:p>
          <a:p>
            <a:pPr>
              <a:spcBef>
                <a:spcPts val="400"/>
              </a:spcBef>
            </a:pPr>
            <a:r>
              <a:rPr lang="de-DE" sz="1200" dirty="0"/>
              <a:t>Dieses Auffüllen heißt Imputation. Ich habe drei Strategien verglichen: Mittelwert, Median und KNN mit fünf Nachbarn. Der Median hat gewonnen — robust gegen Ausreißer und rechnerisch günstig.</a:t>
            </a:r>
          </a:p>
          <a:p>
            <a:pPr>
              <a:spcBef>
                <a:spcPts val="400"/>
              </a:spcBef>
            </a:pPr>
            <a:r>
              <a:rPr lang="de-DE" sz="1200" dirty="0"/>
              <a:t>Warum das kein akademisches Detail ist: Li und Kollegen haben 2024 acht Imputationsverfahren an über zehntausend Kohortenfällen verglichen, bei zwanzig Prozent künstlich erzeugten Fehlwerten. Ihr Ergebnis: Das Verfahren macht einen messbaren Unterschied in der Modellgüte — am besten schnitten KNN und Random Forest ab. Die Wahl der Imputation ist also eine belegte Weichenstellung, keine Formalie.</a:t>
            </a:r>
          </a:p>
          <a:p>
            <a:pPr>
              <a:spcBef>
                <a:spcPts val="1200"/>
              </a:spcBef>
            </a:pPr>
            <a:r>
              <a:rPr lang="de-DE" sz="1200" b="1" dirty="0"/>
              <a:t>REGIE</a:t>
            </a:r>
          </a:p>
          <a:p>
            <a:pPr>
              <a:spcBef>
                <a:spcPts val="400"/>
              </a:spcBef>
            </a:pPr>
            <a:r>
              <a:rPr lang="de-DE" sz="1200" dirty="0"/>
              <a:t>MCAR unbedingt auflösen und übersetzen — nicht als Abkürzung stehen lassen.</a:t>
            </a:r>
          </a:p>
          <a:p>
            <a:pPr>
              <a:spcBef>
                <a:spcPts val="1200"/>
              </a:spcBef>
            </a:pPr>
            <a:r>
              <a:rPr lang="de-DE" sz="1200" b="1" dirty="0"/>
              <a:t>ÜBERLEITUNG</a:t>
            </a:r>
          </a:p>
          <a:p>
            <a:pPr>
              <a:spcBef>
                <a:spcPts val="400"/>
              </a:spcBef>
            </a:pPr>
            <a:r>
              <a:rPr lang="de-DE" sz="1200" dirty="0"/>
              <a:t>„Zweites Qualitätsthema — und das wichtigste des ganzen Projekts.“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9:10–10:10  ·  ca. 60 Sek</a:t>
            </a:r>
          </a:p>
          <a:p>
            <a:pPr>
              <a:spcBef>
                <a:spcPts val="1200"/>
              </a:spcBef>
            </a:pPr>
            <a:r>
              <a:rPr lang="de-DE" sz="1200" b="1" dirty="0"/>
              <a:t>SPRECHTEXT</a:t>
            </a:r>
          </a:p>
          <a:p>
            <a:pPr>
              <a:spcBef>
                <a:spcPts val="400"/>
              </a:spcBef>
            </a:pPr>
            <a:r>
              <a:rPr lang="de-DE" sz="1200" dirty="0"/>
              <a:t>Ich benutze den StandardScaler. Der rechnet jedes Feature so um, dass es Mittelwert null und Standardabweichung eins hat — das nennt man Z-Score-Normierung. Ohne das würde ein Merkmal, das in Tausendern misst, ein Merkmal, das in Prozent misst, schlicht überstimmen. Pinheiro und Kollegen haben das 2025 systematisch vermessen — zwölf Skalierungsverfahren über vierzehn Algorithmen und sechzehn Datensätze. Ihr Befund: Ensembles wie der Random Forest bleiben weitgehend unbeeinflusst, während Logistische Regression, SVM und neuronale Netze stark auf die Wahl des Scalers reagieren. Genau deshalb skaliere ich nur die beiden linearen Modelle.</a:t>
            </a:r>
          </a:p>
          <a:p>
            <a:pPr>
              <a:spcBef>
                <a:spcPts val="400"/>
              </a:spcBef>
            </a:pPr>
            <a:r>
              <a:rPr lang="de-DE" sz="1200" dirty="0"/>
              <a:t>Und jetzt der wichtigste Satz des Vortrags: Data Leakage. Das ist, wenn Information aus den Testdaten ins Training sickert — zum Beispiel, wenn man den Scaler auf dem Gesamtdatensatz anpasst. Dann kennt das Modell indirekt schon den Mittelwert der Zukunft.</a:t>
            </a:r>
          </a:p>
          <a:p>
            <a:pPr>
              <a:spcBef>
                <a:spcPts val="400"/>
              </a:spcBef>
            </a:pPr>
            <a:r>
              <a:rPr lang="de-DE" sz="1200" dirty="0"/>
              <a:t>Deshalb wird der Scaler ausschließlich auf den Trainingsdaten gefittet. Nur auf X_train. Das ist der Unterschied zwischen einem Modell, das in der Realität funktioniert, und einem, das nur im Labor gut aussieht.</a:t>
            </a:r>
          </a:p>
          <a:p>
            <a:pPr>
              <a:spcBef>
                <a:spcPts val="400"/>
              </a:spcBef>
            </a:pPr>
            <a:r>
              <a:rPr lang="de-DE" sz="1200" dirty="0"/>
              <a:t>Und weil das sonst wie eine Formalie klingt: Ich habe gegengerechnet, wie viel man sich ohne diese Disziplin erschwindeln würde. Die Zahl zeige ich euch bei den Ergebnissen — sie hat mich selbst überrascht.</a:t>
            </a:r>
          </a:p>
          <a:p>
            <a:pPr>
              <a:spcBef>
                <a:spcPts val="1200"/>
              </a:spcBef>
            </a:pPr>
            <a:r>
              <a:rPr lang="de-DE" sz="1200" b="1" dirty="0"/>
              <a:t>REGIE</a:t>
            </a:r>
          </a:p>
          <a:p>
            <a:pPr>
              <a:spcBef>
                <a:spcPts val="400"/>
              </a:spcBef>
            </a:pPr>
            <a:r>
              <a:rPr lang="de-DE" sz="1200" dirty="0"/>
              <a:t>Beim Leakage-Absatz langsamer werden und das Publikum direkt ansprechen. Das ist der Kern der wissenschaftlichen Sauberkeit. Der letzte Satz ist ein bewusster Cliffhanger auf Folie 19, wo die Auflösung mit 0,581 kommt.</a:t>
            </a:r>
          </a:p>
          <a:p>
            <a:pPr>
              <a:spcBef>
                <a:spcPts val="1200"/>
              </a:spcBef>
            </a:pPr>
            <a:r>
              <a:rPr lang="de-DE" sz="1200" b="1" dirty="0"/>
              <a:t>ÜBERLEITUNG</a:t>
            </a:r>
          </a:p>
          <a:p>
            <a:pPr>
              <a:spcBef>
                <a:spcPts val="400"/>
              </a:spcBef>
            </a:pPr>
            <a:r>
              <a:rPr lang="de-DE" sz="1200" dirty="0"/>
              <a:t>„Damit ist der Methodikteil durch. Kurzer Halt — was ist bis hierhin unklar?“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10:10–10:55  ·  45 Sek  ·  FRAGEFENSTER I</a:t>
            </a:r>
          </a:p>
          <a:p>
            <a:pPr>
              <a:spcBef>
                <a:spcPts val="1200"/>
              </a:spcBef>
            </a:pPr>
            <a:r>
              <a:rPr lang="de-DE" sz="1200" b="1" dirty="0"/>
              <a:t>SPRECHTEXT</a:t>
            </a:r>
          </a:p>
          <a:p>
            <a:pPr>
              <a:spcBef>
                <a:spcPts val="400"/>
              </a:spcBef>
            </a:pPr>
            <a:r>
              <a:rPr lang="de-DE" sz="1200" dirty="0"/>
              <a:t>Kurzer Halt. Wir haben jetzt die Daten, die fehlenden Werte, die Skalierung und Data Leakage durch — das war der methodisch dichteste Teil. Was ist bis hierhin unklar?</a:t>
            </a:r>
          </a:p>
          <a:p>
            <a:pPr>
              <a:spcBef>
                <a:spcPts val="1200"/>
              </a:spcBef>
            </a:pPr>
            <a:r>
              <a:rPr lang="de-DE" sz="1200" b="1" dirty="0"/>
              <a:t>MODERATION</a:t>
            </a:r>
          </a:p>
          <a:p>
            <a:pPr>
              <a:spcBef>
                <a:spcPts val="400"/>
              </a:spcBef>
            </a:pPr>
            <a:r>
              <a:rPr lang="de-DE" sz="1200" dirty="0"/>
              <a:t>Nach der Frage bis fünf zählen und das Publikum anschauen. Stille ist hier normal und kein Misserfolg. Wenn niemand fragt, selbst eine Frage aufwerfen: „Die häufigste Rückfrage an dieser Stelle ist, warum der Median und nicht KNN — kurz gesagt: gleichwertige Güte, deutlich weniger Rechenaufwand.“</a:t>
            </a:r>
          </a:p>
          <a:p>
            <a:pPr>
              <a:spcBef>
                <a:spcPts val="1200"/>
              </a:spcBef>
            </a:pPr>
            <a:r>
              <a:rPr lang="de-DE" sz="1200" b="1" dirty="0"/>
              <a:t>ZEITDISZIPLIN</a:t>
            </a:r>
          </a:p>
          <a:p>
            <a:pPr>
              <a:spcBef>
                <a:spcPts val="400"/>
              </a:spcBef>
            </a:pPr>
            <a:r>
              <a:rPr lang="de-DE" sz="1200" dirty="0"/>
              <a:t>Harte Grenze 45 Sekunden. Maximal zwei Fragen. Bei der dritten: „Die nehme ich mit in die Runde am Ende“ — und weiter. Wenn eine Antwort tiefer geht, liegen die Belegfolien 29, 30 und 31 im Anhang bereit.</a:t>
            </a:r>
          </a:p>
          <a:p>
            <a:pPr>
              <a:spcBef>
                <a:spcPts val="1200"/>
              </a:spcBef>
            </a:pPr>
            <a:r>
              <a:rPr lang="de-DE" sz="1200" b="1" dirty="0"/>
              <a:t>ÜBERLEITUNG</a:t>
            </a:r>
          </a:p>
          <a:p>
            <a:pPr>
              <a:spcBef>
                <a:spcPts val="400"/>
              </a:spcBef>
            </a:pPr>
            <a:r>
              <a:rPr lang="de-DE" sz="1200" dirty="0"/>
              <a:t>„Daten verstanden. Jetzt bauen wir daraus die Merkmale.“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10:55–13:25  ·  ca. 150 Sek  ·  KERNFOLIE</a:t>
            </a:r>
          </a:p>
          <a:p>
            <a:pPr>
              <a:spcBef>
                <a:spcPts val="1200"/>
              </a:spcBef>
            </a:pPr>
            <a:r>
              <a:rPr lang="de-DE" sz="1200" b="1" dirty="0"/>
              <a:t>SPRECHTEXT</a:t>
            </a:r>
          </a:p>
          <a:p>
            <a:pPr>
              <a:spcBef>
                <a:spcPts val="400"/>
              </a:spcBef>
            </a:pPr>
            <a:r>
              <a:rPr lang="de-DE" sz="1200" dirty="0"/>
              <a:t>Phase drei: Analytics — Feature Engineering. Das ist der Schritt, in dem aus Rohdaten die Merkmale werden, mit denen ein Modell überhaupt etwas anfangen kann.</a:t>
            </a:r>
          </a:p>
          <a:p>
            <a:pPr>
              <a:spcBef>
                <a:spcPts val="400"/>
              </a:spcBef>
            </a:pPr>
            <a:r>
              <a:rPr lang="de-DE" sz="1200" dirty="0"/>
              <a:t>Die Rohdaten sind OHLCV: Open, High, Low, Close, Volume — Eröffnungskurs, Tageshoch, Tagestief, Schlusskurs und Handelsvolumen. Ein Modell kann mit dem nackten Kurs nichts anfangen: „Apple steht bei 180“ ist ohne Kontext bedeutungslos. Also destilliere ich daraus acht Features in drei Gruppen.</a:t>
            </a:r>
          </a:p>
          <a:p>
            <a:pPr>
              <a:spcBef>
                <a:spcPts val="400"/>
              </a:spcBef>
            </a:pPr>
            <a:r>
              <a:rPr lang="de-DE" sz="1200" dirty="0"/>
              <a:t>Gruppe eins, die Rendite-Features: Tagesrendite, 5-Tages-Rendite und 20-Tages-Rendite. Also: Wie stark hat sich der Kurs kurz-, mittel- und etwas längerfristig bewegt — in Prozent, nicht in Dollar. Erst dadurch werden Apple und Coca-Cola überhaupt vergleichbar.</a:t>
            </a:r>
          </a:p>
          <a:p>
            <a:pPr>
              <a:spcBef>
                <a:spcPts val="400"/>
              </a:spcBef>
            </a:pPr>
            <a:r>
              <a:rPr lang="de-DE" sz="1200" dirty="0"/>
              <a:t>Gruppe zwei, die Trend-Features: der Abstand zum gleitenden Durchschnitt über 20, 50 und 200 Tage. Ein gleitender Durchschnitt ist einfach der Mittelwert der letzten N Schlusskurse — er glättet das Rauschen. Liegt der aktuelle Kurs deutlich über dem 200-Tage-Durchschnitt, ist das entweder ein intakter Aufwärtstrend oder eine Übertreibung, die zurückkommt. Dieses Zurücklaufen zum Mittelwert nennt man Mean Reversion.</a:t>
            </a:r>
          </a:p>
          <a:p>
            <a:pPr>
              <a:spcBef>
                <a:spcPts val="400"/>
              </a:spcBef>
            </a:pPr>
            <a:r>
              <a:rPr lang="de-DE" sz="1200" dirty="0"/>
              <a:t>Gruppe drei, die Risiko-Features: die Volatilität über 20 Tage — also wie stark der Kurs schwankt — und der Drawdown, der Abstand zum letzten Allzeithoch. Der Drawdown beantwortet die Frage: Wie viel Schmerz hätte ich gerade, wenn ich am Hoch gekauft hätte?</a:t>
            </a:r>
          </a:p>
          <a:p>
            <a:pPr>
              <a:spcBef>
                <a:spcPts val="400"/>
              </a:spcBef>
            </a:pPr>
            <a:r>
              <a:rPr lang="de-DE" sz="1200" dirty="0"/>
              <a:t>Und dann die Zielvariable, also das, was das Modell vorhersagen soll: target_20d. Sie ist binär, kennt also nur ja oder nein — steht der Kurs in 20 Handelstagen, das ist rund ein Handelsmonat, höher als heute?</a:t>
            </a:r>
          </a:p>
          <a:p>
            <a:pPr>
              <a:spcBef>
                <a:spcPts val="400"/>
              </a:spcBef>
            </a:pPr>
            <a:r>
              <a:rPr lang="de-DE" sz="1200" dirty="0"/>
              <a:t>Warum eine Richtungsfrage und keine Kursprognose? Weil an effizienten Märkten die exakte Zahl praktisch nicht vorhersagbar ist. „Rauf oder runter“ ist die ehrlichere, robustere und sauber messbare Frage — und sie lässt sich mit Klassifikationsmetriken seriös bewerten.</a:t>
            </a:r>
          </a:p>
          <a:p>
            <a:pPr>
              <a:spcBef>
                <a:spcPts val="1200"/>
              </a:spcBef>
            </a:pPr>
            <a:r>
              <a:rPr lang="de-DE" sz="1200" b="1" dirty="0"/>
              <a:t>REGIE</a:t>
            </a:r>
          </a:p>
          <a:p>
            <a:pPr>
              <a:spcBef>
                <a:spcPts val="400"/>
              </a:spcBef>
            </a:pPr>
            <a:r>
              <a:rPr lang="de-DE" sz="1200" dirty="0"/>
              <a:t>Die drei Gruppen einzeln antippen, je ca. 30 Sekunden. Beim Drawdown ruhig die Publikumsfrage stellen — das erzeugt Aufmerksamkeit. Diese acht Features tauchen in der Demo bei SHAP namentlich wieder auf; das kurz ankündigen zahlt sich aus.</a:t>
            </a:r>
          </a:p>
          <a:p>
            <a:pPr>
              <a:spcBef>
                <a:spcPts val="1200"/>
              </a:spcBef>
            </a:pPr>
            <a:r>
              <a:rPr lang="de-DE" sz="1200" b="1" dirty="0"/>
              <a:t>ÜBERLEITUNG</a:t>
            </a:r>
          </a:p>
          <a:p>
            <a:pPr>
              <a:spcBef>
                <a:spcPts val="400"/>
              </a:spcBef>
            </a:pPr>
            <a:r>
              <a:rPr lang="de-DE" sz="1200" dirty="0"/>
              <a:t>„Acht Merkmale, eine Zielvariable. Welches Modell lernt daraus?“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13:25–15:55  ·  ca. 150 Sek  ·  KERNFOLIE</a:t>
            </a:r>
          </a:p>
          <a:p>
            <a:pPr>
              <a:spcBef>
                <a:spcPts val="1200"/>
              </a:spcBef>
            </a:pPr>
            <a:r>
              <a:rPr lang="de-DE" sz="1200" b="1" dirty="0"/>
              <a:t>SPRECHTEXT</a:t>
            </a:r>
          </a:p>
          <a:p>
            <a:pPr>
              <a:spcBef>
                <a:spcPts val="400"/>
              </a:spcBef>
            </a:pPr>
            <a:r>
              <a:rPr lang="de-DE" sz="1200" dirty="0"/>
              <a:t>Phase vier: Algorithm. Und hier steckt meine wichtigste Designentscheidung: Ich habe nicht ein Modell gebaut, sondern fünf Modellgenerationen verglichen.</a:t>
            </a:r>
          </a:p>
          <a:p>
            <a:pPr>
              <a:spcBef>
                <a:spcPts val="400"/>
              </a:spcBef>
            </a:pPr>
            <a:r>
              <a:rPr lang="de-DE" sz="1200" dirty="0"/>
              <a:t>Ganz links die Baseline, der DummyClassifier. Der kann genau eines: immer die häufigste Klasse raten. In meinem Testzeitraum waren 59 Prozent aller Zeitpunkte steigend — also sagt der Dummy stur „rauf“ und liegt in 59 Prozent der Fälle richtig, ohne irgendetwas gelernt zu haben. Diese Zahl ist mein Nullpunkt: Alles, was ich baue, muss besser sein als stumpfes Raten. Und ich sage schon jetzt: Diese Latte liegt höher, als sie aussieht.</a:t>
            </a:r>
          </a:p>
          <a:p>
            <a:pPr>
              <a:spcBef>
                <a:spcPts val="400"/>
              </a:spcBef>
            </a:pPr>
            <a:r>
              <a:rPr lang="de-DE" sz="1200" dirty="0"/>
              <a:t>Dann die linearen Modelle: logistische Regression und Linear SVM. Beide ziehen im Kern eine gerade Trennlinie durch den Merkmalsraum. Sie beantworten die Frage: Gibt es überhaupt eine einfache, lineare Struktur im Signal?</a:t>
            </a:r>
          </a:p>
          <a:p>
            <a:pPr>
              <a:spcBef>
                <a:spcPts val="400"/>
              </a:spcBef>
            </a:pPr>
            <a:r>
              <a:rPr lang="de-DE" sz="1200" dirty="0"/>
              <a:t>Dann die Baumfamilie. Ein Entscheidungsbaum stellt verschachtelte Ja-Nein-Fragen: Liegt der Kurs über dem 200-Tage-Schnitt? Wenn ja, ist die Volatilität hoch? Damit bildet er auch nichtlineare Zusammenhänge ab. Sein Problem: Ein einzelner Baum lernt die Trainingsdaten gern auswendig — das nennt man Overfitting.</a:t>
            </a:r>
          </a:p>
          <a:p>
            <a:pPr>
              <a:spcBef>
                <a:spcPts val="400"/>
              </a:spcBef>
            </a:pPr>
            <a:r>
              <a:rPr lang="de-DE" sz="1200" dirty="0"/>
              <a:t>Deshalb der Random Forest. Der baut 200 leicht unterschiedliche Bäume auf zufälligen Teilmengen der Daten und lässt sie abstimmen. Die Einzelfehler mitteln sich weg — das ist Varianzreduktion. Und als Nebenprodukt verrät er mir, welche Merkmale er am häufigsten benutzt hat: die Feature Importance.</a:t>
            </a:r>
          </a:p>
          <a:p>
            <a:pPr>
              <a:spcBef>
                <a:spcPts val="400"/>
              </a:spcBef>
            </a:pPr>
            <a:r>
              <a:rPr lang="de-DE" sz="1200" dirty="0"/>
              <a:t>Und was ich bewusst nicht gemacht habe: ein neuronales Netz. Bei acht Features und einem so schwachen Signal bringt zusätzliche Komplexität keinen Erkenntnisgewinn — sie macht das Ergebnis nur schwerer erklärbar. Occam’s Razor: Von zwei Erklärungen mit gleicher Leistung gewinnt die einfachere.</a:t>
            </a:r>
          </a:p>
          <a:p>
            <a:pPr>
              <a:spcBef>
                <a:spcPts val="1200"/>
              </a:spcBef>
            </a:pPr>
            <a:r>
              <a:rPr lang="de-DE" sz="1200" b="1" dirty="0"/>
              <a:t>REGIE</a:t>
            </a:r>
          </a:p>
          <a:p>
            <a:pPr>
              <a:spcBef>
                <a:spcPts val="400"/>
              </a:spcBef>
            </a:pPr>
            <a:r>
              <a:rPr lang="de-DE" sz="1200" dirty="0"/>
              <a:t>Die Kette Baseline – linear – Bäume abschreiten. Der Satz „Diese Latte liegt höher, als sie aussieht“ ist der Cliffhanger auf das Ergebnis.</a:t>
            </a:r>
          </a:p>
          <a:p>
            <a:pPr>
              <a:spcBef>
                <a:spcPts val="1200"/>
              </a:spcBef>
            </a:pPr>
            <a:r>
              <a:rPr lang="de-DE" sz="1200" b="1" dirty="0"/>
              <a:t>ÜBERLEITUNG</a:t>
            </a:r>
          </a:p>
          <a:p>
            <a:pPr>
              <a:spcBef>
                <a:spcPts val="400"/>
              </a:spcBef>
            </a:pPr>
            <a:r>
              <a:rPr lang="de-DE" sz="1200" dirty="0"/>
              <a:t>„Jetzt wird trainiert — und zwar ohne einen einzigen Blick in die Zukunft.“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15:55–16:40  ·  ca. 45 Sek</a:t>
            </a:r>
          </a:p>
          <a:p>
            <a:pPr>
              <a:spcBef>
                <a:spcPts val="1200"/>
              </a:spcBef>
            </a:pPr>
            <a:r>
              <a:rPr lang="de-DE" sz="1200" b="1" dirty="0"/>
              <a:t>SPRECHTEXT</a:t>
            </a:r>
          </a:p>
          <a:p>
            <a:pPr>
              <a:spcBef>
                <a:spcPts val="400"/>
              </a:spcBef>
            </a:pPr>
            <a:r>
              <a:rPr lang="de-DE" sz="1200" dirty="0"/>
              <a:t>Phase fünf: Adaption. Die Hyperparameter: 200 Bäume, maximale Tiefe 8, mindestens 5 Beobachtungen pro Blatt. Die letzten beiden sind Bremsen gegen das Auswendiglernen — je flacher der Baum und je voller das Blatt, desto weniger Rauschen lernt er mit.</a:t>
            </a:r>
          </a:p>
          <a:p>
            <a:pPr>
              <a:spcBef>
                <a:spcPts val="400"/>
              </a:spcBef>
            </a:pPr>
            <a:r>
              <a:rPr lang="de-DE" sz="1200" dirty="0"/>
              <a:t>Alles läuft in einer Pipeline: erst Imputation, dann Skalierung, dann Modell — als ein einziges Objekt. Dadurch kann in keinem Trainingsfenster Wissen aus den Testdaten in die Vorverarbeitung sickern.</a:t>
            </a:r>
          </a:p>
          <a:p>
            <a:pPr>
              <a:spcBef>
                <a:spcPts val="400"/>
              </a:spcBef>
            </a:pPr>
            <a:r>
              <a:rPr lang="de-DE" sz="1200" dirty="0"/>
              <a:t>Und der zeitliche Aufbau: Training bis Oktober 2006. Danach 20 Handelstage Sperrzone, damit sich Trainings- und Testfenster nicht überlappen — sonst würde die Zielvariable vom letzten Trainingstag schon in den Testzeitraum hineinreichen. Der Test läuft dann unangetastet von November 2006 bis November 2017. Elf Jahre, die das Modell nie gesehen hat.</a:t>
            </a:r>
          </a:p>
          <a:p>
            <a:pPr>
              <a:spcBef>
                <a:spcPts val="400"/>
              </a:spcBef>
            </a:pPr>
            <a:r>
              <a:rPr lang="de-DE" sz="1200" dirty="0"/>
              <a:t>Zusätzlich vier Walk-forward-Folds: Das Trainingsfenster wächst schrittweise mit, und jedes Mal wird auf dem nächsten Zeitabschnitt getestet. Damit prüfe ich, ob das Ergebnis über verschiedene Zeiträume stabil bleibt oder nur Zufall war.</a:t>
            </a:r>
          </a:p>
          <a:p>
            <a:pPr>
              <a:spcBef>
                <a:spcPts val="1200"/>
              </a:spcBef>
            </a:pPr>
            <a:r>
              <a:rPr lang="de-DE" sz="1200" b="1" dirty="0"/>
              <a:t>REGIE</a:t>
            </a:r>
          </a:p>
          <a:p>
            <a:pPr>
              <a:spcBef>
                <a:spcPts val="400"/>
              </a:spcBef>
            </a:pPr>
            <a:r>
              <a:rPr lang="de-DE" sz="1200" dirty="0"/>
              <a:t>Die Sperrzone ist ein Detail, das Prüfende schätzen. Kurz betonen.</a:t>
            </a:r>
          </a:p>
          <a:p>
            <a:pPr>
              <a:spcBef>
                <a:spcPts val="1200"/>
              </a:spcBef>
            </a:pPr>
            <a:r>
              <a:rPr lang="de-DE" sz="1200" b="1" dirty="0"/>
              <a:t>ÜBERLEITUNG</a:t>
            </a:r>
          </a:p>
          <a:p>
            <a:pPr>
              <a:spcBef>
                <a:spcPts val="400"/>
              </a:spcBef>
            </a:pPr>
            <a:r>
              <a:rPr lang="de-DE" sz="1200" dirty="0"/>
              <a:t>„Und jetzt das Ergebnis. Ich könnte hier eine schöne Zahl zeigen. Ich zeige euch die echte.“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16:40–17:25  ·  ca. 45 Sek</a:t>
            </a:r>
          </a:p>
          <a:p>
            <a:pPr>
              <a:spcBef>
                <a:spcPts val="1200"/>
              </a:spcBef>
            </a:pPr>
            <a:r>
              <a:rPr lang="de-DE" sz="1200" b="1" dirty="0"/>
              <a:t>SPRECHTEXT</a:t>
            </a:r>
          </a:p>
          <a:p>
            <a:pPr>
              <a:spcBef>
                <a:spcPts val="400"/>
              </a:spcBef>
            </a:pPr>
            <a:r>
              <a:rPr lang="de-DE" sz="1200" dirty="0"/>
              <a:t>Accuracy, also die reine Trefferquote: Baseline 59,1 Prozent, Random Forest 51,9 Prozent. Das Modell ist damit schlechter als stumpfes Raten.</a:t>
            </a:r>
          </a:p>
          <a:p>
            <a:pPr>
              <a:spcBef>
                <a:spcPts val="400"/>
              </a:spcBef>
            </a:pPr>
            <a:r>
              <a:rPr lang="de-DE" sz="1200" dirty="0"/>
              <a:t>Balanced Accuracy: 51,3 Prozent. Das ist die Trefferquote gemittelt über beide Klassen, damit die häufigere Klasse das Bild nicht verfälscht. Ein Zufallsmodell liegt hier bei 50.</a:t>
            </a:r>
          </a:p>
          <a:p>
            <a:pPr>
              <a:spcBef>
                <a:spcPts val="400"/>
              </a:spcBef>
            </a:pPr>
            <a:r>
              <a:rPr lang="de-DE" sz="1200" dirty="0"/>
              <a:t>ROC-AUC: 0,519. Diese Kennzahl misst, wie gut das Modell steigende von fallenden Phasen trennt — unabhängig davon, wo man die Entscheidungsschwelle setzt. 0,5 ist Münzwurf, 1,0 wäre perfekt. Wir liegen bei 0,519.</a:t>
            </a:r>
          </a:p>
          <a:p>
            <a:pPr>
              <a:spcBef>
                <a:spcPts val="400"/>
              </a:spcBef>
            </a:pPr>
            <a:r>
              <a:rPr lang="de-DE" sz="1200" dirty="0"/>
              <a:t>Im Klartext: H1 ist nicht bestätigt. Über vier Walk-forward-Folds liegt die AUC bei 0,514, also praktisch identisch. Das ist kein Ausrutscher, das ist stabil schwach.</a:t>
            </a:r>
          </a:p>
          <a:p>
            <a:pPr>
              <a:spcBef>
                <a:spcPts val="400"/>
              </a:spcBef>
            </a:pPr>
            <a:r>
              <a:rPr lang="de-DE" sz="1200" dirty="0"/>
              <a:t>Komplexität ersetzt keine echte Information.</a:t>
            </a:r>
          </a:p>
          <a:p>
            <a:pPr>
              <a:spcBef>
                <a:spcPts val="1200"/>
              </a:spcBef>
            </a:pPr>
            <a:r>
              <a:rPr lang="de-DE" sz="1200" b="1" dirty="0"/>
              <a:t>REGIE</a:t>
            </a:r>
          </a:p>
          <a:p>
            <a:pPr>
              <a:spcBef>
                <a:spcPts val="400"/>
              </a:spcBef>
            </a:pPr>
            <a:r>
              <a:rPr lang="de-DE" sz="1200" dirty="0"/>
              <a:t>Nicht entschuldigend sprechen. Selbstbewusst: Das ist ein Befund, kein Scheitern. Die drei Zahlen ruhig nennen, dann Pause.</a:t>
            </a:r>
          </a:p>
          <a:p>
            <a:pPr>
              <a:spcBef>
                <a:spcPts val="1200"/>
              </a:spcBef>
            </a:pPr>
            <a:r>
              <a:rPr lang="de-DE" sz="1200" b="1" dirty="0"/>
              <a:t>ÜBERLEITUNG</a:t>
            </a:r>
          </a:p>
          <a:p>
            <a:pPr>
              <a:spcBef>
                <a:spcPts val="400"/>
              </a:spcBef>
            </a:pPr>
            <a:r>
              <a:rPr lang="de-DE" sz="1200" dirty="0"/>
              <a:t>„Jetzt könntet ihr denken: schwaches Projekt. Deshalb zeige ich euch, was ich stattdessen hätte zeigen können.“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18:10–22:40  ·  ca. 270 Sek  ·  LIVE-DEMO  (Kernstück)</a:t>
            </a:r>
          </a:p>
          <a:p>
            <a:pPr>
              <a:spcBef>
                <a:spcPts val="1200"/>
              </a:spcBef>
            </a:pPr>
            <a:r>
              <a:rPr lang="de-DE" sz="1200" b="1" dirty="0"/>
              <a:t>EINSTIEG  (ca. 10 Sek)</a:t>
            </a:r>
          </a:p>
          <a:p>
            <a:pPr>
              <a:spcBef>
                <a:spcPts val="400"/>
              </a:spcBef>
            </a:pPr>
            <a:r>
              <a:rPr lang="de-DE" sz="1200" dirty="0"/>
              <a:t>Phase sieben: Knowledge Transfer. Sechs Stationen, viereinhalb Minuten. Fragt hier gern direkt dazwischen — dafür ist Zeit eingeplant.</a:t>
            </a:r>
          </a:p>
          <a:p>
            <a:pPr>
              <a:spcBef>
                <a:spcPts val="1200"/>
              </a:spcBef>
            </a:pPr>
            <a:r>
              <a:rPr lang="de-DE" sz="1200" b="1" dirty="0"/>
              <a:t>STATION 1 · START  (ca. 25 Sek)</a:t>
            </a:r>
          </a:p>
          <a:p>
            <a:pPr>
              <a:spcBef>
                <a:spcPts val="400"/>
              </a:spcBef>
            </a:pPr>
            <a:r>
              <a:rPr lang="de-DE" sz="1200" dirty="0"/>
              <a:t>„Das ist die Startseite. Oben das aktuelle Signal, darunter die Kennzahlen und der Kursverlauf. Wichtig: Das Signal ist eine Einordnung, keine Kaufempfehlung — der Hinweis steht bewusst direkt daneben.“</a:t>
            </a:r>
          </a:p>
          <a:p>
            <a:pPr>
              <a:spcBef>
                <a:spcPts val="1200"/>
              </a:spcBef>
            </a:pPr>
            <a:r>
              <a:rPr lang="de-DE" sz="1200" b="1" dirty="0"/>
              <a:t>STATION 2 · MARKTANALYSE  (ca. 30 Sek)</a:t>
            </a:r>
          </a:p>
          <a:p>
            <a:pPr>
              <a:spcBef>
                <a:spcPts val="400"/>
              </a:spcBef>
            </a:pPr>
            <a:r>
              <a:rPr lang="de-DE" sz="1200" dirty="0"/>
              <a:t>„Der Candlestick-Chart: Jede Kerze ist ein Handelstag, der Körper zeigt Eröffnung und Schluss, die Dochte Hoch und Tief. Dazu die drei gleitenden Durchschnitte über 20, 50 und 200 Tage. Und darunter der Drawdown — der Abstand zum letzten Allzeithoch. Das sind zwei der acht Features, live berechnet.“</a:t>
            </a:r>
          </a:p>
          <a:p>
            <a:pPr>
              <a:spcBef>
                <a:spcPts val="1200"/>
              </a:spcBef>
            </a:pPr>
            <a:r>
              <a:rPr lang="de-DE" sz="1200" b="1" dirty="0"/>
              <a:t>STATION 3 · ML-INSIGHTS: KORRELATION  (ca. 15 Sek)</a:t>
            </a:r>
          </a:p>
          <a:p>
            <a:pPr>
              <a:spcBef>
                <a:spcPts val="400"/>
              </a:spcBef>
            </a:pPr>
            <a:r>
              <a:rPr lang="de-DE" sz="1200" dirty="0"/>
              <a:t>„Hier die Korrelationsmatrix. Je dunkler ein Feld, desto stärker hängen zwei Merkmale zusammen. Wichtig ist, was man hier NICHT sieht: keine tiefdunklen Blöcke abseits der Diagonale. Also kein Multikollinearitätsproblem.“</a:t>
            </a:r>
          </a:p>
          <a:p>
            <a:pPr>
              <a:spcBef>
                <a:spcPts val="1200"/>
              </a:spcBef>
            </a:pPr>
            <a:r>
              <a:rPr lang="de-DE" sz="1200" b="1" dirty="0"/>
              <a:t>STATION 4 · KONFUSIONSMATRIX &amp; ROC  (ca. 40 Sek)  ← ersetzt die alte Folie</a:t>
            </a:r>
          </a:p>
          <a:p>
            <a:pPr>
              <a:spcBef>
                <a:spcPts val="400"/>
              </a:spcBef>
            </a:pPr>
            <a:r>
              <a:rPr lang="de-DE" sz="1200" dirty="0"/>
              <a:t>„Und hier sind die Zahlen von eben, interaktiv. Die Konfusionsmatrix zeigt, welche Art von Fehlern das Modell macht: Es tippt fast immer auf ‚steigend‘, weil 59 Prozent des Testzeitraums steigend waren. Genau deshalb ist Accuracy irreführend — sie belohnt das Nachplappern der Mehrheit.“</a:t>
            </a:r>
          </a:p>
          <a:p>
            <a:pPr>
              <a:spcBef>
                <a:spcPts val="400"/>
              </a:spcBef>
            </a:pPr>
            <a:r>
              <a:rPr lang="de-DE" sz="1200" dirty="0"/>
              <a:t>„Daneben die ROC-Kurve. Die Diagonale hier ist der reine Zufall. Und unsere Kurve liegt fast darauf. Nicht dramatisch, aber eindeutig: ein sehr schwaches Trennsignal.“</a:t>
            </a:r>
          </a:p>
          <a:p>
            <a:pPr>
              <a:spcBef>
                <a:spcPts val="1200"/>
              </a:spcBef>
            </a:pPr>
            <a:r>
              <a:rPr lang="de-DE" sz="1200" b="1" dirty="0"/>
              <a:t>STATION 5 · LERNKURVE  (ca. 40 Sek)  ← ersetzt die alte Folie</a:t>
            </a:r>
          </a:p>
          <a:p>
            <a:pPr>
              <a:spcBef>
                <a:spcPts val="400"/>
              </a:spcBef>
            </a:pPr>
            <a:r>
              <a:rPr lang="de-DE" sz="1200" dirty="0"/>
              <a:t>„Die Lernkurve beantwortet die Frage: Liegt es am Modell oder an den Daten? Und hier sagt die App es selbst, lest die Diagnose mit: hohe Varianz, Overfitting-Tendenz. Trainings-AUC 0,637 gegen Validierung 0,525 — eine Lücke von 0,11. Das Modell lernt also Muster, die es nicht generalisieren kann.“</a:t>
            </a:r>
          </a:p>
          <a:p>
            <a:pPr>
              <a:spcBef>
                <a:spcPts val="400"/>
              </a:spcBef>
            </a:pPr>
            <a:r>
              <a:rPr lang="de-DE" sz="1200" dirty="0"/>
              <a:t>„Jetzt kommt der interessante Teil. Normalerweise heißt Varianz: mehr Daten helfen. Hier nicht. Schaut auf die Validierungskurve — 0,530, dann 0,504, dann 0,498, dann 0,525. Über die 2,3-fache Datenmenge bewegt sie sich nicht. Die Lücke schließt sich von oben, weil der Trainings-Score fällt. Nicht von unten, weil das Modell besser wird.“</a:t>
            </a:r>
          </a:p>
          <a:p>
            <a:pPr>
              <a:spcBef>
                <a:spcPts val="400"/>
              </a:spcBef>
            </a:pPr>
            <a:r>
              <a:rPr lang="de-DE" sz="1200" dirty="0"/>
              <a:t>„Was hier overfittet wird, ist also Rauschen — kein untersampeltes Signal. Genau das sagt die Effizienzmarkthypothese von Fama voraus.“</a:t>
            </a:r>
          </a:p>
          <a:p>
            <a:pPr>
              <a:spcBef>
                <a:spcPts val="1200"/>
              </a:spcBef>
            </a:pPr>
            <a:r>
              <a:rPr lang="de-DE" sz="1200" b="1" dirty="0"/>
              <a:t>WICHTIG BEI DIESER STATION</a:t>
            </a:r>
          </a:p>
          <a:p>
            <a:pPr>
              <a:spcBef>
                <a:spcPts val="400"/>
              </a:spcBef>
            </a:pPr>
            <a:r>
              <a:rPr lang="de-DE" sz="1200" dirty="0"/>
              <a:t>Die App zeigt hier sichtbar „Hohe Varianz (Overfitting-Tendenz)“. Benenne das selbst und zuerst — wer die Lücke im Chart sieht und dich sie zugeben hört, wertet es als Souveränität. Wer sie sieht, während du sie verschweigst, wertet es als Lücke im Verständnis.</a:t>
            </a:r>
          </a:p>
          <a:p>
            <a:pPr>
              <a:spcBef>
                <a:spcPts val="1200"/>
              </a:spcBef>
            </a:pPr>
            <a:r>
              <a:rPr lang="de-DE" sz="1200" b="1" dirty="0"/>
              <a:t>STATION 6 · ERKLÄRBARKEIT / SHAP  (ca. 30 Sek)  ← ersetzt die alte Folie</a:t>
            </a:r>
          </a:p>
          <a:p>
            <a:pPr>
              <a:spcBef>
                <a:spcPts val="400"/>
              </a:spcBef>
            </a:pPr>
            <a:r>
              <a:rPr lang="de-DE" sz="1200" dirty="0"/>
              <a:t>„Zwei Sichten auf dieselbe Frage: Worauf schaut das Modell? Links die Feature Importance — vereinfacht, wie oft ein Merkmal für eine Trennung benutzt wurde. Rechts SHAP, ein Verfahren aus der Spieltheorie, das für jede einzelne Vorhersage ausrechnet, wie viel jedes Merkmal beigetragen hat.“</a:t>
            </a:r>
          </a:p>
          <a:p>
            <a:pPr>
              <a:spcBef>
                <a:spcPts val="400"/>
              </a:spcBef>
            </a:pPr>
            <a:r>
              <a:rPr lang="de-DE" sz="1200" dirty="0"/>
              <a:t>„Beide sagen dasselbe: Drawdown und Volatilität prägen das Modell stärker als reine Renditen. Risiko schlägt Rendite. Aber Vorsicht — das erklärt, wie das Modell entscheidet. Es beweist keine Ursache und keinen wirtschaftlichen Nutzen.“</a:t>
            </a:r>
          </a:p>
          <a:p>
            <a:pPr>
              <a:spcBef>
                <a:spcPts val="1200"/>
              </a:spcBef>
            </a:pPr>
            <a:r>
              <a:rPr lang="de-DE" sz="1200" b="1" dirty="0"/>
              <a:t>STATION 7 · KAPITAL-KOMPASS  (ca. 30 Sek)</a:t>
            </a:r>
          </a:p>
          <a:p>
            <a:pPr>
              <a:spcBef>
                <a:spcPts val="400"/>
              </a:spcBef>
            </a:pPr>
            <a:r>
              <a:rPr lang="de-DE" sz="1200" dirty="0"/>
              <a:t>„Jetzt wird es praktisch. Ich gebe Kapital, Risikotoleranz und Stop-Loss-Distanz ein — ein Stop-Loss ist die Verlustgrenze, bei der automatisch verkauft wird. Die App rechnet live den maximalen Risikobetrag und die passende Positionsgröße aus. Das ist keine Prognose, das ist Risikomathematik — und die funktioniert unabhängig davon, wie schwach das Modell ist.“</a:t>
            </a:r>
          </a:p>
          <a:p>
            <a:pPr>
              <a:spcBef>
                <a:spcPts val="1200"/>
              </a:spcBef>
            </a:pPr>
            <a:r>
              <a:rPr lang="de-DE" sz="1200" b="1" dirty="0"/>
              <a:t>STATION 8 · PORTFOLIO-SIMULATOR  (ca. 25 Sek)</a:t>
            </a:r>
          </a:p>
          <a:p>
            <a:pPr>
              <a:spcBef>
                <a:spcPts val="400"/>
              </a:spcBef>
            </a:pPr>
            <a:r>
              <a:rPr lang="de-DE" sz="1200" dirty="0"/>
              <a:t>„Kapital auf mehrere Titel verteilen, Gewichte live verändern. Der Herfindahl-Index unten misst die Konzentration: je höher, desto mehr hängt alles an einem einzigen Titel.“</a:t>
            </a:r>
          </a:p>
          <a:p>
            <a:pPr>
              <a:spcBef>
                <a:spcPts val="1200"/>
              </a:spcBef>
            </a:pPr>
            <a:r>
              <a:rPr lang="de-DE" sz="1200" b="1" dirty="0"/>
              <a:t>STATION 9 · METHODIK &amp; EXPORT  (ca. 15 Sek)</a:t>
            </a:r>
          </a:p>
          <a:p>
            <a:pPr>
              <a:spcBef>
                <a:spcPts val="400"/>
              </a:spcBef>
            </a:pPr>
            <a:r>
              <a:rPr lang="de-DE" sz="1200" dirty="0"/>
              <a:t>„Und hier ist der QUA³CK-Prozess selbst interaktiv erklärt, plus Export des kompletten Berichts als PDF, CSV oder ZIP.“</a:t>
            </a:r>
          </a:p>
          <a:p>
            <a:pPr>
              <a:spcBef>
                <a:spcPts val="1200"/>
              </a:spcBef>
            </a:pPr>
            <a:r>
              <a:rPr lang="de-DE" sz="1200" b="1" dirty="0"/>
              <a:t>REGIE / TECHNIK</a:t>
            </a:r>
          </a:p>
          <a:p>
            <a:pPr>
              <a:spcBef>
                <a:spcPts val="400"/>
              </a:spcBef>
            </a:pPr>
            <a:r>
              <a:rPr lang="de-DE" sz="1200" dirty="0"/>
              <a:t>Vorher: App starten, Ticker SPY vorladen, Browser-Zoom 110 Prozent, Zeitraum 1 Jahr, ML-Insights-Seite einmal aufrufen, damit sie im Cache ist. Nicht scrollen, während gesprochen wird.</a:t>
            </a:r>
          </a:p>
          <a:p>
            <a:pPr>
              <a:spcBef>
                <a:spcPts val="400"/>
              </a:spcBef>
            </a:pPr>
            <a:r>
              <a:rPr lang="de-DE" sz="1200" dirty="0"/>
              <a:t>Etwa 10 Sekunden Puffer für Zwischenfragen sind eingerechnet. Station 5 ist die längste — wenn du bei Station 6 über 21:40 liegst, Stationen 8 und 9 in je einem Satz abhandeln.</a:t>
            </a:r>
          </a:p>
          <a:p>
            <a:pPr>
              <a:spcBef>
                <a:spcPts val="400"/>
              </a:spcBef>
            </a:pPr>
            <a:r>
              <a:rPr lang="de-DE" sz="1200" dirty="0"/>
              <a:t>AUSFALLPLAN: Bei Ladezeit über 3 Sekunden oder Fehlermeldung sofort auf die Backup-Folien im Anhang wechseln — Stationen 4 bis 6 liegen als Folien 29, 30 und 31, die App-Screenshots als Folien 32 bis 37. Nicht kommentieren, dass etwas ausgefallen ist. Einfach weitersprechen.</a:t>
            </a:r>
          </a:p>
          <a:p>
            <a:pPr>
              <a:spcBef>
                <a:spcPts val="1200"/>
              </a:spcBef>
            </a:pPr>
            <a:r>
              <a:rPr lang="de-DE" sz="1200" b="1" dirty="0"/>
              <a:t>ÜBERLEITUNG</a:t>
            </a:r>
          </a:p>
          <a:p>
            <a:pPr>
              <a:spcBef>
                <a:spcPts val="400"/>
              </a:spcBef>
            </a:pPr>
            <a:r>
              <a:rPr lang="de-DE" sz="1200" dirty="0"/>
              <a:t>„Zurück zu den Folien. Bevor ich das Fazit ziehe: Fragen zum Modell oder zur 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22:40–23:25  ·  45 Sek  ·  FRAGEFENSTER II</a:t>
            </a:r>
          </a:p>
          <a:p>
            <a:pPr>
              <a:spcBef>
                <a:spcPts val="1200"/>
              </a:spcBef>
            </a:pPr>
            <a:r>
              <a:rPr lang="de-DE" sz="1200" b="1" dirty="0"/>
              <a:t>SPRECHTEXT</a:t>
            </a:r>
          </a:p>
          <a:p>
            <a:pPr>
              <a:spcBef>
                <a:spcPts val="400"/>
              </a:spcBef>
            </a:pPr>
            <a:r>
              <a:rPr lang="de-DE" sz="1200" dirty="0"/>
              <a:t>Ihr habt jetzt die Zahlen gesehen und die App bedient. Bevor ich das Fazit ziehe: Was möchtet ihr zum Modell oder zur Anwendung wissen?</a:t>
            </a:r>
          </a:p>
          <a:p>
            <a:pPr>
              <a:spcBef>
                <a:spcPts val="1200"/>
              </a:spcBef>
            </a:pPr>
            <a:r>
              <a:rPr lang="de-DE" sz="1200" b="1" dirty="0"/>
              <a:t>MODERATION</a:t>
            </a:r>
          </a:p>
          <a:p>
            <a:pPr>
              <a:spcBef>
                <a:spcPts val="400"/>
              </a:spcBef>
            </a:pPr>
            <a:r>
              <a:rPr lang="de-DE" sz="1200" dirty="0"/>
              <a:t>Das ist das wahrscheinlichste Fragefenster des Vortrags — hier kommt fast sicher „Warum nur 0,519?“. Die ausformulierte Antwort steht in den Notizen zu Folie 28. Belegfolien 29 bis 31 sind bereit.</a:t>
            </a:r>
          </a:p>
          <a:p>
            <a:pPr>
              <a:spcBef>
                <a:spcPts val="400"/>
              </a:spcBef>
            </a:pPr>
            <a:r>
              <a:rPr lang="de-DE" sz="1200" dirty="0"/>
              <a:t>Wenn niemand fragt: „Was mich selbst am meisten überrascht hat, war, dass Drawdown und Volatilität wichtiger sind als die Renditen — Risiko trägt mehr Information als Ertrag.“ Das lädt zur Diskussion ein und leitet gleichzeitig weiter.</a:t>
            </a:r>
          </a:p>
          <a:p>
            <a:pPr>
              <a:spcBef>
                <a:spcPts val="1200"/>
              </a:spcBef>
            </a:pPr>
            <a:r>
              <a:rPr lang="de-DE" sz="1200" b="1" dirty="0"/>
              <a:t>ZEITDISZIPLIN</a:t>
            </a:r>
          </a:p>
          <a:p>
            <a:pPr>
              <a:spcBef>
                <a:spcPts val="400"/>
              </a:spcBef>
            </a:pPr>
            <a:r>
              <a:rPr lang="de-DE" sz="1200" dirty="0"/>
              <a:t>Harte Grenze 45 Sekunden. Alles Weitere in die offene Runde nach Folie 27 verschieben — die kommt in dreieinhalb Minuten.</a:t>
            </a:r>
          </a:p>
          <a:p>
            <a:pPr>
              <a:spcBef>
                <a:spcPts val="1200"/>
              </a:spcBef>
            </a:pPr>
            <a:r>
              <a:rPr lang="de-DE" sz="1200" b="1" dirty="0"/>
              <a:t>ÜBERLEITUNG</a:t>
            </a:r>
          </a:p>
          <a:p>
            <a:pPr>
              <a:spcBef>
                <a:spcPts val="400"/>
              </a:spcBef>
            </a:pPr>
            <a:r>
              <a:rPr lang="de-DE" sz="1200" dirty="0"/>
              <a:t>„Dann rechnen wir ab: Was ist aus meinen drei Hypothesen geworden?“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23:25–24:10  ·  ca. 45 Sek</a:t>
            </a:r>
          </a:p>
          <a:p>
            <a:pPr>
              <a:spcBef>
                <a:spcPts val="1200"/>
              </a:spcBef>
            </a:pPr>
            <a:r>
              <a:rPr lang="de-DE" sz="1200" b="1" dirty="0"/>
              <a:t>SPRECHTEXT</a:t>
            </a:r>
          </a:p>
          <a:p>
            <a:pPr>
              <a:spcBef>
                <a:spcPts val="400"/>
              </a:spcBef>
            </a:pPr>
            <a:r>
              <a:rPr lang="de-DE" sz="1200" dirty="0"/>
              <a:t>H1, das Modell: nicht bestätigt. AUC 0,519 im Out-of-Time-Test, 0,514 über vier Walk-forward-Folds. Kein belastbares Handelssignal. Und wichtig für die Bewertung: „nicht bestätigt“ heißt hier falsifiziert, nicht ungeprüft. H1 war so formuliert, dass sie scheitern konnte — genau das macht sie zu einer wissenschaftlichen Hypothese. Eine Hypothese, die nicht scheitern kann, ist keine.</a:t>
            </a:r>
          </a:p>
          <a:p>
            <a:pPr>
              <a:spcBef>
                <a:spcPts val="400"/>
              </a:spcBef>
            </a:pPr>
            <a:r>
              <a:rPr lang="de-DE" sz="1200" dirty="0"/>
              <a:t>H2, die Zugänglichkeit: bestätigt — und das habt ihr gerade selbst überprüft. Die App erklärt jeden Schritt, inklusive eigener Methodik-Seite und Lernstudio.</a:t>
            </a:r>
          </a:p>
          <a:p>
            <a:pPr>
              <a:spcBef>
                <a:spcPts val="400"/>
              </a:spcBef>
            </a:pPr>
            <a:r>
              <a:rPr lang="de-DE" sz="1200" dirty="0"/>
              <a:t>H3, die Kombination: teilweise bestätigt. ML-Signal, Indikatoren und Portfolio-Werkzeuge ergeben zusammen ein sinnvolles Werkzeug — aber ich habe keine formale Nutzerstudie durchgeführt. Und ohne Beleg sage ich nicht „bestätigt“, sondern „teilweise“.</a:t>
            </a:r>
          </a:p>
          <a:p>
            <a:pPr>
              <a:spcBef>
                <a:spcPts val="1200"/>
              </a:spcBef>
            </a:pPr>
            <a:r>
              <a:rPr lang="de-DE" sz="1200" b="1" dirty="0"/>
              <a:t>REGIE</a:t>
            </a:r>
          </a:p>
          <a:p>
            <a:pPr>
              <a:spcBef>
                <a:spcPts val="400"/>
              </a:spcBef>
            </a:pPr>
            <a:r>
              <a:rPr lang="de-DE" sz="1200" dirty="0"/>
              <a:t>Genau in dieser Reihenfolge: erst die Absage, dann die beiden Erfolge. Bei H2 ans Publikum verweisen — die Demo ist gerade zwei Minuten her, das ist dein stärkster Beleg.</a:t>
            </a:r>
          </a:p>
          <a:p>
            <a:pPr>
              <a:spcBef>
                <a:spcPts val="1200"/>
              </a:spcBef>
            </a:pPr>
            <a:r>
              <a:rPr lang="de-DE" sz="1200" b="1" dirty="0"/>
              <a:t>ÜBERLEITUNG</a:t>
            </a:r>
          </a:p>
          <a:p>
            <a:pPr>
              <a:spcBef>
                <a:spcPts val="400"/>
              </a:spcBef>
            </a:pPr>
            <a:r>
              <a:rPr lang="de-DE" sz="1200" dirty="0"/>
              <a:t>„Dazu gehören vier Grenzen, die ich offen benenne.“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24:10–24:55  ·  ca. 45 Sek</a:t>
            </a:r>
          </a:p>
          <a:p>
            <a:pPr>
              <a:spcBef>
                <a:spcPts val="1200"/>
              </a:spcBef>
            </a:pPr>
            <a:r>
              <a:rPr lang="de-DE" sz="1200" b="1" dirty="0"/>
              <a:t>SPRECHTEXT</a:t>
            </a:r>
          </a:p>
          <a:p>
            <a:pPr>
              <a:spcBef>
                <a:spcPts val="400"/>
              </a:spcBef>
            </a:pPr>
            <a:r>
              <a:rPr lang="de-DE" sz="1200" dirty="0"/>
              <a:t>Erstens: keine exogenen Faktoren. Zinsentscheidungen, Konjunkturdaten, Geopolitik — nichts davon steckt im Modell.</a:t>
            </a:r>
          </a:p>
          <a:p>
            <a:pPr>
              <a:spcBef>
                <a:spcPts val="400"/>
              </a:spcBef>
            </a:pPr>
            <a:r>
              <a:rPr lang="de-DE" sz="1200" dirty="0"/>
              <a:t>Zweitens: kein Sentiment. Die App zeigt Nachrichten an, aber ihre Tonalität ist kein ML-Feature.</a:t>
            </a:r>
          </a:p>
          <a:p>
            <a:pPr>
              <a:spcBef>
                <a:spcPts val="400"/>
              </a:spcBef>
            </a:pPr>
            <a:r>
              <a:rPr lang="de-DE" sz="1200" dirty="0"/>
              <a:t>Drittens: Das Modell ist statisch. Es trainiert sich bei neuen Daten nicht automatisch nach.</a:t>
            </a:r>
          </a:p>
          <a:p>
            <a:pPr>
              <a:spcBef>
                <a:spcPts val="400"/>
              </a:spcBef>
            </a:pPr>
            <a:r>
              <a:rPr lang="de-DE" sz="1200" dirty="0"/>
              <a:t>Viertens, und das gilt für jedes Finanzmodell der Welt: Historie ist nicht Zukunft.</a:t>
            </a:r>
          </a:p>
          <a:p>
            <a:pPr>
              <a:spcBef>
                <a:spcPts val="400"/>
              </a:spcBef>
            </a:pPr>
            <a:r>
              <a:rPr lang="de-DE" sz="1200" dirty="0"/>
              <a:t>Diese Grenzen sind kein Versagen des Projekts. Sie sind der ehrliche Abschluss eines wissenschaftlichen Projekts, das genau weiß, was es kann — und was nicht.</a:t>
            </a:r>
          </a:p>
          <a:p>
            <a:pPr>
              <a:spcBef>
                <a:spcPts val="1200"/>
              </a:spcBef>
            </a:pPr>
            <a:r>
              <a:rPr lang="de-DE" sz="1200" b="1" dirty="0"/>
              <a:t>REGIE</a:t>
            </a:r>
          </a:p>
          <a:p>
            <a:pPr>
              <a:spcBef>
                <a:spcPts val="400"/>
              </a:spcBef>
            </a:pPr>
            <a:r>
              <a:rPr lang="de-DE" sz="1200" dirty="0"/>
              <a:t>Kurze Pause vor dem Schlusssatz.</a:t>
            </a:r>
          </a:p>
          <a:p>
            <a:pPr>
              <a:spcBef>
                <a:spcPts val="1200"/>
              </a:spcBef>
            </a:pPr>
            <a:r>
              <a:rPr lang="de-DE" sz="1200" b="1" dirty="0"/>
              <a:t>ÜBERLEITUNG</a:t>
            </a:r>
          </a:p>
          <a:p>
            <a:pPr>
              <a:spcBef>
                <a:spcPts val="400"/>
              </a:spcBef>
            </a:pPr>
            <a:r>
              <a:rPr lang="de-DE" sz="1200" dirty="0"/>
              <a:t>„Was bleibt also?“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24:55–25:50  ·  ca. 55 Sek</a:t>
            </a:r>
          </a:p>
          <a:p>
            <a:pPr>
              <a:spcBef>
                <a:spcPts val="1200"/>
              </a:spcBef>
            </a:pPr>
            <a:r>
              <a:rPr lang="de-DE" sz="1200" b="1" dirty="0"/>
              <a:t>SPRECHTEXT</a:t>
            </a:r>
          </a:p>
          <a:p>
            <a:pPr>
              <a:spcBef>
                <a:spcPts val="400"/>
              </a:spcBef>
            </a:pPr>
            <a:r>
              <a:rPr lang="de-DE" sz="1200" dirty="0"/>
              <a:t>Was bleibt?</a:t>
            </a:r>
          </a:p>
          <a:p>
            <a:pPr>
              <a:spcBef>
                <a:spcPts val="400"/>
              </a:spcBef>
            </a:pPr>
            <a:r>
              <a:rPr lang="de-DE" sz="1200" dirty="0"/>
              <a:t>Der Satz oben ist mein Kernsatz: Ein ehrliches Modell, das im Out-of-Time-Test kaum besser als Zufall ist, ist wissenschaftlich wertvoller als ein beeindruckender Wert, der nur durch Zukunftswissen zustande kam. Und heute habe ich euch beide Zahlen gezeigt — 0,519 und 0,581. Der Unterschied war kein Modell, sondern Methodik.</a:t>
            </a:r>
          </a:p>
          <a:p>
            <a:pPr>
              <a:spcBef>
                <a:spcPts val="400"/>
              </a:spcBef>
            </a:pPr>
            <a:r>
              <a:rPr lang="de-DE" sz="1200" dirty="0"/>
              <a:t>Damit ist das Ergebnis dieses Projekts nicht das Modell. Es ist eine Messung: Wie viel verwertbare Information steckt in rein kursbasierten technischen Indikatoren? Antwort: fast keine — und das gemessen an 190.527 Beobachtungen mit elf Jahren unangetasteter Zukunft. Das ist eine Replikation der Effizienzmarkthypothese von Fama, nicht zitiert, sondern nachgerechnet.</a:t>
            </a:r>
          </a:p>
          <a:p>
            <a:pPr>
              <a:spcBef>
                <a:spcPts val="400"/>
              </a:spcBef>
            </a:pPr>
            <a:r>
              <a:rPr lang="de-DE" sz="1200" dirty="0"/>
              <a:t>Technisch bleibt eine modulare Architektur mit über zwanzig fachlich getrennten Modulen statt einem Monolithen, acht vollständig kommentierte Jupyter-Notebooks — und die Zahlen 51,9 Prozent und 0,519, jederzeit reproduzierbar.</a:t>
            </a:r>
          </a:p>
          <a:p>
            <a:pPr>
              <a:spcBef>
                <a:spcPts val="400"/>
              </a:spcBef>
            </a:pPr>
            <a:r>
              <a:rPr lang="de-DE" sz="1200" dirty="0"/>
              <a:t>Und der größere Punkt: Moderne KI beschleunigt Entwicklung und Erklärung enorm. Wissenschaftliche Qualität entsteht aber genau wie früher — durch saubere Fragen, zeitliche Trennung, Baselines, reproduzierbare Tests und das offene Benennen von Grenzen.</a:t>
            </a:r>
          </a:p>
          <a:p>
            <a:pPr>
              <a:spcBef>
                <a:spcPts val="1200"/>
              </a:spcBef>
            </a:pPr>
            <a:r>
              <a:rPr lang="de-DE" sz="1200" b="1" dirty="0"/>
              <a:t>REGIE</a:t>
            </a:r>
          </a:p>
          <a:p>
            <a:pPr>
              <a:spcBef>
                <a:spcPts val="400"/>
              </a:spcBef>
            </a:pPr>
            <a:r>
              <a:rPr lang="de-DE" sz="1200" dirty="0"/>
              <a:t>Langsamste Folie des Vortrags. Das Zitat oben tatsächlich vorlesen — es ist die Botschaft, die hängenbleiben soll.</a:t>
            </a:r>
          </a:p>
          <a:p>
            <a:pPr>
              <a:spcBef>
                <a:spcPts val="1200"/>
              </a:spcBef>
            </a:pPr>
            <a:r>
              <a:rPr lang="de-DE" sz="1200" b="1" dirty="0"/>
              <a:t>ÜBERLEITUNG</a:t>
            </a:r>
          </a:p>
          <a:p>
            <a:pPr>
              <a:spcBef>
                <a:spcPts val="400"/>
              </a:spcBef>
            </a:pPr>
            <a:r>
              <a:rPr lang="de-DE" sz="1200" dirty="0"/>
              <a:t>„Wie ginge es weiter, wenn ich weitermachen würde?“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25:50–26:30  ·  ca. 40 Sek</a:t>
            </a:r>
          </a:p>
          <a:p>
            <a:pPr>
              <a:spcBef>
                <a:spcPts val="1200"/>
              </a:spcBef>
            </a:pPr>
            <a:r>
              <a:rPr lang="de-DE" sz="1200" b="1" dirty="0"/>
              <a:t>SPRECHTEXT</a:t>
            </a:r>
          </a:p>
          <a:p>
            <a:pPr>
              <a:spcBef>
                <a:spcPts val="400"/>
              </a:spcBef>
            </a:pPr>
            <a:r>
              <a:rPr lang="de-DE" sz="1200" dirty="0"/>
              <a:t>Vier Ausbaustufen.</a:t>
            </a:r>
          </a:p>
          <a:p>
            <a:pPr>
              <a:spcBef>
                <a:spcPts val="400"/>
              </a:spcBef>
            </a:pPr>
            <a:r>
              <a:rPr lang="de-DE" sz="1200" dirty="0"/>
              <a:t>Erstens Online Learning: Das Modell aktualisiert sich automatisch mit jedem neuen Kurstag, statt auf dem Stand des Trainings einzufrieren.</a:t>
            </a:r>
          </a:p>
          <a:p>
            <a:pPr>
              <a:spcBef>
                <a:spcPts val="400"/>
              </a:spcBef>
            </a:pPr>
            <a:r>
              <a:rPr lang="de-DE" sz="1200" dirty="0"/>
              <a:t>Zweitens Sentiment-Integration: die Tonalität von Nachrichten als zusätzliches Feature. Das wäre Information, die nicht schon im Kurs steckt — und damit der aussichtsreichste Hebel von allen vier.</a:t>
            </a:r>
          </a:p>
          <a:p>
            <a:pPr>
              <a:spcBef>
                <a:spcPts val="400"/>
              </a:spcBef>
            </a:pPr>
            <a:r>
              <a:rPr lang="de-DE" sz="1200" dirty="0"/>
              <a:t>Drittens Multiklassen-Klassifikation: nicht nur auf oder ab, sondern stark, mäßig, neutral.</a:t>
            </a:r>
          </a:p>
          <a:p>
            <a:pPr>
              <a:spcBef>
                <a:spcPts val="400"/>
              </a:spcBef>
            </a:pPr>
            <a:r>
              <a:rPr lang="de-DE" sz="1200" dirty="0"/>
              <a:t>Und viertens eine erweiterte Backtesting-Engine, die simulierte Handelsstrategien auf historischen Daten durchrechnet.</a:t>
            </a:r>
          </a:p>
          <a:p>
            <a:pPr>
              <a:spcBef>
                <a:spcPts val="1200"/>
              </a:spcBef>
            </a:pPr>
            <a:r>
              <a:rPr lang="de-DE" sz="1200" b="1" dirty="0"/>
              <a:t>REGIE</a:t>
            </a:r>
          </a:p>
          <a:p>
            <a:pPr>
              <a:spcBef>
                <a:spcPts val="400"/>
              </a:spcBef>
            </a:pPr>
            <a:r>
              <a:rPr lang="de-DE" sz="1200" dirty="0"/>
              <a:t>Zügig. Punkt zwei kurz begründen — das zeigt, dass die Roadmap durchdacht ist und nicht nur eine Wunschliste.</a:t>
            </a:r>
          </a:p>
          <a:p>
            <a:pPr>
              <a:spcBef>
                <a:spcPts val="1200"/>
              </a:spcBef>
            </a:pPr>
            <a:r>
              <a:rPr lang="de-DE" sz="1200" b="1" dirty="0"/>
              <a:t>ÜBERLEITUNG</a:t>
            </a:r>
          </a:p>
          <a:p>
            <a:pPr>
              <a:spcBef>
                <a:spcPts val="400"/>
              </a:spcBef>
            </a:pPr>
            <a:r>
              <a:rPr lang="de-DE" sz="1200" dirty="0"/>
              <a:t>„Ganz kurz die wissenschaftliche Grundlage.“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26:30–26:45  ·  ca. 15 Sek</a:t>
            </a:r>
          </a:p>
          <a:p>
            <a:pPr>
              <a:spcBef>
                <a:spcPts val="1200"/>
              </a:spcBef>
            </a:pPr>
            <a:r>
              <a:rPr lang="de-DE" sz="1200" b="1" dirty="0"/>
              <a:t>SPRECHTEXT</a:t>
            </a:r>
          </a:p>
          <a:p>
            <a:pPr>
              <a:spcBef>
                <a:spcPts val="400"/>
              </a:spcBef>
            </a:pPr>
            <a:r>
              <a:rPr lang="de-DE" sz="1200" dirty="0"/>
              <a:t>Kurslehrbuch ist der Géron, Kapitel 1 bis 9 — Klassifikationsmetriken, Pipelines, Support Vector Machines, Entscheidungsbäume, Random Forests, ROC und zeitliche Validierung. Alles davon steckt im Projekt.</a:t>
            </a:r>
          </a:p>
          <a:p>
            <a:pPr>
              <a:spcBef>
                <a:spcPts val="400"/>
              </a:spcBef>
            </a:pPr>
            <a:r>
              <a:rPr lang="de-DE" sz="1200" dirty="0"/>
              <a:t>Dazu fünf wissenschaftliche Quellen: Fama zur Markteffizienz, Lundberg und Lee zu SHAP, Li zur Imputation, Pinheiro zur Skalierung und Stock zum QUA³CK-Prozess. Die Datenbasis ist CC0, also gemeinfrei.</a:t>
            </a:r>
          </a:p>
          <a:p>
            <a:pPr>
              <a:spcBef>
                <a:spcPts val="1200"/>
              </a:spcBef>
            </a:pPr>
            <a:r>
              <a:rPr lang="de-DE" sz="1200" b="1" dirty="0"/>
              <a:t>REGIE</a:t>
            </a:r>
          </a:p>
          <a:p>
            <a:pPr>
              <a:spcBef>
                <a:spcPts val="400"/>
              </a:spcBef>
            </a:pPr>
            <a:r>
              <a:rPr lang="de-DE" sz="1200" dirty="0"/>
              <a:t>Nicht vorlesen. Nur die Brücke zum Kurs benennen, die Folie steht als Beleg.</a:t>
            </a:r>
          </a:p>
          <a:p>
            <a:pPr>
              <a:spcBef>
                <a:spcPts val="1200"/>
              </a:spcBef>
            </a:pPr>
            <a:r>
              <a:rPr lang="de-DE" sz="1200" b="1" dirty="0"/>
              <a:t>ÜBERLEITUNG</a:t>
            </a:r>
          </a:p>
          <a:p>
            <a:pPr>
              <a:spcBef>
                <a:spcPts val="400"/>
              </a:spcBef>
            </a:pPr>
            <a:r>
              <a:rPr lang="de-DE" sz="1200" dirty="0"/>
              <a:t>„Damit bin ich am Ende.“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26:45–27:00  ·  ca. 15 Sek  ·  danach offene Fragerunde</a:t>
            </a:r>
          </a:p>
          <a:p>
            <a:pPr>
              <a:spcBef>
                <a:spcPts val="1200"/>
              </a:spcBef>
            </a:pPr>
            <a:r>
              <a:rPr lang="de-DE" sz="1200" b="1" dirty="0"/>
              <a:t>SPRECHTEXT</a:t>
            </a:r>
          </a:p>
          <a:p>
            <a:pPr>
              <a:spcBef>
                <a:spcPts val="400"/>
              </a:spcBef>
            </a:pPr>
            <a:r>
              <a:rPr lang="de-DE" sz="1200" dirty="0"/>
              <a:t>Fünftausend Euro, acht Merkmale, fünf Modelle und elf Jahre unangetastete Testdaten — und die vielleicht wichtigste Erkenntnis daraus: Manchmal ist das ehrlichste Ergebnis das wertvollste.</a:t>
            </a:r>
          </a:p>
          <a:p>
            <a:pPr>
              <a:spcBef>
                <a:spcPts val="400"/>
              </a:spcBef>
            </a:pPr>
            <a:r>
              <a:rPr lang="de-DE" sz="1200" dirty="0"/>
              <a:t>Vielen Dank für eure Aufmerksamkeit. Jetzt habe ich alle Zeit für eure Fragen.</a:t>
            </a:r>
          </a:p>
          <a:p>
            <a:pPr>
              <a:spcBef>
                <a:spcPts val="1200"/>
              </a:spcBef>
            </a:pPr>
            <a:r>
              <a:rPr lang="de-DE" sz="1200" b="1" dirty="0"/>
              <a:t>REGIE</a:t>
            </a:r>
          </a:p>
          <a:p>
            <a:pPr>
              <a:spcBef>
                <a:spcPts val="400"/>
              </a:spcBef>
            </a:pPr>
            <a:r>
              <a:rPr lang="de-DE" sz="1200" dirty="0"/>
              <a:t>Klammer zum Einstieg schließen. Nach „Danke“ stehenbleiben, nicht sofort zum Laptop greifen. Publikum anschauen und die erste Frage abwarten.</a:t>
            </a:r>
          </a:p>
          <a:p>
            <a:pPr>
              <a:spcBef>
                <a:spcPts val="1200"/>
              </a:spcBef>
            </a:pPr>
            <a:r>
              <a:rPr lang="de-DE" sz="1200" b="1" dirty="0"/>
              <a:t>FÜR DIE FRAGERUNDE</a:t>
            </a:r>
          </a:p>
          <a:p>
            <a:pPr>
              <a:spcBef>
                <a:spcPts val="400"/>
              </a:spcBef>
            </a:pPr>
            <a:r>
              <a:rPr lang="de-DE" sz="1200" dirty="0"/>
              <a:t>Folie 28 hält die vier wahrscheinlichsten Prüferfragen mit ausformulierten Antworten. Belegfolien: 29 Konfusionsmatrix &amp; ROC, 30 Lernkurve, 31 Erklärbarkeit. App-Screenshots: 32 bis 37. Im Präsentationsmodus Foliennummer eintippen und Enter drücken, um direkt dorthin zu springen.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Q&amp;A  ·  NICHT VORLESEN</a:t>
            </a:r>
          </a:p>
          <a:p>
            <a:pPr>
              <a:spcBef>
                <a:spcPts val="1200"/>
              </a:spcBef>
            </a:pPr>
            <a:r>
              <a:rPr lang="de-DE" sz="1200" b="1" dirty="0"/>
              <a:t>EINSATZ</a:t>
            </a:r>
          </a:p>
          <a:p>
            <a:pPr>
              <a:spcBef>
                <a:spcPts val="400"/>
              </a:spcBef>
            </a:pPr>
            <a:r>
              <a:rPr lang="de-DE" sz="1200" dirty="0"/>
              <a:t>Backup-Folie für die Fragerunde. Nur einblenden, wenn eine dieser Fragen tatsächlich gestellt wird.</a:t>
            </a:r>
          </a:p>
          <a:p>
            <a:pPr>
              <a:spcBef>
                <a:spcPts val="1200"/>
              </a:spcBef>
            </a:pPr>
            <a:r>
              <a:rPr lang="de-DE" sz="1200" b="1" dirty="0"/>
              <a:t>ANTWORT · „Warum nur ROC-AUC 0,519?“</a:t>
            </a:r>
          </a:p>
          <a:p>
            <a:pPr>
              <a:spcBef>
                <a:spcPts val="400"/>
              </a:spcBef>
            </a:pPr>
            <a:r>
              <a:rPr lang="de-DE" sz="1200" dirty="0"/>
              <a:t>„Weil der Test zeitlich unangetastet ist. Sobald man Zukunftswissen entfernt, bleibt mit reinen historischen Kursmerkmalen gemäß Effizienzmarkthypothese nur ein sehr schwaches Signal übrig. 0,519 ist genau das — und die Walk-forward-Folds bestätigen es mit 0,514.“</a:t>
            </a:r>
          </a:p>
          <a:p>
            <a:pPr>
              <a:spcBef>
                <a:spcPts val="1200"/>
              </a:spcBef>
            </a:pPr>
            <a:r>
              <a:rPr lang="de-DE" sz="1200" b="1" dirty="0"/>
              <a:t>ANTWORT · „Was ist Data Leakage und wie habt ihr es verhindert?“</a:t>
            </a:r>
          </a:p>
          <a:p>
            <a:pPr>
              <a:spcBef>
                <a:spcPts val="400"/>
              </a:spcBef>
            </a:pPr>
            <a:r>
              <a:rPr lang="de-DE" sz="1200" dirty="0"/>
              <a:t>„Leakage heißt, dass Information aus der Testperiode ins Training sickert. Drei Schutzmaßnahmen: strikte Zeitordnung, 20 Handelstage Sperrzone zwischen Training und Test, und eine Pipeline, in der Imputer und Scaler ausschließlich im jeweiligen Trainingsfenster gefittet werden.“</a:t>
            </a:r>
          </a:p>
          <a:p>
            <a:pPr>
              <a:spcBef>
                <a:spcPts val="1200"/>
              </a:spcBef>
            </a:pPr>
            <a:r>
              <a:rPr lang="de-DE" sz="1200" b="1" dirty="0"/>
              <a:t>LEAKAGE-GEGENRECHNUNG  (Zahlen zum Zitieren)</a:t>
            </a:r>
          </a:p>
          <a:p>
            <a:pPr>
              <a:spcBef>
                <a:spcPts val="400"/>
              </a:spcBef>
            </a:pPr>
            <a:r>
              <a:rPr lang="de-DE" sz="1200" dirty="0"/>
              <a:t>Random Forest, identische Parameter und Datenbasis, nur die Aufteilung variiert:</a:t>
            </a:r>
          </a:p>
          <a:p>
            <a:pPr>
              <a:spcBef>
                <a:spcPts val="400"/>
              </a:spcBef>
            </a:pPr>
            <a:r>
              <a:rPr lang="de-DE" sz="1200" dirty="0"/>
              <a:t>zeitlich + 20 Tage Sperrzone (v1.0): AUC 0,5192 · BalAcc 0,5129 · Acc 0,5187 (Baseline 0,5915)   —   zeitlich ohne Sperrzone: AUC 0,5240 · BalAcc 0,5172 · Acc 0,5308   —   naiver Zufalls-Split 80/20: AUC 0,5813 · BalAcc 0,5512 · Acc 0,5467 (Baseline 0,5592)</a:t>
            </a:r>
          </a:p>
          <a:p>
            <a:pPr>
              <a:spcBef>
                <a:spcPts val="400"/>
              </a:spcBef>
            </a:pPr>
            <a:r>
              <a:rPr lang="de-DE" sz="1200" dirty="0"/>
              <a:t>Kernaussage: Gemessen am Zufallsniveau 0,5 erscheint das Signal beim Zufalls-Split mit 0,081 statt 0,019 — also 4,2-mal größer. Bemerkenswert: Selbst dort liegt die Accuracy mit 0,5467 noch unter ihrer Baseline von 0,5592. Die Sperrzone allein macht 0,005 aus, der Split-Typ 0,062.</a:t>
            </a:r>
          </a:p>
          <a:p>
            <a:pPr>
              <a:spcBef>
                <a:spcPts val="1200"/>
              </a:spcBef>
            </a:pPr>
            <a:r>
              <a:rPr lang="de-DE" sz="1200" b="1" dirty="0"/>
              <a:t>ANTWORT · „Warum binäre Klassifikation statt Regression?“</a:t>
            </a:r>
          </a:p>
          <a:p>
            <a:pPr>
              <a:spcBef>
                <a:spcPts val="400"/>
              </a:spcBef>
            </a:pPr>
            <a:r>
              <a:rPr lang="de-DE" sz="1200" dirty="0"/>
              <a:t>„Weil die exakte Kurshöhe an effizienten Märkten praktisch nicht vorhersagbar ist. Die Richtungsfrage ist die realistischere Fragestellung und lässt sich mit Accuracy, Balanced Accuracy und ROC-AUC sauber bewerten.“</a:t>
            </a:r>
          </a:p>
          <a:p>
            <a:pPr>
              <a:spcBef>
                <a:spcPts val="1200"/>
              </a:spcBef>
            </a:pPr>
            <a:r>
              <a:rPr lang="de-DE" sz="1200" b="1" dirty="0"/>
              <a:t>ANTWORT · „Warum Random Forest statt neuronalem Netz?“</a:t>
            </a:r>
          </a:p>
          <a:p>
            <a:pPr>
              <a:spcBef>
                <a:spcPts val="400"/>
              </a:spcBef>
            </a:pPr>
            <a:r>
              <a:rPr lang="de-DE" sz="1200" dirty="0"/>
              <a:t>„Ich habe bewusst fünf Modellgenerationen verglichen. Der Random Forest bringt Nichtlinearität und Erklärbarkeit zusammen. Kein Modell erzeugt aber ein belastbares Signal — und bei acht Features rechtfertigt das kein neuronales Netz. Occam’s Razor.“</a:t>
            </a:r>
          </a:p>
          <a:p>
            <a:pPr>
              <a:spcBef>
                <a:spcPts val="1200"/>
              </a:spcBef>
            </a:pPr>
            <a:r>
              <a:rPr lang="de-DE" sz="1200" b="1" dirty="0"/>
              <a:t>ANTWORT · „Ihre Lernkurve zeigt doch klares Overfitting?“  (WICHTIG)</a:t>
            </a:r>
          </a:p>
          <a:p>
            <a:pPr>
              <a:spcBef>
                <a:spcPts val="400"/>
              </a:spcBef>
            </a:pPr>
            <a:r>
              <a:rPr lang="de-DE" sz="1200" dirty="0"/>
              <a:t>„Ja, völlig richtig — Trainings-AUC 0,637 gegen Validierung 0,525, Lücke 0,11. Die App weist das selbst als hohe Varianz aus. Der Punkt ist: Es ist hier nicht behebbar. Ich habe beide Standardhebel geprüft.“</a:t>
            </a:r>
          </a:p>
          <a:p>
            <a:pPr>
              <a:spcBef>
                <a:spcPts val="400"/>
              </a:spcBef>
            </a:pPr>
            <a:r>
              <a:rPr lang="de-DE" sz="1200" dirty="0"/>
              <a:t>„Erster Hebel, mehr Daten: Die Validierungskurve läuft über die 2,3-fache Datenmenge von 0,530 auf 0,525 — sie bewegt sich nicht. Die Lücke schließt sich nur, weil der Trainings-Score fällt.“</a:t>
            </a:r>
          </a:p>
          <a:p>
            <a:pPr>
              <a:spcBef>
                <a:spcPts val="400"/>
              </a:spcBef>
            </a:pPr>
            <a:r>
              <a:rPr lang="de-DE" sz="1200" dirty="0"/>
              <a:t>„Zweiter Hebel, stärkere Regularisierung: Ich habe sieben Konfigurationen auf demselben Out-of-Time-Fenster gerechnet. Ein unbeschränkter Forest erreicht Trainings-AUC 1,0 — er lernt alle 120.920 Zeilen perfekt auswendig — und im Test 0,512. Ganz am anderen Ende, bei Tiefe 2 und 200 Beobachtungen pro Blatt, schrumpft die Lücke auf 0,03, und der Test-AUC liegt bei 0,513. Über den kompletten Komplexitätsbereich bewegt sich der Test-AUC zwischen 0,512 und 0,519.“</a:t>
            </a:r>
          </a:p>
          <a:p>
            <a:pPr>
              <a:spcBef>
                <a:spcPts val="400"/>
              </a:spcBef>
            </a:pPr>
            <a:r>
              <a:rPr lang="de-DE" sz="1200" dirty="0"/>
              <a:t>„Das heißt: Die Obergrenze setzt der Informationsgehalt der Features, nicht die Modellkapazität. Was overfittet wird, ist Rauschen. Und die gewählten Parameter — Tiefe 8, 5 pro Blatt — sind in diesem Vergleich mit 0,5192 der beste Wert.“</a:t>
            </a:r>
          </a:p>
          <a:p>
            <a:pPr>
              <a:spcBef>
                <a:spcPts val="1200"/>
              </a:spcBef>
            </a:pPr>
            <a:r>
              <a:rPr lang="de-DE" sz="1200" b="1" dirty="0"/>
              <a:t>ABLATIONSTABELLE  (Zahlen zum Zitieren)</a:t>
            </a:r>
          </a:p>
          <a:p>
            <a:pPr>
              <a:spcBef>
                <a:spcPts val="400"/>
              </a:spcBef>
            </a:pPr>
            <a:r>
              <a:rPr lang="de-DE" sz="1200" dirty="0"/>
              <a:t>Random Forest, 200 Bäume, identisches purged-OOT-Fenster — Train-AUC / Test-AUC / Lücke:</a:t>
            </a:r>
          </a:p>
          <a:p>
            <a:pPr>
              <a:spcBef>
                <a:spcPts val="400"/>
              </a:spcBef>
            </a:pPr>
            <a:r>
              <a:rPr lang="de-DE" sz="1200" dirty="0"/>
              <a:t>unbeschränkt: 1,0000 / 0,5121 / 0,488   ·   Tiefe 16, Blatt 2: 0,9044 / 0,5180 / 0,386   ·   Tiefe 8, Blatt 5 (v1.0): 0,6327 / 0,5192 / 0,114   ·   Tiefe 6, Blatt 20: 0,5948 / 0,5158 / 0,079   ·   Tiefe 4, Blatt 50: 0,5672 / 0,5146 / 0,053   ·   Tiefe 3, Blatt 100: 0,5548 / 0,5161 / 0,039   ·   Tiefe 2, Blatt 200: 0,5426 / 0,5129 / 0,030</a:t>
            </a:r>
          </a:p>
          <a:p>
            <a:pPr>
              <a:spcBef>
                <a:spcPts val="400"/>
              </a:spcBef>
            </a:pPr>
            <a:r>
              <a:rPr lang="de-DE" sz="1200" dirty="0"/>
              <a:t>Einschränkung, falls nachgefragt: gemessen auf dem OOT-Holdout, nicht zusätzlich über die vier Walk-forward-Folds. Bei einer Gesamtspanne von 0,007 ändert das die Aussage nicht.</a:t>
            </a:r>
          </a:p>
          <a:p>
            <a:pPr>
              <a:spcBef>
                <a:spcPts val="1200"/>
              </a:spcBef>
            </a:pPr>
            <a:r>
              <a:rPr lang="de-DE" sz="1200" b="1" dirty="0"/>
              <a:t>WEITERE WAHRSCHEINLICHE FRAGEN</a:t>
            </a:r>
          </a:p>
          <a:p>
            <a:pPr>
              <a:spcBef>
                <a:spcPts val="400"/>
              </a:spcBef>
            </a:pPr>
            <a:r>
              <a:rPr lang="de-DE" sz="1200" dirty="0"/>
              <a:t>Survivorship-Bias: offen zugeben, siehe Folie 10.  ·  Warum 20 Handelstage Horizont: rund ein Handelsmonat — lang genug für Trendwirkung, kurz genug für genügend Beobachtungen.  ·  Warum kein Hyperparameter-Tuning per Grid Search: siehe Ablationstabelle oben — der Test-AUC ist über den gesamten Komplexitätsbereich flach, Tuning würde nur Rauschen optimieren.  ·  Warum ist der Entscheidungsbaum im Walk-forward besser (0,5153 gegen 0,5141)? Differenz im Rauschbereich; der Random Forest ist als Demonstrator gewählt wegen Erklärbarkeit und Varianzreduktion, nicht wegen der besten Einzelmetrik.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BELEGFOLIE  ·  nicht im Vortragsablauf</a:t>
            </a:r>
          </a:p>
          <a:p>
            <a:pPr>
              <a:spcBef>
                <a:spcPts val="1200"/>
              </a:spcBef>
            </a:pPr>
            <a:r>
              <a:rPr lang="de-DE" sz="1200" b="1" dirty="0"/>
              <a:t>EINSATZ</a:t>
            </a:r>
          </a:p>
          <a:p>
            <a:pPr>
              <a:spcBef>
                <a:spcPts val="400"/>
              </a:spcBef>
            </a:pPr>
            <a:r>
              <a:rPr lang="de-DE" sz="1200" dirty="0"/>
              <a:t>Diese Folie war früher im Hauptteil. Der Inhalt läuft jetzt live in der Demo (Station 4 der Live-Demo). Hier nur noch für zwei Fälle: als Ausfallplan, wenn die App nicht startet, oder als Beleg auf eine Nachfrage in der Fragerunde.</a:t>
            </a:r>
          </a:p>
          <a:p>
            <a:pPr>
              <a:spcBef>
                <a:spcPts val="1200"/>
              </a:spcBef>
            </a:pPr>
            <a:r>
              <a:rPr lang="de-DE" sz="1200" b="1" dirty="0"/>
              <a:t>SPRECHTEXT (falls gezeigt)</a:t>
            </a:r>
          </a:p>
          <a:p>
            <a:pPr>
              <a:spcBef>
                <a:spcPts val="400"/>
              </a:spcBef>
            </a:pPr>
            <a:r>
              <a:rPr lang="de-DE" sz="1200" dirty="0"/>
              <a:t>„Die Konfusionsmatrix zeigt, welche Art von Fehlern das Modell macht: Es tippt fast immer auf ‚steigend‘, weil 59,1 Prozent des Testzeitraums steigend waren. Genau deshalb ist Accuracy eine irreführende Kennzahl — sie belohnt das Nachplappern der Mehrheit. Die ROC-Kurve liegt fast auf der Diagonalen, und die Diagonale ist der reine Zufall.“</a:t>
            </a:r>
          </a:p>
          <a:p>
            <a:pPr>
              <a:spcBef>
                <a:spcPts val="1200"/>
              </a:spcBef>
            </a:pPr>
            <a:r>
              <a:rPr lang="de-DE" sz="1200" b="1" dirty="0"/>
              <a:t>REGIE</a:t>
            </a:r>
          </a:p>
          <a:p>
            <a:pPr>
              <a:spcBef>
                <a:spcPts val="400"/>
              </a:spcBef>
            </a:pPr>
            <a:r>
              <a:rPr lang="de-DE" sz="1200" dirty="0"/>
              <a:t>Im Präsentationsmodus Foliennummer eintippen und Enter — direkter Sprung, ohne durchzublättern.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BELEGFOLIE  ·  nicht im Vortragsablauf</a:t>
            </a:r>
          </a:p>
          <a:p>
            <a:pPr>
              <a:spcBef>
                <a:spcPts val="1200"/>
              </a:spcBef>
            </a:pPr>
            <a:r>
              <a:rPr lang="de-DE" sz="1200" b="1" dirty="0"/>
              <a:t>EINSATZ</a:t>
            </a:r>
          </a:p>
          <a:p>
            <a:pPr>
              <a:spcBef>
                <a:spcPts val="400"/>
              </a:spcBef>
            </a:pPr>
            <a:r>
              <a:rPr lang="de-DE" sz="1200" dirty="0"/>
              <a:t>Diese Folie war früher im Hauptteil. Der Inhalt läuft jetzt live in der Demo (Station 5 der Live-Demo). Hier nur noch für zwei Fälle: als Ausfallplan, wenn die App nicht startet, oder als Beleg auf eine Nachfrage in der Fragerunde.</a:t>
            </a:r>
          </a:p>
          <a:p>
            <a:pPr>
              <a:spcBef>
                <a:spcPts val="1200"/>
              </a:spcBef>
            </a:pPr>
            <a:r>
              <a:rPr lang="de-DE" sz="1200" b="1" dirty="0"/>
              <a:t>SPRECHTEXT (falls gezeigt)</a:t>
            </a:r>
          </a:p>
          <a:p>
            <a:pPr>
              <a:spcBef>
                <a:spcPts val="400"/>
              </a:spcBef>
            </a:pPr>
            <a:r>
              <a:rPr lang="de-DE" sz="1200" dirty="0"/>
              <a:t>„Die Antwort ist eindeutig Varianz: Trainings-AUC 0,637 gegen Validierung 0,525, Lücke 0,11 — das ist Overfitting, und die App weist es selbst so aus. Entscheidend ist aber, dass es hier nicht behebbar ist: Über die 2,3-fache Datenmenge bewegt sich die Validierung nicht von rund 0,51 weg, und über sieben Regularisierungsstufen bleibt der Test-AUC zwischen 0,512 und 0,519. Was overfittet wird, ist Rauschen — genau das erwartet die Effizienzmarkthypothese.“</a:t>
            </a:r>
          </a:p>
          <a:p>
            <a:pPr>
              <a:spcBef>
                <a:spcPts val="1200"/>
              </a:spcBef>
            </a:pPr>
            <a:r>
              <a:rPr lang="de-DE" sz="1200" b="1" dirty="0"/>
              <a:t>REGIE</a:t>
            </a:r>
          </a:p>
          <a:p>
            <a:pPr>
              <a:spcBef>
                <a:spcPts val="400"/>
              </a:spcBef>
            </a:pPr>
            <a:r>
              <a:rPr lang="de-DE" sz="1200" dirty="0"/>
              <a:t>Im Präsentationsmodus Foliennummer eintippen und Enter — direkter Sprung, ohne durchzublättern.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BELEGFOLIE  ·  nicht im Vortragsablauf</a:t>
            </a:r>
          </a:p>
          <a:p>
            <a:pPr>
              <a:spcBef>
                <a:spcPts val="1200"/>
              </a:spcBef>
            </a:pPr>
            <a:r>
              <a:rPr lang="de-DE" sz="1200" b="1" dirty="0"/>
              <a:t>EINSATZ</a:t>
            </a:r>
          </a:p>
          <a:p>
            <a:pPr>
              <a:spcBef>
                <a:spcPts val="400"/>
              </a:spcBef>
            </a:pPr>
            <a:r>
              <a:rPr lang="de-DE" sz="1200" dirty="0"/>
              <a:t>Diese Folie war früher im Hauptteil. Der Inhalt läuft jetzt live in der Demo (Station 6 der Live-Demo). Hier nur noch für zwei Fälle: als Ausfallplan, wenn die App nicht startet, oder als Beleg auf eine Nachfrage in der Fragerunde.</a:t>
            </a:r>
          </a:p>
          <a:p>
            <a:pPr>
              <a:spcBef>
                <a:spcPts val="1200"/>
              </a:spcBef>
            </a:pPr>
            <a:r>
              <a:rPr lang="de-DE" sz="1200" b="1" dirty="0"/>
              <a:t>SPRECHTEXT (falls gezeigt)</a:t>
            </a:r>
          </a:p>
          <a:p>
            <a:pPr>
              <a:spcBef>
                <a:spcPts val="400"/>
              </a:spcBef>
            </a:pPr>
            <a:r>
              <a:rPr lang="de-DE" sz="1200" dirty="0"/>
              <a:t>„Links die Feature Importance des Random Forest, rechts SHAP — ein Verfahren aus der Spieltheorie, das je Vorhersage den Beitrag jedes Merkmals berechnet. Beide zeigen: Drawdown und Volatilität prägen das Modell stärker als reine Renditen. Erklärbarkeit erklärt aber nur, wie entschieden wird — sie beweist keine Kausalität.“</a:t>
            </a:r>
          </a:p>
          <a:p>
            <a:pPr>
              <a:spcBef>
                <a:spcPts val="1200"/>
              </a:spcBef>
            </a:pPr>
            <a:r>
              <a:rPr lang="de-DE" sz="1200" b="1" dirty="0"/>
              <a:t>REGIE</a:t>
            </a:r>
          </a:p>
          <a:p>
            <a:pPr>
              <a:spcBef>
                <a:spcPts val="400"/>
              </a:spcBef>
            </a:pPr>
            <a:r>
              <a:rPr lang="de-DE" sz="1200" dirty="0"/>
              <a:t>Im Präsentationsmodus Foliennummer eintippen und Enter — direkter Sprung, ohne durchzublättern.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„Marktanalyse 1/2“ (Station 2 der Live-Demo), falls Netz, App oder Beamer nicht mitspielen.</a:t>
            </a:r>
          </a:p>
          <a:p>
            <a:pPr>
              <a:spcBef>
                <a:spcPts val="1200"/>
              </a:spcBef>
            </a:pPr>
            <a:r>
              <a:rPr lang="de-DE" sz="1200" b="1" dirty="0"/>
              <a:t>SPRECHTEXT (falls gezeigt)</a:t>
            </a:r>
          </a:p>
          <a:p>
            <a:pPr>
              <a:spcBef>
                <a:spcPts val="400"/>
              </a:spcBef>
            </a:pPr>
            <a:r>
              <a:rPr lang="de-DE" sz="1200" dirty="0"/>
              <a:t>„SPY über ein Jahr, Schlusskurs mit den gleitenden Durchschnitten über 20, 50 und 200 Tage. Der Kurs liegt über allen dreien — ein intakter Aufwärtstrend, und genau der speist den hohen Trend-Score in der App.“</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„Marktanalyse 2/2“ (Station 2 der Live-Demo), falls Netz, App oder Beamer nicht mitspielen.</a:t>
            </a:r>
          </a:p>
          <a:p>
            <a:pPr>
              <a:spcBef>
                <a:spcPts val="1200"/>
              </a:spcBef>
            </a:pPr>
            <a:r>
              <a:rPr lang="de-DE" sz="1200" b="1" dirty="0"/>
              <a:t>SPRECHTEXT (falls gezeigt)</a:t>
            </a:r>
          </a:p>
          <a:p>
            <a:pPr>
              <a:spcBef>
                <a:spcPts val="400"/>
              </a:spcBef>
            </a:pPr>
            <a:r>
              <a:rPr lang="de-DE" sz="1200" dirty="0"/>
              <a:t>„Links die Candlesticks: Jede Kerze ist ein Handelstag, Körper gleich Eröffnung bis Schluss, Dochte gleich Hoch und Tief. Rechts der Drawdown, also der Abstand zum letzten Allzeithoch — die Grundlage des Risiko-Scores.“</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„ML-Insights 1/2“ (Stationen 3 und 4 der Live-Demo), falls Netz, App oder Beamer nicht mitspielen.</a:t>
            </a:r>
          </a:p>
          <a:p>
            <a:pPr>
              <a:spcBef>
                <a:spcPts val="1200"/>
              </a:spcBef>
            </a:pPr>
            <a:r>
              <a:rPr lang="de-DE" sz="1200" b="1" dirty="0"/>
              <a:t>SPRECHTEXT (falls gezeigt)</a:t>
            </a:r>
          </a:p>
          <a:p>
            <a:pPr>
              <a:spcBef>
                <a:spcPts val="400"/>
              </a:spcBef>
            </a:pPr>
            <a:r>
              <a:rPr lang="de-DE" sz="1200" dirty="0"/>
              <a:t>„Links alle fünf Modellgenerationen unter identischen Zeitfenstern. Rechts die Fehleranalyse im Out-of-Time-Test: Accuracy unter der Majority-Baseline, AUC 0,519. Transparent statt beschönigt.“</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„ML-Insights 2/2“ (Stationen 5 und 6 der Live-Demo), falls Netz, App oder Beamer nicht mitspielen.</a:t>
            </a:r>
          </a:p>
          <a:p>
            <a:pPr>
              <a:spcBef>
                <a:spcPts val="1200"/>
              </a:spcBef>
            </a:pPr>
            <a:r>
              <a:rPr lang="de-DE" sz="1200" b="1" dirty="0"/>
              <a:t>SPRECHTEXT (falls gezeigt)</a:t>
            </a:r>
          </a:p>
          <a:p>
            <a:pPr>
              <a:spcBef>
                <a:spcPts val="400"/>
              </a:spcBef>
            </a:pPr>
            <a:r>
              <a:rPr lang="de-DE" sz="1200" dirty="0"/>
              <a:t>„Links die Lernkurve: Mehr Daten schließen die Lücke nur begrenzt. Rechts die Erklärbarkeit: Sie zeigt, welche Variablen das schwache Signal treiben — ohne eine Ursache zu behaupten.“</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„Kapital-Kompass“ (Station 7 der Live-Demo), falls Netz, App oder Beamer nicht mitspielen.</a:t>
            </a:r>
          </a:p>
          <a:p>
            <a:pPr>
              <a:spcBef>
                <a:spcPts val="1200"/>
              </a:spcBef>
            </a:pPr>
            <a:r>
              <a:rPr lang="de-DE" sz="1200" b="1" dirty="0"/>
              <a:t>SPRECHTEXT (falls gezeigt)</a:t>
            </a:r>
          </a:p>
          <a:p>
            <a:pPr>
              <a:spcBef>
                <a:spcPts val="400"/>
              </a:spcBef>
            </a:pPr>
            <a:r>
              <a:rPr lang="de-DE" sz="1200" dirty="0"/>
              <a:t>„Aus Kapital, Risikotoleranz und Stop-Loss-Distanz berechnet die App live den Risikobetrag und die maximale Positionsgröße — abgestimmt auf die Volatilitätsklasse der Aktie.“</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ANHANG  ·  AUSFALLPLAN LIVE-DEMO  ·  normalerweise übersprungen</a:t>
            </a:r>
          </a:p>
          <a:p>
            <a:pPr>
              <a:spcBef>
                <a:spcPts val="1200"/>
              </a:spcBef>
            </a:pPr>
            <a:r>
              <a:rPr lang="de-DE" sz="1200" b="1" dirty="0"/>
              <a:t>EINSATZ</a:t>
            </a:r>
          </a:p>
          <a:p>
            <a:pPr>
              <a:spcBef>
                <a:spcPts val="400"/>
              </a:spcBef>
            </a:pPr>
            <a:r>
              <a:rPr lang="de-DE" sz="1200" dirty="0"/>
              <a:t>Screenshot-Ersatz für „Portfolio-Simulator“ (Station 8 der Live-Demo), falls Netz, App oder Beamer nicht mitspielen.</a:t>
            </a:r>
          </a:p>
          <a:p>
            <a:pPr>
              <a:spcBef>
                <a:spcPts val="1200"/>
              </a:spcBef>
            </a:pPr>
            <a:r>
              <a:rPr lang="de-DE" sz="1200" b="1" dirty="0"/>
              <a:t>SPRECHTEXT (falls gezeigt)</a:t>
            </a:r>
          </a:p>
          <a:p>
            <a:pPr>
              <a:spcBef>
                <a:spcPts val="400"/>
              </a:spcBef>
            </a:pPr>
            <a:r>
              <a:rPr lang="de-DE" sz="1200" dirty="0"/>
              <a:t>„Kapital wird über mehrere Titel verteilt, die Allokation ist live editierbar. Tortendiagramm und Herfindahl-Index zeigen sofort, wie konzentriert das Portfolio ist.“</a:t>
            </a:r>
          </a:p>
          <a:p>
            <a:pPr>
              <a:spcBef>
                <a:spcPts val="1200"/>
              </a:spcBef>
            </a:pPr>
            <a:r>
              <a:rPr lang="de-DE" sz="1200" b="1" dirty="0"/>
              <a:t>REGIE</a:t>
            </a:r>
          </a:p>
          <a:p>
            <a:pPr>
              <a:spcBef>
                <a:spcPts val="400"/>
              </a:spcBef>
            </a:pPr>
            <a:r>
              <a:rPr lang="de-DE" sz="1200" dirty="0"/>
              <a:t>Foliennummer eintippen und Enter. Nicht kommentieren, dass die Demo ausgefallen ist — einfach weitersprechen.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200"/>
              </a:spcBef>
            </a:pPr>
            <a:r>
              <a:rPr lang="de-DE" sz="1200" b="1" dirty="0"/>
              <a:t>TIMING  17:25–18:10  ·  ca. 45 Sek  ·  HÖHEPUNKT DES VORTRAGS</a:t>
            </a:r>
          </a:p>
          <a:p>
            <a:pPr>
              <a:spcBef>
                <a:spcPts val="1200"/>
              </a:spcBef>
            </a:pPr>
            <a:r>
              <a:rPr lang="de-DE" sz="1200" b="1" dirty="0"/>
              <a:t>SPRECHTEXT</a:t>
            </a:r>
          </a:p>
          <a:p>
            <a:pPr>
              <a:spcBef>
                <a:spcPts val="400"/>
              </a:spcBef>
            </a:pPr>
            <a:r>
              <a:rPr lang="de-DE" sz="1200" dirty="0"/>
              <a:t>Ich habe dasselbe Modell auf denselben Daten noch zweimal trainiert und ausschließlich die Aufteilung geändert.</a:t>
            </a:r>
          </a:p>
          <a:p>
            <a:pPr>
              <a:spcBef>
                <a:spcPts val="400"/>
              </a:spcBef>
            </a:pPr>
            <a:r>
              <a:rPr lang="de-DE" sz="1200" dirty="0"/>
              <a:t>Zeile eins ist meine Variante: zeitlich getrennt, mit zwanzig Handelstagen Sperrzone. AUC 0,519. Zeile zwei: Ich nehme nur die Sperrzone heraus, dann reichen die letzten Trainingslabels in den Testzeitraum hinein — AUC 0,524. Und Zeile drei ist, wie man es macht, wenn man über Zeit nicht nachdenkt: ein naiver Zufalls-Split, achtzig zu zwanzig, quer durch alle Jahre. AUC 0,581.</a:t>
            </a:r>
          </a:p>
          <a:p>
            <a:pPr>
              <a:spcBef>
                <a:spcPts val="400"/>
              </a:spcBef>
            </a:pPr>
            <a:r>
              <a:rPr lang="de-DE" sz="1200" dirty="0"/>
              <a:t>Von 0,519 auf 0,581 klingt nach wenig. Aber gemessen am Zufallsniveau 0,5 ist das ein scheinbares Signal von 0,081 statt 0,019 — es sieht also 4,2-mal größer aus, als es ist. Und dafür braucht es keine bessere Idee, nur eine Zeile Code.</a:t>
            </a:r>
          </a:p>
          <a:p>
            <a:pPr>
              <a:spcBef>
                <a:spcPts val="400"/>
              </a:spcBef>
            </a:pPr>
            <a:r>
              <a:rPr lang="de-DE" sz="1200" dirty="0"/>
              <a:t>Ich hätte euch heute also 0,581 zeigen können. Ich zeige euch 0,519, weil das die Zahl ist, die übrig bleibt, wenn man dem Modell die Zukunft wegnimmt.</a:t>
            </a:r>
          </a:p>
          <a:p>
            <a:pPr>
              <a:spcBef>
                <a:spcPts val="400"/>
              </a:spcBef>
            </a:pPr>
            <a:r>
              <a:rPr lang="de-DE" sz="1200" dirty="0"/>
              <a:t>Und damit ist die niedrige Zahl nicht die Schwäche dieses Projekts. Sie ist der Beleg, dass der Fehler nicht gemacht wurde.</a:t>
            </a:r>
          </a:p>
          <a:p>
            <a:pPr>
              <a:spcBef>
                <a:spcPts val="1200"/>
              </a:spcBef>
            </a:pPr>
            <a:r>
              <a:rPr lang="de-DE" sz="1200" b="1" dirty="0"/>
              <a:t>REGIE</a:t>
            </a:r>
          </a:p>
          <a:p>
            <a:pPr>
              <a:spcBef>
                <a:spcPts val="400"/>
              </a:spcBef>
            </a:pPr>
            <a:r>
              <a:rPr lang="de-DE" sz="1200" dirty="0"/>
              <a:t>Die wichtigste Folie des Vortrags. Die drei Tabellenzeilen einzeln antippen. Der Satz „Ich hätte euch heute 0,581 zeigen können“ langsam und mit Blick ins Publikum — nicht auf die Folie. Danach zwei Sekunden Stille, bevor der Schlusssatz kommt.</a:t>
            </a:r>
          </a:p>
          <a:p>
            <a:pPr>
              <a:spcBef>
                <a:spcPts val="400"/>
              </a:spcBef>
            </a:pPr>
            <a:r>
              <a:rPr lang="de-DE" sz="1200" dirty="0"/>
              <a:t>Falls jemand einwirft, 0,581 sei doch auch kaum besser als Zufall: zustimmen und nachlegen — „Richtig, und das ist der zweite Punkt: Selbst die geschönte Zahl trägt keine Strategie. Die Accuracy liegt auch dort mit 54,7 Prozent unter ihrer Baseline von 55,9 Prozent.“</a:t>
            </a:r>
          </a:p>
          <a:p>
            <a:pPr>
              <a:spcBef>
                <a:spcPts val="400"/>
              </a:spcBef>
            </a:pPr>
            <a:r>
              <a:rPr lang="de-DE" sz="1200" dirty="0"/>
              <a:t>Falls nach der Reproduzierbarkeit gefragt wird: Die Tabelle stammt aus scripts/validation_experiments.py, die Zahlen liegen als models/validation_experiments.json im Repository.</a:t>
            </a:r>
          </a:p>
          <a:p>
            <a:pPr>
              <a:spcBef>
                <a:spcPts val="1200"/>
              </a:spcBef>
            </a:pPr>
            <a:r>
              <a:rPr lang="de-DE" sz="1200" b="1" dirty="0"/>
              <a:t>ÜBERLEITUNG</a:t>
            </a:r>
          </a:p>
          <a:p>
            <a:pPr>
              <a:spcBef>
                <a:spcPts val="400"/>
              </a:spcBef>
            </a:pPr>
            <a:r>
              <a:rPr lang="de-DE" sz="1200" dirty="0"/>
              <a:t>„Diese Zahlen zeige ich euch jetzt nicht auf Folien — sondern dort, wo sie herkommen. Ich wechsle in die 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38.png"/><Relationship Id="rId5"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41.png"/><Relationship Id="rId5"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43.png"/><Relationship Id="rId5"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45.png"/><Relationship Id="rId5"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1EEA764-712D-489F-A1FE-1A5C74275E37}"/>
              </a:ext>
            </a:extLst>
          </p:cNvPr>
          <p:cNvSpPr>
            <a:spLocks noGrp="1"/>
          </p:cNvSpPr>
          <p:nvPr/>
        </p:nvSpPr>
        <p:spPr>
          <a:xfrm>
            <a:off x="914400" y="0"/>
            <a:ext cx="0" cy="6858000"/>
          </a:xfrm>
          <a:prstGeom prst="line">
            <a:avLst/>
          </a:prstGeom>
          <a:noFill/>
          <a:ln w="6350">
            <a:solidFill>
              <a:srgbClr val="1C221C"/>
            </a:solidFill>
            <a:prstDash val="solid"/>
          </a:ln>
        </p:spPr>
        <p:txBody>
          <a:bodyPr/>
          <a:lstStyle/>
          <a:p>
            <a:endParaRPr/>
          </a:p>
        </p:txBody>
      </p:sp>
      <p:sp>
        <p:nvSpPr>
          <p:cNvPr id="3" name="Shape 1">
            <a:extLst>
              <a:ext uri="{FF2B5EF4-FFF2-40B4-BE49-F238E27FC236}">
                <a16:creationId xmlns:a16="http://schemas.microsoft.com/office/drawing/2014/main" id="{871BB07F-B114-425E-BC2B-6CEF01EE99E0}"/>
              </a:ext>
            </a:extLst>
          </p:cNvPr>
          <p:cNvSpPr>
            <a:spLocks noGrp="1"/>
          </p:cNvSpPr>
          <p:nvPr/>
        </p:nvSpPr>
        <p:spPr>
          <a:xfrm>
            <a:off x="1828800" y="0"/>
            <a:ext cx="0" cy="6858000"/>
          </a:xfrm>
          <a:prstGeom prst="line">
            <a:avLst/>
          </a:prstGeom>
          <a:noFill/>
          <a:ln w="6350">
            <a:solidFill>
              <a:srgbClr val="1C221C"/>
            </a:solidFill>
            <a:prstDash val="solid"/>
          </a:ln>
        </p:spPr>
        <p:txBody>
          <a:bodyPr/>
          <a:lstStyle/>
          <a:p>
            <a:endParaRPr/>
          </a:p>
        </p:txBody>
      </p:sp>
      <p:sp>
        <p:nvSpPr>
          <p:cNvPr id="4" name="Shape 2">
            <a:extLst>
              <a:ext uri="{FF2B5EF4-FFF2-40B4-BE49-F238E27FC236}">
                <a16:creationId xmlns:a16="http://schemas.microsoft.com/office/drawing/2014/main" id="{B917D8AC-14AE-4002-9B3E-EDB21C08544E}"/>
              </a:ext>
            </a:extLst>
          </p:cNvPr>
          <p:cNvSpPr>
            <a:spLocks noGrp="1"/>
          </p:cNvSpPr>
          <p:nvPr/>
        </p:nvSpPr>
        <p:spPr>
          <a:xfrm>
            <a:off x="2743200" y="0"/>
            <a:ext cx="0" cy="6858000"/>
          </a:xfrm>
          <a:prstGeom prst="line">
            <a:avLst/>
          </a:prstGeom>
          <a:noFill/>
          <a:ln w="6350">
            <a:solidFill>
              <a:srgbClr val="1C221C"/>
            </a:solidFill>
            <a:prstDash val="solid"/>
          </a:ln>
        </p:spPr>
        <p:txBody>
          <a:bodyPr/>
          <a:lstStyle/>
          <a:p>
            <a:endParaRPr/>
          </a:p>
        </p:txBody>
      </p:sp>
      <p:sp>
        <p:nvSpPr>
          <p:cNvPr id="5" name="Shape 3">
            <a:extLst>
              <a:ext uri="{FF2B5EF4-FFF2-40B4-BE49-F238E27FC236}">
                <a16:creationId xmlns:a16="http://schemas.microsoft.com/office/drawing/2014/main" id="{F665434B-79D8-4A60-9D22-4127743748D3}"/>
              </a:ext>
            </a:extLst>
          </p:cNvPr>
          <p:cNvSpPr>
            <a:spLocks noGrp="1"/>
          </p:cNvSpPr>
          <p:nvPr/>
        </p:nvSpPr>
        <p:spPr>
          <a:xfrm>
            <a:off x="3657600" y="0"/>
            <a:ext cx="0" cy="6858000"/>
          </a:xfrm>
          <a:prstGeom prst="line">
            <a:avLst/>
          </a:prstGeom>
          <a:noFill/>
          <a:ln w="6350">
            <a:solidFill>
              <a:srgbClr val="1C221C"/>
            </a:solidFill>
            <a:prstDash val="solid"/>
          </a:ln>
        </p:spPr>
        <p:txBody>
          <a:bodyPr/>
          <a:lstStyle/>
          <a:p>
            <a:endParaRPr/>
          </a:p>
        </p:txBody>
      </p:sp>
      <p:sp>
        <p:nvSpPr>
          <p:cNvPr id="6" name="Shape 4">
            <a:extLst>
              <a:ext uri="{FF2B5EF4-FFF2-40B4-BE49-F238E27FC236}">
                <a16:creationId xmlns:a16="http://schemas.microsoft.com/office/drawing/2014/main" id="{DA28284B-76FE-4DF1-BDA1-3468E133DBE3}"/>
              </a:ext>
            </a:extLst>
          </p:cNvPr>
          <p:cNvSpPr>
            <a:spLocks noGrp="1"/>
          </p:cNvSpPr>
          <p:nvPr/>
        </p:nvSpPr>
        <p:spPr>
          <a:xfrm>
            <a:off x="4572000" y="0"/>
            <a:ext cx="0" cy="6858000"/>
          </a:xfrm>
          <a:prstGeom prst="line">
            <a:avLst/>
          </a:prstGeom>
          <a:noFill/>
          <a:ln w="6350">
            <a:solidFill>
              <a:srgbClr val="1C221C"/>
            </a:solidFill>
            <a:prstDash val="solid"/>
          </a:ln>
        </p:spPr>
        <p:txBody>
          <a:bodyPr/>
          <a:lstStyle/>
          <a:p>
            <a:endParaRPr/>
          </a:p>
        </p:txBody>
      </p:sp>
      <p:sp>
        <p:nvSpPr>
          <p:cNvPr id="7" name="Shape 5">
            <a:extLst>
              <a:ext uri="{FF2B5EF4-FFF2-40B4-BE49-F238E27FC236}">
                <a16:creationId xmlns:a16="http://schemas.microsoft.com/office/drawing/2014/main" id="{0E44F93D-8734-4B1B-84D7-E52CAC40B46C}"/>
              </a:ext>
            </a:extLst>
          </p:cNvPr>
          <p:cNvSpPr>
            <a:spLocks noGrp="1"/>
          </p:cNvSpPr>
          <p:nvPr/>
        </p:nvSpPr>
        <p:spPr>
          <a:xfrm>
            <a:off x="5486400" y="0"/>
            <a:ext cx="0" cy="6858000"/>
          </a:xfrm>
          <a:prstGeom prst="line">
            <a:avLst/>
          </a:prstGeom>
          <a:noFill/>
          <a:ln w="6350">
            <a:solidFill>
              <a:srgbClr val="1C221C"/>
            </a:solidFill>
            <a:prstDash val="solid"/>
          </a:ln>
        </p:spPr>
        <p:txBody>
          <a:bodyPr/>
          <a:lstStyle/>
          <a:p>
            <a:endParaRPr/>
          </a:p>
        </p:txBody>
      </p:sp>
      <p:sp>
        <p:nvSpPr>
          <p:cNvPr id="8" name="Shape 6">
            <a:extLst>
              <a:ext uri="{FF2B5EF4-FFF2-40B4-BE49-F238E27FC236}">
                <a16:creationId xmlns:a16="http://schemas.microsoft.com/office/drawing/2014/main" id="{7E0478E4-E036-4216-B1E4-1C20462118AE}"/>
              </a:ext>
            </a:extLst>
          </p:cNvPr>
          <p:cNvSpPr>
            <a:spLocks noGrp="1"/>
          </p:cNvSpPr>
          <p:nvPr/>
        </p:nvSpPr>
        <p:spPr>
          <a:xfrm>
            <a:off x="6400800" y="0"/>
            <a:ext cx="0" cy="6858000"/>
          </a:xfrm>
          <a:prstGeom prst="line">
            <a:avLst/>
          </a:prstGeom>
          <a:noFill/>
          <a:ln w="6350">
            <a:solidFill>
              <a:srgbClr val="1C221C"/>
            </a:solidFill>
            <a:prstDash val="solid"/>
          </a:ln>
        </p:spPr>
        <p:txBody>
          <a:bodyPr/>
          <a:lstStyle/>
          <a:p>
            <a:endParaRPr/>
          </a:p>
        </p:txBody>
      </p:sp>
      <p:sp>
        <p:nvSpPr>
          <p:cNvPr id="9" name="Shape 7">
            <a:extLst>
              <a:ext uri="{FF2B5EF4-FFF2-40B4-BE49-F238E27FC236}">
                <a16:creationId xmlns:a16="http://schemas.microsoft.com/office/drawing/2014/main" id="{571E8E46-18A9-4610-BE57-367E15198357}"/>
              </a:ext>
            </a:extLst>
          </p:cNvPr>
          <p:cNvSpPr>
            <a:spLocks noGrp="1"/>
          </p:cNvSpPr>
          <p:nvPr/>
        </p:nvSpPr>
        <p:spPr>
          <a:xfrm>
            <a:off x="7315200" y="0"/>
            <a:ext cx="0" cy="6858000"/>
          </a:xfrm>
          <a:prstGeom prst="line">
            <a:avLst/>
          </a:prstGeom>
          <a:noFill/>
          <a:ln w="6350">
            <a:solidFill>
              <a:srgbClr val="1C221C"/>
            </a:solidFill>
            <a:prstDash val="solid"/>
          </a:ln>
        </p:spPr>
        <p:txBody>
          <a:bodyPr/>
          <a:lstStyle/>
          <a:p>
            <a:endParaRPr/>
          </a:p>
        </p:txBody>
      </p:sp>
      <p:sp>
        <p:nvSpPr>
          <p:cNvPr id="10" name="Shape 8">
            <a:extLst>
              <a:ext uri="{FF2B5EF4-FFF2-40B4-BE49-F238E27FC236}">
                <a16:creationId xmlns:a16="http://schemas.microsoft.com/office/drawing/2014/main" id="{0125CFAE-B545-4FE8-A201-1BE9347E5BAF}"/>
              </a:ext>
            </a:extLst>
          </p:cNvPr>
          <p:cNvSpPr>
            <a:spLocks noGrp="1"/>
          </p:cNvSpPr>
          <p:nvPr/>
        </p:nvSpPr>
        <p:spPr>
          <a:xfrm>
            <a:off x="8229600" y="0"/>
            <a:ext cx="0" cy="6858000"/>
          </a:xfrm>
          <a:prstGeom prst="line">
            <a:avLst/>
          </a:prstGeom>
          <a:noFill/>
          <a:ln w="6350">
            <a:solidFill>
              <a:srgbClr val="1C221C"/>
            </a:solidFill>
            <a:prstDash val="solid"/>
          </a:ln>
        </p:spPr>
        <p:txBody>
          <a:bodyPr/>
          <a:lstStyle/>
          <a:p>
            <a:endParaRPr/>
          </a:p>
        </p:txBody>
      </p:sp>
      <p:sp>
        <p:nvSpPr>
          <p:cNvPr id="11" name="Shape 9">
            <a:extLst>
              <a:ext uri="{FF2B5EF4-FFF2-40B4-BE49-F238E27FC236}">
                <a16:creationId xmlns:a16="http://schemas.microsoft.com/office/drawing/2014/main" id="{1CB11A98-5010-49F3-A4FF-2790D5003958}"/>
              </a:ext>
            </a:extLst>
          </p:cNvPr>
          <p:cNvSpPr>
            <a:spLocks noGrp="1"/>
          </p:cNvSpPr>
          <p:nvPr/>
        </p:nvSpPr>
        <p:spPr>
          <a:xfrm>
            <a:off x="9144000" y="0"/>
            <a:ext cx="0" cy="6858000"/>
          </a:xfrm>
          <a:prstGeom prst="line">
            <a:avLst/>
          </a:prstGeom>
          <a:noFill/>
          <a:ln w="6350">
            <a:solidFill>
              <a:srgbClr val="1C221C"/>
            </a:solidFill>
            <a:prstDash val="solid"/>
          </a:ln>
        </p:spPr>
        <p:txBody>
          <a:bodyPr/>
          <a:lstStyle/>
          <a:p>
            <a:endParaRPr/>
          </a:p>
        </p:txBody>
      </p:sp>
      <p:sp>
        <p:nvSpPr>
          <p:cNvPr id="12" name="Shape 10">
            <a:extLst>
              <a:ext uri="{FF2B5EF4-FFF2-40B4-BE49-F238E27FC236}">
                <a16:creationId xmlns:a16="http://schemas.microsoft.com/office/drawing/2014/main" id="{E8D41B4F-EA85-43C0-AD47-10E11F740844}"/>
              </a:ext>
            </a:extLst>
          </p:cNvPr>
          <p:cNvSpPr>
            <a:spLocks noGrp="1"/>
          </p:cNvSpPr>
          <p:nvPr/>
        </p:nvSpPr>
        <p:spPr>
          <a:xfrm>
            <a:off x="10058400" y="0"/>
            <a:ext cx="0" cy="6858000"/>
          </a:xfrm>
          <a:prstGeom prst="line">
            <a:avLst/>
          </a:prstGeom>
          <a:noFill/>
          <a:ln w="6350">
            <a:solidFill>
              <a:srgbClr val="1C221C"/>
            </a:solidFill>
            <a:prstDash val="solid"/>
          </a:ln>
        </p:spPr>
        <p:txBody>
          <a:bodyPr/>
          <a:lstStyle/>
          <a:p>
            <a:endParaRPr/>
          </a:p>
        </p:txBody>
      </p:sp>
      <p:sp>
        <p:nvSpPr>
          <p:cNvPr id="13" name="Shape 11">
            <a:extLst>
              <a:ext uri="{FF2B5EF4-FFF2-40B4-BE49-F238E27FC236}">
                <a16:creationId xmlns:a16="http://schemas.microsoft.com/office/drawing/2014/main" id="{324EA19D-817C-4AB6-A32F-CC97BC62A7DF}"/>
              </a:ext>
            </a:extLst>
          </p:cNvPr>
          <p:cNvSpPr>
            <a:spLocks noGrp="1"/>
          </p:cNvSpPr>
          <p:nvPr/>
        </p:nvSpPr>
        <p:spPr>
          <a:xfrm>
            <a:off x="10972800" y="0"/>
            <a:ext cx="0" cy="6858000"/>
          </a:xfrm>
          <a:prstGeom prst="line">
            <a:avLst/>
          </a:prstGeom>
          <a:noFill/>
          <a:ln w="6350">
            <a:solidFill>
              <a:srgbClr val="1C221C"/>
            </a:solidFill>
            <a:prstDash val="solid"/>
          </a:ln>
        </p:spPr>
        <p:txBody>
          <a:bodyPr/>
          <a:lstStyle/>
          <a:p>
            <a:endParaRPr/>
          </a:p>
        </p:txBody>
      </p:sp>
      <p:sp>
        <p:nvSpPr>
          <p:cNvPr id="14" name="Shape 12">
            <a:extLst>
              <a:ext uri="{FF2B5EF4-FFF2-40B4-BE49-F238E27FC236}">
                <a16:creationId xmlns:a16="http://schemas.microsoft.com/office/drawing/2014/main" id="{1EDA4C11-1EFC-4791-B87E-3334277B1688}"/>
              </a:ext>
            </a:extLst>
          </p:cNvPr>
          <p:cNvSpPr>
            <a:spLocks noGrp="1"/>
          </p:cNvSpPr>
          <p:nvPr/>
        </p:nvSpPr>
        <p:spPr>
          <a:xfrm>
            <a:off x="11887200" y="0"/>
            <a:ext cx="0" cy="6858000"/>
          </a:xfrm>
          <a:prstGeom prst="line">
            <a:avLst/>
          </a:prstGeom>
          <a:noFill/>
          <a:ln w="6350">
            <a:solidFill>
              <a:srgbClr val="1C221C"/>
            </a:solidFill>
            <a:prstDash val="solid"/>
          </a:ln>
        </p:spPr>
        <p:txBody>
          <a:bodyPr/>
          <a:lstStyle/>
          <a:p>
            <a:endParaRPr/>
          </a:p>
        </p:txBody>
      </p:sp>
      <p:sp>
        <p:nvSpPr>
          <p:cNvPr id="15" name="Shape 13">
            <a:extLst>
              <a:ext uri="{FF2B5EF4-FFF2-40B4-BE49-F238E27FC236}">
                <a16:creationId xmlns:a16="http://schemas.microsoft.com/office/drawing/2014/main" id="{2ED27118-5871-46C7-AC5A-5E2C43F6E3A0}"/>
              </a:ext>
            </a:extLst>
          </p:cNvPr>
          <p:cNvSpPr>
            <a:spLocks noGrp="1"/>
          </p:cNvSpPr>
          <p:nvPr/>
        </p:nvSpPr>
        <p:spPr>
          <a:xfrm>
            <a:off x="822960" y="822960"/>
            <a:ext cx="640080" cy="640080"/>
          </a:xfrm>
          <a:prstGeom prst="ellipse">
            <a:avLst/>
          </a:prstGeom>
          <a:solidFill>
            <a:srgbClr val="23302A"/>
          </a:solidFill>
        </p:spPr>
        <p:txBody>
          <a:bodyPr/>
          <a:lstStyle/>
          <a:p>
            <a:endParaRPr/>
          </a:p>
        </p:txBody>
      </p:sp>
      <p:pic>
        <p:nvPicPr>
          <p:cNvPr id="37" name="Image 0"/>
          <p:cNvPicPr>
            <a:picLocks noChangeAspect="1"/>
          </p:cNvPicPr>
          <p:nvPr/>
        </p:nvPicPr>
        <p:blipFill>
          <a:blip r:embed="rId3"/>
          <a:stretch>
            <a:fillRect/>
          </a:stretch>
        </p:blipFill>
        <p:spPr>
          <a:xfrm>
            <a:off x="893369" y="893369"/>
            <a:ext cx="499262" cy="499262"/>
          </a:xfrm>
          <a:prstGeom prst="rect">
            <a:avLst/>
          </a:prstGeom>
        </p:spPr>
      </p:pic>
      <p:sp>
        <p:nvSpPr>
          <p:cNvPr id="17" name="Text 14">
            <a:extLst>
              <a:ext uri="{FF2B5EF4-FFF2-40B4-BE49-F238E27FC236}">
                <a16:creationId xmlns:a16="http://schemas.microsoft.com/office/drawing/2014/main" id="{D3E9087C-7593-4E0F-B760-A65622F70C49}"/>
              </a:ext>
            </a:extLst>
          </p:cNvPr>
          <p:cNvSpPr>
            <a:spLocks noGrp="1"/>
          </p:cNvSpPr>
          <p:nvPr/>
        </p:nvSpPr>
        <p:spPr>
          <a:xfrm>
            <a:off x="777240" y="2377440"/>
            <a:ext cx="10058400" cy="1188720"/>
          </a:xfrm>
          <a:prstGeom prst="rect">
            <a:avLst/>
          </a:prstGeom>
          <a:noFill/>
        </p:spPr>
        <p:txBody>
          <a:bodyPr wrap="square" lIns="0" tIns="0" rIns="0" bIns="0" anchor="ctr"/>
          <a:lstStyle/>
          <a:p>
            <a:pPr marL="0" indent="0">
              <a:buNone/>
            </a:pPr>
            <a:r>
              <a:rPr sz="5400" b="1">
                <a:solidFill>
                  <a:srgbClr val="F4F5F0"/>
                </a:solidFill>
                <a:latin typeface="Cambria"/>
                <a:ea typeface="Cambria"/>
                <a:cs typeface="Cambria"/>
              </a:rPr>
              <a:t>WealthScope AI</a:t>
            </a:r>
          </a:p>
        </p:txBody>
      </p:sp>
      <p:sp>
        <p:nvSpPr>
          <p:cNvPr id="18" name="Text 15">
            <a:extLst>
              <a:ext uri="{FF2B5EF4-FFF2-40B4-BE49-F238E27FC236}">
                <a16:creationId xmlns:a16="http://schemas.microsoft.com/office/drawing/2014/main" id="{F2D6B115-215E-4B6C-8EAC-795A5D9BC190}"/>
              </a:ext>
            </a:extLst>
          </p:cNvPr>
          <p:cNvSpPr>
            <a:spLocks noGrp="1"/>
          </p:cNvSpPr>
          <p:nvPr/>
        </p:nvSpPr>
        <p:spPr>
          <a:xfrm>
            <a:off x="822960" y="3429000"/>
            <a:ext cx="9144000" cy="548640"/>
          </a:xfrm>
          <a:prstGeom prst="rect">
            <a:avLst/>
          </a:prstGeom>
          <a:noFill/>
        </p:spPr>
        <p:txBody>
          <a:bodyPr wrap="square" lIns="0" tIns="0" rIns="0" bIns="0" anchor="ctr"/>
          <a:lstStyle/>
          <a:p>
            <a:pPr marL="0" indent="0">
              <a:buNone/>
            </a:pPr>
            <a:r>
              <a:rPr sz="2000">
                <a:solidFill>
                  <a:srgbClr val="9FC2B4"/>
                </a:solidFill>
                <a:latin typeface="Calibri"/>
                <a:ea typeface="Calibri"/>
                <a:cs typeface="Calibri"/>
              </a:rPr>
              <a:t>Interaktive Finanzanalyse mit Machine Learning</a:t>
            </a:r>
          </a:p>
        </p:txBody>
      </p:sp>
      <p:sp>
        <p:nvSpPr>
          <p:cNvPr id="19" name="Shape 16">
            <a:extLst>
              <a:ext uri="{FF2B5EF4-FFF2-40B4-BE49-F238E27FC236}">
                <a16:creationId xmlns:a16="http://schemas.microsoft.com/office/drawing/2014/main" id="{924DE9A2-C018-4859-BE05-51A420233AD9}"/>
              </a:ext>
            </a:extLst>
          </p:cNvPr>
          <p:cNvSpPr>
            <a:spLocks noGrp="1"/>
          </p:cNvSpPr>
          <p:nvPr/>
        </p:nvSpPr>
        <p:spPr>
          <a:xfrm>
            <a:off x="822960" y="4297680"/>
            <a:ext cx="4343400" cy="402336"/>
          </a:xfrm>
          <a:prstGeom prst="roundRect">
            <a:avLst>
              <a:gd name="adj" fmla="val 20455"/>
            </a:avLst>
          </a:prstGeom>
          <a:solidFill>
            <a:srgbClr val="1C231D"/>
          </a:solidFill>
        </p:spPr>
        <p:txBody>
          <a:bodyPr/>
          <a:lstStyle/>
          <a:p>
            <a:endParaRPr/>
          </a:p>
        </p:txBody>
      </p:sp>
      <p:sp>
        <p:nvSpPr>
          <p:cNvPr id="20" name="Text 17">
            <a:extLst>
              <a:ext uri="{FF2B5EF4-FFF2-40B4-BE49-F238E27FC236}">
                <a16:creationId xmlns:a16="http://schemas.microsoft.com/office/drawing/2014/main" id="{A0947E6D-4CEF-4934-A005-2A30E9BDE6B2}"/>
              </a:ext>
            </a:extLst>
          </p:cNvPr>
          <p:cNvSpPr>
            <a:spLocks noGrp="1"/>
          </p:cNvSpPr>
          <p:nvPr/>
        </p:nvSpPr>
        <p:spPr>
          <a:xfrm>
            <a:off x="822960" y="4297680"/>
            <a:ext cx="4343400" cy="402336"/>
          </a:xfrm>
          <a:prstGeom prst="rect">
            <a:avLst/>
          </a:prstGeom>
          <a:noFill/>
        </p:spPr>
        <p:txBody>
          <a:bodyPr wrap="square" lIns="0" tIns="0" rIns="0" bIns="0" anchor="ctr"/>
          <a:lstStyle/>
          <a:p>
            <a:pPr marL="0" indent="0" algn="ctr">
              <a:buNone/>
            </a:pPr>
            <a:r>
              <a:rPr sz="1300" b="1">
                <a:solidFill>
                  <a:srgbClr val="C79A3C"/>
                </a:solidFill>
                <a:latin typeface="Calibri"/>
                <a:ea typeface="Calibri"/>
                <a:cs typeface="Calibri"/>
              </a:rPr>
              <a:t>Referat  ·  27 Minuten</a:t>
            </a:r>
          </a:p>
        </p:txBody>
      </p:sp>
      <p:sp>
        <p:nvSpPr>
          <p:cNvPr id="21" name="Text 18">
            <a:extLst>
              <a:ext uri="{FF2B5EF4-FFF2-40B4-BE49-F238E27FC236}">
                <a16:creationId xmlns:a16="http://schemas.microsoft.com/office/drawing/2014/main" id="{53AC4124-3CA1-43B8-8DC9-1552548CE569}"/>
              </a:ext>
            </a:extLst>
          </p:cNvPr>
          <p:cNvSpPr>
            <a:spLocks noGrp="1"/>
          </p:cNvSpPr>
          <p:nvPr/>
        </p:nvSpPr>
        <p:spPr>
          <a:xfrm>
            <a:off x="822960" y="5806440"/>
            <a:ext cx="10515600" cy="777240"/>
          </a:xfrm>
          <a:prstGeom prst="rect">
            <a:avLst/>
          </a:prstGeom>
          <a:noFill/>
        </p:spPr>
        <p:txBody>
          <a:bodyPr wrap="square" lIns="0" tIns="0" rIns="0" bIns="0" anchor="ctr"/>
          <a:lstStyle/>
          <a:p>
            <a:pPr marL="0" indent="0">
              <a:spcAft>
                <a:spcPts val="300"/>
              </a:spcAft>
              <a:buNone/>
            </a:pPr>
            <a:r>
              <a:rPr sz="1300" b="1">
                <a:solidFill>
                  <a:srgbClr val="C7CFC9"/>
                </a:solidFill>
                <a:latin typeface="Calibri"/>
                <a:ea typeface="Calibri"/>
                <a:cs typeface="Calibri"/>
              </a:rPr>
              <a:t>Soufiane Fedan</a:t>
            </a:r>
          </a:p>
          <a:p>
            <a:pPr marL="0" indent="0">
              <a:spcAft>
                <a:spcPts val="300"/>
              </a:spcAft>
              <a:buNone/>
            </a:pPr>
            <a:r>
              <a:rPr sz="1300">
                <a:solidFill>
                  <a:srgbClr val="C7CFC9"/>
                </a:solidFill>
                <a:latin typeface="Calibri"/>
                <a:ea typeface="Calibri"/>
                <a:cs typeface="Calibri"/>
              </a:rPr>
              <a:t>Data Analytics und Big Data (DSDABD072501)  ·  Tutor: Klaus Quibeldey-Cirkel</a:t>
            </a:r>
          </a:p>
          <a:p>
            <a:pPr marL="0" indent="0">
              <a:spcAft>
                <a:spcPts val="300"/>
              </a:spcAft>
              <a:buNone/>
            </a:pPr>
            <a:r>
              <a:rPr sz="1300">
                <a:solidFill>
                  <a:srgbClr val="C7CFC9"/>
                </a:solidFill>
                <a:latin typeface="Calibri"/>
                <a:ea typeface="Calibri"/>
                <a:cs typeface="Calibri"/>
              </a:rPr>
              <a:t>IU Internationale Hochschule  ·  Wirtschaftsinformatik (Duales Studium)</a:t>
            </a:r>
          </a:p>
        </p:txBody>
      </p:sp>
    </p:spTree>
    <p:extLst>
      <p:ext uri="{BB962C8B-B14F-4D97-AF65-F5344CB8AC3E}">
        <p14:creationId xmlns:p14="http://schemas.microsoft.com/office/powerpoint/2010/main" val="3207239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0490CF3-257B-47FD-944C-E0B361D8ECA8}"/>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3"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7ED8E6DC-8977-4326-83F8-BEF198FBDDB5}"/>
              </a:ext>
            </a:extLst>
          </p:cNvPr>
          <p:cNvSpPr>
            <a:spLocks noGrp="1"/>
          </p:cNvSpPr>
          <p:nvPr/>
        </p:nvSpPr>
        <p:spPr>
          <a:xfrm>
            <a:off x="1234440" y="512064"/>
            <a:ext cx="8686800" cy="54864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Zeitplan auf einen Blick</a:t>
            </a:r>
          </a:p>
        </p:txBody>
      </p:sp>
      <p:sp>
        <p:nvSpPr>
          <p:cNvPr id="5" name="Shape 2">
            <a:extLst>
              <a:ext uri="{FF2B5EF4-FFF2-40B4-BE49-F238E27FC236}">
                <a16:creationId xmlns:a16="http://schemas.microsoft.com/office/drawing/2014/main" id="{52256CB4-41E7-404E-B120-37D09390ED3B}"/>
              </a:ext>
            </a:extLst>
          </p:cNvPr>
          <p:cNvSpPr>
            <a:spLocks noGrp="1"/>
          </p:cNvSpPr>
          <p:nvPr/>
        </p:nvSpPr>
        <p:spPr>
          <a:xfrm>
            <a:off x="10292486" y="457200"/>
            <a:ext cx="1439266" cy="329184"/>
          </a:xfrm>
          <a:prstGeom prst="roundRect">
            <a:avLst>
              <a:gd name="adj" fmla="val 22222"/>
            </a:avLst>
          </a:prstGeom>
          <a:solidFill>
            <a:srgbClr val="E4EBE7"/>
          </a:solidFill>
        </p:spPr>
        <p:txBody>
          <a:bodyPr/>
          <a:lstStyle/>
          <a:p>
            <a:endParaRPr/>
          </a:p>
        </p:txBody>
      </p:sp>
      <p:sp>
        <p:nvSpPr>
          <p:cNvPr id="6" name="Text 3">
            <a:extLst>
              <a:ext uri="{FF2B5EF4-FFF2-40B4-BE49-F238E27FC236}">
                <a16:creationId xmlns:a16="http://schemas.microsoft.com/office/drawing/2014/main" id="{744DA54E-674B-46F8-8E59-933DF3CFEC1D}"/>
              </a:ext>
            </a:extLst>
          </p:cNvPr>
          <p:cNvSpPr>
            <a:spLocks noGrp="1"/>
          </p:cNvSpPr>
          <p:nvPr/>
        </p:nvSpPr>
        <p:spPr>
          <a:xfrm>
            <a:off x="10292486" y="457200"/>
            <a:ext cx="1439266"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27 Min gesamt</a:t>
            </a:r>
          </a:p>
        </p:txBody>
      </p:sp>
      <p:graphicFrame>
        <p:nvGraphicFramePr>
          <p:cNvPr id="17" name="Table 0"/>
          <p:cNvGraphicFramePr/>
          <p:nvPr/>
        </p:nvGraphicFramePr>
        <p:xfrm>
          <a:off x="548640" y="1371600"/>
          <a:ext cx="11091672" cy="4517136"/>
        </p:xfrm>
        <a:graphic>
          <a:graphicData uri="http://schemas.openxmlformats.org/drawingml/2006/table">
            <a:tbl>
              <a:tblPr/>
              <a:tblGrid>
                <a:gridCol w="2194560">
                  <a:extLst>
                    <a:ext uri="{9D8B030D-6E8A-4147-A177-3AD203B41FA5}">
                      <a16:colId xmlns:a16="http://schemas.microsoft.com/office/drawing/2014/main" val="20000"/>
                    </a:ext>
                  </a:extLst>
                </a:gridCol>
                <a:gridCol w="7498080">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tblGrid>
              <a:tr h="347472">
                <a:tc>
                  <a:txBody>
                    <a:bodyPr/>
                    <a:lstStyle/>
                    <a:p>
                      <a:pPr marL="0" indent="0">
                        <a:buNone/>
                      </a:pPr>
                      <a:r>
                        <a:rPr sz="1200" b="1">
                          <a:solidFill>
                            <a:srgbClr val="FFFFFF"/>
                          </a:solidFill>
                          <a:latin typeface="Calibri"/>
                          <a:ea typeface="Calibri"/>
                          <a:cs typeface="Calibri"/>
                        </a:rPr>
                        <a:t>Zeit</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buNone/>
                      </a:pPr>
                      <a:r>
                        <a:rPr sz="1200" b="1">
                          <a:solidFill>
                            <a:srgbClr val="FFFFFF"/>
                          </a:solidFill>
                          <a:latin typeface="Calibri"/>
                          <a:ea typeface="Calibri"/>
                          <a:cs typeface="Calibri"/>
                        </a:rPr>
                        <a:t>Abschnitt</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200" b="1">
                          <a:solidFill>
                            <a:srgbClr val="FFFFFF"/>
                          </a:solidFill>
                          <a:latin typeface="Calibri"/>
                          <a:ea typeface="Calibri"/>
                          <a:cs typeface="Calibri"/>
                        </a:rPr>
                        <a:t>Dauer</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extLst>
                  <a:ext uri="{0D108BD9-81ED-4DB2-BD59-A6C34878D82A}">
                    <a16:rowId xmlns:a16="http://schemas.microsoft.com/office/drawing/2014/main" val="10000"/>
                  </a:ext>
                </a:extLst>
              </a:tr>
              <a:tr h="347472">
                <a:tc>
                  <a:txBody>
                    <a:bodyPr/>
                    <a:lstStyle/>
                    <a:p>
                      <a:pPr marL="0" indent="0">
                        <a:buNone/>
                      </a:pPr>
                      <a:r>
                        <a:rPr sz="1150">
                          <a:solidFill>
                            <a:srgbClr val="5B6259"/>
                          </a:solidFill>
                          <a:latin typeface="Calibri"/>
                          <a:ea typeface="Calibri"/>
                          <a:cs typeface="Calibri"/>
                        </a:rPr>
                        <a:t>0:00 – 2:00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Einstieg — Das Problem</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2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sz="1150">
                          <a:solidFill>
                            <a:srgbClr val="5B6259"/>
                          </a:solidFill>
                          <a:latin typeface="Calibri"/>
                          <a:ea typeface="Calibri"/>
                          <a:cs typeface="Calibri"/>
                        </a:rPr>
                        <a:t>2:00 – 4:00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Lösung — Was ist WealthScope AI?</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2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2"/>
                  </a:ext>
                </a:extLst>
              </a:tr>
              <a:tr h="347472">
                <a:tc>
                  <a:txBody>
                    <a:bodyPr/>
                    <a:lstStyle/>
                    <a:p>
                      <a:pPr marL="0" indent="0">
                        <a:buNone/>
                      </a:pPr>
                      <a:r>
                        <a:rPr sz="1150">
                          <a:solidFill>
                            <a:srgbClr val="5B6259"/>
                          </a:solidFill>
                          <a:latin typeface="Calibri"/>
                          <a:ea typeface="Calibri"/>
                          <a:cs typeface="Calibri"/>
                        </a:rPr>
                        <a:t>4:00 – 5:00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QUA³CK — Der wissenschaftliche Fahrplan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1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sz="1150">
                          <a:solidFill>
                            <a:srgbClr val="5B6259"/>
                          </a:solidFill>
                          <a:latin typeface="Calibri"/>
                          <a:ea typeface="Calibri"/>
                          <a:cs typeface="Calibri"/>
                        </a:rPr>
                        <a:t>5:00 – 6:30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Q — Question: Leitfrage &amp; Hypothesen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1,5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4"/>
                  </a:ext>
                </a:extLst>
              </a:tr>
              <a:tr h="347472">
                <a:tc>
                  <a:txBody>
                    <a:bodyPr/>
                    <a:lstStyle/>
                    <a:p>
                      <a:pPr marL="0" indent="0">
                        <a:buNone/>
                      </a:pPr>
                      <a:r>
                        <a:rPr sz="1150">
                          <a:solidFill>
                            <a:srgbClr val="5B6259"/>
                          </a:solidFill>
                          <a:latin typeface="Calibri"/>
                          <a:ea typeface="Calibri"/>
                          <a:cs typeface="Calibri"/>
                        </a:rPr>
                        <a:t>6:30 – 10:10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U — Understanding: Daten, EDA, Qualität</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3,5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sz="1150">
                          <a:solidFill>
                            <a:srgbClr val="5B6259"/>
                          </a:solidFill>
                          <a:latin typeface="Calibri"/>
                          <a:ea typeface="Calibri"/>
                          <a:cs typeface="Calibri"/>
                        </a:rPr>
                        <a:t>10:10 – 10:55</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Fragefenster I — Methodik</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45 Sek</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6"/>
                  </a:ext>
                </a:extLst>
              </a:tr>
              <a:tr h="347472">
                <a:tc>
                  <a:txBody>
                    <a:bodyPr/>
                    <a:lstStyle/>
                    <a:p>
                      <a:pPr marL="0" indent="0">
                        <a:buNone/>
                      </a:pPr>
                      <a:r>
                        <a:rPr sz="1150">
                          <a:solidFill>
                            <a:srgbClr val="5B6259"/>
                          </a:solidFill>
                          <a:latin typeface="Calibri"/>
                          <a:ea typeface="Calibri"/>
                          <a:cs typeface="Calibri"/>
                        </a:rPr>
                        <a:t>10:55 – 13:25</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A — Analytics: Feature Engineering</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2,5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sz="1150">
                          <a:solidFill>
                            <a:srgbClr val="5B6259"/>
                          </a:solidFill>
                          <a:latin typeface="Calibri"/>
                          <a:ea typeface="Calibri"/>
                          <a:cs typeface="Calibri"/>
                        </a:rPr>
                        <a:t>13:25 – 15:55</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A — Algorithm: Modellauswahl</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2,5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8"/>
                  </a:ext>
                </a:extLst>
              </a:tr>
              <a:tr h="347472">
                <a:tc>
                  <a:txBody>
                    <a:bodyPr/>
                    <a:lstStyle/>
                    <a:p>
                      <a:pPr marL="0" indent="0">
                        <a:buNone/>
                      </a:pPr>
                      <a:r>
                        <a:rPr sz="1150">
                          <a:solidFill>
                            <a:srgbClr val="5B6259"/>
                          </a:solidFill>
                          <a:latin typeface="Calibri"/>
                          <a:ea typeface="Calibri"/>
                          <a:cs typeface="Calibri"/>
                        </a:rPr>
                        <a:t>15:55 – 18:10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A — Adaption: Training &amp; Ergebnisse</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2,5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sz="1150">
                          <a:solidFill>
                            <a:srgbClr val="5B6259"/>
                          </a:solidFill>
                          <a:latin typeface="Calibri"/>
                          <a:ea typeface="Calibri"/>
                          <a:cs typeface="Calibri"/>
                        </a:rPr>
                        <a:t>18:10 – 22:40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K — Knowledge: Live-Demo der App</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4,5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10"/>
                  </a:ext>
                </a:extLst>
              </a:tr>
              <a:tr h="347472">
                <a:tc>
                  <a:txBody>
                    <a:bodyPr/>
                    <a:lstStyle/>
                    <a:p>
                      <a:pPr marL="0" indent="0">
                        <a:buNone/>
                      </a:pPr>
                      <a:r>
                        <a:rPr sz="1150">
                          <a:solidFill>
                            <a:srgbClr val="5B6259"/>
                          </a:solidFill>
                          <a:latin typeface="Calibri"/>
                          <a:ea typeface="Calibri"/>
                          <a:cs typeface="Calibri"/>
                        </a:rPr>
                        <a:t>22:40 – 23:25</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buNone/>
                      </a:pPr>
                      <a:r>
                        <a:rPr sz="1150">
                          <a:solidFill>
                            <a:srgbClr val="171A17"/>
                          </a:solidFill>
                          <a:latin typeface="Calibri"/>
                          <a:ea typeface="Calibri"/>
                          <a:cs typeface="Calibri"/>
                        </a:rPr>
                        <a:t>Fragefenster II — Modell &amp; App</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150" b="1">
                          <a:solidFill>
                            <a:srgbClr val="A97C1E"/>
                          </a:solidFill>
                          <a:latin typeface="Calibri"/>
                          <a:ea typeface="Calibri"/>
                          <a:cs typeface="Calibri"/>
                        </a:rPr>
                        <a:t>45 Sek</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extLst>
                  <a:ext uri="{0D108BD9-81ED-4DB2-BD59-A6C34878D82A}">
                    <a16:rowId xmlns:a16="http://schemas.microsoft.com/office/drawing/2014/main" val="10011"/>
                  </a:ext>
                </a:extLst>
              </a:tr>
              <a:tr h="347472">
                <a:tc>
                  <a:txBody>
                    <a:bodyPr/>
                    <a:lstStyle/>
                    <a:p>
                      <a:pPr marL="0" indent="0">
                        <a:buNone/>
                      </a:pPr>
                      <a:r>
                        <a:rPr sz="1150">
                          <a:solidFill>
                            <a:srgbClr val="5B6259"/>
                          </a:solidFill>
                          <a:latin typeface="Calibri"/>
                          <a:ea typeface="Calibri"/>
                          <a:cs typeface="Calibri"/>
                        </a:rPr>
                        <a:t>23:25 – 27:00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buNone/>
                      </a:pPr>
                      <a:r>
                        <a:rPr sz="1150">
                          <a:solidFill>
                            <a:srgbClr val="171A17"/>
                          </a:solidFill>
                          <a:latin typeface="Calibri"/>
                          <a:ea typeface="Calibri"/>
                          <a:cs typeface="Calibri"/>
                        </a:rPr>
                        <a:t>C — Conclude: Fazit, Grenzen &amp; Ausblick</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c>
                  <a:txBody>
                    <a:bodyPr/>
                    <a:lstStyle/>
                    <a:p>
                      <a:pPr marL="0" indent="0" algn="ctr">
                        <a:buNone/>
                      </a:pPr>
                      <a:r>
                        <a:rPr sz="1150" b="1">
                          <a:solidFill>
                            <a:srgbClr val="A97C1E"/>
                          </a:solidFill>
                          <a:latin typeface="Calibri"/>
                          <a:ea typeface="Calibri"/>
                          <a:cs typeface="Calibri"/>
                        </a:rPr>
                        <a:t>3,5 Min</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12"/>
                  </a:ext>
                </a:extLst>
              </a:tr>
            </a:tbl>
          </a:graphicData>
        </a:graphic>
      </p:graphicFrame>
      <p:sp>
        <p:nvSpPr>
          <p:cNvPr id="8" name="Text 4">
            <a:extLst>
              <a:ext uri="{FF2B5EF4-FFF2-40B4-BE49-F238E27FC236}">
                <a16:creationId xmlns:a16="http://schemas.microsoft.com/office/drawing/2014/main" id="{92E25B97-A7E0-4736-8301-5DD457516AFC}"/>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9" name="Text 5">
            <a:extLst>
              <a:ext uri="{FF2B5EF4-FFF2-40B4-BE49-F238E27FC236}">
                <a16:creationId xmlns:a16="http://schemas.microsoft.com/office/drawing/2014/main" id="{2076731E-BD3B-4BEB-A084-A8BEAF61E079}"/>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a:t>
            </a:r>
          </a:p>
        </p:txBody>
      </p:sp>
    </p:spTree>
    <p:extLst>
      <p:ext uri="{BB962C8B-B14F-4D97-AF65-F5344CB8AC3E}">
        <p14:creationId xmlns:p14="http://schemas.microsoft.com/office/powerpoint/2010/main" val="19300517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3A4B4F-9895-4329-AA5F-8B11B2920F3E}"/>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7"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2F287C7F-1876-46CE-81E1-86FDFF629F56}"/>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1 · EINSTIEG</a:t>
            </a:r>
          </a:p>
        </p:txBody>
      </p:sp>
      <p:sp>
        <p:nvSpPr>
          <p:cNvPr id="5" name="Text 2">
            <a:extLst>
              <a:ext uri="{FF2B5EF4-FFF2-40B4-BE49-F238E27FC236}">
                <a16:creationId xmlns:a16="http://schemas.microsoft.com/office/drawing/2014/main" id="{9303ED99-F810-4A21-B8AE-33A33592617B}"/>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Das Problem</a:t>
            </a:r>
          </a:p>
        </p:txBody>
      </p:sp>
      <p:sp>
        <p:nvSpPr>
          <p:cNvPr id="6" name="Shape 3">
            <a:extLst>
              <a:ext uri="{FF2B5EF4-FFF2-40B4-BE49-F238E27FC236}">
                <a16:creationId xmlns:a16="http://schemas.microsoft.com/office/drawing/2014/main" id="{8339862E-2B20-4E14-A445-26C2C8360B6A}"/>
              </a:ext>
            </a:extLst>
          </p:cNvPr>
          <p:cNvSpPr>
            <a:spLocks noGrp="1"/>
          </p:cNvSpPr>
          <p:nvPr/>
        </p:nvSpPr>
        <p:spPr>
          <a:xfrm>
            <a:off x="10643616" y="457200"/>
            <a:ext cx="1088136"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5C58FE2C-C2BA-4EEA-86BB-BC9E0876FE2E}"/>
              </a:ext>
            </a:extLst>
          </p:cNvPr>
          <p:cNvSpPr>
            <a:spLocks noGrp="1"/>
          </p:cNvSpPr>
          <p:nvPr/>
        </p:nvSpPr>
        <p:spPr>
          <a:xfrm>
            <a:off x="10643616" y="457200"/>
            <a:ext cx="1088136"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2 Min</a:t>
            </a:r>
          </a:p>
        </p:txBody>
      </p:sp>
      <p:sp>
        <p:nvSpPr>
          <p:cNvPr id="8" name="Text 5">
            <a:extLst>
              <a:ext uri="{FF2B5EF4-FFF2-40B4-BE49-F238E27FC236}">
                <a16:creationId xmlns:a16="http://schemas.microsoft.com/office/drawing/2014/main" id="{B578AD17-C17A-4687-A5ED-79FF8DAEAF5E}"/>
              </a:ext>
            </a:extLst>
          </p:cNvPr>
          <p:cNvSpPr>
            <a:spLocks noGrp="1"/>
          </p:cNvSpPr>
          <p:nvPr/>
        </p:nvSpPr>
        <p:spPr>
          <a:xfrm>
            <a:off x="640080" y="1417320"/>
            <a:ext cx="10881360" cy="914400"/>
          </a:xfrm>
          <a:prstGeom prst="rect">
            <a:avLst/>
          </a:prstGeom>
          <a:noFill/>
        </p:spPr>
        <p:txBody>
          <a:bodyPr wrap="square" lIns="0" tIns="0" rIns="0" bIns="0" anchor="ctr"/>
          <a:lstStyle/>
          <a:p>
            <a:pPr marL="0" indent="0">
              <a:buNone/>
            </a:pPr>
            <a:r>
              <a:rPr sz="2000" i="1">
                <a:solidFill>
                  <a:srgbClr val="2F5D53"/>
                </a:solidFill>
                <a:latin typeface="Cambria"/>
                <a:ea typeface="Cambria"/>
                <a:cs typeface="Cambria"/>
              </a:rPr>
              <a:t>„Ihr habt 5.000 € gespart. Inflation frisst euer Sparkonto auf. Also wollt ihr investieren. Aber wohin schaut ihr?“</a:t>
            </a:r>
          </a:p>
        </p:txBody>
      </p:sp>
      <p:sp>
        <p:nvSpPr>
          <p:cNvPr id="9" name="Shape 6">
            <a:extLst>
              <a:ext uri="{FF2B5EF4-FFF2-40B4-BE49-F238E27FC236}">
                <a16:creationId xmlns:a16="http://schemas.microsoft.com/office/drawing/2014/main" id="{696B3882-18D2-4987-BFC8-EDB53519A3C5}"/>
              </a:ext>
            </a:extLst>
          </p:cNvPr>
          <p:cNvSpPr>
            <a:spLocks noGrp="1"/>
          </p:cNvSpPr>
          <p:nvPr/>
        </p:nvSpPr>
        <p:spPr>
          <a:xfrm>
            <a:off x="640080" y="2651760"/>
            <a:ext cx="260604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2459E87C-4D5F-4C91-90A7-7001FB4D6BC5}"/>
              </a:ext>
            </a:extLst>
          </p:cNvPr>
          <p:cNvSpPr>
            <a:spLocks noGrp="1"/>
          </p:cNvSpPr>
          <p:nvPr/>
        </p:nvSpPr>
        <p:spPr>
          <a:xfrm>
            <a:off x="841248" y="2834640"/>
            <a:ext cx="2203704" cy="457200"/>
          </a:xfrm>
          <a:prstGeom prst="rect">
            <a:avLst/>
          </a:prstGeom>
          <a:noFill/>
        </p:spPr>
        <p:txBody>
          <a:bodyPr wrap="square" lIns="0" tIns="0" rIns="0" bIns="0" anchor="ctr"/>
          <a:lstStyle/>
          <a:p>
            <a:pPr marL="0" indent="0">
              <a:buNone/>
            </a:pPr>
            <a:r>
              <a:rPr sz="1500" b="1">
                <a:solidFill>
                  <a:srgbClr val="171A17"/>
                </a:solidFill>
                <a:latin typeface="Cambria"/>
                <a:ea typeface="Cambria"/>
                <a:cs typeface="Cambria"/>
              </a:rPr>
              <a:t>Yahoo Finance</a:t>
            </a:r>
          </a:p>
        </p:txBody>
      </p:sp>
      <p:sp>
        <p:nvSpPr>
          <p:cNvPr id="11" name="Text 8">
            <a:extLst>
              <a:ext uri="{FF2B5EF4-FFF2-40B4-BE49-F238E27FC236}">
                <a16:creationId xmlns:a16="http://schemas.microsoft.com/office/drawing/2014/main" id="{41852A5C-4CFB-4CCD-ACAC-8DDACB5829CD}"/>
              </a:ext>
            </a:extLst>
          </p:cNvPr>
          <p:cNvSpPr>
            <a:spLocks noGrp="1"/>
          </p:cNvSpPr>
          <p:nvPr/>
        </p:nvSpPr>
        <p:spPr>
          <a:xfrm>
            <a:off x="841248" y="3337560"/>
            <a:ext cx="2203704" cy="109728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Ein Chart mit tausend Zahlen — ohne Einordnung</a:t>
            </a:r>
          </a:p>
        </p:txBody>
      </p:sp>
      <p:sp>
        <p:nvSpPr>
          <p:cNvPr id="12" name="Shape 9">
            <a:extLst>
              <a:ext uri="{FF2B5EF4-FFF2-40B4-BE49-F238E27FC236}">
                <a16:creationId xmlns:a16="http://schemas.microsoft.com/office/drawing/2014/main" id="{85A49E56-88AB-47A8-A873-7459DEAE61DD}"/>
              </a:ext>
            </a:extLst>
          </p:cNvPr>
          <p:cNvSpPr>
            <a:spLocks noGrp="1"/>
          </p:cNvSpPr>
          <p:nvPr/>
        </p:nvSpPr>
        <p:spPr>
          <a:xfrm>
            <a:off x="3502152" y="2651760"/>
            <a:ext cx="260604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0B0E5C11-AD75-4582-85B7-C72D7CD7B673}"/>
              </a:ext>
            </a:extLst>
          </p:cNvPr>
          <p:cNvSpPr>
            <a:spLocks noGrp="1"/>
          </p:cNvSpPr>
          <p:nvPr/>
        </p:nvSpPr>
        <p:spPr>
          <a:xfrm>
            <a:off x="3703320" y="2834640"/>
            <a:ext cx="2203704" cy="457200"/>
          </a:xfrm>
          <a:prstGeom prst="rect">
            <a:avLst/>
          </a:prstGeom>
          <a:noFill/>
        </p:spPr>
        <p:txBody>
          <a:bodyPr wrap="square" lIns="0" tIns="0" rIns="0" bIns="0" anchor="ctr"/>
          <a:lstStyle/>
          <a:p>
            <a:pPr marL="0" indent="0">
              <a:buNone/>
            </a:pPr>
            <a:r>
              <a:rPr sz="1500" b="1">
                <a:solidFill>
                  <a:srgbClr val="171A17"/>
                </a:solidFill>
                <a:latin typeface="Cambria"/>
                <a:ea typeface="Cambria"/>
                <a:cs typeface="Cambria"/>
              </a:rPr>
              <a:t>Bloomberg</a:t>
            </a:r>
          </a:p>
        </p:txBody>
      </p:sp>
      <p:sp>
        <p:nvSpPr>
          <p:cNvPr id="14" name="Text 11">
            <a:extLst>
              <a:ext uri="{FF2B5EF4-FFF2-40B4-BE49-F238E27FC236}">
                <a16:creationId xmlns:a16="http://schemas.microsoft.com/office/drawing/2014/main" id="{15B9E72F-0476-4A30-B66E-33188A6B6713}"/>
              </a:ext>
            </a:extLst>
          </p:cNvPr>
          <p:cNvSpPr>
            <a:spLocks noGrp="1"/>
          </p:cNvSpPr>
          <p:nvPr/>
        </p:nvSpPr>
        <p:spPr>
          <a:xfrm>
            <a:off x="3703320" y="3337560"/>
            <a:ext cx="2203704" cy="109728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Professionelle Daten, aber hinter einer Paywall</a:t>
            </a:r>
          </a:p>
        </p:txBody>
      </p:sp>
      <p:sp>
        <p:nvSpPr>
          <p:cNvPr id="15" name="Shape 12">
            <a:extLst>
              <a:ext uri="{FF2B5EF4-FFF2-40B4-BE49-F238E27FC236}">
                <a16:creationId xmlns:a16="http://schemas.microsoft.com/office/drawing/2014/main" id="{E5CBA716-D5CD-47B1-9B6D-FC9605CDB32D}"/>
              </a:ext>
            </a:extLst>
          </p:cNvPr>
          <p:cNvSpPr>
            <a:spLocks noGrp="1"/>
          </p:cNvSpPr>
          <p:nvPr/>
        </p:nvSpPr>
        <p:spPr>
          <a:xfrm>
            <a:off x="6364224" y="2651760"/>
            <a:ext cx="260604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6" name="Text 13">
            <a:extLst>
              <a:ext uri="{FF2B5EF4-FFF2-40B4-BE49-F238E27FC236}">
                <a16:creationId xmlns:a16="http://schemas.microsoft.com/office/drawing/2014/main" id="{CA4EB369-0159-4DB6-BA17-B58AAFB06CA6}"/>
              </a:ext>
            </a:extLst>
          </p:cNvPr>
          <p:cNvSpPr>
            <a:spLocks noGrp="1"/>
          </p:cNvSpPr>
          <p:nvPr/>
        </p:nvSpPr>
        <p:spPr>
          <a:xfrm>
            <a:off x="6565392" y="2834640"/>
            <a:ext cx="2203704" cy="457200"/>
          </a:xfrm>
          <a:prstGeom prst="rect">
            <a:avLst/>
          </a:prstGeom>
          <a:noFill/>
        </p:spPr>
        <p:txBody>
          <a:bodyPr wrap="square" lIns="0" tIns="0" rIns="0" bIns="0" anchor="ctr"/>
          <a:lstStyle/>
          <a:p>
            <a:pPr marL="0" indent="0">
              <a:buNone/>
            </a:pPr>
            <a:r>
              <a:rPr sz="1500" b="1">
                <a:solidFill>
                  <a:srgbClr val="171A17"/>
                </a:solidFill>
                <a:latin typeface="Cambria"/>
                <a:ea typeface="Cambria"/>
                <a:cs typeface="Cambria"/>
              </a:rPr>
              <a:t>ChatGPT</a:t>
            </a:r>
          </a:p>
        </p:txBody>
      </p:sp>
      <p:sp>
        <p:nvSpPr>
          <p:cNvPr id="17" name="Text 14">
            <a:extLst>
              <a:ext uri="{FF2B5EF4-FFF2-40B4-BE49-F238E27FC236}">
                <a16:creationId xmlns:a16="http://schemas.microsoft.com/office/drawing/2014/main" id="{DBB02653-CF84-4E01-82CA-611434056B01}"/>
              </a:ext>
            </a:extLst>
          </p:cNvPr>
          <p:cNvSpPr>
            <a:spLocks noGrp="1"/>
          </p:cNvSpPr>
          <p:nvPr/>
        </p:nvSpPr>
        <p:spPr>
          <a:xfrm>
            <a:off x="6565392" y="3337560"/>
            <a:ext cx="2203704" cy="109728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„Ich kann keine Finanzberatung geben.“</a:t>
            </a:r>
          </a:p>
        </p:txBody>
      </p:sp>
      <p:sp>
        <p:nvSpPr>
          <p:cNvPr id="18" name="Shape 15">
            <a:extLst>
              <a:ext uri="{FF2B5EF4-FFF2-40B4-BE49-F238E27FC236}">
                <a16:creationId xmlns:a16="http://schemas.microsoft.com/office/drawing/2014/main" id="{BF5B93A0-A1ED-4684-8842-B562F24E22A1}"/>
              </a:ext>
            </a:extLst>
          </p:cNvPr>
          <p:cNvSpPr>
            <a:spLocks noGrp="1"/>
          </p:cNvSpPr>
          <p:nvPr/>
        </p:nvSpPr>
        <p:spPr>
          <a:xfrm>
            <a:off x="9226296" y="2651760"/>
            <a:ext cx="260604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EBEC3E2B-EE7A-40A0-9F81-645D4F550C20}"/>
              </a:ext>
            </a:extLst>
          </p:cNvPr>
          <p:cNvSpPr>
            <a:spLocks noGrp="1"/>
          </p:cNvSpPr>
          <p:nvPr/>
        </p:nvSpPr>
        <p:spPr>
          <a:xfrm>
            <a:off x="9427464" y="2834640"/>
            <a:ext cx="2203704" cy="457200"/>
          </a:xfrm>
          <a:prstGeom prst="rect">
            <a:avLst/>
          </a:prstGeom>
          <a:noFill/>
        </p:spPr>
        <p:txBody>
          <a:bodyPr wrap="square" lIns="0" tIns="0" rIns="0" bIns="0" anchor="ctr"/>
          <a:lstStyle/>
          <a:p>
            <a:pPr marL="0" indent="0">
              <a:buNone/>
            </a:pPr>
            <a:r>
              <a:rPr sz="1500" b="1">
                <a:solidFill>
                  <a:srgbClr val="171A17"/>
                </a:solidFill>
                <a:latin typeface="Cambria"/>
                <a:ea typeface="Cambria"/>
                <a:cs typeface="Cambria"/>
              </a:rPr>
              <a:t>Bankberater</a:t>
            </a:r>
          </a:p>
        </p:txBody>
      </p:sp>
      <p:sp>
        <p:nvSpPr>
          <p:cNvPr id="20" name="Text 17">
            <a:extLst>
              <a:ext uri="{FF2B5EF4-FFF2-40B4-BE49-F238E27FC236}">
                <a16:creationId xmlns:a16="http://schemas.microsoft.com/office/drawing/2014/main" id="{72A60CFC-7213-4D11-B01F-0EE53321EC19}"/>
              </a:ext>
            </a:extLst>
          </p:cNvPr>
          <p:cNvSpPr>
            <a:spLocks noGrp="1"/>
          </p:cNvSpPr>
          <p:nvPr/>
        </p:nvSpPr>
        <p:spPr>
          <a:xfrm>
            <a:off x="9427464" y="3337560"/>
            <a:ext cx="2203704" cy="109728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Empfiehlt den eigenen, teuersten Fonds</a:t>
            </a:r>
          </a:p>
        </p:txBody>
      </p:sp>
      <p:sp>
        <p:nvSpPr>
          <p:cNvPr id="21" name="Shape 18">
            <a:extLst>
              <a:ext uri="{FF2B5EF4-FFF2-40B4-BE49-F238E27FC236}">
                <a16:creationId xmlns:a16="http://schemas.microsoft.com/office/drawing/2014/main" id="{0235A0A3-4021-416B-9A52-D6F86456D8A6}"/>
              </a:ext>
            </a:extLst>
          </p:cNvPr>
          <p:cNvSpPr>
            <a:spLocks noGrp="1"/>
          </p:cNvSpPr>
          <p:nvPr/>
        </p:nvSpPr>
        <p:spPr>
          <a:xfrm>
            <a:off x="640080" y="4892040"/>
            <a:ext cx="10881360" cy="1325880"/>
          </a:xfrm>
          <a:prstGeom prst="roundRect">
            <a:avLst>
              <a:gd name="adj" fmla="val 4138"/>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2" name="Text 19">
            <a:extLst>
              <a:ext uri="{FF2B5EF4-FFF2-40B4-BE49-F238E27FC236}">
                <a16:creationId xmlns:a16="http://schemas.microsoft.com/office/drawing/2014/main" id="{454D70C4-BB3B-4BF7-90D2-A1AF8FF9BB92}"/>
              </a:ext>
            </a:extLst>
          </p:cNvPr>
          <p:cNvSpPr>
            <a:spLocks noGrp="1"/>
          </p:cNvSpPr>
          <p:nvPr/>
        </p:nvSpPr>
        <p:spPr>
          <a:xfrm>
            <a:off x="914400" y="5074920"/>
            <a:ext cx="10332720" cy="960120"/>
          </a:xfrm>
          <a:prstGeom prst="rect">
            <a:avLst/>
          </a:prstGeom>
          <a:noFill/>
        </p:spPr>
        <p:txBody>
          <a:bodyPr wrap="square" lIns="0" tIns="0" rIns="0" bIns="0" anchor="ctr"/>
          <a:lstStyle/>
          <a:p>
            <a:pPr marL="0" indent="0">
              <a:buNone/>
            </a:pPr>
            <a:r>
              <a:rPr sz="1500">
                <a:solidFill>
                  <a:srgbClr val="171A17"/>
                </a:solidFill>
                <a:latin typeface="Calibri"/>
                <a:ea typeface="Calibri"/>
                <a:cs typeface="Calibri"/>
              </a:rPr>
              <a:t>Das zentrale Problem: Es gibt keine zugängliche, transparente, datengetriebene Plattform, die Privatanlegern zeigt, was hinter den Zahlen steckt — und die dabei ehrlich über ihre eigenen Grenzen ist.</a:t>
            </a:r>
          </a:p>
        </p:txBody>
      </p:sp>
      <p:sp>
        <p:nvSpPr>
          <p:cNvPr id="23" name="Text 20">
            <a:extLst>
              <a:ext uri="{FF2B5EF4-FFF2-40B4-BE49-F238E27FC236}">
                <a16:creationId xmlns:a16="http://schemas.microsoft.com/office/drawing/2014/main" id="{8FD5DF14-9C5F-4E09-9E14-0BAC8848C7D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4" name="Text 21">
            <a:extLst>
              <a:ext uri="{FF2B5EF4-FFF2-40B4-BE49-F238E27FC236}">
                <a16:creationId xmlns:a16="http://schemas.microsoft.com/office/drawing/2014/main" id="{A8963DC2-45C4-4F24-B3E6-A96A1A22284A}"/>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a:t>
            </a:r>
          </a:p>
        </p:txBody>
      </p:sp>
    </p:spTree>
    <p:extLst>
      <p:ext uri="{BB962C8B-B14F-4D97-AF65-F5344CB8AC3E}">
        <p14:creationId xmlns:p14="http://schemas.microsoft.com/office/powerpoint/2010/main" val="6358322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F6FEF77-C9F4-4311-8DE5-862786E035CF}"/>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4"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63D9287F-0D12-4DE5-8096-F7EE348F0270}"/>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2 · LÖSUNG</a:t>
            </a:r>
          </a:p>
        </p:txBody>
      </p:sp>
      <p:sp>
        <p:nvSpPr>
          <p:cNvPr id="5" name="Text 2">
            <a:extLst>
              <a:ext uri="{FF2B5EF4-FFF2-40B4-BE49-F238E27FC236}">
                <a16:creationId xmlns:a16="http://schemas.microsoft.com/office/drawing/2014/main" id="{B72E2801-ABE5-4418-B976-812DF09DAE93}"/>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Was ist WealthScope AI?</a:t>
            </a:r>
          </a:p>
        </p:txBody>
      </p:sp>
      <p:sp>
        <p:nvSpPr>
          <p:cNvPr id="6" name="Shape 3">
            <a:extLst>
              <a:ext uri="{FF2B5EF4-FFF2-40B4-BE49-F238E27FC236}">
                <a16:creationId xmlns:a16="http://schemas.microsoft.com/office/drawing/2014/main" id="{E8F2B5AF-1A48-4175-BF7F-41BAFF7A214A}"/>
              </a:ext>
            </a:extLst>
          </p:cNvPr>
          <p:cNvSpPr>
            <a:spLocks noGrp="1"/>
          </p:cNvSpPr>
          <p:nvPr/>
        </p:nvSpPr>
        <p:spPr>
          <a:xfrm>
            <a:off x="10643616" y="457200"/>
            <a:ext cx="1088136"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CAF6B811-95D9-47B0-8C26-237366823846}"/>
              </a:ext>
            </a:extLst>
          </p:cNvPr>
          <p:cNvSpPr>
            <a:spLocks noGrp="1"/>
          </p:cNvSpPr>
          <p:nvPr/>
        </p:nvSpPr>
        <p:spPr>
          <a:xfrm>
            <a:off x="10643616" y="457200"/>
            <a:ext cx="1088136"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2 Min</a:t>
            </a:r>
          </a:p>
        </p:txBody>
      </p:sp>
      <p:sp>
        <p:nvSpPr>
          <p:cNvPr id="8" name="Text 5">
            <a:extLst>
              <a:ext uri="{FF2B5EF4-FFF2-40B4-BE49-F238E27FC236}">
                <a16:creationId xmlns:a16="http://schemas.microsoft.com/office/drawing/2014/main" id="{C4D5E1CE-8BBE-4176-90BC-57865507016F}"/>
              </a:ext>
            </a:extLst>
          </p:cNvPr>
          <p:cNvSpPr>
            <a:spLocks noGrp="1"/>
          </p:cNvSpPr>
          <p:nvPr/>
        </p:nvSpPr>
        <p:spPr>
          <a:xfrm>
            <a:off x="640080" y="1417320"/>
            <a:ext cx="5394960" cy="1554480"/>
          </a:xfrm>
          <a:prstGeom prst="rect">
            <a:avLst/>
          </a:prstGeom>
          <a:noFill/>
        </p:spPr>
        <p:txBody>
          <a:bodyPr wrap="square" lIns="0" tIns="0" rIns="0" bIns="0" anchor="ctr"/>
          <a:lstStyle/>
          <a:p>
            <a:pPr marL="0" indent="0">
              <a:spcAft>
                <a:spcPts val="800"/>
              </a:spcAft>
              <a:buNone/>
            </a:pPr>
            <a:r>
              <a:rPr sz="1500">
                <a:solidFill>
                  <a:srgbClr val="171A17"/>
                </a:solidFill>
                <a:latin typeface="Calibri"/>
                <a:ea typeface="Calibri"/>
                <a:cs typeface="Calibri"/>
              </a:rPr>
              <a:t>Eine interaktive Webanwendung — Python &amp; Streamlit —, die historische Aktienmarktdaten mit Machine Learning verbindet. Kein Wundermittel, kein Handelssystem: ein wissenschaftlich fundiertes Analyse-Werkzeug, das Klarheit schafft.</a:t>
            </a:r>
          </a:p>
        </p:txBody>
      </p:sp>
      <p:sp>
        <p:nvSpPr>
          <p:cNvPr id="9" name="Shape 6">
            <a:extLst>
              <a:ext uri="{FF2B5EF4-FFF2-40B4-BE49-F238E27FC236}">
                <a16:creationId xmlns:a16="http://schemas.microsoft.com/office/drawing/2014/main" id="{329111E1-1F40-4E2B-96C0-BF06A37DA531}"/>
              </a:ext>
            </a:extLst>
          </p:cNvPr>
          <p:cNvSpPr>
            <a:spLocks noGrp="1"/>
          </p:cNvSpPr>
          <p:nvPr/>
        </p:nvSpPr>
        <p:spPr>
          <a:xfrm>
            <a:off x="640080" y="3200400"/>
            <a:ext cx="5394960" cy="3017520"/>
          </a:xfrm>
          <a:prstGeom prst="roundRect">
            <a:avLst>
              <a:gd name="adj" fmla="val 1818"/>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406D869C-C3D0-465D-B8B2-AC325CF976D8}"/>
              </a:ext>
            </a:extLst>
          </p:cNvPr>
          <p:cNvSpPr>
            <a:spLocks noGrp="1"/>
          </p:cNvSpPr>
          <p:nvPr/>
        </p:nvSpPr>
        <p:spPr>
          <a:xfrm>
            <a:off x="868680" y="3383280"/>
            <a:ext cx="4937760" cy="365760"/>
          </a:xfrm>
          <a:prstGeom prst="rect">
            <a:avLst/>
          </a:prstGeom>
          <a:noFill/>
        </p:spPr>
        <p:txBody>
          <a:bodyPr wrap="square" lIns="0" tIns="0" rIns="0" bIns="0" anchor="ctr"/>
          <a:lstStyle/>
          <a:p>
            <a:pPr marL="0" indent="0">
              <a:buNone/>
            </a:pPr>
            <a:r>
              <a:rPr sz="1500" b="1">
                <a:solidFill>
                  <a:srgbClr val="2F5D53"/>
                </a:solidFill>
                <a:latin typeface="Cambria"/>
                <a:ea typeface="Cambria"/>
                <a:cs typeface="Cambria"/>
              </a:rPr>
              <a:t>Die Datenbasis</a:t>
            </a:r>
          </a:p>
        </p:txBody>
      </p:sp>
      <p:sp>
        <p:nvSpPr>
          <p:cNvPr id="11" name="Text 8">
            <a:extLst>
              <a:ext uri="{FF2B5EF4-FFF2-40B4-BE49-F238E27FC236}">
                <a16:creationId xmlns:a16="http://schemas.microsoft.com/office/drawing/2014/main" id="{B78E5E57-0853-4DD3-A189-190F2643064F}"/>
              </a:ext>
            </a:extLst>
          </p:cNvPr>
          <p:cNvSpPr>
            <a:spLocks noGrp="1"/>
          </p:cNvSpPr>
          <p:nvPr/>
        </p:nvSpPr>
        <p:spPr>
          <a:xfrm>
            <a:off x="868680" y="3840480"/>
            <a:ext cx="2103120" cy="548640"/>
          </a:xfrm>
          <a:prstGeom prst="rect">
            <a:avLst/>
          </a:prstGeom>
          <a:noFill/>
        </p:spPr>
        <p:txBody>
          <a:bodyPr wrap="square" lIns="0" tIns="0" rIns="0" bIns="0" anchor="ctr"/>
          <a:lstStyle/>
          <a:p>
            <a:pPr marL="0" indent="0">
              <a:buNone/>
            </a:pPr>
            <a:r>
              <a:rPr sz="2600" b="1">
                <a:solidFill>
                  <a:srgbClr val="A97C1E"/>
                </a:solidFill>
                <a:latin typeface="Cambria"/>
                <a:ea typeface="Cambria"/>
                <a:cs typeface="Cambria"/>
              </a:rPr>
              <a:t>192.119</a:t>
            </a:r>
          </a:p>
        </p:txBody>
      </p:sp>
      <p:sp>
        <p:nvSpPr>
          <p:cNvPr id="12" name="Text 9">
            <a:extLst>
              <a:ext uri="{FF2B5EF4-FFF2-40B4-BE49-F238E27FC236}">
                <a16:creationId xmlns:a16="http://schemas.microsoft.com/office/drawing/2014/main" id="{A780E1D4-F47F-4599-957E-91AEF9DC01EB}"/>
              </a:ext>
            </a:extLst>
          </p:cNvPr>
          <p:cNvSpPr>
            <a:spLocks noGrp="1"/>
          </p:cNvSpPr>
          <p:nvPr/>
        </p:nvSpPr>
        <p:spPr>
          <a:xfrm>
            <a:off x="3017520" y="3977640"/>
            <a:ext cx="2834640" cy="457200"/>
          </a:xfrm>
          <a:prstGeom prst="rect">
            <a:avLst/>
          </a:prstGeom>
          <a:noFill/>
        </p:spPr>
        <p:txBody>
          <a:bodyPr wrap="square" lIns="0" tIns="0" rIns="0" bIns="0" anchor="ctr"/>
          <a:lstStyle/>
          <a:p>
            <a:pPr marL="0" indent="0">
              <a:buNone/>
            </a:pPr>
            <a:r>
              <a:rPr sz="1300">
                <a:solidFill>
                  <a:srgbClr val="5B6259"/>
                </a:solidFill>
                <a:latin typeface="Calibri"/>
                <a:ea typeface="Calibri"/>
                <a:cs typeface="Calibri"/>
              </a:rPr>
              <a:t>Datenpunkte</a:t>
            </a:r>
          </a:p>
        </p:txBody>
      </p:sp>
      <p:sp>
        <p:nvSpPr>
          <p:cNvPr id="13" name="Text 10">
            <a:extLst>
              <a:ext uri="{FF2B5EF4-FFF2-40B4-BE49-F238E27FC236}">
                <a16:creationId xmlns:a16="http://schemas.microsoft.com/office/drawing/2014/main" id="{A231A538-74AD-4089-A9BC-DA20E08EA70F}"/>
              </a:ext>
            </a:extLst>
          </p:cNvPr>
          <p:cNvSpPr>
            <a:spLocks noGrp="1"/>
          </p:cNvSpPr>
          <p:nvPr/>
        </p:nvSpPr>
        <p:spPr>
          <a:xfrm>
            <a:off x="868680" y="4617720"/>
            <a:ext cx="2103120" cy="548640"/>
          </a:xfrm>
          <a:prstGeom prst="rect">
            <a:avLst/>
          </a:prstGeom>
          <a:noFill/>
        </p:spPr>
        <p:txBody>
          <a:bodyPr wrap="square" lIns="0" tIns="0" rIns="0" bIns="0" anchor="ctr"/>
          <a:lstStyle/>
          <a:p>
            <a:pPr marL="0" indent="0">
              <a:buNone/>
            </a:pPr>
            <a:r>
              <a:rPr sz="2600" b="1">
                <a:solidFill>
                  <a:srgbClr val="A97C1E"/>
                </a:solidFill>
                <a:latin typeface="Cambria"/>
                <a:ea typeface="Cambria"/>
                <a:cs typeface="Cambria"/>
              </a:rPr>
              <a:t>26</a:t>
            </a:r>
          </a:p>
        </p:txBody>
      </p:sp>
      <p:sp>
        <p:nvSpPr>
          <p:cNvPr id="14" name="Text 11">
            <a:extLst>
              <a:ext uri="{FF2B5EF4-FFF2-40B4-BE49-F238E27FC236}">
                <a16:creationId xmlns:a16="http://schemas.microsoft.com/office/drawing/2014/main" id="{9B5082F4-C682-4B9E-98FE-C1FDE7F21D8F}"/>
              </a:ext>
            </a:extLst>
          </p:cNvPr>
          <p:cNvSpPr>
            <a:spLocks noGrp="1"/>
          </p:cNvSpPr>
          <p:nvPr/>
        </p:nvSpPr>
        <p:spPr>
          <a:xfrm>
            <a:off x="3017520" y="4754880"/>
            <a:ext cx="2834640" cy="457200"/>
          </a:xfrm>
          <a:prstGeom prst="rect">
            <a:avLst/>
          </a:prstGeom>
          <a:noFill/>
        </p:spPr>
        <p:txBody>
          <a:bodyPr wrap="square" lIns="0" tIns="0" rIns="0" bIns="0" anchor="ctr"/>
          <a:lstStyle/>
          <a:p>
            <a:pPr marL="0" indent="0">
              <a:buNone/>
            </a:pPr>
            <a:r>
              <a:rPr sz="1300">
                <a:solidFill>
                  <a:srgbClr val="5B6259"/>
                </a:solidFill>
                <a:latin typeface="Calibri"/>
                <a:ea typeface="Calibri"/>
                <a:cs typeface="Calibri"/>
              </a:rPr>
              <a:t>Blue-Chip-Ticker</a:t>
            </a:r>
          </a:p>
        </p:txBody>
      </p:sp>
      <p:sp>
        <p:nvSpPr>
          <p:cNvPr id="15" name="Text 12">
            <a:extLst>
              <a:ext uri="{FF2B5EF4-FFF2-40B4-BE49-F238E27FC236}">
                <a16:creationId xmlns:a16="http://schemas.microsoft.com/office/drawing/2014/main" id="{BB0E2A73-5314-43F2-B704-F941466FFFFD}"/>
              </a:ext>
            </a:extLst>
          </p:cNvPr>
          <p:cNvSpPr>
            <a:spLocks noGrp="1"/>
          </p:cNvSpPr>
          <p:nvPr/>
        </p:nvSpPr>
        <p:spPr>
          <a:xfrm>
            <a:off x="868680" y="5394960"/>
            <a:ext cx="2103120" cy="548640"/>
          </a:xfrm>
          <a:prstGeom prst="rect">
            <a:avLst/>
          </a:prstGeom>
          <a:noFill/>
        </p:spPr>
        <p:txBody>
          <a:bodyPr wrap="square" lIns="0" tIns="0" rIns="0" bIns="0" anchor="ctr"/>
          <a:lstStyle/>
          <a:p>
            <a:pPr marL="0" indent="0">
              <a:buNone/>
            </a:pPr>
            <a:r>
              <a:rPr sz="2600" b="1">
                <a:solidFill>
                  <a:srgbClr val="A97C1E"/>
                </a:solidFill>
                <a:latin typeface="Cambria"/>
                <a:ea typeface="Cambria"/>
                <a:cs typeface="Cambria"/>
              </a:rPr>
              <a:t>1962–2017</a:t>
            </a:r>
          </a:p>
        </p:txBody>
      </p:sp>
      <p:sp>
        <p:nvSpPr>
          <p:cNvPr id="16" name="Text 13">
            <a:extLst>
              <a:ext uri="{FF2B5EF4-FFF2-40B4-BE49-F238E27FC236}">
                <a16:creationId xmlns:a16="http://schemas.microsoft.com/office/drawing/2014/main" id="{5F0E2F58-4434-4078-87A7-3355AB9E468C}"/>
              </a:ext>
            </a:extLst>
          </p:cNvPr>
          <p:cNvSpPr>
            <a:spLocks noGrp="1"/>
          </p:cNvSpPr>
          <p:nvPr/>
        </p:nvSpPr>
        <p:spPr>
          <a:xfrm>
            <a:off x="3017520" y="5532120"/>
            <a:ext cx="2834640" cy="457200"/>
          </a:xfrm>
          <a:prstGeom prst="rect">
            <a:avLst/>
          </a:prstGeom>
          <a:noFill/>
        </p:spPr>
        <p:txBody>
          <a:bodyPr wrap="square" lIns="0" tIns="0" rIns="0" bIns="0" anchor="ctr"/>
          <a:lstStyle/>
          <a:p>
            <a:pPr marL="0" indent="0">
              <a:buNone/>
            </a:pPr>
            <a:r>
              <a:rPr sz="1300">
                <a:solidFill>
                  <a:srgbClr val="5B6259"/>
                </a:solidFill>
                <a:latin typeface="Calibri"/>
                <a:ea typeface="Calibri"/>
                <a:cs typeface="Calibri"/>
              </a:rPr>
              <a:t>+ live via yfinance</a:t>
            </a:r>
          </a:p>
        </p:txBody>
      </p:sp>
      <p:sp>
        <p:nvSpPr>
          <p:cNvPr id="17" name="Shape 14">
            <a:extLst>
              <a:ext uri="{FF2B5EF4-FFF2-40B4-BE49-F238E27FC236}">
                <a16:creationId xmlns:a16="http://schemas.microsoft.com/office/drawing/2014/main" id="{7D442CD6-FDC0-4CF7-97AF-A264CFCBE55A}"/>
              </a:ext>
            </a:extLst>
          </p:cNvPr>
          <p:cNvSpPr>
            <a:spLocks noGrp="1"/>
          </p:cNvSpPr>
          <p:nvPr/>
        </p:nvSpPr>
        <p:spPr>
          <a:xfrm>
            <a:off x="6263640" y="1417320"/>
            <a:ext cx="5285232" cy="4800600"/>
          </a:xfrm>
          <a:prstGeom prst="roundRect">
            <a:avLst>
              <a:gd name="adj" fmla="val 114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pic>
        <p:nvPicPr>
          <p:cNvPr id="39" name="Image 1"/>
          <p:cNvPicPr>
            <a:picLocks noChangeAspect="1"/>
          </p:cNvPicPr>
          <p:nvPr/>
        </p:nvPicPr>
        <p:blipFill>
          <a:blip r:embed="rId4"/>
          <a:srcRect/>
          <a:stretch/>
        </p:blipFill>
        <p:spPr>
          <a:xfrm>
            <a:off x="6419088" y="1572768"/>
            <a:ext cx="4974336" cy="4489704"/>
          </a:xfrm>
          <a:prstGeom prst="rect">
            <a:avLst/>
          </a:prstGeom>
        </p:spPr>
      </p:pic>
      <p:sp>
        <p:nvSpPr>
          <p:cNvPr id="19" name="Text 15">
            <a:extLst>
              <a:ext uri="{FF2B5EF4-FFF2-40B4-BE49-F238E27FC236}">
                <a16:creationId xmlns:a16="http://schemas.microsoft.com/office/drawing/2014/main" id="{20823A94-BFE2-4409-A015-688BA2B8FA6D}"/>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0" name="Text 16">
            <a:extLst>
              <a:ext uri="{FF2B5EF4-FFF2-40B4-BE49-F238E27FC236}">
                <a16:creationId xmlns:a16="http://schemas.microsoft.com/office/drawing/2014/main" id="{44D03F06-D1C0-45CC-B405-9EA3EC3D550F}"/>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4</a:t>
            </a:r>
          </a:p>
        </p:txBody>
      </p:sp>
    </p:spTree>
    <p:extLst>
      <p:ext uri="{BB962C8B-B14F-4D97-AF65-F5344CB8AC3E}">
        <p14:creationId xmlns:p14="http://schemas.microsoft.com/office/powerpoint/2010/main" val="19351171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9BAD68E-14F1-4144-97B8-DC9763AB71E2}"/>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42"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98CBCA93-C6CB-40D7-9D27-94B8B4FABC63}"/>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2 · LÖSUNG</a:t>
            </a:r>
          </a:p>
        </p:txBody>
      </p:sp>
      <p:sp>
        <p:nvSpPr>
          <p:cNvPr id="5" name="Text 2">
            <a:extLst>
              <a:ext uri="{FF2B5EF4-FFF2-40B4-BE49-F238E27FC236}">
                <a16:creationId xmlns:a16="http://schemas.microsoft.com/office/drawing/2014/main" id="{F9030419-8276-4017-8097-4FFA0685AA2F}"/>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Fünf Bausteine, ein Werkzeug</a:t>
            </a:r>
          </a:p>
        </p:txBody>
      </p:sp>
      <p:sp>
        <p:nvSpPr>
          <p:cNvPr id="6" name="Shape 3">
            <a:extLst>
              <a:ext uri="{FF2B5EF4-FFF2-40B4-BE49-F238E27FC236}">
                <a16:creationId xmlns:a16="http://schemas.microsoft.com/office/drawing/2014/main" id="{92E2FDE7-08F2-4A04-8502-A97793573BAF}"/>
              </a:ext>
            </a:extLst>
          </p:cNvPr>
          <p:cNvSpPr>
            <a:spLocks noGrp="1"/>
          </p:cNvSpPr>
          <p:nvPr/>
        </p:nvSpPr>
        <p:spPr>
          <a:xfrm>
            <a:off x="548640" y="1600200"/>
            <a:ext cx="2084832" cy="3246120"/>
          </a:xfrm>
          <a:prstGeom prst="roundRect">
            <a:avLst>
              <a:gd name="adj" fmla="val 2632"/>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Shape 4">
            <a:extLst>
              <a:ext uri="{FF2B5EF4-FFF2-40B4-BE49-F238E27FC236}">
                <a16:creationId xmlns:a16="http://schemas.microsoft.com/office/drawing/2014/main" id="{CC8051C1-BDB4-4524-A521-996F1B1BAA56}"/>
              </a:ext>
            </a:extLst>
          </p:cNvPr>
          <p:cNvSpPr>
            <a:spLocks noGrp="1"/>
          </p:cNvSpPr>
          <p:nvPr/>
        </p:nvSpPr>
        <p:spPr>
          <a:xfrm>
            <a:off x="1289304" y="1874520"/>
            <a:ext cx="603504" cy="603504"/>
          </a:xfrm>
          <a:prstGeom prst="ellipse">
            <a:avLst/>
          </a:prstGeom>
          <a:solidFill>
            <a:srgbClr val="E4EBE7"/>
          </a:solidFill>
        </p:spPr>
        <p:txBody>
          <a:bodyPr/>
          <a:lstStyle/>
          <a:p>
            <a:endParaRPr/>
          </a:p>
        </p:txBody>
      </p:sp>
      <p:pic>
        <p:nvPicPr>
          <p:cNvPr id="47" name="Image 1"/>
          <p:cNvPicPr>
            <a:picLocks noChangeAspect="1"/>
          </p:cNvPicPr>
          <p:nvPr/>
        </p:nvPicPr>
        <p:blipFill>
          <a:blip r:embed="rId4"/>
          <a:stretch>
            <a:fillRect/>
          </a:stretch>
        </p:blipFill>
        <p:spPr>
          <a:xfrm>
            <a:off x="1355689" y="1940905"/>
            <a:ext cx="470733" cy="470733"/>
          </a:xfrm>
          <a:prstGeom prst="rect">
            <a:avLst/>
          </a:prstGeom>
        </p:spPr>
      </p:pic>
      <p:sp>
        <p:nvSpPr>
          <p:cNvPr id="9" name="Text 5">
            <a:extLst>
              <a:ext uri="{FF2B5EF4-FFF2-40B4-BE49-F238E27FC236}">
                <a16:creationId xmlns:a16="http://schemas.microsoft.com/office/drawing/2014/main" id="{35F71C1C-9ECC-4AFB-8B49-C1C68DBBD361}"/>
              </a:ext>
            </a:extLst>
          </p:cNvPr>
          <p:cNvSpPr>
            <a:spLocks noGrp="1"/>
          </p:cNvSpPr>
          <p:nvPr/>
        </p:nvSpPr>
        <p:spPr>
          <a:xfrm>
            <a:off x="685800" y="2697480"/>
            <a:ext cx="1810512" cy="502920"/>
          </a:xfrm>
          <a:prstGeom prst="rect">
            <a:avLst/>
          </a:prstGeom>
          <a:noFill/>
        </p:spPr>
        <p:txBody>
          <a:bodyPr wrap="square" lIns="0" tIns="0" rIns="0" bIns="0" anchor="t"/>
          <a:lstStyle/>
          <a:p>
            <a:pPr marL="0" indent="0" algn="ctr">
              <a:buNone/>
            </a:pPr>
            <a:r>
              <a:rPr sz="1400" b="1">
                <a:solidFill>
                  <a:srgbClr val="171A17"/>
                </a:solidFill>
                <a:latin typeface="Cambria"/>
                <a:ea typeface="Cambria"/>
                <a:cs typeface="Cambria"/>
              </a:rPr>
              <a:t>Marktanalyse</a:t>
            </a:r>
          </a:p>
        </p:txBody>
      </p:sp>
      <p:sp>
        <p:nvSpPr>
          <p:cNvPr id="10" name="Text 6">
            <a:extLst>
              <a:ext uri="{FF2B5EF4-FFF2-40B4-BE49-F238E27FC236}">
                <a16:creationId xmlns:a16="http://schemas.microsoft.com/office/drawing/2014/main" id="{9434FA67-B758-4690-82D2-E944A7CA18E9}"/>
              </a:ext>
            </a:extLst>
          </p:cNvPr>
          <p:cNvSpPr>
            <a:spLocks noGrp="1"/>
          </p:cNvSpPr>
          <p:nvPr/>
        </p:nvSpPr>
        <p:spPr>
          <a:xfrm>
            <a:off x="731520" y="3291840"/>
            <a:ext cx="1719072" cy="1371600"/>
          </a:xfrm>
          <a:prstGeom prst="rect">
            <a:avLst/>
          </a:prstGeom>
          <a:noFill/>
        </p:spPr>
        <p:txBody>
          <a:bodyPr wrap="square" lIns="0" tIns="0" rIns="0" bIns="0" anchor="t"/>
          <a:lstStyle/>
          <a:p>
            <a:pPr marL="0" indent="0" algn="ctr">
              <a:buNone/>
            </a:pPr>
            <a:r>
              <a:rPr sz="1150">
                <a:solidFill>
                  <a:srgbClr val="5B6259"/>
                </a:solidFill>
                <a:latin typeface="Calibri"/>
                <a:ea typeface="Calibri"/>
                <a:cs typeface="Calibri"/>
              </a:rPr>
              <a:t>Kurscharts, Candlesticks, gleitende Durchschnitte, Drawdown</a:t>
            </a:r>
          </a:p>
        </p:txBody>
      </p:sp>
      <p:sp>
        <p:nvSpPr>
          <p:cNvPr id="11" name="Shape 7">
            <a:extLst>
              <a:ext uri="{FF2B5EF4-FFF2-40B4-BE49-F238E27FC236}">
                <a16:creationId xmlns:a16="http://schemas.microsoft.com/office/drawing/2014/main" id="{AB02578C-4B94-4776-B78D-07B43CEEBB7A}"/>
              </a:ext>
            </a:extLst>
          </p:cNvPr>
          <p:cNvSpPr>
            <a:spLocks noGrp="1"/>
          </p:cNvSpPr>
          <p:nvPr/>
        </p:nvSpPr>
        <p:spPr>
          <a:xfrm>
            <a:off x="2816352" y="1600200"/>
            <a:ext cx="2084832" cy="3246120"/>
          </a:xfrm>
          <a:prstGeom prst="roundRect">
            <a:avLst>
              <a:gd name="adj" fmla="val 2632"/>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2" name="Shape 8">
            <a:extLst>
              <a:ext uri="{FF2B5EF4-FFF2-40B4-BE49-F238E27FC236}">
                <a16:creationId xmlns:a16="http://schemas.microsoft.com/office/drawing/2014/main" id="{2B6D06C7-5D0D-4E15-8953-3839336449A7}"/>
              </a:ext>
            </a:extLst>
          </p:cNvPr>
          <p:cNvSpPr>
            <a:spLocks noGrp="1"/>
          </p:cNvSpPr>
          <p:nvPr/>
        </p:nvSpPr>
        <p:spPr>
          <a:xfrm>
            <a:off x="3557016" y="1874520"/>
            <a:ext cx="603504" cy="603504"/>
          </a:xfrm>
          <a:prstGeom prst="ellipse">
            <a:avLst/>
          </a:prstGeom>
          <a:solidFill>
            <a:srgbClr val="E4EBE7"/>
          </a:solidFill>
        </p:spPr>
        <p:txBody>
          <a:bodyPr/>
          <a:lstStyle/>
          <a:p>
            <a:endParaRPr/>
          </a:p>
        </p:txBody>
      </p:sp>
      <p:pic>
        <p:nvPicPr>
          <p:cNvPr id="52" name="Image 2"/>
          <p:cNvPicPr>
            <a:picLocks noChangeAspect="1"/>
          </p:cNvPicPr>
          <p:nvPr/>
        </p:nvPicPr>
        <p:blipFill>
          <a:blip r:embed="rId5"/>
          <a:stretch>
            <a:fillRect/>
          </a:stretch>
        </p:blipFill>
        <p:spPr>
          <a:xfrm>
            <a:off x="3623401" y="1940905"/>
            <a:ext cx="470733" cy="470733"/>
          </a:xfrm>
          <a:prstGeom prst="rect">
            <a:avLst/>
          </a:prstGeom>
        </p:spPr>
      </p:pic>
      <p:sp>
        <p:nvSpPr>
          <p:cNvPr id="14" name="Text 9">
            <a:extLst>
              <a:ext uri="{FF2B5EF4-FFF2-40B4-BE49-F238E27FC236}">
                <a16:creationId xmlns:a16="http://schemas.microsoft.com/office/drawing/2014/main" id="{A4DF0B00-6F99-42DA-95C6-8A02B74F5E19}"/>
              </a:ext>
            </a:extLst>
          </p:cNvPr>
          <p:cNvSpPr>
            <a:spLocks noGrp="1"/>
          </p:cNvSpPr>
          <p:nvPr/>
        </p:nvSpPr>
        <p:spPr>
          <a:xfrm>
            <a:off x="2953512" y="2697480"/>
            <a:ext cx="1810512" cy="502920"/>
          </a:xfrm>
          <a:prstGeom prst="rect">
            <a:avLst/>
          </a:prstGeom>
          <a:noFill/>
        </p:spPr>
        <p:txBody>
          <a:bodyPr wrap="square" lIns="0" tIns="0" rIns="0" bIns="0" anchor="t"/>
          <a:lstStyle/>
          <a:p>
            <a:pPr marL="0" indent="0" algn="ctr">
              <a:buNone/>
            </a:pPr>
            <a:r>
              <a:rPr sz="1400" b="1">
                <a:solidFill>
                  <a:srgbClr val="171A17"/>
                </a:solidFill>
                <a:latin typeface="Cambria"/>
                <a:ea typeface="Cambria"/>
                <a:cs typeface="Cambria"/>
              </a:rPr>
              <a:t>ML-Insights</a:t>
            </a:r>
          </a:p>
        </p:txBody>
      </p:sp>
      <p:sp>
        <p:nvSpPr>
          <p:cNvPr id="15" name="Text 10">
            <a:extLst>
              <a:ext uri="{FF2B5EF4-FFF2-40B4-BE49-F238E27FC236}">
                <a16:creationId xmlns:a16="http://schemas.microsoft.com/office/drawing/2014/main" id="{F38577B5-0E37-44ED-80F9-F628C892C377}"/>
              </a:ext>
            </a:extLst>
          </p:cNvPr>
          <p:cNvSpPr>
            <a:spLocks noGrp="1"/>
          </p:cNvSpPr>
          <p:nvPr/>
        </p:nvSpPr>
        <p:spPr>
          <a:xfrm>
            <a:off x="2999232" y="3291840"/>
            <a:ext cx="1719072" cy="1371600"/>
          </a:xfrm>
          <a:prstGeom prst="rect">
            <a:avLst/>
          </a:prstGeom>
          <a:noFill/>
        </p:spPr>
        <p:txBody>
          <a:bodyPr wrap="square" lIns="0" tIns="0" rIns="0" bIns="0" anchor="t"/>
          <a:lstStyle/>
          <a:p>
            <a:pPr marL="0" indent="0" algn="ctr">
              <a:buNone/>
            </a:pPr>
            <a:r>
              <a:rPr sz="1150">
                <a:solidFill>
                  <a:srgbClr val="5B6259"/>
                </a:solidFill>
                <a:latin typeface="Calibri"/>
                <a:ea typeface="Calibri"/>
                <a:cs typeface="Calibri"/>
              </a:rPr>
              <a:t>Korrelationsmatrix, Konfusionsmatrix, Lernkurve, ROC/PR, SHAP</a:t>
            </a:r>
          </a:p>
        </p:txBody>
      </p:sp>
      <p:sp>
        <p:nvSpPr>
          <p:cNvPr id="16" name="Shape 11">
            <a:extLst>
              <a:ext uri="{FF2B5EF4-FFF2-40B4-BE49-F238E27FC236}">
                <a16:creationId xmlns:a16="http://schemas.microsoft.com/office/drawing/2014/main" id="{3D5E427C-BBC8-4E65-8834-ED03F329C9C3}"/>
              </a:ext>
            </a:extLst>
          </p:cNvPr>
          <p:cNvSpPr>
            <a:spLocks noGrp="1"/>
          </p:cNvSpPr>
          <p:nvPr/>
        </p:nvSpPr>
        <p:spPr>
          <a:xfrm>
            <a:off x="5084064" y="1600200"/>
            <a:ext cx="2084832" cy="3246120"/>
          </a:xfrm>
          <a:prstGeom prst="roundRect">
            <a:avLst>
              <a:gd name="adj" fmla="val 2632"/>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7" name="Shape 12">
            <a:extLst>
              <a:ext uri="{FF2B5EF4-FFF2-40B4-BE49-F238E27FC236}">
                <a16:creationId xmlns:a16="http://schemas.microsoft.com/office/drawing/2014/main" id="{710EB1B7-D45D-4B7B-B0A6-868B58441785}"/>
              </a:ext>
            </a:extLst>
          </p:cNvPr>
          <p:cNvSpPr>
            <a:spLocks noGrp="1"/>
          </p:cNvSpPr>
          <p:nvPr/>
        </p:nvSpPr>
        <p:spPr>
          <a:xfrm>
            <a:off x="5824728" y="1874520"/>
            <a:ext cx="603504" cy="603504"/>
          </a:xfrm>
          <a:prstGeom prst="ellipse">
            <a:avLst/>
          </a:prstGeom>
          <a:solidFill>
            <a:srgbClr val="E4EBE7"/>
          </a:solidFill>
        </p:spPr>
        <p:txBody>
          <a:bodyPr/>
          <a:lstStyle/>
          <a:p>
            <a:endParaRPr/>
          </a:p>
        </p:txBody>
      </p:sp>
      <p:pic>
        <p:nvPicPr>
          <p:cNvPr id="57" name="Image 3"/>
          <p:cNvPicPr>
            <a:picLocks noChangeAspect="1"/>
          </p:cNvPicPr>
          <p:nvPr/>
        </p:nvPicPr>
        <p:blipFill>
          <a:blip r:embed="rId6"/>
          <a:stretch>
            <a:fillRect/>
          </a:stretch>
        </p:blipFill>
        <p:spPr>
          <a:xfrm>
            <a:off x="5891113" y="1940905"/>
            <a:ext cx="470733" cy="470733"/>
          </a:xfrm>
          <a:prstGeom prst="rect">
            <a:avLst/>
          </a:prstGeom>
        </p:spPr>
      </p:pic>
      <p:sp>
        <p:nvSpPr>
          <p:cNvPr id="19" name="Text 13">
            <a:extLst>
              <a:ext uri="{FF2B5EF4-FFF2-40B4-BE49-F238E27FC236}">
                <a16:creationId xmlns:a16="http://schemas.microsoft.com/office/drawing/2014/main" id="{C4A0F476-2098-4AA0-B8E0-2CBE7C1A9A08}"/>
              </a:ext>
            </a:extLst>
          </p:cNvPr>
          <p:cNvSpPr>
            <a:spLocks noGrp="1"/>
          </p:cNvSpPr>
          <p:nvPr/>
        </p:nvSpPr>
        <p:spPr>
          <a:xfrm>
            <a:off x="5221224" y="2697480"/>
            <a:ext cx="1810512" cy="502920"/>
          </a:xfrm>
          <a:prstGeom prst="rect">
            <a:avLst/>
          </a:prstGeom>
          <a:noFill/>
        </p:spPr>
        <p:txBody>
          <a:bodyPr wrap="square" lIns="0" tIns="0" rIns="0" bIns="0" anchor="t"/>
          <a:lstStyle/>
          <a:p>
            <a:pPr marL="0" indent="0" algn="ctr">
              <a:buNone/>
            </a:pPr>
            <a:r>
              <a:rPr sz="1400" b="1">
                <a:solidFill>
                  <a:srgbClr val="171A17"/>
                </a:solidFill>
                <a:latin typeface="Cambria"/>
                <a:ea typeface="Cambria"/>
                <a:cs typeface="Cambria"/>
              </a:rPr>
              <a:t>Kapital-Kompass</a:t>
            </a:r>
          </a:p>
        </p:txBody>
      </p:sp>
      <p:sp>
        <p:nvSpPr>
          <p:cNvPr id="20" name="Text 14">
            <a:extLst>
              <a:ext uri="{FF2B5EF4-FFF2-40B4-BE49-F238E27FC236}">
                <a16:creationId xmlns:a16="http://schemas.microsoft.com/office/drawing/2014/main" id="{A3DC96C3-D57C-4CE6-9F62-4CC7A6ECC905}"/>
              </a:ext>
            </a:extLst>
          </p:cNvPr>
          <p:cNvSpPr>
            <a:spLocks noGrp="1"/>
          </p:cNvSpPr>
          <p:nvPr/>
        </p:nvSpPr>
        <p:spPr>
          <a:xfrm>
            <a:off x="5266944" y="3291840"/>
            <a:ext cx="1719072" cy="1371600"/>
          </a:xfrm>
          <a:prstGeom prst="rect">
            <a:avLst/>
          </a:prstGeom>
          <a:noFill/>
        </p:spPr>
        <p:txBody>
          <a:bodyPr wrap="square" lIns="0" tIns="0" rIns="0" bIns="0" anchor="t"/>
          <a:lstStyle/>
          <a:p>
            <a:pPr marL="0" indent="0" algn="ctr">
              <a:buNone/>
            </a:pPr>
            <a:r>
              <a:rPr sz="1150">
                <a:solidFill>
                  <a:srgbClr val="5B6259"/>
                </a:solidFill>
                <a:latin typeface="Calibri"/>
                <a:ea typeface="Calibri"/>
                <a:cs typeface="Calibri"/>
              </a:rPr>
              <a:t>Risikoeinschätzung &amp; Positionsgrößen-Empfehlung</a:t>
            </a:r>
          </a:p>
        </p:txBody>
      </p:sp>
      <p:sp>
        <p:nvSpPr>
          <p:cNvPr id="21" name="Shape 15">
            <a:extLst>
              <a:ext uri="{FF2B5EF4-FFF2-40B4-BE49-F238E27FC236}">
                <a16:creationId xmlns:a16="http://schemas.microsoft.com/office/drawing/2014/main" id="{1080096B-AF8E-4247-B7AF-FF66EF852BC0}"/>
              </a:ext>
            </a:extLst>
          </p:cNvPr>
          <p:cNvSpPr>
            <a:spLocks noGrp="1"/>
          </p:cNvSpPr>
          <p:nvPr/>
        </p:nvSpPr>
        <p:spPr>
          <a:xfrm>
            <a:off x="7351776" y="1600200"/>
            <a:ext cx="2084832" cy="3246120"/>
          </a:xfrm>
          <a:prstGeom prst="roundRect">
            <a:avLst>
              <a:gd name="adj" fmla="val 2632"/>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2" name="Shape 16">
            <a:extLst>
              <a:ext uri="{FF2B5EF4-FFF2-40B4-BE49-F238E27FC236}">
                <a16:creationId xmlns:a16="http://schemas.microsoft.com/office/drawing/2014/main" id="{A870697A-0008-4224-9BBC-937A53ABBE1A}"/>
              </a:ext>
            </a:extLst>
          </p:cNvPr>
          <p:cNvSpPr>
            <a:spLocks noGrp="1"/>
          </p:cNvSpPr>
          <p:nvPr/>
        </p:nvSpPr>
        <p:spPr>
          <a:xfrm>
            <a:off x="8092440" y="1874520"/>
            <a:ext cx="603504" cy="603504"/>
          </a:xfrm>
          <a:prstGeom prst="ellipse">
            <a:avLst/>
          </a:prstGeom>
          <a:solidFill>
            <a:srgbClr val="E4EBE7"/>
          </a:solidFill>
        </p:spPr>
        <p:txBody>
          <a:bodyPr/>
          <a:lstStyle/>
          <a:p>
            <a:endParaRPr/>
          </a:p>
        </p:txBody>
      </p:sp>
      <p:pic>
        <p:nvPicPr>
          <p:cNvPr id="62" name="Image 4"/>
          <p:cNvPicPr>
            <a:picLocks noChangeAspect="1"/>
          </p:cNvPicPr>
          <p:nvPr/>
        </p:nvPicPr>
        <p:blipFill>
          <a:blip r:embed="rId7"/>
          <a:stretch>
            <a:fillRect/>
          </a:stretch>
        </p:blipFill>
        <p:spPr>
          <a:xfrm>
            <a:off x="8158825" y="1940905"/>
            <a:ext cx="470733" cy="470733"/>
          </a:xfrm>
          <a:prstGeom prst="rect">
            <a:avLst/>
          </a:prstGeom>
        </p:spPr>
      </p:pic>
      <p:sp>
        <p:nvSpPr>
          <p:cNvPr id="24" name="Text 17">
            <a:extLst>
              <a:ext uri="{FF2B5EF4-FFF2-40B4-BE49-F238E27FC236}">
                <a16:creationId xmlns:a16="http://schemas.microsoft.com/office/drawing/2014/main" id="{572FD7F0-C6C6-4964-B063-D7987DE7A588}"/>
              </a:ext>
            </a:extLst>
          </p:cNvPr>
          <p:cNvSpPr>
            <a:spLocks noGrp="1"/>
          </p:cNvSpPr>
          <p:nvPr/>
        </p:nvSpPr>
        <p:spPr>
          <a:xfrm>
            <a:off x="7488936" y="2697480"/>
            <a:ext cx="1810512" cy="502920"/>
          </a:xfrm>
          <a:prstGeom prst="rect">
            <a:avLst/>
          </a:prstGeom>
          <a:noFill/>
        </p:spPr>
        <p:txBody>
          <a:bodyPr wrap="square" lIns="0" tIns="0" rIns="0" bIns="0" anchor="t"/>
          <a:lstStyle/>
          <a:p>
            <a:pPr marL="0" indent="0" algn="ctr">
              <a:buNone/>
            </a:pPr>
            <a:r>
              <a:rPr sz="1400" b="1">
                <a:solidFill>
                  <a:srgbClr val="171A17"/>
                </a:solidFill>
                <a:latin typeface="Cambria"/>
                <a:ea typeface="Cambria"/>
                <a:cs typeface="Cambria"/>
              </a:rPr>
              <a:t>Portfolio-Simulator</a:t>
            </a:r>
          </a:p>
        </p:txBody>
      </p:sp>
      <p:sp>
        <p:nvSpPr>
          <p:cNvPr id="25" name="Text 18">
            <a:extLst>
              <a:ext uri="{FF2B5EF4-FFF2-40B4-BE49-F238E27FC236}">
                <a16:creationId xmlns:a16="http://schemas.microsoft.com/office/drawing/2014/main" id="{4F582B26-16FC-4594-B701-4B99A8623BB0}"/>
              </a:ext>
            </a:extLst>
          </p:cNvPr>
          <p:cNvSpPr>
            <a:spLocks noGrp="1"/>
          </p:cNvSpPr>
          <p:nvPr/>
        </p:nvSpPr>
        <p:spPr>
          <a:xfrm>
            <a:off x="7534656" y="3291840"/>
            <a:ext cx="1719072" cy="1371600"/>
          </a:xfrm>
          <a:prstGeom prst="rect">
            <a:avLst/>
          </a:prstGeom>
          <a:noFill/>
        </p:spPr>
        <p:txBody>
          <a:bodyPr wrap="square" lIns="0" tIns="0" rIns="0" bIns="0" anchor="t"/>
          <a:lstStyle/>
          <a:p>
            <a:pPr marL="0" indent="0" algn="ctr">
              <a:buNone/>
            </a:pPr>
            <a:r>
              <a:rPr sz="1150">
                <a:solidFill>
                  <a:srgbClr val="5B6259"/>
                </a:solidFill>
                <a:latin typeface="Calibri"/>
                <a:ea typeface="Calibri"/>
                <a:cs typeface="Calibri"/>
              </a:rPr>
              <a:t>Allokation über mehrere Titel, Konzentrationsmaß</a:t>
            </a:r>
          </a:p>
        </p:txBody>
      </p:sp>
      <p:sp>
        <p:nvSpPr>
          <p:cNvPr id="26" name="Shape 19">
            <a:extLst>
              <a:ext uri="{FF2B5EF4-FFF2-40B4-BE49-F238E27FC236}">
                <a16:creationId xmlns:a16="http://schemas.microsoft.com/office/drawing/2014/main" id="{8D4A4150-6389-473E-8140-4B79E875785C}"/>
              </a:ext>
            </a:extLst>
          </p:cNvPr>
          <p:cNvSpPr>
            <a:spLocks noGrp="1"/>
          </p:cNvSpPr>
          <p:nvPr/>
        </p:nvSpPr>
        <p:spPr>
          <a:xfrm>
            <a:off x="9619488" y="1600200"/>
            <a:ext cx="2084832" cy="3246120"/>
          </a:xfrm>
          <a:prstGeom prst="roundRect">
            <a:avLst>
              <a:gd name="adj" fmla="val 2632"/>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7" name="Shape 20">
            <a:extLst>
              <a:ext uri="{FF2B5EF4-FFF2-40B4-BE49-F238E27FC236}">
                <a16:creationId xmlns:a16="http://schemas.microsoft.com/office/drawing/2014/main" id="{863BA74D-E83B-4920-AE5A-086F1C02D5F0}"/>
              </a:ext>
            </a:extLst>
          </p:cNvPr>
          <p:cNvSpPr>
            <a:spLocks noGrp="1"/>
          </p:cNvSpPr>
          <p:nvPr/>
        </p:nvSpPr>
        <p:spPr>
          <a:xfrm>
            <a:off x="10360152" y="1874520"/>
            <a:ext cx="603504" cy="603504"/>
          </a:xfrm>
          <a:prstGeom prst="ellipse">
            <a:avLst/>
          </a:prstGeom>
          <a:solidFill>
            <a:srgbClr val="E4EBE7"/>
          </a:solidFill>
        </p:spPr>
        <p:txBody>
          <a:bodyPr/>
          <a:lstStyle/>
          <a:p>
            <a:endParaRPr/>
          </a:p>
        </p:txBody>
      </p:sp>
      <p:pic>
        <p:nvPicPr>
          <p:cNvPr id="67" name="Image 5"/>
          <p:cNvPicPr>
            <a:picLocks noChangeAspect="1"/>
          </p:cNvPicPr>
          <p:nvPr/>
        </p:nvPicPr>
        <p:blipFill>
          <a:blip r:embed="rId8"/>
          <a:stretch>
            <a:fillRect/>
          </a:stretch>
        </p:blipFill>
        <p:spPr>
          <a:xfrm>
            <a:off x="10426537" y="1940905"/>
            <a:ext cx="470733" cy="470733"/>
          </a:xfrm>
          <a:prstGeom prst="rect">
            <a:avLst/>
          </a:prstGeom>
        </p:spPr>
      </p:pic>
      <p:sp>
        <p:nvSpPr>
          <p:cNvPr id="29" name="Text 21">
            <a:extLst>
              <a:ext uri="{FF2B5EF4-FFF2-40B4-BE49-F238E27FC236}">
                <a16:creationId xmlns:a16="http://schemas.microsoft.com/office/drawing/2014/main" id="{203D6868-D967-4265-B90F-FE445A0B4609}"/>
              </a:ext>
            </a:extLst>
          </p:cNvPr>
          <p:cNvSpPr>
            <a:spLocks noGrp="1"/>
          </p:cNvSpPr>
          <p:nvPr/>
        </p:nvSpPr>
        <p:spPr>
          <a:xfrm>
            <a:off x="9756648" y="2697480"/>
            <a:ext cx="1810512" cy="502920"/>
          </a:xfrm>
          <a:prstGeom prst="rect">
            <a:avLst/>
          </a:prstGeom>
          <a:noFill/>
        </p:spPr>
        <p:txBody>
          <a:bodyPr wrap="square" lIns="0" tIns="0" rIns="0" bIns="0" anchor="t"/>
          <a:lstStyle/>
          <a:p>
            <a:pPr marL="0" indent="0" algn="ctr">
              <a:buNone/>
            </a:pPr>
            <a:r>
              <a:rPr sz="1400" b="1">
                <a:solidFill>
                  <a:srgbClr val="171A17"/>
                </a:solidFill>
                <a:latin typeface="Cambria"/>
                <a:ea typeface="Cambria"/>
                <a:cs typeface="Cambria"/>
              </a:rPr>
              <a:t>Methodik &amp; Export</a:t>
            </a:r>
          </a:p>
        </p:txBody>
      </p:sp>
      <p:sp>
        <p:nvSpPr>
          <p:cNvPr id="30" name="Text 22">
            <a:extLst>
              <a:ext uri="{FF2B5EF4-FFF2-40B4-BE49-F238E27FC236}">
                <a16:creationId xmlns:a16="http://schemas.microsoft.com/office/drawing/2014/main" id="{A0FEF427-4E61-4D94-AD22-26289F23F94D}"/>
              </a:ext>
            </a:extLst>
          </p:cNvPr>
          <p:cNvSpPr>
            <a:spLocks noGrp="1"/>
          </p:cNvSpPr>
          <p:nvPr/>
        </p:nvSpPr>
        <p:spPr>
          <a:xfrm>
            <a:off x="9802368" y="3291840"/>
            <a:ext cx="1719072" cy="1371600"/>
          </a:xfrm>
          <a:prstGeom prst="rect">
            <a:avLst/>
          </a:prstGeom>
          <a:noFill/>
        </p:spPr>
        <p:txBody>
          <a:bodyPr wrap="square" lIns="0" tIns="0" rIns="0" bIns="0" anchor="t"/>
          <a:lstStyle/>
          <a:p>
            <a:pPr marL="0" indent="0" algn="ctr">
              <a:buNone/>
            </a:pPr>
            <a:r>
              <a:rPr sz="1150">
                <a:solidFill>
                  <a:srgbClr val="5B6259"/>
                </a:solidFill>
                <a:latin typeface="Calibri"/>
                <a:ea typeface="Calibri"/>
                <a:cs typeface="Calibri"/>
              </a:rPr>
              <a:t>QUA³CK interaktiv erklärt, Bericht als PDF/CSV/ZIP</a:t>
            </a:r>
          </a:p>
        </p:txBody>
      </p:sp>
      <p:sp>
        <p:nvSpPr>
          <p:cNvPr id="31" name="Shape 23">
            <a:extLst>
              <a:ext uri="{FF2B5EF4-FFF2-40B4-BE49-F238E27FC236}">
                <a16:creationId xmlns:a16="http://schemas.microsoft.com/office/drawing/2014/main" id="{A8718938-5F81-421D-95E4-3FBB0F39CB13}"/>
              </a:ext>
            </a:extLst>
          </p:cNvPr>
          <p:cNvSpPr>
            <a:spLocks noGrp="1"/>
          </p:cNvSpPr>
          <p:nvPr/>
        </p:nvSpPr>
        <p:spPr>
          <a:xfrm>
            <a:off x="548640" y="5166360"/>
            <a:ext cx="11091672" cy="1005840"/>
          </a:xfrm>
          <a:prstGeom prst="roundRect">
            <a:avLst>
              <a:gd name="adj" fmla="val 5455"/>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32" name="Text 24">
            <a:extLst>
              <a:ext uri="{FF2B5EF4-FFF2-40B4-BE49-F238E27FC236}">
                <a16:creationId xmlns:a16="http://schemas.microsoft.com/office/drawing/2014/main" id="{04D7B2A5-7EDA-4E81-A33C-FAFBFCF7B973}"/>
              </a:ext>
            </a:extLst>
          </p:cNvPr>
          <p:cNvSpPr>
            <a:spLocks noGrp="1"/>
          </p:cNvSpPr>
          <p:nvPr/>
        </p:nvSpPr>
        <p:spPr>
          <a:xfrm>
            <a:off x="822960" y="5166360"/>
            <a:ext cx="10543032" cy="1005840"/>
          </a:xfrm>
          <a:prstGeom prst="rect">
            <a:avLst/>
          </a:prstGeom>
          <a:noFill/>
        </p:spPr>
        <p:txBody>
          <a:bodyPr wrap="square" lIns="0" tIns="0" rIns="0" bIns="0" anchor="ctr"/>
          <a:lstStyle/>
          <a:p>
            <a:pPr marL="0" indent="0">
              <a:buNone/>
            </a:pPr>
            <a:r>
              <a:rPr sz="1300" i="1">
                <a:solidFill>
                  <a:srgbClr val="171A17"/>
                </a:solidFill>
                <a:latin typeface="Calibri"/>
                <a:ea typeface="Calibri"/>
                <a:cs typeface="Calibri"/>
              </a:rPr>
              <a:t>Das Besondere ist nicht, dass die App bessere Prognosen macht. Das Besondere ist, dass sie zeigt, warum ML bei Aktienkursen an seine Grenzen stößt — und was man trotzdem sinnvoll damit anfangen kann.</a:t>
            </a:r>
          </a:p>
        </p:txBody>
      </p:sp>
      <p:sp>
        <p:nvSpPr>
          <p:cNvPr id="33" name="Text 25">
            <a:extLst>
              <a:ext uri="{FF2B5EF4-FFF2-40B4-BE49-F238E27FC236}">
                <a16:creationId xmlns:a16="http://schemas.microsoft.com/office/drawing/2014/main" id="{47650406-1722-4A58-AC29-9919C3706F7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34" name="Text 26">
            <a:extLst>
              <a:ext uri="{FF2B5EF4-FFF2-40B4-BE49-F238E27FC236}">
                <a16:creationId xmlns:a16="http://schemas.microsoft.com/office/drawing/2014/main" id="{9CF661B0-5F53-45B5-9E9A-4E6ECC61265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5</a:t>
            </a:r>
          </a:p>
        </p:txBody>
      </p:sp>
    </p:spTree>
    <p:extLst>
      <p:ext uri="{BB962C8B-B14F-4D97-AF65-F5344CB8AC3E}">
        <p14:creationId xmlns:p14="http://schemas.microsoft.com/office/powerpoint/2010/main" val="12439706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8023107-B3E2-4A7E-8FD9-E6BFADEFC7D2}"/>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46"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098FC034-F4DC-42FD-9365-B2C5EFF1C686}"/>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LÖSUNG · SYSTEMÜBERBLICK</a:t>
            </a:r>
          </a:p>
        </p:txBody>
      </p:sp>
      <p:sp>
        <p:nvSpPr>
          <p:cNvPr id="5" name="Text 2">
            <a:extLst>
              <a:ext uri="{FF2B5EF4-FFF2-40B4-BE49-F238E27FC236}">
                <a16:creationId xmlns:a16="http://schemas.microsoft.com/office/drawing/2014/main" id="{400BD9B5-CE36-41FF-8AFA-07D899B6C2A4}"/>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Von den Rohdaten zur App</a:t>
            </a:r>
          </a:p>
        </p:txBody>
      </p:sp>
      <p:sp>
        <p:nvSpPr>
          <p:cNvPr id="6" name="Shape 3">
            <a:extLst>
              <a:ext uri="{FF2B5EF4-FFF2-40B4-BE49-F238E27FC236}">
                <a16:creationId xmlns:a16="http://schemas.microsoft.com/office/drawing/2014/main" id="{DAE6D1E3-ECCD-49AE-9087-1FB90B40EC3A}"/>
              </a:ext>
            </a:extLst>
          </p:cNvPr>
          <p:cNvSpPr>
            <a:spLocks noGrp="1"/>
          </p:cNvSpPr>
          <p:nvPr/>
        </p:nvSpPr>
        <p:spPr>
          <a:xfrm>
            <a:off x="548640" y="2286000"/>
            <a:ext cx="1874520" cy="228600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Shape 4">
            <a:extLst>
              <a:ext uri="{FF2B5EF4-FFF2-40B4-BE49-F238E27FC236}">
                <a16:creationId xmlns:a16="http://schemas.microsoft.com/office/drawing/2014/main" id="{A468F876-E084-4D29-AA0A-15036333069F}"/>
              </a:ext>
            </a:extLst>
          </p:cNvPr>
          <p:cNvSpPr>
            <a:spLocks noGrp="1"/>
          </p:cNvSpPr>
          <p:nvPr/>
        </p:nvSpPr>
        <p:spPr>
          <a:xfrm>
            <a:off x="1202436" y="2514600"/>
            <a:ext cx="566928" cy="566928"/>
          </a:xfrm>
          <a:prstGeom prst="ellipse">
            <a:avLst/>
          </a:prstGeom>
          <a:solidFill>
            <a:srgbClr val="E4EBE7"/>
          </a:solidFill>
        </p:spPr>
        <p:txBody>
          <a:bodyPr/>
          <a:lstStyle/>
          <a:p>
            <a:endParaRPr/>
          </a:p>
        </p:txBody>
      </p:sp>
      <p:pic>
        <p:nvPicPr>
          <p:cNvPr id="51" name="Image 1"/>
          <p:cNvPicPr>
            <a:picLocks noChangeAspect="1"/>
          </p:cNvPicPr>
          <p:nvPr/>
        </p:nvPicPr>
        <p:blipFill>
          <a:blip r:embed="rId4"/>
          <a:stretch>
            <a:fillRect/>
          </a:stretch>
        </p:blipFill>
        <p:spPr>
          <a:xfrm>
            <a:off x="1264798" y="2576962"/>
            <a:ext cx="442204" cy="442204"/>
          </a:xfrm>
          <a:prstGeom prst="rect">
            <a:avLst/>
          </a:prstGeom>
        </p:spPr>
      </p:pic>
      <p:sp>
        <p:nvSpPr>
          <p:cNvPr id="9" name="Text 5">
            <a:extLst>
              <a:ext uri="{FF2B5EF4-FFF2-40B4-BE49-F238E27FC236}">
                <a16:creationId xmlns:a16="http://schemas.microsoft.com/office/drawing/2014/main" id="{8A5097B2-BF64-4380-B526-F652974F54AE}"/>
              </a:ext>
            </a:extLst>
          </p:cNvPr>
          <p:cNvSpPr>
            <a:spLocks noGrp="1"/>
          </p:cNvSpPr>
          <p:nvPr/>
        </p:nvSpPr>
        <p:spPr>
          <a:xfrm>
            <a:off x="640080" y="3200400"/>
            <a:ext cx="1691640" cy="502920"/>
          </a:xfrm>
          <a:prstGeom prst="rect">
            <a:avLst/>
          </a:prstGeom>
          <a:noFill/>
        </p:spPr>
        <p:txBody>
          <a:bodyPr wrap="square" lIns="0" tIns="0" rIns="0" bIns="0" anchor="ctr"/>
          <a:lstStyle/>
          <a:p>
            <a:pPr marL="0" indent="0" algn="ctr">
              <a:buNone/>
            </a:pPr>
            <a:r>
              <a:rPr sz="1300" b="1">
                <a:solidFill>
                  <a:srgbClr val="171A17"/>
                </a:solidFill>
                <a:latin typeface="Cambria"/>
                <a:ea typeface="Cambria"/>
                <a:cs typeface="Cambria"/>
              </a:rPr>
              <a:t>Kaggle-Rohdaten</a:t>
            </a:r>
          </a:p>
        </p:txBody>
      </p:sp>
      <p:sp>
        <p:nvSpPr>
          <p:cNvPr id="10" name="Text 6">
            <a:extLst>
              <a:ext uri="{FF2B5EF4-FFF2-40B4-BE49-F238E27FC236}">
                <a16:creationId xmlns:a16="http://schemas.microsoft.com/office/drawing/2014/main" id="{5A4EAFFA-9427-485F-A3C5-2C723E0FBA4F}"/>
              </a:ext>
            </a:extLst>
          </p:cNvPr>
          <p:cNvSpPr>
            <a:spLocks noGrp="1"/>
          </p:cNvSpPr>
          <p:nvPr/>
        </p:nvSpPr>
        <p:spPr>
          <a:xfrm>
            <a:off x="640080" y="3703320"/>
            <a:ext cx="1691640" cy="777240"/>
          </a:xfrm>
          <a:prstGeom prst="rect">
            <a:avLst/>
          </a:prstGeom>
          <a:noFill/>
        </p:spPr>
        <p:txBody>
          <a:bodyPr wrap="square" lIns="0" tIns="0" rIns="0" bIns="0" anchor="ctr"/>
          <a:lstStyle/>
          <a:p>
            <a:pPr marL="0" indent="0" algn="ctr">
              <a:buNone/>
            </a:pPr>
            <a:r>
              <a:rPr sz="1050">
                <a:solidFill>
                  <a:srgbClr val="5B6259"/>
                </a:solidFill>
                <a:latin typeface="Calibri"/>
                <a:ea typeface="Calibri"/>
                <a:cs typeface="Calibri"/>
              </a:rPr>
              <a:t>192.119 Zeilen</a:t>
            </a:r>
          </a:p>
          <a:p>
            <a:pPr marL="0" indent="0" algn="ctr">
              <a:buNone/>
            </a:pPr>
            <a:r>
              <a:rPr sz="1050">
                <a:solidFill>
                  <a:srgbClr val="5B6259"/>
                </a:solidFill>
                <a:latin typeface="Calibri"/>
                <a:ea typeface="Calibri"/>
                <a:cs typeface="Calibri"/>
              </a:rPr>
              <a:t>26 Ticker · CC0</a:t>
            </a:r>
          </a:p>
        </p:txBody>
      </p:sp>
      <p:sp>
        <p:nvSpPr>
          <p:cNvPr id="11" name="Text 7">
            <a:extLst>
              <a:ext uri="{FF2B5EF4-FFF2-40B4-BE49-F238E27FC236}">
                <a16:creationId xmlns:a16="http://schemas.microsoft.com/office/drawing/2014/main" id="{0EE5636E-D7EC-4B82-A971-ED1D4575747C}"/>
              </a:ext>
            </a:extLst>
          </p:cNvPr>
          <p:cNvSpPr>
            <a:spLocks noGrp="1"/>
          </p:cNvSpPr>
          <p:nvPr/>
        </p:nvSpPr>
        <p:spPr>
          <a:xfrm>
            <a:off x="2377440" y="3154680"/>
            <a:ext cx="521208" cy="548640"/>
          </a:xfrm>
          <a:prstGeom prst="rect">
            <a:avLst/>
          </a:prstGeom>
          <a:noFill/>
        </p:spPr>
        <p:txBody>
          <a:bodyPr wrap="square" lIns="0" tIns="0" rIns="0" bIns="0" anchor="ctr"/>
          <a:lstStyle/>
          <a:p>
            <a:pPr marL="0" indent="0" algn="ctr">
              <a:buNone/>
            </a:pPr>
            <a:r>
              <a:rPr sz="2200" b="1">
                <a:solidFill>
                  <a:srgbClr val="A97C1E"/>
                </a:solidFill>
                <a:latin typeface="Calibri"/>
                <a:ea typeface="Calibri"/>
                <a:cs typeface="Calibri"/>
              </a:rPr>
              <a:t>→</a:t>
            </a:r>
          </a:p>
        </p:txBody>
      </p:sp>
      <p:sp>
        <p:nvSpPr>
          <p:cNvPr id="12" name="Shape 8">
            <a:extLst>
              <a:ext uri="{FF2B5EF4-FFF2-40B4-BE49-F238E27FC236}">
                <a16:creationId xmlns:a16="http://schemas.microsoft.com/office/drawing/2014/main" id="{3814C75C-9CDC-43DE-B2CE-645A421C167F}"/>
              </a:ext>
            </a:extLst>
          </p:cNvPr>
          <p:cNvSpPr>
            <a:spLocks noGrp="1"/>
          </p:cNvSpPr>
          <p:nvPr/>
        </p:nvSpPr>
        <p:spPr>
          <a:xfrm>
            <a:off x="2852928" y="2286000"/>
            <a:ext cx="1874520" cy="228600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Shape 9">
            <a:extLst>
              <a:ext uri="{FF2B5EF4-FFF2-40B4-BE49-F238E27FC236}">
                <a16:creationId xmlns:a16="http://schemas.microsoft.com/office/drawing/2014/main" id="{8064FB75-1FBE-4669-9B40-D48FBB13F15D}"/>
              </a:ext>
            </a:extLst>
          </p:cNvPr>
          <p:cNvSpPr>
            <a:spLocks noGrp="1"/>
          </p:cNvSpPr>
          <p:nvPr/>
        </p:nvSpPr>
        <p:spPr>
          <a:xfrm>
            <a:off x="3506724" y="2514600"/>
            <a:ext cx="566928" cy="566928"/>
          </a:xfrm>
          <a:prstGeom prst="ellipse">
            <a:avLst/>
          </a:prstGeom>
          <a:solidFill>
            <a:srgbClr val="E4EBE7"/>
          </a:solidFill>
        </p:spPr>
        <p:txBody>
          <a:bodyPr/>
          <a:lstStyle/>
          <a:p>
            <a:endParaRPr/>
          </a:p>
        </p:txBody>
      </p:sp>
      <p:pic>
        <p:nvPicPr>
          <p:cNvPr id="57" name="Image 2"/>
          <p:cNvPicPr>
            <a:picLocks noChangeAspect="1"/>
          </p:cNvPicPr>
          <p:nvPr/>
        </p:nvPicPr>
        <p:blipFill>
          <a:blip r:embed="rId5"/>
          <a:stretch>
            <a:fillRect/>
          </a:stretch>
        </p:blipFill>
        <p:spPr>
          <a:xfrm>
            <a:off x="3569086" y="2576962"/>
            <a:ext cx="442204" cy="442204"/>
          </a:xfrm>
          <a:prstGeom prst="rect">
            <a:avLst/>
          </a:prstGeom>
        </p:spPr>
      </p:pic>
      <p:sp>
        <p:nvSpPr>
          <p:cNvPr id="15" name="Text 10">
            <a:extLst>
              <a:ext uri="{FF2B5EF4-FFF2-40B4-BE49-F238E27FC236}">
                <a16:creationId xmlns:a16="http://schemas.microsoft.com/office/drawing/2014/main" id="{D5711F86-1AF8-499B-A8CC-4B8AC39991C1}"/>
              </a:ext>
            </a:extLst>
          </p:cNvPr>
          <p:cNvSpPr>
            <a:spLocks noGrp="1"/>
          </p:cNvSpPr>
          <p:nvPr/>
        </p:nvSpPr>
        <p:spPr>
          <a:xfrm>
            <a:off x="2944368" y="3200400"/>
            <a:ext cx="1691640" cy="502920"/>
          </a:xfrm>
          <a:prstGeom prst="rect">
            <a:avLst/>
          </a:prstGeom>
          <a:noFill/>
        </p:spPr>
        <p:txBody>
          <a:bodyPr wrap="square" lIns="0" tIns="0" rIns="0" bIns="0" anchor="ctr"/>
          <a:lstStyle/>
          <a:p>
            <a:pPr marL="0" indent="0" algn="ctr">
              <a:buNone/>
            </a:pPr>
            <a:r>
              <a:rPr sz="1300" b="1">
                <a:solidFill>
                  <a:srgbClr val="171A17"/>
                </a:solidFill>
                <a:latin typeface="Cambria"/>
                <a:ea typeface="Cambria"/>
                <a:cs typeface="Cambria"/>
              </a:rPr>
              <a:t>Feature Engineering</a:t>
            </a:r>
          </a:p>
        </p:txBody>
      </p:sp>
      <p:sp>
        <p:nvSpPr>
          <p:cNvPr id="16" name="Text 11">
            <a:extLst>
              <a:ext uri="{FF2B5EF4-FFF2-40B4-BE49-F238E27FC236}">
                <a16:creationId xmlns:a16="http://schemas.microsoft.com/office/drawing/2014/main" id="{80E03F61-A3FF-4FFD-9525-927D977733A8}"/>
              </a:ext>
            </a:extLst>
          </p:cNvPr>
          <p:cNvSpPr>
            <a:spLocks noGrp="1"/>
          </p:cNvSpPr>
          <p:nvPr/>
        </p:nvSpPr>
        <p:spPr>
          <a:xfrm>
            <a:off x="2944368" y="3703320"/>
            <a:ext cx="1691640" cy="777240"/>
          </a:xfrm>
          <a:prstGeom prst="rect">
            <a:avLst/>
          </a:prstGeom>
          <a:noFill/>
        </p:spPr>
        <p:txBody>
          <a:bodyPr wrap="square" lIns="0" tIns="0" rIns="0" bIns="0" anchor="ctr"/>
          <a:lstStyle/>
          <a:p>
            <a:pPr marL="0" indent="0" algn="ctr">
              <a:buNone/>
            </a:pPr>
            <a:r>
              <a:rPr sz="1050">
                <a:solidFill>
                  <a:srgbClr val="5B6259"/>
                </a:solidFill>
                <a:latin typeface="Calibri"/>
                <a:ea typeface="Calibri"/>
                <a:cs typeface="Calibri"/>
              </a:rPr>
              <a:t>8 Features</a:t>
            </a:r>
          </a:p>
          <a:p>
            <a:pPr marL="0" indent="0" algn="ctr">
              <a:buNone/>
            </a:pPr>
            <a:r>
              <a:rPr sz="1050">
                <a:solidFill>
                  <a:srgbClr val="5B6259"/>
                </a:solidFill>
                <a:latin typeface="Calibri"/>
                <a:ea typeface="Calibri"/>
                <a:cs typeface="Calibri"/>
              </a:rPr>
              <a:t>Renditen · MAs · Vola</a:t>
            </a:r>
          </a:p>
        </p:txBody>
      </p:sp>
      <p:sp>
        <p:nvSpPr>
          <p:cNvPr id="17" name="Text 12">
            <a:extLst>
              <a:ext uri="{FF2B5EF4-FFF2-40B4-BE49-F238E27FC236}">
                <a16:creationId xmlns:a16="http://schemas.microsoft.com/office/drawing/2014/main" id="{8FBB57F6-7A01-46AA-AC52-1270D228123E}"/>
              </a:ext>
            </a:extLst>
          </p:cNvPr>
          <p:cNvSpPr>
            <a:spLocks noGrp="1"/>
          </p:cNvSpPr>
          <p:nvPr/>
        </p:nvSpPr>
        <p:spPr>
          <a:xfrm>
            <a:off x="4681728" y="3154680"/>
            <a:ext cx="521208" cy="548640"/>
          </a:xfrm>
          <a:prstGeom prst="rect">
            <a:avLst/>
          </a:prstGeom>
          <a:noFill/>
        </p:spPr>
        <p:txBody>
          <a:bodyPr wrap="square" lIns="0" tIns="0" rIns="0" bIns="0" anchor="ctr"/>
          <a:lstStyle/>
          <a:p>
            <a:pPr marL="0" indent="0" algn="ctr">
              <a:buNone/>
            </a:pPr>
            <a:r>
              <a:rPr sz="2200" b="1">
                <a:solidFill>
                  <a:srgbClr val="A97C1E"/>
                </a:solidFill>
                <a:latin typeface="Calibri"/>
                <a:ea typeface="Calibri"/>
                <a:cs typeface="Calibri"/>
              </a:rPr>
              <a:t>→</a:t>
            </a:r>
          </a:p>
        </p:txBody>
      </p:sp>
      <p:sp>
        <p:nvSpPr>
          <p:cNvPr id="18" name="Shape 13">
            <a:extLst>
              <a:ext uri="{FF2B5EF4-FFF2-40B4-BE49-F238E27FC236}">
                <a16:creationId xmlns:a16="http://schemas.microsoft.com/office/drawing/2014/main" id="{B0A528B9-FF72-4C90-B0F0-22D97D55C63C}"/>
              </a:ext>
            </a:extLst>
          </p:cNvPr>
          <p:cNvSpPr>
            <a:spLocks noGrp="1"/>
          </p:cNvSpPr>
          <p:nvPr/>
        </p:nvSpPr>
        <p:spPr>
          <a:xfrm>
            <a:off x="5157216" y="2286000"/>
            <a:ext cx="1874520" cy="228600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Shape 14">
            <a:extLst>
              <a:ext uri="{FF2B5EF4-FFF2-40B4-BE49-F238E27FC236}">
                <a16:creationId xmlns:a16="http://schemas.microsoft.com/office/drawing/2014/main" id="{DC49BC2D-C136-4AB4-8B4D-DF4426087458}"/>
              </a:ext>
            </a:extLst>
          </p:cNvPr>
          <p:cNvSpPr>
            <a:spLocks noGrp="1"/>
          </p:cNvSpPr>
          <p:nvPr/>
        </p:nvSpPr>
        <p:spPr>
          <a:xfrm>
            <a:off x="5811012" y="2514600"/>
            <a:ext cx="566928" cy="566928"/>
          </a:xfrm>
          <a:prstGeom prst="ellipse">
            <a:avLst/>
          </a:prstGeom>
          <a:solidFill>
            <a:srgbClr val="E4EBE7"/>
          </a:solidFill>
        </p:spPr>
        <p:txBody>
          <a:bodyPr/>
          <a:lstStyle/>
          <a:p>
            <a:endParaRPr/>
          </a:p>
        </p:txBody>
      </p:sp>
      <p:pic>
        <p:nvPicPr>
          <p:cNvPr id="63" name="Image 3"/>
          <p:cNvPicPr>
            <a:picLocks noChangeAspect="1"/>
          </p:cNvPicPr>
          <p:nvPr/>
        </p:nvPicPr>
        <p:blipFill>
          <a:blip r:embed="rId6"/>
          <a:stretch>
            <a:fillRect/>
          </a:stretch>
        </p:blipFill>
        <p:spPr>
          <a:xfrm>
            <a:off x="5873374" y="2576962"/>
            <a:ext cx="442204" cy="442204"/>
          </a:xfrm>
          <a:prstGeom prst="rect">
            <a:avLst/>
          </a:prstGeom>
        </p:spPr>
      </p:pic>
      <p:sp>
        <p:nvSpPr>
          <p:cNvPr id="21" name="Text 15">
            <a:extLst>
              <a:ext uri="{FF2B5EF4-FFF2-40B4-BE49-F238E27FC236}">
                <a16:creationId xmlns:a16="http://schemas.microsoft.com/office/drawing/2014/main" id="{AC34ED2C-D81E-416C-B789-86DB12CE0CAF}"/>
              </a:ext>
            </a:extLst>
          </p:cNvPr>
          <p:cNvSpPr>
            <a:spLocks noGrp="1"/>
          </p:cNvSpPr>
          <p:nvPr/>
        </p:nvSpPr>
        <p:spPr>
          <a:xfrm>
            <a:off x="5248656" y="3200400"/>
            <a:ext cx="1691640" cy="502920"/>
          </a:xfrm>
          <a:prstGeom prst="rect">
            <a:avLst/>
          </a:prstGeom>
          <a:noFill/>
        </p:spPr>
        <p:txBody>
          <a:bodyPr wrap="square" lIns="0" tIns="0" rIns="0" bIns="0" anchor="ctr"/>
          <a:lstStyle/>
          <a:p>
            <a:pPr marL="0" indent="0" algn="ctr">
              <a:buNone/>
            </a:pPr>
            <a:r>
              <a:rPr sz="1300" b="1">
                <a:solidFill>
                  <a:srgbClr val="171A17"/>
                </a:solidFill>
                <a:latin typeface="Cambria"/>
                <a:ea typeface="Cambria"/>
                <a:cs typeface="Cambria"/>
              </a:rPr>
              <a:t>Modellvergleich</a:t>
            </a:r>
          </a:p>
        </p:txBody>
      </p:sp>
      <p:sp>
        <p:nvSpPr>
          <p:cNvPr id="22" name="Text 16">
            <a:extLst>
              <a:ext uri="{FF2B5EF4-FFF2-40B4-BE49-F238E27FC236}">
                <a16:creationId xmlns:a16="http://schemas.microsoft.com/office/drawing/2014/main" id="{0B71695A-8636-4409-A824-D68F3086E0D8}"/>
              </a:ext>
            </a:extLst>
          </p:cNvPr>
          <p:cNvSpPr>
            <a:spLocks noGrp="1"/>
          </p:cNvSpPr>
          <p:nvPr/>
        </p:nvSpPr>
        <p:spPr>
          <a:xfrm>
            <a:off x="5248656" y="3703320"/>
            <a:ext cx="1691640" cy="777240"/>
          </a:xfrm>
          <a:prstGeom prst="rect">
            <a:avLst/>
          </a:prstGeom>
          <a:noFill/>
        </p:spPr>
        <p:txBody>
          <a:bodyPr wrap="square" lIns="0" tIns="0" rIns="0" bIns="0" anchor="ctr"/>
          <a:lstStyle/>
          <a:p>
            <a:pPr marL="0" indent="0" algn="ctr">
              <a:buNone/>
            </a:pPr>
            <a:r>
              <a:rPr sz="1050">
                <a:solidFill>
                  <a:srgbClr val="5B6259"/>
                </a:solidFill>
                <a:latin typeface="Calibri"/>
                <a:ea typeface="Calibri"/>
                <a:cs typeface="Calibri"/>
              </a:rPr>
              <a:t>5 Modelle</a:t>
            </a:r>
          </a:p>
          <a:p>
            <a:pPr marL="0" indent="0" algn="ctr">
              <a:buNone/>
            </a:pPr>
            <a:r>
              <a:rPr sz="1050">
                <a:solidFill>
                  <a:srgbClr val="5B6259"/>
                </a:solidFill>
                <a:latin typeface="Calibri"/>
                <a:ea typeface="Calibri"/>
                <a:cs typeface="Calibri"/>
              </a:rPr>
              <a:t>Out-of-Time-Test</a:t>
            </a:r>
          </a:p>
        </p:txBody>
      </p:sp>
      <p:sp>
        <p:nvSpPr>
          <p:cNvPr id="23" name="Text 17">
            <a:extLst>
              <a:ext uri="{FF2B5EF4-FFF2-40B4-BE49-F238E27FC236}">
                <a16:creationId xmlns:a16="http://schemas.microsoft.com/office/drawing/2014/main" id="{7CB07EDF-0BCC-40FE-A0B0-6BD38F8F449A}"/>
              </a:ext>
            </a:extLst>
          </p:cNvPr>
          <p:cNvSpPr>
            <a:spLocks noGrp="1"/>
          </p:cNvSpPr>
          <p:nvPr/>
        </p:nvSpPr>
        <p:spPr>
          <a:xfrm>
            <a:off x="6986016" y="3154680"/>
            <a:ext cx="521208" cy="548640"/>
          </a:xfrm>
          <a:prstGeom prst="rect">
            <a:avLst/>
          </a:prstGeom>
          <a:noFill/>
        </p:spPr>
        <p:txBody>
          <a:bodyPr wrap="square" lIns="0" tIns="0" rIns="0" bIns="0" anchor="ctr"/>
          <a:lstStyle/>
          <a:p>
            <a:pPr marL="0" indent="0" algn="ctr">
              <a:buNone/>
            </a:pPr>
            <a:r>
              <a:rPr sz="2200" b="1">
                <a:solidFill>
                  <a:srgbClr val="A97C1E"/>
                </a:solidFill>
                <a:latin typeface="Calibri"/>
                <a:ea typeface="Calibri"/>
                <a:cs typeface="Calibri"/>
              </a:rPr>
              <a:t>→</a:t>
            </a:r>
          </a:p>
        </p:txBody>
      </p:sp>
      <p:sp>
        <p:nvSpPr>
          <p:cNvPr id="24" name="Shape 18">
            <a:extLst>
              <a:ext uri="{FF2B5EF4-FFF2-40B4-BE49-F238E27FC236}">
                <a16:creationId xmlns:a16="http://schemas.microsoft.com/office/drawing/2014/main" id="{0A056024-E022-4310-A868-06C890FBAA10}"/>
              </a:ext>
            </a:extLst>
          </p:cNvPr>
          <p:cNvSpPr>
            <a:spLocks noGrp="1"/>
          </p:cNvSpPr>
          <p:nvPr/>
        </p:nvSpPr>
        <p:spPr>
          <a:xfrm>
            <a:off x="7461504" y="2286000"/>
            <a:ext cx="1874520" cy="228600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5" name="Shape 19">
            <a:extLst>
              <a:ext uri="{FF2B5EF4-FFF2-40B4-BE49-F238E27FC236}">
                <a16:creationId xmlns:a16="http://schemas.microsoft.com/office/drawing/2014/main" id="{C7D2D8DF-4CE7-4838-A644-B1C0500DD245}"/>
              </a:ext>
            </a:extLst>
          </p:cNvPr>
          <p:cNvSpPr>
            <a:spLocks noGrp="1"/>
          </p:cNvSpPr>
          <p:nvPr/>
        </p:nvSpPr>
        <p:spPr>
          <a:xfrm>
            <a:off x="8115300" y="2514600"/>
            <a:ext cx="566928" cy="566928"/>
          </a:xfrm>
          <a:prstGeom prst="ellipse">
            <a:avLst/>
          </a:prstGeom>
          <a:solidFill>
            <a:srgbClr val="E4EBE7"/>
          </a:solidFill>
        </p:spPr>
        <p:txBody>
          <a:bodyPr/>
          <a:lstStyle/>
          <a:p>
            <a:endParaRPr/>
          </a:p>
        </p:txBody>
      </p:sp>
      <p:pic>
        <p:nvPicPr>
          <p:cNvPr id="69" name="Image 4"/>
          <p:cNvPicPr>
            <a:picLocks noChangeAspect="1"/>
          </p:cNvPicPr>
          <p:nvPr/>
        </p:nvPicPr>
        <p:blipFill>
          <a:blip r:embed="rId7"/>
          <a:stretch>
            <a:fillRect/>
          </a:stretch>
        </p:blipFill>
        <p:spPr>
          <a:xfrm>
            <a:off x="8177662" y="2576962"/>
            <a:ext cx="442204" cy="442204"/>
          </a:xfrm>
          <a:prstGeom prst="rect">
            <a:avLst/>
          </a:prstGeom>
        </p:spPr>
      </p:pic>
      <p:sp>
        <p:nvSpPr>
          <p:cNvPr id="27" name="Text 20">
            <a:extLst>
              <a:ext uri="{FF2B5EF4-FFF2-40B4-BE49-F238E27FC236}">
                <a16:creationId xmlns:a16="http://schemas.microsoft.com/office/drawing/2014/main" id="{A50D27E5-CCFD-4651-9081-758ED52A5C3F}"/>
              </a:ext>
            </a:extLst>
          </p:cNvPr>
          <p:cNvSpPr>
            <a:spLocks noGrp="1"/>
          </p:cNvSpPr>
          <p:nvPr/>
        </p:nvSpPr>
        <p:spPr>
          <a:xfrm>
            <a:off x="7552944" y="3200400"/>
            <a:ext cx="1691640" cy="502920"/>
          </a:xfrm>
          <a:prstGeom prst="rect">
            <a:avLst/>
          </a:prstGeom>
          <a:noFill/>
        </p:spPr>
        <p:txBody>
          <a:bodyPr wrap="square" lIns="0" tIns="0" rIns="0" bIns="0" anchor="ctr"/>
          <a:lstStyle/>
          <a:p>
            <a:pPr marL="0" indent="0" algn="ctr">
              <a:buNone/>
            </a:pPr>
            <a:r>
              <a:rPr sz="1300" b="1">
                <a:solidFill>
                  <a:srgbClr val="171A17"/>
                </a:solidFill>
                <a:latin typeface="Cambria"/>
                <a:ea typeface="Cambria"/>
                <a:cs typeface="Cambria"/>
              </a:rPr>
              <a:t>Diagnostik-Cache</a:t>
            </a:r>
          </a:p>
        </p:txBody>
      </p:sp>
      <p:sp>
        <p:nvSpPr>
          <p:cNvPr id="28" name="Text 21">
            <a:extLst>
              <a:ext uri="{FF2B5EF4-FFF2-40B4-BE49-F238E27FC236}">
                <a16:creationId xmlns:a16="http://schemas.microsoft.com/office/drawing/2014/main" id="{E68B5945-EDBB-4601-803F-6C5BF108A039}"/>
              </a:ext>
            </a:extLst>
          </p:cNvPr>
          <p:cNvSpPr>
            <a:spLocks noGrp="1"/>
          </p:cNvSpPr>
          <p:nvPr/>
        </p:nvSpPr>
        <p:spPr>
          <a:xfrm>
            <a:off x="7552944" y="3703320"/>
            <a:ext cx="1691640" cy="777240"/>
          </a:xfrm>
          <a:prstGeom prst="rect">
            <a:avLst/>
          </a:prstGeom>
          <a:noFill/>
        </p:spPr>
        <p:txBody>
          <a:bodyPr wrap="square" lIns="0" tIns="0" rIns="0" bIns="0" anchor="ctr"/>
          <a:lstStyle/>
          <a:p>
            <a:pPr marL="0" indent="0" algn="ctr">
              <a:buNone/>
            </a:pPr>
            <a:r>
              <a:rPr sz="1050">
                <a:solidFill>
                  <a:srgbClr val="5B6259"/>
                </a:solidFill>
                <a:latin typeface="Calibri"/>
                <a:ea typeface="Calibri"/>
                <a:cs typeface="Calibri"/>
              </a:rPr>
              <a:t>JSON — einmal</a:t>
            </a:r>
          </a:p>
          <a:p>
            <a:pPr marL="0" indent="0" algn="ctr">
              <a:buNone/>
            </a:pPr>
            <a:r>
              <a:rPr sz="1050">
                <a:solidFill>
                  <a:srgbClr val="5B6259"/>
                </a:solidFill>
                <a:latin typeface="Calibri"/>
                <a:ea typeface="Calibri"/>
                <a:cs typeface="Calibri"/>
              </a:rPr>
              <a:t>vorberechnet</a:t>
            </a:r>
          </a:p>
        </p:txBody>
      </p:sp>
      <p:sp>
        <p:nvSpPr>
          <p:cNvPr id="29" name="Text 22">
            <a:extLst>
              <a:ext uri="{FF2B5EF4-FFF2-40B4-BE49-F238E27FC236}">
                <a16:creationId xmlns:a16="http://schemas.microsoft.com/office/drawing/2014/main" id="{3A31D96E-012D-4872-A3ED-F9C20278B651}"/>
              </a:ext>
            </a:extLst>
          </p:cNvPr>
          <p:cNvSpPr>
            <a:spLocks noGrp="1"/>
          </p:cNvSpPr>
          <p:nvPr/>
        </p:nvSpPr>
        <p:spPr>
          <a:xfrm>
            <a:off x="9290304" y="3154680"/>
            <a:ext cx="521208" cy="548640"/>
          </a:xfrm>
          <a:prstGeom prst="rect">
            <a:avLst/>
          </a:prstGeom>
          <a:noFill/>
        </p:spPr>
        <p:txBody>
          <a:bodyPr wrap="square" lIns="0" tIns="0" rIns="0" bIns="0" anchor="ctr"/>
          <a:lstStyle/>
          <a:p>
            <a:pPr marL="0" indent="0" algn="ctr">
              <a:buNone/>
            </a:pPr>
            <a:r>
              <a:rPr sz="2200" b="1">
                <a:solidFill>
                  <a:srgbClr val="A97C1E"/>
                </a:solidFill>
                <a:latin typeface="Calibri"/>
                <a:ea typeface="Calibri"/>
                <a:cs typeface="Calibri"/>
              </a:rPr>
              <a:t>→</a:t>
            </a:r>
          </a:p>
        </p:txBody>
      </p:sp>
      <p:sp>
        <p:nvSpPr>
          <p:cNvPr id="30" name="Shape 23">
            <a:extLst>
              <a:ext uri="{FF2B5EF4-FFF2-40B4-BE49-F238E27FC236}">
                <a16:creationId xmlns:a16="http://schemas.microsoft.com/office/drawing/2014/main" id="{47F89278-7411-4188-93A1-9EAFAF974E48}"/>
              </a:ext>
            </a:extLst>
          </p:cNvPr>
          <p:cNvSpPr>
            <a:spLocks noGrp="1"/>
          </p:cNvSpPr>
          <p:nvPr/>
        </p:nvSpPr>
        <p:spPr>
          <a:xfrm>
            <a:off x="9765792" y="2286000"/>
            <a:ext cx="1874520" cy="2286000"/>
          </a:xfrm>
          <a:prstGeom prst="roundRect">
            <a:avLst>
              <a:gd name="adj" fmla="val 2927"/>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31" name="Shape 24">
            <a:extLst>
              <a:ext uri="{FF2B5EF4-FFF2-40B4-BE49-F238E27FC236}">
                <a16:creationId xmlns:a16="http://schemas.microsoft.com/office/drawing/2014/main" id="{3297C77B-DA0D-4F01-9211-26565A0116BB}"/>
              </a:ext>
            </a:extLst>
          </p:cNvPr>
          <p:cNvSpPr>
            <a:spLocks noGrp="1"/>
          </p:cNvSpPr>
          <p:nvPr/>
        </p:nvSpPr>
        <p:spPr>
          <a:xfrm>
            <a:off x="10419588" y="2514600"/>
            <a:ext cx="566928" cy="566928"/>
          </a:xfrm>
          <a:prstGeom prst="ellipse">
            <a:avLst/>
          </a:prstGeom>
          <a:solidFill>
            <a:srgbClr val="E4EBE7"/>
          </a:solidFill>
        </p:spPr>
        <p:txBody>
          <a:bodyPr/>
          <a:lstStyle/>
          <a:p>
            <a:endParaRPr/>
          </a:p>
        </p:txBody>
      </p:sp>
      <p:pic>
        <p:nvPicPr>
          <p:cNvPr id="75" name="Image 5"/>
          <p:cNvPicPr>
            <a:picLocks noChangeAspect="1"/>
          </p:cNvPicPr>
          <p:nvPr/>
        </p:nvPicPr>
        <p:blipFill>
          <a:blip r:embed="rId8"/>
          <a:stretch>
            <a:fillRect/>
          </a:stretch>
        </p:blipFill>
        <p:spPr>
          <a:xfrm>
            <a:off x="10481950" y="2576962"/>
            <a:ext cx="442204" cy="442204"/>
          </a:xfrm>
          <a:prstGeom prst="rect">
            <a:avLst/>
          </a:prstGeom>
        </p:spPr>
      </p:pic>
      <p:sp>
        <p:nvSpPr>
          <p:cNvPr id="33" name="Text 25">
            <a:extLst>
              <a:ext uri="{FF2B5EF4-FFF2-40B4-BE49-F238E27FC236}">
                <a16:creationId xmlns:a16="http://schemas.microsoft.com/office/drawing/2014/main" id="{F3F4EFD1-1F46-4F30-9108-D6A39576FAF3}"/>
              </a:ext>
            </a:extLst>
          </p:cNvPr>
          <p:cNvSpPr>
            <a:spLocks noGrp="1"/>
          </p:cNvSpPr>
          <p:nvPr/>
        </p:nvSpPr>
        <p:spPr>
          <a:xfrm>
            <a:off x="9857232" y="3200400"/>
            <a:ext cx="1691640" cy="502920"/>
          </a:xfrm>
          <a:prstGeom prst="rect">
            <a:avLst/>
          </a:prstGeom>
          <a:noFill/>
        </p:spPr>
        <p:txBody>
          <a:bodyPr wrap="square" lIns="0" tIns="0" rIns="0" bIns="0" anchor="ctr"/>
          <a:lstStyle/>
          <a:p>
            <a:pPr marL="0" indent="0" algn="ctr">
              <a:buNone/>
            </a:pPr>
            <a:r>
              <a:rPr sz="1300" b="1">
                <a:solidFill>
                  <a:srgbClr val="171A17"/>
                </a:solidFill>
                <a:latin typeface="Cambria"/>
                <a:ea typeface="Cambria"/>
                <a:cs typeface="Cambria"/>
              </a:rPr>
              <a:t>Streamlit-App</a:t>
            </a:r>
          </a:p>
        </p:txBody>
      </p:sp>
      <p:sp>
        <p:nvSpPr>
          <p:cNvPr id="34" name="Text 26">
            <a:extLst>
              <a:ext uri="{FF2B5EF4-FFF2-40B4-BE49-F238E27FC236}">
                <a16:creationId xmlns:a16="http://schemas.microsoft.com/office/drawing/2014/main" id="{5703A5AE-CDB1-4A38-8986-47B3DE3A735F}"/>
              </a:ext>
            </a:extLst>
          </p:cNvPr>
          <p:cNvSpPr>
            <a:spLocks noGrp="1"/>
          </p:cNvSpPr>
          <p:nvPr/>
        </p:nvSpPr>
        <p:spPr>
          <a:xfrm>
            <a:off x="9857232" y="3703320"/>
            <a:ext cx="1691640" cy="777240"/>
          </a:xfrm>
          <a:prstGeom prst="rect">
            <a:avLst/>
          </a:prstGeom>
          <a:noFill/>
        </p:spPr>
        <p:txBody>
          <a:bodyPr wrap="square" lIns="0" tIns="0" rIns="0" bIns="0" anchor="ctr"/>
          <a:lstStyle/>
          <a:p>
            <a:pPr marL="0" indent="0" algn="ctr">
              <a:buNone/>
            </a:pPr>
            <a:r>
              <a:rPr sz="1050">
                <a:solidFill>
                  <a:srgbClr val="5B6259"/>
                </a:solidFill>
                <a:latin typeface="Calibri"/>
                <a:ea typeface="Calibri"/>
                <a:cs typeface="Calibri"/>
              </a:rPr>
              <a:t>16 Seiten</a:t>
            </a:r>
          </a:p>
          <a:p>
            <a:pPr marL="0" indent="0" algn="ctr">
              <a:buNone/>
            </a:pPr>
            <a:r>
              <a:rPr sz="1050">
                <a:solidFill>
                  <a:srgbClr val="5B6259"/>
                </a:solidFill>
                <a:latin typeface="Calibri"/>
                <a:ea typeface="Calibri"/>
                <a:cs typeface="Calibri"/>
              </a:rPr>
              <a:t>live &amp; interaktiv</a:t>
            </a:r>
          </a:p>
        </p:txBody>
      </p:sp>
      <p:sp>
        <p:nvSpPr>
          <p:cNvPr id="35" name="Shape 27">
            <a:extLst>
              <a:ext uri="{FF2B5EF4-FFF2-40B4-BE49-F238E27FC236}">
                <a16:creationId xmlns:a16="http://schemas.microsoft.com/office/drawing/2014/main" id="{97D6AE32-E592-4350-AF32-4C70E7D1BCCA}"/>
              </a:ext>
            </a:extLst>
          </p:cNvPr>
          <p:cNvSpPr>
            <a:spLocks noGrp="1"/>
          </p:cNvSpPr>
          <p:nvPr/>
        </p:nvSpPr>
        <p:spPr>
          <a:xfrm>
            <a:off x="548640" y="5074920"/>
            <a:ext cx="11091672" cy="1097280"/>
          </a:xfrm>
          <a:prstGeom prst="roundRect">
            <a:avLst>
              <a:gd name="adj" fmla="val 5000"/>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36" name="Text 28">
            <a:extLst>
              <a:ext uri="{FF2B5EF4-FFF2-40B4-BE49-F238E27FC236}">
                <a16:creationId xmlns:a16="http://schemas.microsoft.com/office/drawing/2014/main" id="{C7FA576D-3BF1-4C7E-BFC3-7ACB1D0EFC51}"/>
              </a:ext>
            </a:extLst>
          </p:cNvPr>
          <p:cNvSpPr>
            <a:spLocks noGrp="1"/>
          </p:cNvSpPr>
          <p:nvPr/>
        </p:nvSpPr>
        <p:spPr>
          <a:xfrm>
            <a:off x="822960" y="5074920"/>
            <a:ext cx="10543032" cy="1097280"/>
          </a:xfrm>
          <a:prstGeom prst="rect">
            <a:avLst/>
          </a:prstGeom>
          <a:noFill/>
        </p:spPr>
        <p:txBody>
          <a:bodyPr wrap="square" lIns="0" tIns="0" rIns="0" bIns="0" anchor="ctr"/>
          <a:lstStyle/>
          <a:p>
            <a:pPr marL="0" indent="0">
              <a:buNone/>
            </a:pPr>
            <a:r>
              <a:rPr sz="1300" b="1">
                <a:solidFill>
                  <a:srgbClr val="A97C1E"/>
                </a:solidFill>
                <a:latin typeface="Calibri"/>
                <a:ea typeface="Calibri"/>
                <a:cs typeface="Calibri"/>
              </a:rPr>
              <a:t>Warum ein Diagnostik-Cache?  Out-of-Time-Metriken, ROC/PR und vier Walk-forward-Folds werden reproduzierbar offline berechnet. Die App liest nur validierte JSON-Artefakte — schnell, transparent und ohne Training beim Seitenaufruf.</a:t>
            </a:r>
          </a:p>
        </p:txBody>
      </p:sp>
      <p:sp>
        <p:nvSpPr>
          <p:cNvPr id="37" name="Text 29">
            <a:extLst>
              <a:ext uri="{FF2B5EF4-FFF2-40B4-BE49-F238E27FC236}">
                <a16:creationId xmlns:a16="http://schemas.microsoft.com/office/drawing/2014/main" id="{2ED47655-95EE-4B15-A17D-1478E35BBB97}"/>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38" name="Text 30">
            <a:extLst>
              <a:ext uri="{FF2B5EF4-FFF2-40B4-BE49-F238E27FC236}">
                <a16:creationId xmlns:a16="http://schemas.microsoft.com/office/drawing/2014/main" id="{F7C9BE6D-76E7-4203-8F9D-1F190874A1D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6</a:t>
            </a:r>
          </a:p>
        </p:txBody>
      </p:sp>
    </p:spTree>
    <p:extLst>
      <p:ext uri="{BB962C8B-B14F-4D97-AF65-F5344CB8AC3E}">
        <p14:creationId xmlns:p14="http://schemas.microsoft.com/office/powerpoint/2010/main" val="12694443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8EDDB4-BDF7-402D-90FF-42C6B03F7BFD}"/>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58"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B678C39A-014B-4E1E-8160-80DF85F42E20}"/>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LÖSUNG · WERKZEUGE</a:t>
            </a:r>
          </a:p>
        </p:txBody>
      </p:sp>
      <p:sp>
        <p:nvSpPr>
          <p:cNvPr id="5" name="Text 2">
            <a:extLst>
              <a:ext uri="{FF2B5EF4-FFF2-40B4-BE49-F238E27FC236}">
                <a16:creationId xmlns:a16="http://schemas.microsoft.com/office/drawing/2014/main" id="{494EB747-FB4D-4BF6-96B7-82533F18D337}"/>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Technischer Stack</a:t>
            </a:r>
          </a:p>
        </p:txBody>
      </p:sp>
      <p:sp>
        <p:nvSpPr>
          <p:cNvPr id="6" name="Shape 3">
            <a:extLst>
              <a:ext uri="{FF2B5EF4-FFF2-40B4-BE49-F238E27FC236}">
                <a16:creationId xmlns:a16="http://schemas.microsoft.com/office/drawing/2014/main" id="{9EE025AB-505F-4F9A-92EA-F90BCB94D864}"/>
              </a:ext>
            </a:extLst>
          </p:cNvPr>
          <p:cNvSpPr>
            <a:spLocks noGrp="1"/>
          </p:cNvSpPr>
          <p:nvPr/>
        </p:nvSpPr>
        <p:spPr>
          <a:xfrm>
            <a:off x="548640" y="160020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Shape 4">
            <a:extLst>
              <a:ext uri="{FF2B5EF4-FFF2-40B4-BE49-F238E27FC236}">
                <a16:creationId xmlns:a16="http://schemas.microsoft.com/office/drawing/2014/main" id="{36B949CC-2826-42DE-9D1A-BBA5BA88118C}"/>
              </a:ext>
            </a:extLst>
          </p:cNvPr>
          <p:cNvSpPr>
            <a:spLocks noGrp="1"/>
          </p:cNvSpPr>
          <p:nvPr/>
        </p:nvSpPr>
        <p:spPr>
          <a:xfrm>
            <a:off x="777240" y="1828800"/>
            <a:ext cx="548640" cy="548640"/>
          </a:xfrm>
          <a:prstGeom prst="ellipse">
            <a:avLst/>
          </a:prstGeom>
          <a:solidFill>
            <a:srgbClr val="E4EBE7"/>
          </a:solidFill>
        </p:spPr>
        <p:txBody>
          <a:bodyPr/>
          <a:lstStyle/>
          <a:p>
            <a:endParaRPr/>
          </a:p>
        </p:txBody>
      </p:sp>
      <p:pic>
        <p:nvPicPr>
          <p:cNvPr id="63" name="Image 1"/>
          <p:cNvPicPr>
            <a:picLocks noChangeAspect="1"/>
          </p:cNvPicPr>
          <p:nvPr/>
        </p:nvPicPr>
        <p:blipFill>
          <a:blip r:embed="rId4"/>
          <a:stretch>
            <a:fillRect/>
          </a:stretch>
        </p:blipFill>
        <p:spPr>
          <a:xfrm>
            <a:off x="837590" y="1889150"/>
            <a:ext cx="427939" cy="427939"/>
          </a:xfrm>
          <a:prstGeom prst="rect">
            <a:avLst/>
          </a:prstGeom>
        </p:spPr>
      </p:pic>
      <p:sp>
        <p:nvSpPr>
          <p:cNvPr id="9" name="Text 5">
            <a:extLst>
              <a:ext uri="{FF2B5EF4-FFF2-40B4-BE49-F238E27FC236}">
                <a16:creationId xmlns:a16="http://schemas.microsoft.com/office/drawing/2014/main" id="{D6D4C327-D8F8-4EEF-AE1A-873EB35F08BA}"/>
              </a:ext>
            </a:extLst>
          </p:cNvPr>
          <p:cNvSpPr>
            <a:spLocks noGrp="1"/>
          </p:cNvSpPr>
          <p:nvPr/>
        </p:nvSpPr>
        <p:spPr>
          <a:xfrm>
            <a:off x="777240" y="246888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Sprache &amp; App</a:t>
            </a:r>
          </a:p>
        </p:txBody>
      </p:sp>
      <p:sp>
        <p:nvSpPr>
          <p:cNvPr id="10" name="Text 6">
            <a:extLst>
              <a:ext uri="{FF2B5EF4-FFF2-40B4-BE49-F238E27FC236}">
                <a16:creationId xmlns:a16="http://schemas.microsoft.com/office/drawing/2014/main" id="{03FFDE58-CA4B-4C8A-BC8A-8BF873BA0E90}"/>
              </a:ext>
            </a:extLst>
          </p:cNvPr>
          <p:cNvSpPr>
            <a:spLocks noGrp="1"/>
          </p:cNvSpPr>
          <p:nvPr/>
        </p:nvSpPr>
        <p:spPr>
          <a:xfrm>
            <a:off x="777240" y="288036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Python 3 · Streamlit</a:t>
            </a:r>
          </a:p>
          <a:p>
            <a:pPr marL="0" indent="0">
              <a:buNone/>
            </a:pPr>
            <a:r>
              <a:rPr sz="1150">
                <a:solidFill>
                  <a:srgbClr val="5B6259"/>
                </a:solidFill>
                <a:latin typeface="Calibri"/>
                <a:ea typeface="Calibri"/>
                <a:cs typeface="Calibri"/>
              </a:rPr>
              <a:t>(st.navigation, Multipage)</a:t>
            </a:r>
          </a:p>
        </p:txBody>
      </p:sp>
      <p:sp>
        <p:nvSpPr>
          <p:cNvPr id="11" name="Shape 7">
            <a:extLst>
              <a:ext uri="{FF2B5EF4-FFF2-40B4-BE49-F238E27FC236}">
                <a16:creationId xmlns:a16="http://schemas.microsoft.com/office/drawing/2014/main" id="{10E9B0D1-6E77-4625-AFE3-56E461E387AC}"/>
              </a:ext>
            </a:extLst>
          </p:cNvPr>
          <p:cNvSpPr>
            <a:spLocks noGrp="1"/>
          </p:cNvSpPr>
          <p:nvPr/>
        </p:nvSpPr>
        <p:spPr>
          <a:xfrm>
            <a:off x="3364992" y="160020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2" name="Shape 8">
            <a:extLst>
              <a:ext uri="{FF2B5EF4-FFF2-40B4-BE49-F238E27FC236}">
                <a16:creationId xmlns:a16="http://schemas.microsoft.com/office/drawing/2014/main" id="{1105F2A2-E77D-474E-BDDD-F8F0E9ABC09E}"/>
              </a:ext>
            </a:extLst>
          </p:cNvPr>
          <p:cNvSpPr>
            <a:spLocks noGrp="1"/>
          </p:cNvSpPr>
          <p:nvPr/>
        </p:nvSpPr>
        <p:spPr>
          <a:xfrm>
            <a:off x="3593592" y="1828800"/>
            <a:ext cx="548640" cy="548640"/>
          </a:xfrm>
          <a:prstGeom prst="ellipse">
            <a:avLst/>
          </a:prstGeom>
          <a:solidFill>
            <a:srgbClr val="E4EBE7"/>
          </a:solidFill>
        </p:spPr>
        <p:txBody>
          <a:bodyPr/>
          <a:lstStyle/>
          <a:p>
            <a:endParaRPr/>
          </a:p>
        </p:txBody>
      </p:sp>
      <p:pic>
        <p:nvPicPr>
          <p:cNvPr id="68" name="Image 2"/>
          <p:cNvPicPr>
            <a:picLocks noChangeAspect="1"/>
          </p:cNvPicPr>
          <p:nvPr/>
        </p:nvPicPr>
        <p:blipFill>
          <a:blip r:embed="rId5"/>
          <a:stretch>
            <a:fillRect/>
          </a:stretch>
        </p:blipFill>
        <p:spPr>
          <a:xfrm>
            <a:off x="3653942" y="1889150"/>
            <a:ext cx="427939" cy="427939"/>
          </a:xfrm>
          <a:prstGeom prst="rect">
            <a:avLst/>
          </a:prstGeom>
        </p:spPr>
      </p:pic>
      <p:sp>
        <p:nvSpPr>
          <p:cNvPr id="14" name="Text 9">
            <a:extLst>
              <a:ext uri="{FF2B5EF4-FFF2-40B4-BE49-F238E27FC236}">
                <a16:creationId xmlns:a16="http://schemas.microsoft.com/office/drawing/2014/main" id="{D3239582-6D85-4552-BF7B-130B5B4A38B0}"/>
              </a:ext>
            </a:extLst>
          </p:cNvPr>
          <p:cNvSpPr>
            <a:spLocks noGrp="1"/>
          </p:cNvSpPr>
          <p:nvPr/>
        </p:nvSpPr>
        <p:spPr>
          <a:xfrm>
            <a:off x="3593592" y="246888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Daten</a:t>
            </a:r>
          </a:p>
        </p:txBody>
      </p:sp>
      <p:sp>
        <p:nvSpPr>
          <p:cNvPr id="15" name="Text 10">
            <a:extLst>
              <a:ext uri="{FF2B5EF4-FFF2-40B4-BE49-F238E27FC236}">
                <a16:creationId xmlns:a16="http://schemas.microsoft.com/office/drawing/2014/main" id="{0AEC68DA-542F-4274-AF67-6F138A99DEC9}"/>
              </a:ext>
            </a:extLst>
          </p:cNvPr>
          <p:cNvSpPr>
            <a:spLocks noGrp="1"/>
          </p:cNvSpPr>
          <p:nvPr/>
        </p:nvSpPr>
        <p:spPr>
          <a:xfrm>
            <a:off x="3593592" y="288036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pandas · numpy</a:t>
            </a:r>
          </a:p>
          <a:p>
            <a:pPr marL="0" indent="0">
              <a:buNone/>
            </a:pPr>
            <a:r>
              <a:rPr sz="1150">
                <a:solidFill>
                  <a:srgbClr val="5B6259"/>
                </a:solidFill>
                <a:latin typeface="Calibri"/>
                <a:ea typeface="Calibri"/>
                <a:cs typeface="Calibri"/>
              </a:rPr>
              <a:t>Apache Parquet (PyArrow)</a:t>
            </a:r>
          </a:p>
        </p:txBody>
      </p:sp>
      <p:sp>
        <p:nvSpPr>
          <p:cNvPr id="16" name="Shape 11">
            <a:extLst>
              <a:ext uri="{FF2B5EF4-FFF2-40B4-BE49-F238E27FC236}">
                <a16:creationId xmlns:a16="http://schemas.microsoft.com/office/drawing/2014/main" id="{C4E79882-4F94-4151-AC73-A161B0B62050}"/>
              </a:ext>
            </a:extLst>
          </p:cNvPr>
          <p:cNvSpPr>
            <a:spLocks noGrp="1"/>
          </p:cNvSpPr>
          <p:nvPr/>
        </p:nvSpPr>
        <p:spPr>
          <a:xfrm>
            <a:off x="6181344" y="160020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7" name="Shape 12">
            <a:extLst>
              <a:ext uri="{FF2B5EF4-FFF2-40B4-BE49-F238E27FC236}">
                <a16:creationId xmlns:a16="http://schemas.microsoft.com/office/drawing/2014/main" id="{DBF550AA-FBC3-4775-BEF9-AD2D088B12F0}"/>
              </a:ext>
            </a:extLst>
          </p:cNvPr>
          <p:cNvSpPr>
            <a:spLocks noGrp="1"/>
          </p:cNvSpPr>
          <p:nvPr/>
        </p:nvSpPr>
        <p:spPr>
          <a:xfrm>
            <a:off x="6409944" y="1828800"/>
            <a:ext cx="548640" cy="548640"/>
          </a:xfrm>
          <a:prstGeom prst="ellipse">
            <a:avLst/>
          </a:prstGeom>
          <a:solidFill>
            <a:srgbClr val="E4EBE7"/>
          </a:solidFill>
        </p:spPr>
        <p:txBody>
          <a:bodyPr/>
          <a:lstStyle/>
          <a:p>
            <a:endParaRPr/>
          </a:p>
        </p:txBody>
      </p:sp>
      <p:pic>
        <p:nvPicPr>
          <p:cNvPr id="73" name="Image 3"/>
          <p:cNvPicPr>
            <a:picLocks noChangeAspect="1"/>
          </p:cNvPicPr>
          <p:nvPr/>
        </p:nvPicPr>
        <p:blipFill>
          <a:blip r:embed="rId6"/>
          <a:stretch>
            <a:fillRect/>
          </a:stretch>
        </p:blipFill>
        <p:spPr>
          <a:xfrm>
            <a:off x="6470294" y="1889150"/>
            <a:ext cx="427939" cy="427939"/>
          </a:xfrm>
          <a:prstGeom prst="rect">
            <a:avLst/>
          </a:prstGeom>
        </p:spPr>
      </p:pic>
      <p:sp>
        <p:nvSpPr>
          <p:cNvPr id="19" name="Text 13">
            <a:extLst>
              <a:ext uri="{FF2B5EF4-FFF2-40B4-BE49-F238E27FC236}">
                <a16:creationId xmlns:a16="http://schemas.microsoft.com/office/drawing/2014/main" id="{5242BFEC-AC7D-486A-8FC3-1A161CC48A44}"/>
              </a:ext>
            </a:extLst>
          </p:cNvPr>
          <p:cNvSpPr>
            <a:spLocks noGrp="1"/>
          </p:cNvSpPr>
          <p:nvPr/>
        </p:nvSpPr>
        <p:spPr>
          <a:xfrm>
            <a:off x="6409944" y="246888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Machine Learning</a:t>
            </a:r>
          </a:p>
        </p:txBody>
      </p:sp>
      <p:sp>
        <p:nvSpPr>
          <p:cNvPr id="20" name="Text 14">
            <a:extLst>
              <a:ext uri="{FF2B5EF4-FFF2-40B4-BE49-F238E27FC236}">
                <a16:creationId xmlns:a16="http://schemas.microsoft.com/office/drawing/2014/main" id="{C8B0250B-857A-4A68-B226-AD107B2EFAA6}"/>
              </a:ext>
            </a:extLst>
          </p:cNvPr>
          <p:cNvSpPr>
            <a:spLocks noGrp="1"/>
          </p:cNvSpPr>
          <p:nvPr/>
        </p:nvSpPr>
        <p:spPr>
          <a:xfrm>
            <a:off x="6409944" y="288036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scikit-learn</a:t>
            </a:r>
          </a:p>
          <a:p>
            <a:pPr marL="0" indent="0">
              <a:buNone/>
            </a:pPr>
            <a:r>
              <a:rPr sz="1150">
                <a:solidFill>
                  <a:srgbClr val="5B6259"/>
                </a:solidFill>
                <a:latin typeface="Calibri"/>
                <a:ea typeface="Calibri"/>
                <a:cs typeface="Calibri"/>
              </a:rPr>
              <a:t>(5 Modelle, Pipeline, OOT)</a:t>
            </a:r>
          </a:p>
        </p:txBody>
      </p:sp>
      <p:sp>
        <p:nvSpPr>
          <p:cNvPr id="21" name="Shape 15">
            <a:extLst>
              <a:ext uri="{FF2B5EF4-FFF2-40B4-BE49-F238E27FC236}">
                <a16:creationId xmlns:a16="http://schemas.microsoft.com/office/drawing/2014/main" id="{17972D48-3150-436C-B49C-DD5196B0A937}"/>
              </a:ext>
            </a:extLst>
          </p:cNvPr>
          <p:cNvSpPr>
            <a:spLocks noGrp="1"/>
          </p:cNvSpPr>
          <p:nvPr/>
        </p:nvSpPr>
        <p:spPr>
          <a:xfrm>
            <a:off x="8997696" y="160020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2" name="Shape 16">
            <a:extLst>
              <a:ext uri="{FF2B5EF4-FFF2-40B4-BE49-F238E27FC236}">
                <a16:creationId xmlns:a16="http://schemas.microsoft.com/office/drawing/2014/main" id="{11A274A0-2097-4E4C-B74D-7ABF2150E806}"/>
              </a:ext>
            </a:extLst>
          </p:cNvPr>
          <p:cNvSpPr>
            <a:spLocks noGrp="1"/>
          </p:cNvSpPr>
          <p:nvPr/>
        </p:nvSpPr>
        <p:spPr>
          <a:xfrm>
            <a:off x="9226296" y="1828800"/>
            <a:ext cx="548640" cy="548640"/>
          </a:xfrm>
          <a:prstGeom prst="ellipse">
            <a:avLst/>
          </a:prstGeom>
          <a:solidFill>
            <a:srgbClr val="E4EBE7"/>
          </a:solidFill>
        </p:spPr>
        <p:txBody>
          <a:bodyPr/>
          <a:lstStyle/>
          <a:p>
            <a:endParaRPr/>
          </a:p>
        </p:txBody>
      </p:sp>
      <p:pic>
        <p:nvPicPr>
          <p:cNvPr id="78" name="Image 4"/>
          <p:cNvPicPr>
            <a:picLocks noChangeAspect="1"/>
          </p:cNvPicPr>
          <p:nvPr/>
        </p:nvPicPr>
        <p:blipFill>
          <a:blip r:embed="rId7"/>
          <a:stretch>
            <a:fillRect/>
          </a:stretch>
        </p:blipFill>
        <p:spPr>
          <a:xfrm>
            <a:off x="9286646" y="1889150"/>
            <a:ext cx="427939" cy="427939"/>
          </a:xfrm>
          <a:prstGeom prst="rect">
            <a:avLst/>
          </a:prstGeom>
        </p:spPr>
      </p:pic>
      <p:sp>
        <p:nvSpPr>
          <p:cNvPr id="24" name="Text 17">
            <a:extLst>
              <a:ext uri="{FF2B5EF4-FFF2-40B4-BE49-F238E27FC236}">
                <a16:creationId xmlns:a16="http://schemas.microsoft.com/office/drawing/2014/main" id="{286A432A-C303-42B0-AB2B-FCD8EFFAF41C}"/>
              </a:ext>
            </a:extLst>
          </p:cNvPr>
          <p:cNvSpPr>
            <a:spLocks noGrp="1"/>
          </p:cNvSpPr>
          <p:nvPr/>
        </p:nvSpPr>
        <p:spPr>
          <a:xfrm>
            <a:off x="9226296" y="246888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Visualisierung</a:t>
            </a:r>
          </a:p>
        </p:txBody>
      </p:sp>
      <p:sp>
        <p:nvSpPr>
          <p:cNvPr id="25" name="Text 18">
            <a:extLst>
              <a:ext uri="{FF2B5EF4-FFF2-40B4-BE49-F238E27FC236}">
                <a16:creationId xmlns:a16="http://schemas.microsoft.com/office/drawing/2014/main" id="{5AF18252-52C6-4998-BDE3-AA36C4D83848}"/>
              </a:ext>
            </a:extLst>
          </p:cNvPr>
          <p:cNvSpPr>
            <a:spLocks noGrp="1"/>
          </p:cNvSpPr>
          <p:nvPr/>
        </p:nvSpPr>
        <p:spPr>
          <a:xfrm>
            <a:off x="9226296" y="288036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Plotly</a:t>
            </a:r>
          </a:p>
          <a:p>
            <a:pPr marL="0" indent="0">
              <a:buNone/>
            </a:pPr>
            <a:r>
              <a:rPr sz="1150">
                <a:solidFill>
                  <a:srgbClr val="5B6259"/>
                </a:solidFill>
                <a:latin typeface="Calibri"/>
                <a:ea typeface="Calibri"/>
                <a:cs typeface="Calibri"/>
              </a:rPr>
              <a:t>(interaktive Charts)</a:t>
            </a:r>
          </a:p>
        </p:txBody>
      </p:sp>
      <p:sp>
        <p:nvSpPr>
          <p:cNvPr id="26" name="Shape 19">
            <a:extLst>
              <a:ext uri="{FF2B5EF4-FFF2-40B4-BE49-F238E27FC236}">
                <a16:creationId xmlns:a16="http://schemas.microsoft.com/office/drawing/2014/main" id="{584C6FCA-7DD2-4409-BF74-F17258B263A3}"/>
              </a:ext>
            </a:extLst>
          </p:cNvPr>
          <p:cNvSpPr>
            <a:spLocks noGrp="1"/>
          </p:cNvSpPr>
          <p:nvPr/>
        </p:nvSpPr>
        <p:spPr>
          <a:xfrm>
            <a:off x="548640" y="384048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7" name="Shape 20">
            <a:extLst>
              <a:ext uri="{FF2B5EF4-FFF2-40B4-BE49-F238E27FC236}">
                <a16:creationId xmlns:a16="http://schemas.microsoft.com/office/drawing/2014/main" id="{4FE68C70-2A0B-4E88-8350-6ADFB6291D10}"/>
              </a:ext>
            </a:extLst>
          </p:cNvPr>
          <p:cNvSpPr>
            <a:spLocks noGrp="1"/>
          </p:cNvSpPr>
          <p:nvPr/>
        </p:nvSpPr>
        <p:spPr>
          <a:xfrm>
            <a:off x="777240" y="4069080"/>
            <a:ext cx="548640" cy="548640"/>
          </a:xfrm>
          <a:prstGeom prst="ellipse">
            <a:avLst/>
          </a:prstGeom>
          <a:solidFill>
            <a:srgbClr val="E4EBE7"/>
          </a:solidFill>
        </p:spPr>
        <p:txBody>
          <a:bodyPr/>
          <a:lstStyle/>
          <a:p>
            <a:endParaRPr/>
          </a:p>
        </p:txBody>
      </p:sp>
      <p:pic>
        <p:nvPicPr>
          <p:cNvPr id="83" name="Image 5"/>
          <p:cNvPicPr>
            <a:picLocks noChangeAspect="1"/>
          </p:cNvPicPr>
          <p:nvPr/>
        </p:nvPicPr>
        <p:blipFill>
          <a:blip r:embed="rId8"/>
          <a:stretch>
            <a:fillRect/>
          </a:stretch>
        </p:blipFill>
        <p:spPr>
          <a:xfrm>
            <a:off x="837590" y="4129430"/>
            <a:ext cx="427939" cy="427939"/>
          </a:xfrm>
          <a:prstGeom prst="rect">
            <a:avLst/>
          </a:prstGeom>
        </p:spPr>
      </p:pic>
      <p:sp>
        <p:nvSpPr>
          <p:cNvPr id="29" name="Text 21">
            <a:extLst>
              <a:ext uri="{FF2B5EF4-FFF2-40B4-BE49-F238E27FC236}">
                <a16:creationId xmlns:a16="http://schemas.microsoft.com/office/drawing/2014/main" id="{9DDF6FC8-ADBE-492B-A74D-0B33D582B063}"/>
              </a:ext>
            </a:extLst>
          </p:cNvPr>
          <p:cNvSpPr>
            <a:spLocks noGrp="1"/>
          </p:cNvSpPr>
          <p:nvPr/>
        </p:nvSpPr>
        <p:spPr>
          <a:xfrm>
            <a:off x="777240" y="470916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Erklärbarkeit</a:t>
            </a:r>
          </a:p>
        </p:txBody>
      </p:sp>
      <p:sp>
        <p:nvSpPr>
          <p:cNvPr id="30" name="Text 22">
            <a:extLst>
              <a:ext uri="{FF2B5EF4-FFF2-40B4-BE49-F238E27FC236}">
                <a16:creationId xmlns:a16="http://schemas.microsoft.com/office/drawing/2014/main" id="{D018D837-A9FC-4967-9204-F8D621050208}"/>
              </a:ext>
            </a:extLst>
          </p:cNvPr>
          <p:cNvSpPr>
            <a:spLocks noGrp="1"/>
          </p:cNvSpPr>
          <p:nvPr/>
        </p:nvSpPr>
        <p:spPr>
          <a:xfrm>
            <a:off x="777240" y="512064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SHAP</a:t>
            </a:r>
          </a:p>
          <a:p>
            <a:pPr marL="0" indent="0">
              <a:buNone/>
            </a:pPr>
            <a:r>
              <a:rPr sz="1150">
                <a:solidFill>
                  <a:srgbClr val="5B6259"/>
                </a:solidFill>
                <a:latin typeface="Calibri"/>
                <a:ea typeface="Calibri"/>
                <a:cs typeface="Calibri"/>
              </a:rPr>
              <a:t>(TreeExplainer)</a:t>
            </a:r>
          </a:p>
        </p:txBody>
      </p:sp>
      <p:sp>
        <p:nvSpPr>
          <p:cNvPr id="31" name="Shape 23">
            <a:extLst>
              <a:ext uri="{FF2B5EF4-FFF2-40B4-BE49-F238E27FC236}">
                <a16:creationId xmlns:a16="http://schemas.microsoft.com/office/drawing/2014/main" id="{4375FC9B-ECA2-4F5A-AD5F-1EA2AAFFC9AB}"/>
              </a:ext>
            </a:extLst>
          </p:cNvPr>
          <p:cNvSpPr>
            <a:spLocks noGrp="1"/>
          </p:cNvSpPr>
          <p:nvPr/>
        </p:nvSpPr>
        <p:spPr>
          <a:xfrm>
            <a:off x="3364992" y="384048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32" name="Shape 24">
            <a:extLst>
              <a:ext uri="{FF2B5EF4-FFF2-40B4-BE49-F238E27FC236}">
                <a16:creationId xmlns:a16="http://schemas.microsoft.com/office/drawing/2014/main" id="{A83A7584-926A-4491-8105-E30B91FF612F}"/>
              </a:ext>
            </a:extLst>
          </p:cNvPr>
          <p:cNvSpPr>
            <a:spLocks noGrp="1"/>
          </p:cNvSpPr>
          <p:nvPr/>
        </p:nvSpPr>
        <p:spPr>
          <a:xfrm>
            <a:off x="3593592" y="4069080"/>
            <a:ext cx="548640" cy="548640"/>
          </a:xfrm>
          <a:prstGeom prst="ellipse">
            <a:avLst/>
          </a:prstGeom>
          <a:solidFill>
            <a:srgbClr val="E4EBE7"/>
          </a:solidFill>
        </p:spPr>
        <p:txBody>
          <a:bodyPr/>
          <a:lstStyle/>
          <a:p>
            <a:endParaRPr/>
          </a:p>
        </p:txBody>
      </p:sp>
      <p:pic>
        <p:nvPicPr>
          <p:cNvPr id="88" name="Image 6"/>
          <p:cNvPicPr>
            <a:picLocks noChangeAspect="1"/>
          </p:cNvPicPr>
          <p:nvPr/>
        </p:nvPicPr>
        <p:blipFill>
          <a:blip r:embed="rId9"/>
          <a:stretch>
            <a:fillRect/>
          </a:stretch>
        </p:blipFill>
        <p:spPr>
          <a:xfrm>
            <a:off x="3653942" y="4129430"/>
            <a:ext cx="427939" cy="427939"/>
          </a:xfrm>
          <a:prstGeom prst="rect">
            <a:avLst/>
          </a:prstGeom>
        </p:spPr>
      </p:pic>
      <p:sp>
        <p:nvSpPr>
          <p:cNvPr id="34" name="Text 25">
            <a:extLst>
              <a:ext uri="{FF2B5EF4-FFF2-40B4-BE49-F238E27FC236}">
                <a16:creationId xmlns:a16="http://schemas.microsoft.com/office/drawing/2014/main" id="{252EFFE9-8822-4E78-BE6F-F7FB09CAD766}"/>
              </a:ext>
            </a:extLst>
          </p:cNvPr>
          <p:cNvSpPr>
            <a:spLocks noGrp="1"/>
          </p:cNvSpPr>
          <p:nvPr/>
        </p:nvSpPr>
        <p:spPr>
          <a:xfrm>
            <a:off x="3593592" y="470916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Externe Dienste</a:t>
            </a:r>
          </a:p>
        </p:txBody>
      </p:sp>
      <p:sp>
        <p:nvSpPr>
          <p:cNvPr id="35" name="Text 26">
            <a:extLst>
              <a:ext uri="{FF2B5EF4-FFF2-40B4-BE49-F238E27FC236}">
                <a16:creationId xmlns:a16="http://schemas.microsoft.com/office/drawing/2014/main" id="{E559D1D7-95CD-4146-AE8D-B665D3AC0E38}"/>
              </a:ext>
            </a:extLst>
          </p:cNvPr>
          <p:cNvSpPr>
            <a:spLocks noGrp="1"/>
          </p:cNvSpPr>
          <p:nvPr/>
        </p:nvSpPr>
        <p:spPr>
          <a:xfrm>
            <a:off x="3593592" y="512064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yfinance · NewsAPI</a:t>
            </a:r>
          </a:p>
          <a:p>
            <a:pPr marL="0" indent="0">
              <a:buNone/>
            </a:pPr>
            <a:r>
              <a:rPr sz="1150">
                <a:solidFill>
                  <a:srgbClr val="5B6259"/>
                </a:solidFill>
                <a:latin typeface="Calibri"/>
                <a:ea typeface="Calibri"/>
                <a:cs typeface="Calibri"/>
              </a:rPr>
              <a:t>Google Gemini</a:t>
            </a:r>
          </a:p>
        </p:txBody>
      </p:sp>
      <p:sp>
        <p:nvSpPr>
          <p:cNvPr id="36" name="Shape 27">
            <a:extLst>
              <a:ext uri="{FF2B5EF4-FFF2-40B4-BE49-F238E27FC236}">
                <a16:creationId xmlns:a16="http://schemas.microsoft.com/office/drawing/2014/main" id="{915C7A71-642B-482F-886D-A46B6BD44E82}"/>
              </a:ext>
            </a:extLst>
          </p:cNvPr>
          <p:cNvSpPr>
            <a:spLocks noGrp="1"/>
          </p:cNvSpPr>
          <p:nvPr/>
        </p:nvSpPr>
        <p:spPr>
          <a:xfrm>
            <a:off x="6181344" y="384048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37" name="Shape 28">
            <a:extLst>
              <a:ext uri="{FF2B5EF4-FFF2-40B4-BE49-F238E27FC236}">
                <a16:creationId xmlns:a16="http://schemas.microsoft.com/office/drawing/2014/main" id="{CC433CD4-CC01-4D9F-BF51-41C88CBFA6E7}"/>
              </a:ext>
            </a:extLst>
          </p:cNvPr>
          <p:cNvSpPr>
            <a:spLocks noGrp="1"/>
          </p:cNvSpPr>
          <p:nvPr/>
        </p:nvSpPr>
        <p:spPr>
          <a:xfrm>
            <a:off x="6409944" y="4069080"/>
            <a:ext cx="548640" cy="548640"/>
          </a:xfrm>
          <a:prstGeom prst="ellipse">
            <a:avLst/>
          </a:prstGeom>
          <a:solidFill>
            <a:srgbClr val="E4EBE7"/>
          </a:solidFill>
        </p:spPr>
        <p:txBody>
          <a:bodyPr/>
          <a:lstStyle/>
          <a:p>
            <a:endParaRPr/>
          </a:p>
        </p:txBody>
      </p:sp>
      <p:pic>
        <p:nvPicPr>
          <p:cNvPr id="93" name="Image 7"/>
          <p:cNvPicPr>
            <a:picLocks noChangeAspect="1"/>
          </p:cNvPicPr>
          <p:nvPr/>
        </p:nvPicPr>
        <p:blipFill>
          <a:blip r:embed="rId10"/>
          <a:stretch>
            <a:fillRect/>
          </a:stretch>
        </p:blipFill>
        <p:spPr>
          <a:xfrm>
            <a:off x="6470294" y="4129430"/>
            <a:ext cx="427939" cy="427939"/>
          </a:xfrm>
          <a:prstGeom prst="rect">
            <a:avLst/>
          </a:prstGeom>
        </p:spPr>
      </p:pic>
      <p:sp>
        <p:nvSpPr>
          <p:cNvPr id="39" name="Text 29">
            <a:extLst>
              <a:ext uri="{FF2B5EF4-FFF2-40B4-BE49-F238E27FC236}">
                <a16:creationId xmlns:a16="http://schemas.microsoft.com/office/drawing/2014/main" id="{5C940664-FE6A-4277-BC34-F3DF3FD4AAE6}"/>
              </a:ext>
            </a:extLst>
          </p:cNvPr>
          <p:cNvSpPr>
            <a:spLocks noGrp="1"/>
          </p:cNvSpPr>
          <p:nvPr/>
        </p:nvSpPr>
        <p:spPr>
          <a:xfrm>
            <a:off x="6409944" y="470916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Qualität</a:t>
            </a:r>
          </a:p>
        </p:txBody>
      </p:sp>
      <p:sp>
        <p:nvSpPr>
          <p:cNvPr id="40" name="Text 30">
            <a:extLst>
              <a:ext uri="{FF2B5EF4-FFF2-40B4-BE49-F238E27FC236}">
                <a16:creationId xmlns:a16="http://schemas.microsoft.com/office/drawing/2014/main" id="{0EC477F0-146E-432A-85E0-A069D6562E3F}"/>
              </a:ext>
            </a:extLst>
          </p:cNvPr>
          <p:cNvSpPr>
            <a:spLocks noGrp="1"/>
          </p:cNvSpPr>
          <p:nvPr/>
        </p:nvSpPr>
        <p:spPr>
          <a:xfrm>
            <a:off x="6409944" y="512064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pytest · Struktur-Checks</a:t>
            </a:r>
          </a:p>
          <a:p>
            <a:pPr marL="0" indent="0">
              <a:buNone/>
            </a:pPr>
            <a:r>
              <a:rPr sz="1150">
                <a:solidFill>
                  <a:srgbClr val="5B6259"/>
                </a:solidFill>
                <a:latin typeface="Calibri"/>
                <a:ea typeface="Calibri"/>
                <a:cs typeface="Calibri"/>
              </a:rPr>
              <a:t>Walk-forward-Validierung</a:t>
            </a:r>
          </a:p>
        </p:txBody>
      </p:sp>
      <p:sp>
        <p:nvSpPr>
          <p:cNvPr id="41" name="Shape 31">
            <a:extLst>
              <a:ext uri="{FF2B5EF4-FFF2-40B4-BE49-F238E27FC236}">
                <a16:creationId xmlns:a16="http://schemas.microsoft.com/office/drawing/2014/main" id="{8A446A87-96CC-45CE-91F7-791F8AA7FB51}"/>
              </a:ext>
            </a:extLst>
          </p:cNvPr>
          <p:cNvSpPr>
            <a:spLocks noGrp="1"/>
          </p:cNvSpPr>
          <p:nvPr/>
        </p:nvSpPr>
        <p:spPr>
          <a:xfrm>
            <a:off x="8997696" y="3840480"/>
            <a:ext cx="2651760" cy="2057400"/>
          </a:xfrm>
          <a:prstGeom prst="roundRect">
            <a:avLst>
              <a:gd name="adj" fmla="val 2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42" name="Shape 32">
            <a:extLst>
              <a:ext uri="{FF2B5EF4-FFF2-40B4-BE49-F238E27FC236}">
                <a16:creationId xmlns:a16="http://schemas.microsoft.com/office/drawing/2014/main" id="{D348BE40-D948-409E-AC11-F4659E3959A4}"/>
              </a:ext>
            </a:extLst>
          </p:cNvPr>
          <p:cNvSpPr>
            <a:spLocks noGrp="1"/>
          </p:cNvSpPr>
          <p:nvPr/>
        </p:nvSpPr>
        <p:spPr>
          <a:xfrm>
            <a:off x="9226296" y="4069080"/>
            <a:ext cx="548640" cy="548640"/>
          </a:xfrm>
          <a:prstGeom prst="ellipse">
            <a:avLst/>
          </a:prstGeom>
          <a:solidFill>
            <a:srgbClr val="E4EBE7"/>
          </a:solidFill>
        </p:spPr>
        <p:txBody>
          <a:bodyPr/>
          <a:lstStyle/>
          <a:p>
            <a:endParaRPr/>
          </a:p>
        </p:txBody>
      </p:sp>
      <p:pic>
        <p:nvPicPr>
          <p:cNvPr id="98" name="Image 8"/>
          <p:cNvPicPr>
            <a:picLocks noChangeAspect="1"/>
          </p:cNvPicPr>
          <p:nvPr/>
        </p:nvPicPr>
        <p:blipFill>
          <a:blip r:embed="rId11"/>
          <a:stretch>
            <a:fillRect/>
          </a:stretch>
        </p:blipFill>
        <p:spPr>
          <a:xfrm>
            <a:off x="9286646" y="4129430"/>
            <a:ext cx="427939" cy="427939"/>
          </a:xfrm>
          <a:prstGeom prst="rect">
            <a:avLst/>
          </a:prstGeom>
        </p:spPr>
      </p:pic>
      <p:sp>
        <p:nvSpPr>
          <p:cNvPr id="44" name="Text 33">
            <a:extLst>
              <a:ext uri="{FF2B5EF4-FFF2-40B4-BE49-F238E27FC236}">
                <a16:creationId xmlns:a16="http://schemas.microsoft.com/office/drawing/2014/main" id="{98FC4B71-9C6D-4EBA-ADCA-574660E147D4}"/>
              </a:ext>
            </a:extLst>
          </p:cNvPr>
          <p:cNvSpPr>
            <a:spLocks noGrp="1"/>
          </p:cNvSpPr>
          <p:nvPr/>
        </p:nvSpPr>
        <p:spPr>
          <a:xfrm>
            <a:off x="9226296" y="4709160"/>
            <a:ext cx="2194560" cy="4114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Dokumentation</a:t>
            </a:r>
          </a:p>
        </p:txBody>
      </p:sp>
      <p:sp>
        <p:nvSpPr>
          <p:cNvPr id="45" name="Text 34">
            <a:extLst>
              <a:ext uri="{FF2B5EF4-FFF2-40B4-BE49-F238E27FC236}">
                <a16:creationId xmlns:a16="http://schemas.microsoft.com/office/drawing/2014/main" id="{EFE29EA3-1AF2-4239-A88B-EB425B5D7681}"/>
              </a:ext>
            </a:extLst>
          </p:cNvPr>
          <p:cNvSpPr>
            <a:spLocks noGrp="1"/>
          </p:cNvSpPr>
          <p:nvPr/>
        </p:nvSpPr>
        <p:spPr>
          <a:xfrm>
            <a:off x="9226296" y="5120640"/>
            <a:ext cx="2194560" cy="6858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8 Jupyter-Notebooks</a:t>
            </a:r>
          </a:p>
          <a:p>
            <a:pPr marL="0" indent="0">
              <a:buNone/>
            </a:pPr>
            <a:r>
              <a:rPr sz="1150">
                <a:solidFill>
                  <a:srgbClr val="5B6259"/>
                </a:solidFill>
                <a:latin typeface="Calibri"/>
                <a:ea typeface="Calibri"/>
                <a:cs typeface="Calibri"/>
              </a:rPr>
              <a:t>QUA³CK · Lernstudio</a:t>
            </a:r>
          </a:p>
        </p:txBody>
      </p:sp>
      <p:sp>
        <p:nvSpPr>
          <p:cNvPr id="46" name="Text 35">
            <a:extLst>
              <a:ext uri="{FF2B5EF4-FFF2-40B4-BE49-F238E27FC236}">
                <a16:creationId xmlns:a16="http://schemas.microsoft.com/office/drawing/2014/main" id="{4E283E74-8912-4452-903A-1E3745417330}"/>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47" name="Text 36">
            <a:extLst>
              <a:ext uri="{FF2B5EF4-FFF2-40B4-BE49-F238E27FC236}">
                <a16:creationId xmlns:a16="http://schemas.microsoft.com/office/drawing/2014/main" id="{AF7248C1-007E-4DC0-8F6D-F25AE82621DC}"/>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7</a:t>
            </a:r>
          </a:p>
        </p:txBody>
      </p:sp>
    </p:spTree>
    <p:extLst>
      <p:ext uri="{BB962C8B-B14F-4D97-AF65-F5344CB8AC3E}">
        <p14:creationId xmlns:p14="http://schemas.microsoft.com/office/powerpoint/2010/main" val="2786537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6FCFA3C-EF6E-47C7-8027-DBE24642E645}"/>
              </a:ext>
            </a:extLst>
          </p:cNvPr>
          <p:cNvSpPr>
            <a:spLocks noGrp="1"/>
          </p:cNvSpPr>
          <p:nvPr/>
        </p:nvSpPr>
        <p:spPr>
          <a:xfrm>
            <a:off x="548640" y="475488"/>
            <a:ext cx="566928" cy="566928"/>
          </a:xfrm>
          <a:prstGeom prst="ellipse">
            <a:avLst/>
          </a:prstGeom>
          <a:solidFill>
            <a:srgbClr val="23302A"/>
          </a:solidFill>
        </p:spPr>
        <p:txBody>
          <a:bodyPr/>
          <a:lstStyle/>
          <a:p>
            <a:endParaRPr/>
          </a:p>
        </p:txBody>
      </p:sp>
      <p:pic>
        <p:nvPicPr>
          <p:cNvPr id="47"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5BFFDCDB-748A-4AF1-AEA1-31373349934D}"/>
              </a:ext>
            </a:extLst>
          </p:cNvPr>
          <p:cNvSpPr>
            <a:spLocks noGrp="1"/>
          </p:cNvSpPr>
          <p:nvPr/>
        </p:nvSpPr>
        <p:spPr>
          <a:xfrm>
            <a:off x="1234440" y="512064"/>
            <a:ext cx="9144000" cy="548640"/>
          </a:xfrm>
          <a:prstGeom prst="rect">
            <a:avLst/>
          </a:prstGeom>
          <a:noFill/>
        </p:spPr>
        <p:txBody>
          <a:bodyPr wrap="square" lIns="0" tIns="0" rIns="0" bIns="0" anchor="ctr"/>
          <a:lstStyle/>
          <a:p>
            <a:pPr marL="0" indent="0">
              <a:buNone/>
            </a:pPr>
            <a:r>
              <a:rPr sz="2800" b="1">
                <a:solidFill>
                  <a:srgbClr val="F4F5F0"/>
                </a:solidFill>
                <a:latin typeface="Cambria"/>
                <a:ea typeface="Cambria"/>
                <a:cs typeface="Cambria"/>
              </a:rPr>
              <a:t>QUA³CK — der wissenschaftliche Fahrplan</a:t>
            </a:r>
          </a:p>
        </p:txBody>
      </p:sp>
      <p:sp>
        <p:nvSpPr>
          <p:cNvPr id="5" name="Shape 2">
            <a:extLst>
              <a:ext uri="{FF2B5EF4-FFF2-40B4-BE49-F238E27FC236}">
                <a16:creationId xmlns:a16="http://schemas.microsoft.com/office/drawing/2014/main" id="{E4F34D0F-69FB-4410-80DD-EF6566F1ABDA}"/>
              </a:ext>
            </a:extLst>
          </p:cNvPr>
          <p:cNvSpPr>
            <a:spLocks noGrp="1"/>
          </p:cNvSpPr>
          <p:nvPr/>
        </p:nvSpPr>
        <p:spPr>
          <a:xfrm>
            <a:off x="10643616" y="457200"/>
            <a:ext cx="1088136" cy="329184"/>
          </a:xfrm>
          <a:prstGeom prst="roundRect">
            <a:avLst>
              <a:gd name="adj" fmla="val 22222"/>
            </a:avLst>
          </a:prstGeom>
          <a:solidFill>
            <a:srgbClr val="E4EBE7"/>
          </a:solidFill>
        </p:spPr>
        <p:txBody>
          <a:bodyPr/>
          <a:lstStyle/>
          <a:p>
            <a:endParaRPr/>
          </a:p>
        </p:txBody>
      </p:sp>
      <p:sp>
        <p:nvSpPr>
          <p:cNvPr id="6" name="Text 3">
            <a:extLst>
              <a:ext uri="{FF2B5EF4-FFF2-40B4-BE49-F238E27FC236}">
                <a16:creationId xmlns:a16="http://schemas.microsoft.com/office/drawing/2014/main" id="{50B2336A-E5FD-45B8-804D-9824633DDBEC}"/>
              </a:ext>
            </a:extLst>
          </p:cNvPr>
          <p:cNvSpPr>
            <a:spLocks noGrp="1"/>
          </p:cNvSpPr>
          <p:nvPr/>
        </p:nvSpPr>
        <p:spPr>
          <a:xfrm>
            <a:off x="10643616" y="457200"/>
            <a:ext cx="1088136"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1 Min</a:t>
            </a:r>
          </a:p>
        </p:txBody>
      </p:sp>
      <p:sp>
        <p:nvSpPr>
          <p:cNvPr id="7" name="Text 4">
            <a:extLst>
              <a:ext uri="{FF2B5EF4-FFF2-40B4-BE49-F238E27FC236}">
                <a16:creationId xmlns:a16="http://schemas.microsoft.com/office/drawing/2014/main" id="{DB1284B3-4220-4E29-9F70-55D4FD8B5F73}"/>
              </a:ext>
            </a:extLst>
          </p:cNvPr>
          <p:cNvSpPr>
            <a:spLocks noGrp="1"/>
          </p:cNvSpPr>
          <p:nvPr/>
        </p:nvSpPr>
        <p:spPr>
          <a:xfrm>
            <a:off x="640080" y="1371600"/>
            <a:ext cx="10881360" cy="548640"/>
          </a:xfrm>
          <a:prstGeom prst="rect">
            <a:avLst/>
          </a:prstGeom>
          <a:noFill/>
        </p:spPr>
        <p:txBody>
          <a:bodyPr wrap="square" lIns="0" tIns="0" rIns="0" bIns="0" anchor="ctr"/>
          <a:lstStyle/>
          <a:p>
            <a:pPr marL="0" indent="0">
              <a:buNone/>
            </a:pPr>
            <a:r>
              <a:rPr sz="1400">
                <a:solidFill>
                  <a:srgbClr val="9FC2B4"/>
                </a:solidFill>
                <a:latin typeface="Calibri"/>
                <a:ea typeface="Calibri"/>
                <a:cs typeface="Calibri"/>
              </a:rPr>
              <a:t>Stock et al. (2021), KIT ITIV — ein praxisnaher Leitfaden, der verhindert, dass man modelliert, bevor man die Daten wirklich verstanden hat.</a:t>
            </a:r>
          </a:p>
        </p:txBody>
      </p:sp>
      <p:sp>
        <p:nvSpPr>
          <p:cNvPr id="8" name="Shape 5">
            <a:extLst>
              <a:ext uri="{FF2B5EF4-FFF2-40B4-BE49-F238E27FC236}">
                <a16:creationId xmlns:a16="http://schemas.microsoft.com/office/drawing/2014/main" id="{2F6FF966-8A2B-4B40-95AB-237D241394A7}"/>
              </a:ext>
            </a:extLst>
          </p:cNvPr>
          <p:cNvSpPr>
            <a:spLocks noGrp="1"/>
          </p:cNvSpPr>
          <p:nvPr/>
        </p:nvSpPr>
        <p:spPr>
          <a:xfrm>
            <a:off x="548640"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9" name="Text 6">
            <a:extLst>
              <a:ext uri="{FF2B5EF4-FFF2-40B4-BE49-F238E27FC236}">
                <a16:creationId xmlns:a16="http://schemas.microsoft.com/office/drawing/2014/main" id="{93F67B3D-BC44-4C4E-B68A-7F73A28684FC}"/>
              </a:ext>
            </a:extLst>
          </p:cNvPr>
          <p:cNvSpPr>
            <a:spLocks noGrp="1"/>
          </p:cNvSpPr>
          <p:nvPr/>
        </p:nvSpPr>
        <p:spPr>
          <a:xfrm>
            <a:off x="548640"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Q</a:t>
            </a:r>
          </a:p>
        </p:txBody>
      </p:sp>
      <p:sp>
        <p:nvSpPr>
          <p:cNvPr id="10" name="Text 7">
            <a:extLst>
              <a:ext uri="{FF2B5EF4-FFF2-40B4-BE49-F238E27FC236}">
                <a16:creationId xmlns:a16="http://schemas.microsoft.com/office/drawing/2014/main" id="{D45702A9-8840-442F-A163-D668714C3687}"/>
              </a:ext>
            </a:extLst>
          </p:cNvPr>
          <p:cNvSpPr>
            <a:spLocks noGrp="1"/>
          </p:cNvSpPr>
          <p:nvPr/>
        </p:nvSpPr>
        <p:spPr>
          <a:xfrm>
            <a:off x="621792"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Question</a:t>
            </a:r>
          </a:p>
        </p:txBody>
      </p:sp>
      <p:sp>
        <p:nvSpPr>
          <p:cNvPr id="11" name="Text 8">
            <a:extLst>
              <a:ext uri="{FF2B5EF4-FFF2-40B4-BE49-F238E27FC236}">
                <a16:creationId xmlns:a16="http://schemas.microsoft.com/office/drawing/2014/main" id="{D0CDCA4C-FAA7-4975-8577-C3CDA6C5224C}"/>
              </a:ext>
            </a:extLst>
          </p:cNvPr>
          <p:cNvSpPr>
            <a:spLocks noGrp="1"/>
          </p:cNvSpPr>
          <p:nvPr/>
        </p:nvSpPr>
        <p:spPr>
          <a:xfrm>
            <a:off x="621792"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Leitfrage &amp;</a:t>
            </a:r>
          </a:p>
          <a:p>
            <a:pPr marL="0" indent="0" algn="ctr">
              <a:buNone/>
            </a:pPr>
            <a:r>
              <a:rPr sz="1050">
                <a:solidFill>
                  <a:srgbClr val="9FC2B4"/>
                </a:solidFill>
                <a:latin typeface="Calibri"/>
                <a:ea typeface="Calibri"/>
                <a:cs typeface="Calibri"/>
              </a:rPr>
              <a:t>Hypothesen</a:t>
            </a:r>
          </a:p>
        </p:txBody>
      </p:sp>
      <p:sp>
        <p:nvSpPr>
          <p:cNvPr id="12" name="Text 9">
            <a:extLst>
              <a:ext uri="{FF2B5EF4-FFF2-40B4-BE49-F238E27FC236}">
                <a16:creationId xmlns:a16="http://schemas.microsoft.com/office/drawing/2014/main" id="{99B38CCA-77F7-4E7F-B9D0-591046F5A20B}"/>
              </a:ext>
            </a:extLst>
          </p:cNvPr>
          <p:cNvSpPr>
            <a:spLocks noGrp="1"/>
          </p:cNvSpPr>
          <p:nvPr/>
        </p:nvSpPr>
        <p:spPr>
          <a:xfrm>
            <a:off x="1942447"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13" name="Shape 10">
            <a:extLst>
              <a:ext uri="{FF2B5EF4-FFF2-40B4-BE49-F238E27FC236}">
                <a16:creationId xmlns:a16="http://schemas.microsoft.com/office/drawing/2014/main" id="{0A9443F5-FAEA-4A9F-8568-72723278434D}"/>
              </a:ext>
            </a:extLst>
          </p:cNvPr>
          <p:cNvSpPr>
            <a:spLocks noGrp="1"/>
          </p:cNvSpPr>
          <p:nvPr/>
        </p:nvSpPr>
        <p:spPr>
          <a:xfrm>
            <a:off x="2161903"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14" name="Text 11">
            <a:extLst>
              <a:ext uri="{FF2B5EF4-FFF2-40B4-BE49-F238E27FC236}">
                <a16:creationId xmlns:a16="http://schemas.microsoft.com/office/drawing/2014/main" id="{0372EC24-F66C-4653-A6A9-D2F95C817426}"/>
              </a:ext>
            </a:extLst>
          </p:cNvPr>
          <p:cNvSpPr>
            <a:spLocks noGrp="1"/>
          </p:cNvSpPr>
          <p:nvPr/>
        </p:nvSpPr>
        <p:spPr>
          <a:xfrm>
            <a:off x="2161903"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U</a:t>
            </a:r>
          </a:p>
        </p:txBody>
      </p:sp>
      <p:sp>
        <p:nvSpPr>
          <p:cNvPr id="15" name="Text 12">
            <a:extLst>
              <a:ext uri="{FF2B5EF4-FFF2-40B4-BE49-F238E27FC236}">
                <a16:creationId xmlns:a16="http://schemas.microsoft.com/office/drawing/2014/main" id="{4A327CFC-C912-4BAC-BE9D-A73D6941BF0E}"/>
              </a:ext>
            </a:extLst>
          </p:cNvPr>
          <p:cNvSpPr>
            <a:spLocks noGrp="1"/>
          </p:cNvSpPr>
          <p:nvPr/>
        </p:nvSpPr>
        <p:spPr>
          <a:xfrm>
            <a:off x="2235055"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Understanding</a:t>
            </a:r>
          </a:p>
        </p:txBody>
      </p:sp>
      <p:sp>
        <p:nvSpPr>
          <p:cNvPr id="16" name="Text 13">
            <a:extLst>
              <a:ext uri="{FF2B5EF4-FFF2-40B4-BE49-F238E27FC236}">
                <a16:creationId xmlns:a16="http://schemas.microsoft.com/office/drawing/2014/main" id="{C125E67F-FAFD-4449-9D8D-2A0A0B706847}"/>
              </a:ext>
            </a:extLst>
          </p:cNvPr>
          <p:cNvSpPr>
            <a:spLocks noGrp="1"/>
          </p:cNvSpPr>
          <p:nvPr/>
        </p:nvSpPr>
        <p:spPr>
          <a:xfrm>
            <a:off x="2235055"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Daten, EDA,</a:t>
            </a:r>
          </a:p>
          <a:p>
            <a:pPr marL="0" indent="0" algn="ctr">
              <a:buNone/>
            </a:pPr>
            <a:r>
              <a:rPr sz="1050">
                <a:solidFill>
                  <a:srgbClr val="9FC2B4"/>
                </a:solidFill>
                <a:latin typeface="Calibri"/>
                <a:ea typeface="Calibri"/>
                <a:cs typeface="Calibri"/>
              </a:rPr>
              <a:t>Qualität</a:t>
            </a:r>
          </a:p>
        </p:txBody>
      </p:sp>
      <p:sp>
        <p:nvSpPr>
          <p:cNvPr id="17" name="Text 14">
            <a:extLst>
              <a:ext uri="{FF2B5EF4-FFF2-40B4-BE49-F238E27FC236}">
                <a16:creationId xmlns:a16="http://schemas.microsoft.com/office/drawing/2014/main" id="{59272539-089C-431D-811B-9463600F3C40}"/>
              </a:ext>
            </a:extLst>
          </p:cNvPr>
          <p:cNvSpPr>
            <a:spLocks noGrp="1"/>
          </p:cNvSpPr>
          <p:nvPr/>
        </p:nvSpPr>
        <p:spPr>
          <a:xfrm>
            <a:off x="3555710"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18" name="Shape 15">
            <a:extLst>
              <a:ext uri="{FF2B5EF4-FFF2-40B4-BE49-F238E27FC236}">
                <a16:creationId xmlns:a16="http://schemas.microsoft.com/office/drawing/2014/main" id="{52371BCE-19AC-413F-9899-64F4DCF69D21}"/>
              </a:ext>
            </a:extLst>
          </p:cNvPr>
          <p:cNvSpPr>
            <a:spLocks noGrp="1"/>
          </p:cNvSpPr>
          <p:nvPr/>
        </p:nvSpPr>
        <p:spPr>
          <a:xfrm>
            <a:off x="3775166"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19" name="Text 16">
            <a:extLst>
              <a:ext uri="{FF2B5EF4-FFF2-40B4-BE49-F238E27FC236}">
                <a16:creationId xmlns:a16="http://schemas.microsoft.com/office/drawing/2014/main" id="{A63983B9-854C-4B2D-83B6-F25B931EED13}"/>
              </a:ext>
            </a:extLst>
          </p:cNvPr>
          <p:cNvSpPr>
            <a:spLocks noGrp="1"/>
          </p:cNvSpPr>
          <p:nvPr/>
        </p:nvSpPr>
        <p:spPr>
          <a:xfrm>
            <a:off x="3775166"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A</a:t>
            </a:r>
          </a:p>
        </p:txBody>
      </p:sp>
      <p:sp>
        <p:nvSpPr>
          <p:cNvPr id="20" name="Text 17">
            <a:extLst>
              <a:ext uri="{FF2B5EF4-FFF2-40B4-BE49-F238E27FC236}">
                <a16:creationId xmlns:a16="http://schemas.microsoft.com/office/drawing/2014/main" id="{C5BB03A8-920A-40C2-B10D-9F57381DF9CE}"/>
              </a:ext>
            </a:extLst>
          </p:cNvPr>
          <p:cNvSpPr>
            <a:spLocks noGrp="1"/>
          </p:cNvSpPr>
          <p:nvPr/>
        </p:nvSpPr>
        <p:spPr>
          <a:xfrm>
            <a:off x="3848318"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Analytics</a:t>
            </a:r>
          </a:p>
        </p:txBody>
      </p:sp>
      <p:sp>
        <p:nvSpPr>
          <p:cNvPr id="21" name="Text 18">
            <a:extLst>
              <a:ext uri="{FF2B5EF4-FFF2-40B4-BE49-F238E27FC236}">
                <a16:creationId xmlns:a16="http://schemas.microsoft.com/office/drawing/2014/main" id="{3C9D5E15-7933-4746-94A6-50C55EA26BFE}"/>
              </a:ext>
            </a:extLst>
          </p:cNvPr>
          <p:cNvSpPr>
            <a:spLocks noGrp="1"/>
          </p:cNvSpPr>
          <p:nvPr/>
        </p:nvSpPr>
        <p:spPr>
          <a:xfrm>
            <a:off x="3848318"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Feature</a:t>
            </a:r>
          </a:p>
          <a:p>
            <a:pPr marL="0" indent="0" algn="ctr">
              <a:buNone/>
            </a:pPr>
            <a:r>
              <a:rPr sz="1050">
                <a:solidFill>
                  <a:srgbClr val="9FC2B4"/>
                </a:solidFill>
                <a:latin typeface="Calibri"/>
                <a:ea typeface="Calibri"/>
                <a:cs typeface="Calibri"/>
              </a:rPr>
              <a:t>Engineering</a:t>
            </a:r>
          </a:p>
        </p:txBody>
      </p:sp>
      <p:sp>
        <p:nvSpPr>
          <p:cNvPr id="22" name="Text 19">
            <a:extLst>
              <a:ext uri="{FF2B5EF4-FFF2-40B4-BE49-F238E27FC236}">
                <a16:creationId xmlns:a16="http://schemas.microsoft.com/office/drawing/2014/main" id="{7E58B725-C54F-4639-9DD1-ADA0FDC212EC}"/>
              </a:ext>
            </a:extLst>
          </p:cNvPr>
          <p:cNvSpPr>
            <a:spLocks noGrp="1"/>
          </p:cNvSpPr>
          <p:nvPr/>
        </p:nvSpPr>
        <p:spPr>
          <a:xfrm>
            <a:off x="5168973"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23" name="Shape 20">
            <a:extLst>
              <a:ext uri="{FF2B5EF4-FFF2-40B4-BE49-F238E27FC236}">
                <a16:creationId xmlns:a16="http://schemas.microsoft.com/office/drawing/2014/main" id="{824AE84E-CA7D-4441-BF47-64693BAD9C21}"/>
              </a:ext>
            </a:extLst>
          </p:cNvPr>
          <p:cNvSpPr>
            <a:spLocks noGrp="1"/>
          </p:cNvSpPr>
          <p:nvPr/>
        </p:nvSpPr>
        <p:spPr>
          <a:xfrm>
            <a:off x="5388429"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24" name="Text 21">
            <a:extLst>
              <a:ext uri="{FF2B5EF4-FFF2-40B4-BE49-F238E27FC236}">
                <a16:creationId xmlns:a16="http://schemas.microsoft.com/office/drawing/2014/main" id="{24960076-05B0-4282-A04D-6C136F34CA5D}"/>
              </a:ext>
            </a:extLst>
          </p:cNvPr>
          <p:cNvSpPr>
            <a:spLocks noGrp="1"/>
          </p:cNvSpPr>
          <p:nvPr/>
        </p:nvSpPr>
        <p:spPr>
          <a:xfrm>
            <a:off x="5388429"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A</a:t>
            </a:r>
          </a:p>
        </p:txBody>
      </p:sp>
      <p:sp>
        <p:nvSpPr>
          <p:cNvPr id="25" name="Text 22">
            <a:extLst>
              <a:ext uri="{FF2B5EF4-FFF2-40B4-BE49-F238E27FC236}">
                <a16:creationId xmlns:a16="http://schemas.microsoft.com/office/drawing/2014/main" id="{B630506B-4302-488D-BCBF-CF7C746AFC94}"/>
              </a:ext>
            </a:extLst>
          </p:cNvPr>
          <p:cNvSpPr>
            <a:spLocks noGrp="1"/>
          </p:cNvSpPr>
          <p:nvPr/>
        </p:nvSpPr>
        <p:spPr>
          <a:xfrm>
            <a:off x="5461581"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Algorithm</a:t>
            </a:r>
          </a:p>
        </p:txBody>
      </p:sp>
      <p:sp>
        <p:nvSpPr>
          <p:cNvPr id="26" name="Text 23">
            <a:extLst>
              <a:ext uri="{FF2B5EF4-FFF2-40B4-BE49-F238E27FC236}">
                <a16:creationId xmlns:a16="http://schemas.microsoft.com/office/drawing/2014/main" id="{A6ED9EBF-7AED-4445-ADF0-09FEC3101C39}"/>
              </a:ext>
            </a:extLst>
          </p:cNvPr>
          <p:cNvSpPr>
            <a:spLocks noGrp="1"/>
          </p:cNvSpPr>
          <p:nvPr/>
        </p:nvSpPr>
        <p:spPr>
          <a:xfrm>
            <a:off x="5461581"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Modell-</a:t>
            </a:r>
          </a:p>
          <a:p>
            <a:pPr marL="0" indent="0" algn="ctr">
              <a:buNone/>
            </a:pPr>
            <a:r>
              <a:rPr sz="1050">
                <a:solidFill>
                  <a:srgbClr val="9FC2B4"/>
                </a:solidFill>
                <a:latin typeface="Calibri"/>
                <a:ea typeface="Calibri"/>
                <a:cs typeface="Calibri"/>
              </a:rPr>
              <a:t>auswahl</a:t>
            </a:r>
          </a:p>
        </p:txBody>
      </p:sp>
      <p:sp>
        <p:nvSpPr>
          <p:cNvPr id="27" name="Text 24">
            <a:extLst>
              <a:ext uri="{FF2B5EF4-FFF2-40B4-BE49-F238E27FC236}">
                <a16:creationId xmlns:a16="http://schemas.microsoft.com/office/drawing/2014/main" id="{2125A84D-9742-4D1A-ABB5-136A29C8BBA6}"/>
              </a:ext>
            </a:extLst>
          </p:cNvPr>
          <p:cNvSpPr>
            <a:spLocks noGrp="1"/>
          </p:cNvSpPr>
          <p:nvPr/>
        </p:nvSpPr>
        <p:spPr>
          <a:xfrm>
            <a:off x="6782235"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28" name="Shape 25">
            <a:extLst>
              <a:ext uri="{FF2B5EF4-FFF2-40B4-BE49-F238E27FC236}">
                <a16:creationId xmlns:a16="http://schemas.microsoft.com/office/drawing/2014/main" id="{50B009A8-94BC-4FC1-948E-D149C764056C}"/>
              </a:ext>
            </a:extLst>
          </p:cNvPr>
          <p:cNvSpPr>
            <a:spLocks noGrp="1"/>
          </p:cNvSpPr>
          <p:nvPr/>
        </p:nvSpPr>
        <p:spPr>
          <a:xfrm>
            <a:off x="7001691"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29" name="Text 26">
            <a:extLst>
              <a:ext uri="{FF2B5EF4-FFF2-40B4-BE49-F238E27FC236}">
                <a16:creationId xmlns:a16="http://schemas.microsoft.com/office/drawing/2014/main" id="{A24A6D40-69D8-40FC-A624-855905C87181}"/>
              </a:ext>
            </a:extLst>
          </p:cNvPr>
          <p:cNvSpPr>
            <a:spLocks noGrp="1"/>
          </p:cNvSpPr>
          <p:nvPr/>
        </p:nvSpPr>
        <p:spPr>
          <a:xfrm>
            <a:off x="7001691"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A</a:t>
            </a:r>
          </a:p>
        </p:txBody>
      </p:sp>
      <p:sp>
        <p:nvSpPr>
          <p:cNvPr id="30" name="Text 27">
            <a:extLst>
              <a:ext uri="{FF2B5EF4-FFF2-40B4-BE49-F238E27FC236}">
                <a16:creationId xmlns:a16="http://schemas.microsoft.com/office/drawing/2014/main" id="{D8F57F00-9D90-4ABD-8809-C19EA951B3B3}"/>
              </a:ext>
            </a:extLst>
          </p:cNvPr>
          <p:cNvSpPr>
            <a:spLocks noGrp="1"/>
          </p:cNvSpPr>
          <p:nvPr/>
        </p:nvSpPr>
        <p:spPr>
          <a:xfrm>
            <a:off x="7074843"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Adaption</a:t>
            </a:r>
          </a:p>
        </p:txBody>
      </p:sp>
      <p:sp>
        <p:nvSpPr>
          <p:cNvPr id="31" name="Text 28">
            <a:extLst>
              <a:ext uri="{FF2B5EF4-FFF2-40B4-BE49-F238E27FC236}">
                <a16:creationId xmlns:a16="http://schemas.microsoft.com/office/drawing/2014/main" id="{A5B27DDC-B64A-4C67-AB72-BF0AD2C77A8C}"/>
              </a:ext>
            </a:extLst>
          </p:cNvPr>
          <p:cNvSpPr>
            <a:spLocks noGrp="1"/>
          </p:cNvSpPr>
          <p:nvPr/>
        </p:nvSpPr>
        <p:spPr>
          <a:xfrm>
            <a:off x="7074843"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Optimierung &amp;</a:t>
            </a:r>
          </a:p>
          <a:p>
            <a:pPr marL="0" indent="0" algn="ctr">
              <a:buNone/>
            </a:pPr>
            <a:r>
              <a:rPr sz="1050">
                <a:solidFill>
                  <a:srgbClr val="9FC2B4"/>
                </a:solidFill>
                <a:latin typeface="Calibri"/>
                <a:ea typeface="Calibri"/>
                <a:cs typeface="Calibri"/>
              </a:rPr>
              <a:t>Ergebnisse</a:t>
            </a:r>
          </a:p>
        </p:txBody>
      </p:sp>
      <p:sp>
        <p:nvSpPr>
          <p:cNvPr id="32" name="Text 29">
            <a:extLst>
              <a:ext uri="{FF2B5EF4-FFF2-40B4-BE49-F238E27FC236}">
                <a16:creationId xmlns:a16="http://schemas.microsoft.com/office/drawing/2014/main" id="{9F68D08C-FAAE-4B41-BC71-F42A5CFBFB44}"/>
              </a:ext>
            </a:extLst>
          </p:cNvPr>
          <p:cNvSpPr>
            <a:spLocks noGrp="1"/>
          </p:cNvSpPr>
          <p:nvPr/>
        </p:nvSpPr>
        <p:spPr>
          <a:xfrm>
            <a:off x="8395498"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33" name="Shape 30">
            <a:extLst>
              <a:ext uri="{FF2B5EF4-FFF2-40B4-BE49-F238E27FC236}">
                <a16:creationId xmlns:a16="http://schemas.microsoft.com/office/drawing/2014/main" id="{962DF908-8291-4A16-BC84-EA5DD42C21B8}"/>
              </a:ext>
            </a:extLst>
          </p:cNvPr>
          <p:cNvSpPr>
            <a:spLocks noGrp="1"/>
          </p:cNvSpPr>
          <p:nvPr/>
        </p:nvSpPr>
        <p:spPr>
          <a:xfrm>
            <a:off x="8614954"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34" name="Text 31">
            <a:extLst>
              <a:ext uri="{FF2B5EF4-FFF2-40B4-BE49-F238E27FC236}">
                <a16:creationId xmlns:a16="http://schemas.microsoft.com/office/drawing/2014/main" id="{8847BBC7-D3D8-4D0F-860F-06FAF88CA44D}"/>
              </a:ext>
            </a:extLst>
          </p:cNvPr>
          <p:cNvSpPr>
            <a:spLocks noGrp="1"/>
          </p:cNvSpPr>
          <p:nvPr/>
        </p:nvSpPr>
        <p:spPr>
          <a:xfrm>
            <a:off x="8614954"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C</a:t>
            </a:r>
          </a:p>
        </p:txBody>
      </p:sp>
      <p:sp>
        <p:nvSpPr>
          <p:cNvPr id="35" name="Text 32">
            <a:extLst>
              <a:ext uri="{FF2B5EF4-FFF2-40B4-BE49-F238E27FC236}">
                <a16:creationId xmlns:a16="http://schemas.microsoft.com/office/drawing/2014/main" id="{29E1C7E7-A45B-4AF9-A98A-D968CEB570C0}"/>
              </a:ext>
            </a:extLst>
          </p:cNvPr>
          <p:cNvSpPr>
            <a:spLocks noGrp="1"/>
          </p:cNvSpPr>
          <p:nvPr/>
        </p:nvSpPr>
        <p:spPr>
          <a:xfrm>
            <a:off x="8688106"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Conclude</a:t>
            </a:r>
          </a:p>
        </p:txBody>
      </p:sp>
      <p:sp>
        <p:nvSpPr>
          <p:cNvPr id="36" name="Text 33">
            <a:extLst>
              <a:ext uri="{FF2B5EF4-FFF2-40B4-BE49-F238E27FC236}">
                <a16:creationId xmlns:a16="http://schemas.microsoft.com/office/drawing/2014/main" id="{9290B356-E5BF-496A-B91C-FB0B43637812}"/>
              </a:ext>
            </a:extLst>
          </p:cNvPr>
          <p:cNvSpPr>
            <a:spLocks noGrp="1"/>
          </p:cNvSpPr>
          <p:nvPr/>
        </p:nvSpPr>
        <p:spPr>
          <a:xfrm>
            <a:off x="8688106"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Fazit &amp;</a:t>
            </a:r>
          </a:p>
          <a:p>
            <a:pPr marL="0" indent="0" algn="ctr">
              <a:buNone/>
            </a:pPr>
            <a:r>
              <a:rPr sz="1050">
                <a:solidFill>
                  <a:srgbClr val="9FC2B4"/>
                </a:solidFill>
                <a:latin typeface="Calibri"/>
                <a:ea typeface="Calibri"/>
                <a:cs typeface="Calibri"/>
              </a:rPr>
              <a:t>Grenzen</a:t>
            </a:r>
          </a:p>
        </p:txBody>
      </p:sp>
      <p:sp>
        <p:nvSpPr>
          <p:cNvPr id="37" name="Text 34">
            <a:extLst>
              <a:ext uri="{FF2B5EF4-FFF2-40B4-BE49-F238E27FC236}">
                <a16:creationId xmlns:a16="http://schemas.microsoft.com/office/drawing/2014/main" id="{F89B7E3B-65C9-4BAB-93EA-91B4ADDD09B6}"/>
              </a:ext>
            </a:extLst>
          </p:cNvPr>
          <p:cNvSpPr>
            <a:spLocks noGrp="1"/>
          </p:cNvSpPr>
          <p:nvPr/>
        </p:nvSpPr>
        <p:spPr>
          <a:xfrm>
            <a:off x="10008761" y="3246120"/>
            <a:ext cx="475488" cy="914400"/>
          </a:xfrm>
          <a:prstGeom prst="rect">
            <a:avLst/>
          </a:prstGeom>
          <a:noFill/>
        </p:spPr>
        <p:txBody>
          <a:bodyPr wrap="square" lIns="0" tIns="0" rIns="0" bIns="0" anchor="ctr"/>
          <a:lstStyle/>
          <a:p>
            <a:pPr marL="0" indent="0" algn="ctr">
              <a:buNone/>
            </a:pPr>
            <a:r>
              <a:rPr sz="2000">
                <a:solidFill>
                  <a:srgbClr val="44523F"/>
                </a:solidFill>
                <a:latin typeface="Calibri"/>
                <a:ea typeface="Calibri"/>
                <a:cs typeface="Calibri"/>
              </a:rPr>
              <a:t>›</a:t>
            </a:r>
          </a:p>
        </p:txBody>
      </p:sp>
      <p:sp>
        <p:nvSpPr>
          <p:cNvPr id="38" name="Shape 35">
            <a:extLst>
              <a:ext uri="{FF2B5EF4-FFF2-40B4-BE49-F238E27FC236}">
                <a16:creationId xmlns:a16="http://schemas.microsoft.com/office/drawing/2014/main" id="{4DFFB7E5-44C6-4A43-B282-A8B62742DEDB}"/>
              </a:ext>
            </a:extLst>
          </p:cNvPr>
          <p:cNvSpPr>
            <a:spLocks noGrp="1"/>
          </p:cNvSpPr>
          <p:nvPr/>
        </p:nvSpPr>
        <p:spPr>
          <a:xfrm>
            <a:off x="10228217" y="2331720"/>
            <a:ext cx="1412095" cy="3200400"/>
          </a:xfrm>
          <a:prstGeom prst="roundRect">
            <a:avLst>
              <a:gd name="adj" fmla="val 4533"/>
            </a:avLst>
          </a:prstGeom>
          <a:solidFill>
            <a:srgbClr val="171A15"/>
          </a:solidFill>
          <a:ln w="9525">
            <a:solidFill>
              <a:srgbClr val="2A332A"/>
            </a:solidFill>
            <a:prstDash val="solid"/>
          </a:ln>
        </p:spPr>
        <p:txBody>
          <a:bodyPr/>
          <a:lstStyle/>
          <a:p>
            <a:endParaRPr/>
          </a:p>
        </p:txBody>
      </p:sp>
      <p:sp>
        <p:nvSpPr>
          <p:cNvPr id="39" name="Text 36">
            <a:extLst>
              <a:ext uri="{FF2B5EF4-FFF2-40B4-BE49-F238E27FC236}">
                <a16:creationId xmlns:a16="http://schemas.microsoft.com/office/drawing/2014/main" id="{EE049851-535B-48EE-92A2-CB5ACF34B543}"/>
              </a:ext>
            </a:extLst>
          </p:cNvPr>
          <p:cNvSpPr>
            <a:spLocks noGrp="1"/>
          </p:cNvSpPr>
          <p:nvPr/>
        </p:nvSpPr>
        <p:spPr>
          <a:xfrm>
            <a:off x="10228217" y="2514600"/>
            <a:ext cx="1412095" cy="822960"/>
          </a:xfrm>
          <a:prstGeom prst="rect">
            <a:avLst/>
          </a:prstGeom>
          <a:noFill/>
        </p:spPr>
        <p:txBody>
          <a:bodyPr wrap="square" lIns="0" tIns="0" rIns="0" bIns="0" anchor="ctr"/>
          <a:lstStyle/>
          <a:p>
            <a:pPr marL="0" indent="0" algn="ctr">
              <a:buNone/>
            </a:pPr>
            <a:r>
              <a:rPr sz="3400" b="1">
                <a:solidFill>
                  <a:srgbClr val="C79A3C"/>
                </a:solidFill>
                <a:latin typeface="Cambria"/>
                <a:ea typeface="Cambria"/>
                <a:cs typeface="Cambria"/>
              </a:rPr>
              <a:t>K</a:t>
            </a:r>
          </a:p>
        </p:txBody>
      </p:sp>
      <p:sp>
        <p:nvSpPr>
          <p:cNvPr id="40" name="Text 37">
            <a:extLst>
              <a:ext uri="{FF2B5EF4-FFF2-40B4-BE49-F238E27FC236}">
                <a16:creationId xmlns:a16="http://schemas.microsoft.com/office/drawing/2014/main" id="{D415DDF4-E846-4536-BA91-120E7C6FC04F}"/>
              </a:ext>
            </a:extLst>
          </p:cNvPr>
          <p:cNvSpPr>
            <a:spLocks noGrp="1"/>
          </p:cNvSpPr>
          <p:nvPr/>
        </p:nvSpPr>
        <p:spPr>
          <a:xfrm>
            <a:off x="10301369" y="3383280"/>
            <a:ext cx="1265791" cy="457200"/>
          </a:xfrm>
          <a:prstGeom prst="rect">
            <a:avLst/>
          </a:prstGeom>
          <a:noFill/>
        </p:spPr>
        <p:txBody>
          <a:bodyPr wrap="square" lIns="0" tIns="0" rIns="0" bIns="0" anchor="ctr"/>
          <a:lstStyle/>
          <a:p>
            <a:pPr marL="0" indent="0" algn="ctr">
              <a:buNone/>
            </a:pPr>
            <a:r>
              <a:rPr sz="1250" b="1">
                <a:solidFill>
                  <a:srgbClr val="F4F5F0"/>
                </a:solidFill>
                <a:latin typeface="Calibri"/>
                <a:ea typeface="Calibri"/>
                <a:cs typeface="Calibri"/>
              </a:rPr>
              <a:t>Knowledge</a:t>
            </a:r>
          </a:p>
        </p:txBody>
      </p:sp>
      <p:sp>
        <p:nvSpPr>
          <p:cNvPr id="41" name="Text 38">
            <a:extLst>
              <a:ext uri="{FF2B5EF4-FFF2-40B4-BE49-F238E27FC236}">
                <a16:creationId xmlns:a16="http://schemas.microsoft.com/office/drawing/2014/main" id="{7AE74758-1FB5-48E1-A9D3-047B67F5E060}"/>
              </a:ext>
            </a:extLst>
          </p:cNvPr>
          <p:cNvSpPr>
            <a:spLocks noGrp="1"/>
          </p:cNvSpPr>
          <p:nvPr/>
        </p:nvSpPr>
        <p:spPr>
          <a:xfrm>
            <a:off x="10301369" y="3931920"/>
            <a:ext cx="1265791" cy="1463040"/>
          </a:xfrm>
          <a:prstGeom prst="rect">
            <a:avLst/>
          </a:prstGeom>
          <a:noFill/>
        </p:spPr>
        <p:txBody>
          <a:bodyPr wrap="square" lIns="0" tIns="0" rIns="0" bIns="0" anchor="ctr"/>
          <a:lstStyle/>
          <a:p>
            <a:pPr marL="0" indent="0" algn="ctr">
              <a:buNone/>
            </a:pPr>
            <a:r>
              <a:rPr sz="1050">
                <a:solidFill>
                  <a:srgbClr val="9FC2B4"/>
                </a:solidFill>
                <a:latin typeface="Calibri"/>
                <a:ea typeface="Calibri"/>
                <a:cs typeface="Calibri"/>
              </a:rPr>
              <a:t>Live-Demo</a:t>
            </a:r>
          </a:p>
          <a:p>
            <a:pPr marL="0" indent="0" algn="ctr">
              <a:buNone/>
            </a:pPr>
            <a:r>
              <a:rPr sz="1050">
                <a:solidFill>
                  <a:srgbClr val="9FC2B4"/>
                </a:solidFill>
                <a:latin typeface="Calibri"/>
                <a:ea typeface="Calibri"/>
                <a:cs typeface="Calibri"/>
              </a:rPr>
              <a:t>der App</a:t>
            </a:r>
          </a:p>
        </p:txBody>
      </p:sp>
      <p:sp>
        <p:nvSpPr>
          <p:cNvPr id="42" name="Text 39">
            <a:extLst>
              <a:ext uri="{FF2B5EF4-FFF2-40B4-BE49-F238E27FC236}">
                <a16:creationId xmlns:a16="http://schemas.microsoft.com/office/drawing/2014/main" id="{5FDD978C-8B17-4C44-9E5B-15A495B51B51}"/>
              </a:ext>
            </a:extLst>
          </p:cNvPr>
          <p:cNvSpPr>
            <a:spLocks noGrp="1"/>
          </p:cNvSpPr>
          <p:nvPr/>
        </p:nvSpPr>
        <p:spPr>
          <a:xfrm>
            <a:off x="640080" y="5806440"/>
            <a:ext cx="10881360" cy="365760"/>
          </a:xfrm>
          <a:prstGeom prst="rect">
            <a:avLst/>
          </a:prstGeom>
          <a:noFill/>
        </p:spPr>
        <p:txBody>
          <a:bodyPr wrap="square" lIns="0" tIns="0" rIns="0" bIns="0" anchor="ctr"/>
          <a:lstStyle/>
          <a:p>
            <a:pPr marL="0" indent="0">
              <a:buNone/>
            </a:pPr>
            <a:r>
              <a:rPr sz="1200" i="1">
                <a:solidFill>
                  <a:srgbClr val="9FC2B4"/>
                </a:solidFill>
                <a:latin typeface="Calibri"/>
                <a:ea typeface="Calibri"/>
                <a:cs typeface="Calibri"/>
              </a:rPr>
              <a:t>Jede Phase ist bei WealthScope AI durch ein eigenes Jupyter-Notebook dokumentiert.</a:t>
            </a:r>
          </a:p>
        </p:txBody>
      </p:sp>
      <p:sp>
        <p:nvSpPr>
          <p:cNvPr id="43" name="Text 40">
            <a:extLst>
              <a:ext uri="{FF2B5EF4-FFF2-40B4-BE49-F238E27FC236}">
                <a16:creationId xmlns:a16="http://schemas.microsoft.com/office/drawing/2014/main" id="{E905EC32-DC0E-4448-9A87-0F099D0393B6}"/>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9AA398"/>
                </a:solidFill>
                <a:latin typeface="Calibri"/>
                <a:ea typeface="Calibri"/>
                <a:cs typeface="Calibri"/>
              </a:rPr>
              <a:t>WealthScope AI</a:t>
            </a:r>
          </a:p>
        </p:txBody>
      </p:sp>
      <p:sp>
        <p:nvSpPr>
          <p:cNvPr id="44" name="Text 41">
            <a:extLst>
              <a:ext uri="{FF2B5EF4-FFF2-40B4-BE49-F238E27FC236}">
                <a16:creationId xmlns:a16="http://schemas.microsoft.com/office/drawing/2014/main" id="{33036B6B-1C03-4631-882E-19C21E2411B6}"/>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9AA398"/>
                </a:solidFill>
                <a:latin typeface="Calibri"/>
                <a:ea typeface="Calibri"/>
                <a:cs typeface="Calibri"/>
              </a:rPr>
              <a:t>8</a:t>
            </a:r>
          </a:p>
        </p:txBody>
      </p:sp>
    </p:spTree>
    <p:extLst>
      <p:ext uri="{BB962C8B-B14F-4D97-AF65-F5344CB8AC3E}">
        <p14:creationId xmlns:p14="http://schemas.microsoft.com/office/powerpoint/2010/main" val="6377553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F1E9D1E-AE6D-4533-A498-C7ED5A389550}"/>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5"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AFB01F11-68B9-4599-BA99-64A569FDE59C}"/>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4 · Q — QUESTION</a:t>
            </a:r>
          </a:p>
        </p:txBody>
      </p:sp>
      <p:sp>
        <p:nvSpPr>
          <p:cNvPr id="5" name="Text 2">
            <a:extLst>
              <a:ext uri="{FF2B5EF4-FFF2-40B4-BE49-F238E27FC236}">
                <a16:creationId xmlns:a16="http://schemas.microsoft.com/office/drawing/2014/main" id="{EC2165D6-141D-4428-976B-D93DDF016518}"/>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Die Leitfrage</a:t>
            </a:r>
          </a:p>
        </p:txBody>
      </p:sp>
      <p:sp>
        <p:nvSpPr>
          <p:cNvPr id="6" name="Shape 3">
            <a:extLst>
              <a:ext uri="{FF2B5EF4-FFF2-40B4-BE49-F238E27FC236}">
                <a16:creationId xmlns:a16="http://schemas.microsoft.com/office/drawing/2014/main" id="{617339BD-8A4B-49A0-96FB-2BCA8AE3500E}"/>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41C1F447-C764-46A3-A8A6-734C7521DA43}"/>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1,5 Min</a:t>
            </a:r>
          </a:p>
        </p:txBody>
      </p:sp>
      <p:sp>
        <p:nvSpPr>
          <p:cNvPr id="8" name="Shape 5">
            <a:extLst>
              <a:ext uri="{FF2B5EF4-FFF2-40B4-BE49-F238E27FC236}">
                <a16:creationId xmlns:a16="http://schemas.microsoft.com/office/drawing/2014/main" id="{141F98D8-4072-4348-912A-440A7402D605}"/>
              </a:ext>
            </a:extLst>
          </p:cNvPr>
          <p:cNvSpPr>
            <a:spLocks noGrp="1"/>
          </p:cNvSpPr>
          <p:nvPr/>
        </p:nvSpPr>
        <p:spPr>
          <a:xfrm>
            <a:off x="640080" y="1417320"/>
            <a:ext cx="10881360" cy="1417320"/>
          </a:xfrm>
          <a:prstGeom prst="roundRect">
            <a:avLst>
              <a:gd name="adj" fmla="val 38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1BADF500-8FD0-4390-8653-4BFF24E82F50}"/>
              </a:ext>
            </a:extLst>
          </p:cNvPr>
          <p:cNvSpPr>
            <a:spLocks noGrp="1"/>
          </p:cNvSpPr>
          <p:nvPr/>
        </p:nvSpPr>
        <p:spPr>
          <a:xfrm>
            <a:off x="914400" y="1508760"/>
            <a:ext cx="10332720" cy="1234440"/>
          </a:xfrm>
          <a:prstGeom prst="rect">
            <a:avLst/>
          </a:prstGeom>
          <a:noFill/>
        </p:spPr>
        <p:txBody>
          <a:bodyPr wrap="square" lIns="0" tIns="0" rIns="0" bIns="0" anchor="ctr"/>
          <a:lstStyle/>
          <a:p>
            <a:pPr marL="0" indent="0">
              <a:buNone/>
            </a:pPr>
            <a:r>
              <a:rPr sz="1550" i="1">
                <a:solidFill>
                  <a:srgbClr val="171A17"/>
                </a:solidFill>
                <a:latin typeface="Cambria"/>
                <a:ea typeface="Cambria"/>
                <a:cs typeface="Cambria"/>
              </a:rPr>
              <a:t>„Wie können historische US-Aktienmarktdaten genutzt werden, um mit Machine Learning eine interaktive Finanzanalyse-App zu entwickeln, die technische Marktanalyse, ML-basierte Signalgebung und risikobasierte Positionsplanung nachvollziehbar kombiniert?“</a:t>
            </a:r>
          </a:p>
        </p:txBody>
      </p:sp>
      <p:sp>
        <p:nvSpPr>
          <p:cNvPr id="10" name="Shape 7">
            <a:extLst>
              <a:ext uri="{FF2B5EF4-FFF2-40B4-BE49-F238E27FC236}">
                <a16:creationId xmlns:a16="http://schemas.microsoft.com/office/drawing/2014/main" id="{DDFF1F03-CE88-4EF4-8483-B0307F1119ED}"/>
              </a:ext>
            </a:extLst>
          </p:cNvPr>
          <p:cNvSpPr>
            <a:spLocks noGrp="1"/>
          </p:cNvSpPr>
          <p:nvPr/>
        </p:nvSpPr>
        <p:spPr>
          <a:xfrm>
            <a:off x="640080" y="3063240"/>
            <a:ext cx="566928" cy="566928"/>
          </a:xfrm>
          <a:prstGeom prst="ellipse">
            <a:avLst/>
          </a:prstGeom>
          <a:solidFill>
            <a:srgbClr val="2F5D53"/>
          </a:solidFill>
        </p:spPr>
        <p:txBody>
          <a:bodyPr/>
          <a:lstStyle/>
          <a:p>
            <a:endParaRPr/>
          </a:p>
        </p:txBody>
      </p:sp>
      <p:sp>
        <p:nvSpPr>
          <p:cNvPr id="11" name="Text 8">
            <a:extLst>
              <a:ext uri="{FF2B5EF4-FFF2-40B4-BE49-F238E27FC236}">
                <a16:creationId xmlns:a16="http://schemas.microsoft.com/office/drawing/2014/main" id="{E51FF309-7805-4F2B-B053-1117B1A07766}"/>
              </a:ext>
            </a:extLst>
          </p:cNvPr>
          <p:cNvSpPr>
            <a:spLocks noGrp="1"/>
          </p:cNvSpPr>
          <p:nvPr/>
        </p:nvSpPr>
        <p:spPr>
          <a:xfrm>
            <a:off x="640080" y="3063240"/>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H1</a:t>
            </a:r>
          </a:p>
        </p:txBody>
      </p:sp>
      <p:sp>
        <p:nvSpPr>
          <p:cNvPr id="12" name="Text 9">
            <a:extLst>
              <a:ext uri="{FF2B5EF4-FFF2-40B4-BE49-F238E27FC236}">
                <a16:creationId xmlns:a16="http://schemas.microsoft.com/office/drawing/2014/main" id="{4F5F6D83-A6FE-4B40-AB15-02895E6D3885}"/>
              </a:ext>
            </a:extLst>
          </p:cNvPr>
          <p:cNvSpPr>
            <a:spLocks noGrp="1"/>
          </p:cNvSpPr>
          <p:nvPr/>
        </p:nvSpPr>
        <p:spPr>
          <a:xfrm>
            <a:off x="1417320" y="3063240"/>
            <a:ext cx="10058400" cy="566928"/>
          </a:xfrm>
          <a:prstGeom prst="rect">
            <a:avLst/>
          </a:prstGeom>
          <a:noFill/>
        </p:spPr>
        <p:txBody>
          <a:bodyPr wrap="square" lIns="0" tIns="0" rIns="0" bIns="0" anchor="ctr"/>
          <a:lstStyle/>
          <a:p>
            <a:pPr marL="0" indent="0">
              <a:buNone/>
            </a:pPr>
            <a:r>
              <a:rPr sz="1350">
                <a:solidFill>
                  <a:srgbClr val="171A17"/>
                </a:solidFill>
                <a:latin typeface="Calibri"/>
                <a:ea typeface="Calibri"/>
                <a:cs typeface="Calibri"/>
              </a:rPr>
              <a:t>Ein Random-Forest-Modell wird gegen Baseline und vier Alternativen in einem zeitlich sauberen Out-of-Time-Test geprüft.</a:t>
            </a:r>
          </a:p>
        </p:txBody>
      </p:sp>
      <p:sp>
        <p:nvSpPr>
          <p:cNvPr id="13" name="Shape 10">
            <a:extLst>
              <a:ext uri="{FF2B5EF4-FFF2-40B4-BE49-F238E27FC236}">
                <a16:creationId xmlns:a16="http://schemas.microsoft.com/office/drawing/2014/main" id="{AEBB35C3-996B-456C-A359-5C860D364577}"/>
              </a:ext>
            </a:extLst>
          </p:cNvPr>
          <p:cNvSpPr>
            <a:spLocks noGrp="1"/>
          </p:cNvSpPr>
          <p:nvPr/>
        </p:nvSpPr>
        <p:spPr>
          <a:xfrm>
            <a:off x="640080" y="3840480"/>
            <a:ext cx="566928" cy="566928"/>
          </a:xfrm>
          <a:prstGeom prst="ellipse">
            <a:avLst/>
          </a:prstGeom>
          <a:solidFill>
            <a:srgbClr val="2F5D53"/>
          </a:solidFill>
        </p:spPr>
        <p:txBody>
          <a:bodyPr/>
          <a:lstStyle/>
          <a:p>
            <a:endParaRPr/>
          </a:p>
        </p:txBody>
      </p:sp>
      <p:sp>
        <p:nvSpPr>
          <p:cNvPr id="14" name="Text 11">
            <a:extLst>
              <a:ext uri="{FF2B5EF4-FFF2-40B4-BE49-F238E27FC236}">
                <a16:creationId xmlns:a16="http://schemas.microsoft.com/office/drawing/2014/main" id="{C58C44BD-BAD6-401F-8D45-368492569036}"/>
              </a:ext>
            </a:extLst>
          </p:cNvPr>
          <p:cNvSpPr>
            <a:spLocks noGrp="1"/>
          </p:cNvSpPr>
          <p:nvPr/>
        </p:nvSpPr>
        <p:spPr>
          <a:xfrm>
            <a:off x="640080" y="3840480"/>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H2</a:t>
            </a:r>
          </a:p>
        </p:txBody>
      </p:sp>
      <p:sp>
        <p:nvSpPr>
          <p:cNvPr id="15" name="Text 12">
            <a:extLst>
              <a:ext uri="{FF2B5EF4-FFF2-40B4-BE49-F238E27FC236}">
                <a16:creationId xmlns:a16="http://schemas.microsoft.com/office/drawing/2014/main" id="{022355DC-3B9F-41FC-A1EE-3EB27F908711}"/>
              </a:ext>
            </a:extLst>
          </p:cNvPr>
          <p:cNvSpPr>
            <a:spLocks noGrp="1"/>
          </p:cNvSpPr>
          <p:nvPr/>
        </p:nvSpPr>
        <p:spPr>
          <a:xfrm>
            <a:off x="1417320" y="3840480"/>
            <a:ext cx="10058400" cy="566928"/>
          </a:xfrm>
          <a:prstGeom prst="rect">
            <a:avLst/>
          </a:prstGeom>
          <a:noFill/>
        </p:spPr>
        <p:txBody>
          <a:bodyPr wrap="square" lIns="0" tIns="0" rIns="0" bIns="0" anchor="ctr"/>
          <a:lstStyle/>
          <a:p>
            <a:pPr marL="0" indent="0">
              <a:buNone/>
            </a:pPr>
            <a:r>
              <a:rPr sz="1350">
                <a:solidFill>
                  <a:srgbClr val="171A17"/>
                </a:solidFill>
                <a:latin typeface="Calibri"/>
                <a:ea typeface="Calibri"/>
                <a:cs typeface="Calibri"/>
              </a:rPr>
              <a:t>Eine Streamlit-App macht die Methodik für Nicht-Experten verständlich zugänglich.</a:t>
            </a:r>
          </a:p>
        </p:txBody>
      </p:sp>
      <p:sp>
        <p:nvSpPr>
          <p:cNvPr id="16" name="Shape 13">
            <a:extLst>
              <a:ext uri="{FF2B5EF4-FFF2-40B4-BE49-F238E27FC236}">
                <a16:creationId xmlns:a16="http://schemas.microsoft.com/office/drawing/2014/main" id="{229498CC-BD81-48E7-A704-58E84A6814DC}"/>
              </a:ext>
            </a:extLst>
          </p:cNvPr>
          <p:cNvSpPr>
            <a:spLocks noGrp="1"/>
          </p:cNvSpPr>
          <p:nvPr/>
        </p:nvSpPr>
        <p:spPr>
          <a:xfrm>
            <a:off x="640080" y="4617720"/>
            <a:ext cx="566928" cy="566928"/>
          </a:xfrm>
          <a:prstGeom prst="ellipse">
            <a:avLst/>
          </a:prstGeom>
          <a:solidFill>
            <a:srgbClr val="2F5D53"/>
          </a:solidFill>
        </p:spPr>
        <p:txBody>
          <a:bodyPr/>
          <a:lstStyle/>
          <a:p>
            <a:endParaRPr/>
          </a:p>
        </p:txBody>
      </p:sp>
      <p:sp>
        <p:nvSpPr>
          <p:cNvPr id="17" name="Text 14">
            <a:extLst>
              <a:ext uri="{FF2B5EF4-FFF2-40B4-BE49-F238E27FC236}">
                <a16:creationId xmlns:a16="http://schemas.microsoft.com/office/drawing/2014/main" id="{52C21F17-4915-41C4-8790-BA2FD4E84D35}"/>
              </a:ext>
            </a:extLst>
          </p:cNvPr>
          <p:cNvSpPr>
            <a:spLocks noGrp="1"/>
          </p:cNvSpPr>
          <p:nvPr/>
        </p:nvSpPr>
        <p:spPr>
          <a:xfrm>
            <a:off x="640080" y="4617720"/>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H3</a:t>
            </a:r>
          </a:p>
        </p:txBody>
      </p:sp>
      <p:sp>
        <p:nvSpPr>
          <p:cNvPr id="18" name="Text 15">
            <a:extLst>
              <a:ext uri="{FF2B5EF4-FFF2-40B4-BE49-F238E27FC236}">
                <a16:creationId xmlns:a16="http://schemas.microsoft.com/office/drawing/2014/main" id="{BD271573-F534-419D-811D-DC4DC17233B0}"/>
              </a:ext>
            </a:extLst>
          </p:cNvPr>
          <p:cNvSpPr>
            <a:spLocks noGrp="1"/>
          </p:cNvSpPr>
          <p:nvPr/>
        </p:nvSpPr>
        <p:spPr>
          <a:xfrm>
            <a:off x="1417320" y="4617720"/>
            <a:ext cx="10058400" cy="566928"/>
          </a:xfrm>
          <a:prstGeom prst="rect">
            <a:avLst/>
          </a:prstGeom>
          <a:noFill/>
        </p:spPr>
        <p:txBody>
          <a:bodyPr wrap="square" lIns="0" tIns="0" rIns="0" bIns="0" anchor="ctr"/>
          <a:lstStyle/>
          <a:p>
            <a:pPr marL="0" indent="0">
              <a:buNone/>
            </a:pPr>
            <a:r>
              <a:rPr sz="1350">
                <a:solidFill>
                  <a:srgbClr val="171A17"/>
                </a:solidFill>
                <a:latin typeface="Calibri"/>
                <a:ea typeface="Calibri"/>
                <a:cs typeface="Calibri"/>
              </a:rPr>
              <a:t>Die Kombination aus technischen Indikatoren und ML-Signal verbessert die Nutzbarkeit gegenüber Einzelansätzen.</a:t>
            </a:r>
          </a:p>
        </p:txBody>
      </p:sp>
      <p:sp>
        <p:nvSpPr>
          <p:cNvPr id="19" name="Shape 16">
            <a:extLst>
              <a:ext uri="{FF2B5EF4-FFF2-40B4-BE49-F238E27FC236}">
                <a16:creationId xmlns:a16="http://schemas.microsoft.com/office/drawing/2014/main" id="{D849E73B-2E29-4BF3-BA7F-20F008202167}"/>
              </a:ext>
            </a:extLst>
          </p:cNvPr>
          <p:cNvSpPr>
            <a:spLocks noGrp="1"/>
          </p:cNvSpPr>
          <p:nvPr/>
        </p:nvSpPr>
        <p:spPr>
          <a:xfrm>
            <a:off x="640080" y="5486400"/>
            <a:ext cx="10881360" cy="822960"/>
          </a:xfrm>
          <a:prstGeom prst="roundRect">
            <a:avLst>
              <a:gd name="adj" fmla="val 6667"/>
            </a:avLst>
          </a:prstGeom>
          <a:solidFill>
            <a:srgbClr val="F5E1DD"/>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0" name="Text 17">
            <a:extLst>
              <a:ext uri="{FF2B5EF4-FFF2-40B4-BE49-F238E27FC236}">
                <a16:creationId xmlns:a16="http://schemas.microsoft.com/office/drawing/2014/main" id="{739DB5F0-3257-42B8-A213-9BFBBC5176AD}"/>
              </a:ext>
            </a:extLst>
          </p:cNvPr>
          <p:cNvSpPr>
            <a:spLocks noGrp="1"/>
          </p:cNvSpPr>
          <p:nvPr/>
        </p:nvSpPr>
        <p:spPr>
          <a:xfrm>
            <a:off x="914400" y="5486400"/>
            <a:ext cx="10332720" cy="822960"/>
          </a:xfrm>
          <a:prstGeom prst="rect">
            <a:avLst/>
          </a:prstGeom>
          <a:noFill/>
        </p:spPr>
        <p:txBody>
          <a:bodyPr wrap="square" lIns="0" tIns="0" rIns="0" bIns="0" anchor="ctr"/>
          <a:lstStyle/>
          <a:p>
            <a:pPr marL="0" indent="0">
              <a:buNone/>
            </a:pPr>
            <a:r>
              <a:rPr sz="1250" i="1">
                <a:solidFill>
                  <a:srgbClr val="A83C30"/>
                </a:solidFill>
                <a:latin typeface="Calibri"/>
                <a:ea typeface="Calibri"/>
                <a:cs typeface="Calibri"/>
              </a:rPr>
              <a:t>Ausdrücklich nicht: kein Handelsbot, keine Anlageberatung, kein Kursprognose-Tool. Ein wissenschaftlicher Prototyp zur Demonstration datengetriebener Analysemethoden.</a:t>
            </a:r>
          </a:p>
        </p:txBody>
      </p:sp>
      <p:sp>
        <p:nvSpPr>
          <p:cNvPr id="21" name="Text 18">
            <a:extLst>
              <a:ext uri="{FF2B5EF4-FFF2-40B4-BE49-F238E27FC236}">
                <a16:creationId xmlns:a16="http://schemas.microsoft.com/office/drawing/2014/main" id="{C1F45095-F4D6-408C-8778-EA0D0F667DC2}"/>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2" name="Text 19">
            <a:extLst>
              <a:ext uri="{FF2B5EF4-FFF2-40B4-BE49-F238E27FC236}">
                <a16:creationId xmlns:a16="http://schemas.microsoft.com/office/drawing/2014/main" id="{8097E0F9-A0CB-4A30-897C-7E2163CE2CD9}"/>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9</a:t>
            </a:r>
          </a:p>
        </p:txBody>
      </p:sp>
    </p:spTree>
    <p:extLst>
      <p:ext uri="{BB962C8B-B14F-4D97-AF65-F5344CB8AC3E}">
        <p14:creationId xmlns:p14="http://schemas.microsoft.com/office/powerpoint/2010/main" val="19124176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20112D7-BEDF-4267-93CC-E69FDBDE854B}"/>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9"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9513269C-DBBA-4696-B301-7CC49AD481B1}"/>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5 · U — UNDERSTANDING</a:t>
            </a:r>
          </a:p>
        </p:txBody>
      </p:sp>
      <p:sp>
        <p:nvSpPr>
          <p:cNvPr id="5" name="Text 2">
            <a:extLst>
              <a:ext uri="{FF2B5EF4-FFF2-40B4-BE49-F238E27FC236}">
                <a16:creationId xmlns:a16="http://schemas.microsoft.com/office/drawing/2014/main" id="{9AB80D50-24BB-477A-A092-E3EE54C9C8E7}"/>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Die Datenbasis kennenlernen</a:t>
            </a:r>
          </a:p>
        </p:txBody>
      </p:sp>
      <p:sp>
        <p:nvSpPr>
          <p:cNvPr id="6" name="Shape 3">
            <a:extLst>
              <a:ext uri="{FF2B5EF4-FFF2-40B4-BE49-F238E27FC236}">
                <a16:creationId xmlns:a16="http://schemas.microsoft.com/office/drawing/2014/main" id="{DFC463C1-4E68-42FC-990C-96AE0CE2DAEF}"/>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AF8FF192-E2DB-4616-89DB-CD6B7D74CB1E}"/>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3,5 Min</a:t>
            </a:r>
          </a:p>
        </p:txBody>
      </p:sp>
      <p:sp>
        <p:nvSpPr>
          <p:cNvPr id="8" name="Text 5">
            <a:extLst>
              <a:ext uri="{FF2B5EF4-FFF2-40B4-BE49-F238E27FC236}">
                <a16:creationId xmlns:a16="http://schemas.microsoft.com/office/drawing/2014/main" id="{66D86E4E-1A1B-4A7D-B0A9-D7B28A362C4B}"/>
              </a:ext>
            </a:extLst>
          </p:cNvPr>
          <p:cNvSpPr>
            <a:spLocks noGrp="1"/>
          </p:cNvSpPr>
          <p:nvPr/>
        </p:nvSpPr>
        <p:spPr>
          <a:xfrm>
            <a:off x="640080" y="1463040"/>
            <a:ext cx="10881360" cy="548640"/>
          </a:xfrm>
          <a:prstGeom prst="rect">
            <a:avLst/>
          </a:prstGeom>
          <a:noFill/>
        </p:spPr>
        <p:txBody>
          <a:bodyPr wrap="square" lIns="0" tIns="0" rIns="0" bIns="0" anchor="ctr"/>
          <a:lstStyle/>
          <a:p>
            <a:pPr marL="0" indent="0">
              <a:buNone/>
            </a:pPr>
            <a:r>
              <a:rPr sz="1450">
                <a:solidFill>
                  <a:srgbClr val="171A17"/>
                </a:solidFill>
                <a:latin typeface="Calibri"/>
                <a:ea typeface="Calibri"/>
                <a:cs typeface="Calibri"/>
              </a:rPr>
              <a:t>Kaggle-Datensatz „US Stocks &amp; ETFs“ von Boris Marjanovic, CC0 Public Domain — vollständige Datenfreiheit, keine lizenzrechtlichen Probleme.</a:t>
            </a:r>
          </a:p>
        </p:txBody>
      </p:sp>
      <p:sp>
        <p:nvSpPr>
          <p:cNvPr id="9" name="Shape 6">
            <a:extLst>
              <a:ext uri="{FF2B5EF4-FFF2-40B4-BE49-F238E27FC236}">
                <a16:creationId xmlns:a16="http://schemas.microsoft.com/office/drawing/2014/main" id="{882ECD74-4830-4095-A5A1-01992D1B5150}"/>
              </a:ext>
            </a:extLst>
          </p:cNvPr>
          <p:cNvSpPr>
            <a:spLocks noGrp="1"/>
          </p:cNvSpPr>
          <p:nvPr/>
        </p:nvSpPr>
        <p:spPr>
          <a:xfrm>
            <a:off x="640080" y="2240280"/>
            <a:ext cx="2606040" cy="1417320"/>
          </a:xfrm>
          <a:prstGeom prst="roundRect">
            <a:avLst>
              <a:gd name="adj" fmla="val 38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5311C945-CB63-42CC-9E3E-7448F51D7716}"/>
              </a:ext>
            </a:extLst>
          </p:cNvPr>
          <p:cNvSpPr>
            <a:spLocks noGrp="1"/>
          </p:cNvSpPr>
          <p:nvPr/>
        </p:nvSpPr>
        <p:spPr>
          <a:xfrm>
            <a:off x="640080" y="2377440"/>
            <a:ext cx="2606040" cy="640080"/>
          </a:xfrm>
          <a:prstGeom prst="rect">
            <a:avLst/>
          </a:prstGeom>
          <a:noFill/>
        </p:spPr>
        <p:txBody>
          <a:bodyPr wrap="square" lIns="0" tIns="0" rIns="0" bIns="0" anchor="ctr"/>
          <a:lstStyle/>
          <a:p>
            <a:pPr marL="0" indent="0" algn="ctr">
              <a:buNone/>
            </a:pPr>
            <a:r>
              <a:rPr sz="2400" b="1">
                <a:solidFill>
                  <a:srgbClr val="A97C1E"/>
                </a:solidFill>
                <a:latin typeface="Cambria"/>
                <a:ea typeface="Cambria"/>
                <a:cs typeface="Cambria"/>
              </a:rPr>
              <a:t>192.119</a:t>
            </a:r>
          </a:p>
        </p:txBody>
      </p:sp>
      <p:sp>
        <p:nvSpPr>
          <p:cNvPr id="11" name="Text 8">
            <a:extLst>
              <a:ext uri="{FF2B5EF4-FFF2-40B4-BE49-F238E27FC236}">
                <a16:creationId xmlns:a16="http://schemas.microsoft.com/office/drawing/2014/main" id="{EECC7DCE-6637-48A4-8254-DBF0FD5CCEBF}"/>
              </a:ext>
            </a:extLst>
          </p:cNvPr>
          <p:cNvSpPr>
            <a:spLocks noGrp="1"/>
          </p:cNvSpPr>
          <p:nvPr/>
        </p:nvSpPr>
        <p:spPr>
          <a:xfrm>
            <a:off x="777240" y="3017520"/>
            <a:ext cx="2331720" cy="502920"/>
          </a:xfrm>
          <a:prstGeom prst="rect">
            <a:avLst/>
          </a:prstGeom>
          <a:noFill/>
        </p:spPr>
        <p:txBody>
          <a:bodyPr wrap="square" lIns="0" tIns="0" rIns="0" bIns="0" anchor="ctr"/>
          <a:lstStyle/>
          <a:p>
            <a:pPr marL="0" indent="0" algn="ctr">
              <a:buNone/>
            </a:pPr>
            <a:r>
              <a:rPr sz="1150">
                <a:solidFill>
                  <a:srgbClr val="5B6259"/>
                </a:solidFill>
                <a:latin typeface="Calibri"/>
                <a:ea typeface="Calibri"/>
                <a:cs typeface="Calibri"/>
              </a:rPr>
              <a:t>Feature-Datenpunkte</a:t>
            </a:r>
          </a:p>
        </p:txBody>
      </p:sp>
      <p:sp>
        <p:nvSpPr>
          <p:cNvPr id="12" name="Shape 9">
            <a:extLst>
              <a:ext uri="{FF2B5EF4-FFF2-40B4-BE49-F238E27FC236}">
                <a16:creationId xmlns:a16="http://schemas.microsoft.com/office/drawing/2014/main" id="{51D1C386-9682-41C7-B2B2-DE147575725C}"/>
              </a:ext>
            </a:extLst>
          </p:cNvPr>
          <p:cNvSpPr>
            <a:spLocks noGrp="1"/>
          </p:cNvSpPr>
          <p:nvPr/>
        </p:nvSpPr>
        <p:spPr>
          <a:xfrm>
            <a:off x="3502152" y="2240280"/>
            <a:ext cx="2606040" cy="1417320"/>
          </a:xfrm>
          <a:prstGeom prst="roundRect">
            <a:avLst>
              <a:gd name="adj" fmla="val 38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2C48F66E-1210-46F5-B96E-B0D641979409}"/>
              </a:ext>
            </a:extLst>
          </p:cNvPr>
          <p:cNvSpPr>
            <a:spLocks noGrp="1"/>
          </p:cNvSpPr>
          <p:nvPr/>
        </p:nvSpPr>
        <p:spPr>
          <a:xfrm>
            <a:off x="3502152" y="2377440"/>
            <a:ext cx="2606040" cy="640080"/>
          </a:xfrm>
          <a:prstGeom prst="rect">
            <a:avLst/>
          </a:prstGeom>
          <a:noFill/>
        </p:spPr>
        <p:txBody>
          <a:bodyPr wrap="square" lIns="0" tIns="0" rIns="0" bIns="0" anchor="ctr"/>
          <a:lstStyle/>
          <a:p>
            <a:pPr marL="0" indent="0" algn="ctr">
              <a:buNone/>
            </a:pPr>
            <a:r>
              <a:rPr sz="2400" b="1">
                <a:solidFill>
                  <a:srgbClr val="A97C1E"/>
                </a:solidFill>
                <a:latin typeface="Cambria"/>
                <a:ea typeface="Cambria"/>
                <a:cs typeface="Cambria"/>
              </a:rPr>
              <a:t>26</a:t>
            </a:r>
          </a:p>
        </p:txBody>
      </p:sp>
      <p:sp>
        <p:nvSpPr>
          <p:cNvPr id="14" name="Text 11">
            <a:extLst>
              <a:ext uri="{FF2B5EF4-FFF2-40B4-BE49-F238E27FC236}">
                <a16:creationId xmlns:a16="http://schemas.microsoft.com/office/drawing/2014/main" id="{6B81DD5F-9099-4936-B816-4433407C3B22}"/>
              </a:ext>
            </a:extLst>
          </p:cNvPr>
          <p:cNvSpPr>
            <a:spLocks noGrp="1"/>
          </p:cNvSpPr>
          <p:nvPr/>
        </p:nvSpPr>
        <p:spPr>
          <a:xfrm>
            <a:off x="3639312" y="3017520"/>
            <a:ext cx="2331720" cy="502920"/>
          </a:xfrm>
          <a:prstGeom prst="rect">
            <a:avLst/>
          </a:prstGeom>
          <a:noFill/>
        </p:spPr>
        <p:txBody>
          <a:bodyPr wrap="square" lIns="0" tIns="0" rIns="0" bIns="0" anchor="ctr"/>
          <a:lstStyle/>
          <a:p>
            <a:pPr marL="0" indent="0" algn="ctr">
              <a:buNone/>
            </a:pPr>
            <a:r>
              <a:rPr sz="1150">
                <a:solidFill>
                  <a:srgbClr val="5B6259"/>
                </a:solidFill>
                <a:latin typeface="Calibri"/>
                <a:ea typeface="Calibri"/>
                <a:cs typeface="Calibri"/>
              </a:rPr>
              <a:t>Blue-Chip-Ticker</a:t>
            </a:r>
          </a:p>
        </p:txBody>
      </p:sp>
      <p:sp>
        <p:nvSpPr>
          <p:cNvPr id="15" name="Shape 12">
            <a:extLst>
              <a:ext uri="{FF2B5EF4-FFF2-40B4-BE49-F238E27FC236}">
                <a16:creationId xmlns:a16="http://schemas.microsoft.com/office/drawing/2014/main" id="{7F0B8AFC-94E8-4418-A6D6-ED1B03188AA6}"/>
              </a:ext>
            </a:extLst>
          </p:cNvPr>
          <p:cNvSpPr>
            <a:spLocks noGrp="1"/>
          </p:cNvSpPr>
          <p:nvPr/>
        </p:nvSpPr>
        <p:spPr>
          <a:xfrm>
            <a:off x="6364224" y="2240280"/>
            <a:ext cx="2606040" cy="1417320"/>
          </a:xfrm>
          <a:prstGeom prst="roundRect">
            <a:avLst>
              <a:gd name="adj" fmla="val 38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6" name="Text 13">
            <a:extLst>
              <a:ext uri="{FF2B5EF4-FFF2-40B4-BE49-F238E27FC236}">
                <a16:creationId xmlns:a16="http://schemas.microsoft.com/office/drawing/2014/main" id="{C392E0F0-089C-4248-BFFD-78EB975E171B}"/>
              </a:ext>
            </a:extLst>
          </p:cNvPr>
          <p:cNvSpPr>
            <a:spLocks noGrp="1"/>
          </p:cNvSpPr>
          <p:nvPr/>
        </p:nvSpPr>
        <p:spPr>
          <a:xfrm>
            <a:off x="6364224" y="2377440"/>
            <a:ext cx="2606040" cy="640080"/>
          </a:xfrm>
          <a:prstGeom prst="rect">
            <a:avLst/>
          </a:prstGeom>
          <a:noFill/>
        </p:spPr>
        <p:txBody>
          <a:bodyPr wrap="square" lIns="0" tIns="0" rIns="0" bIns="0" anchor="ctr"/>
          <a:lstStyle/>
          <a:p>
            <a:pPr marL="0" indent="0" algn="ctr">
              <a:buNone/>
            </a:pPr>
            <a:r>
              <a:rPr sz="2400" b="1">
                <a:solidFill>
                  <a:srgbClr val="A97C1E"/>
                </a:solidFill>
                <a:latin typeface="Cambria"/>
                <a:ea typeface="Cambria"/>
                <a:cs typeface="Cambria"/>
              </a:rPr>
              <a:t>1962–2017</a:t>
            </a:r>
          </a:p>
        </p:txBody>
      </p:sp>
      <p:sp>
        <p:nvSpPr>
          <p:cNvPr id="17" name="Text 14">
            <a:extLst>
              <a:ext uri="{FF2B5EF4-FFF2-40B4-BE49-F238E27FC236}">
                <a16:creationId xmlns:a16="http://schemas.microsoft.com/office/drawing/2014/main" id="{21EB17DE-A988-4CE2-B49C-A8C576BC3623}"/>
              </a:ext>
            </a:extLst>
          </p:cNvPr>
          <p:cNvSpPr>
            <a:spLocks noGrp="1"/>
          </p:cNvSpPr>
          <p:nvPr/>
        </p:nvSpPr>
        <p:spPr>
          <a:xfrm>
            <a:off x="6501384" y="3017520"/>
            <a:ext cx="2331720" cy="502920"/>
          </a:xfrm>
          <a:prstGeom prst="rect">
            <a:avLst/>
          </a:prstGeom>
          <a:noFill/>
        </p:spPr>
        <p:txBody>
          <a:bodyPr wrap="square" lIns="0" tIns="0" rIns="0" bIns="0" anchor="ctr"/>
          <a:lstStyle/>
          <a:p>
            <a:pPr marL="0" indent="0" algn="ctr">
              <a:buNone/>
            </a:pPr>
            <a:r>
              <a:rPr sz="1150">
                <a:solidFill>
                  <a:srgbClr val="5B6259"/>
                </a:solidFill>
                <a:latin typeface="Calibri"/>
                <a:ea typeface="Calibri"/>
                <a:cs typeface="Calibri"/>
              </a:rPr>
              <a:t>Zeitraum (+ live)</a:t>
            </a:r>
          </a:p>
        </p:txBody>
      </p:sp>
      <p:sp>
        <p:nvSpPr>
          <p:cNvPr id="18" name="Shape 15">
            <a:extLst>
              <a:ext uri="{FF2B5EF4-FFF2-40B4-BE49-F238E27FC236}">
                <a16:creationId xmlns:a16="http://schemas.microsoft.com/office/drawing/2014/main" id="{02A9FBE2-1D4E-40FC-9162-0C8C04647024}"/>
              </a:ext>
            </a:extLst>
          </p:cNvPr>
          <p:cNvSpPr>
            <a:spLocks noGrp="1"/>
          </p:cNvSpPr>
          <p:nvPr/>
        </p:nvSpPr>
        <p:spPr>
          <a:xfrm>
            <a:off x="9226296" y="2240280"/>
            <a:ext cx="2606040" cy="1417320"/>
          </a:xfrm>
          <a:prstGeom prst="roundRect">
            <a:avLst>
              <a:gd name="adj" fmla="val 38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9B01C922-2CD8-4A5C-A343-BD9546327003}"/>
              </a:ext>
            </a:extLst>
          </p:cNvPr>
          <p:cNvSpPr>
            <a:spLocks noGrp="1"/>
          </p:cNvSpPr>
          <p:nvPr/>
        </p:nvSpPr>
        <p:spPr>
          <a:xfrm>
            <a:off x="9226296" y="2377440"/>
            <a:ext cx="2606040" cy="640080"/>
          </a:xfrm>
          <a:prstGeom prst="rect">
            <a:avLst/>
          </a:prstGeom>
          <a:noFill/>
        </p:spPr>
        <p:txBody>
          <a:bodyPr wrap="square" lIns="0" tIns="0" rIns="0" bIns="0" anchor="ctr"/>
          <a:lstStyle/>
          <a:p>
            <a:pPr marL="0" indent="0" algn="ctr">
              <a:buNone/>
            </a:pPr>
            <a:r>
              <a:rPr sz="2400" b="1">
                <a:solidFill>
                  <a:srgbClr val="A97C1E"/>
                </a:solidFill>
                <a:latin typeface="Cambria"/>
                <a:ea typeface="Cambria"/>
                <a:cs typeface="Cambria"/>
              </a:rPr>
              <a:t>Parquet</a:t>
            </a:r>
          </a:p>
        </p:txBody>
      </p:sp>
      <p:sp>
        <p:nvSpPr>
          <p:cNvPr id="20" name="Text 17">
            <a:extLst>
              <a:ext uri="{FF2B5EF4-FFF2-40B4-BE49-F238E27FC236}">
                <a16:creationId xmlns:a16="http://schemas.microsoft.com/office/drawing/2014/main" id="{CE997EA3-1AA7-43D6-A52B-4971C629B539}"/>
              </a:ext>
            </a:extLst>
          </p:cNvPr>
          <p:cNvSpPr>
            <a:spLocks noGrp="1"/>
          </p:cNvSpPr>
          <p:nvPr/>
        </p:nvSpPr>
        <p:spPr>
          <a:xfrm>
            <a:off x="9363456" y="3017520"/>
            <a:ext cx="2331720" cy="502920"/>
          </a:xfrm>
          <a:prstGeom prst="rect">
            <a:avLst/>
          </a:prstGeom>
          <a:noFill/>
        </p:spPr>
        <p:txBody>
          <a:bodyPr wrap="square" lIns="0" tIns="0" rIns="0" bIns="0" anchor="ctr"/>
          <a:lstStyle/>
          <a:p>
            <a:pPr marL="0" indent="0" algn="ctr">
              <a:buNone/>
            </a:pPr>
            <a:r>
              <a:rPr sz="1150">
                <a:solidFill>
                  <a:srgbClr val="5B6259"/>
                </a:solidFill>
                <a:latin typeface="Calibri"/>
                <a:ea typeface="Calibri"/>
                <a:cs typeface="Calibri"/>
              </a:rPr>
              <a:t>Format, optimiert</a:t>
            </a:r>
          </a:p>
        </p:txBody>
      </p:sp>
      <p:sp>
        <p:nvSpPr>
          <p:cNvPr id="21" name="Text 18">
            <a:extLst>
              <a:ext uri="{FF2B5EF4-FFF2-40B4-BE49-F238E27FC236}">
                <a16:creationId xmlns:a16="http://schemas.microsoft.com/office/drawing/2014/main" id="{1976C886-E202-4780-A443-B481BF45F51D}"/>
              </a:ext>
            </a:extLst>
          </p:cNvPr>
          <p:cNvSpPr>
            <a:spLocks noGrp="1"/>
          </p:cNvSpPr>
          <p:nvPr/>
        </p:nvSpPr>
        <p:spPr>
          <a:xfrm>
            <a:off x="640080" y="3977640"/>
            <a:ext cx="10881360" cy="365760"/>
          </a:xfrm>
          <a:prstGeom prst="rect">
            <a:avLst/>
          </a:prstGeom>
          <a:noFill/>
        </p:spPr>
        <p:txBody>
          <a:bodyPr wrap="square" lIns="0" tIns="0" rIns="0" bIns="0" anchor="ctr"/>
          <a:lstStyle/>
          <a:p>
            <a:pPr marL="0" indent="0">
              <a:buNone/>
            </a:pPr>
            <a:r>
              <a:rPr sz="1500" b="1">
                <a:solidFill>
                  <a:srgbClr val="2F5D53"/>
                </a:solidFill>
                <a:latin typeface="Cambria"/>
                <a:ea typeface="Cambria"/>
                <a:cs typeface="Cambria"/>
              </a:rPr>
              <a:t>Warum so viele Titel?</a:t>
            </a:r>
          </a:p>
        </p:txBody>
      </p:sp>
      <p:sp>
        <p:nvSpPr>
          <p:cNvPr id="22" name="Text 19">
            <a:extLst>
              <a:ext uri="{FF2B5EF4-FFF2-40B4-BE49-F238E27FC236}">
                <a16:creationId xmlns:a16="http://schemas.microsoft.com/office/drawing/2014/main" id="{10643741-7088-4B69-B266-41B0E55C1A01}"/>
              </a:ext>
            </a:extLst>
          </p:cNvPr>
          <p:cNvSpPr>
            <a:spLocks noGrp="1"/>
          </p:cNvSpPr>
          <p:nvPr/>
        </p:nvSpPr>
        <p:spPr>
          <a:xfrm>
            <a:off x="640080" y="4434840"/>
            <a:ext cx="10881360" cy="1371600"/>
          </a:xfrm>
          <a:prstGeom prst="rect">
            <a:avLst/>
          </a:prstGeom>
          <a:noFill/>
        </p:spPr>
        <p:txBody>
          <a:bodyPr wrap="square" lIns="0" tIns="0" rIns="0" bIns="0" anchor="t"/>
          <a:lstStyle/>
          <a:p>
            <a:pPr marL="228600" indent="-228600">
              <a:spcAft>
                <a:spcPts val="1000"/>
              </a:spcAft>
              <a:buSzPct val="100000"/>
              <a:buChar char="▪"/>
            </a:pPr>
            <a:r>
              <a:rPr sz="1400">
                <a:solidFill>
                  <a:srgbClr val="171A17"/>
                </a:solidFill>
                <a:latin typeface="Calibri"/>
                <a:ea typeface="Calibri"/>
                <a:cs typeface="Calibri"/>
              </a:rPr>
              <a:t>Nicht nur Umfang — sondern weil unterschiedliche Sektoren und Marktphasen die Generalisierung des Modells verbessern.</a:t>
            </a:r>
          </a:p>
          <a:p>
            <a:pPr marL="228600" indent="-228600">
              <a:spcAft>
                <a:spcPts val="1000"/>
              </a:spcAft>
              <a:buSzPct val="100000"/>
              <a:buChar char="▪"/>
            </a:pPr>
            <a:r>
              <a:rPr sz="1400">
                <a:solidFill>
                  <a:srgbClr val="171A17"/>
                </a:solidFill>
                <a:latin typeface="Calibri"/>
                <a:ea typeface="Calibri"/>
                <a:cs typeface="Calibri"/>
              </a:rPr>
              <a:t>Von Apple und Microsoft über Coca-Cola und McDonald’s bis zu Boeing und General Electric.</a:t>
            </a:r>
          </a:p>
        </p:txBody>
      </p:sp>
      <p:sp>
        <p:nvSpPr>
          <p:cNvPr id="23" name="Shape 20">
            <a:extLst>
              <a:ext uri="{FF2B5EF4-FFF2-40B4-BE49-F238E27FC236}">
                <a16:creationId xmlns:a16="http://schemas.microsoft.com/office/drawing/2014/main" id="{FFF1B8AD-4D95-427E-BEAA-60487F90AC7A}"/>
              </a:ext>
            </a:extLst>
          </p:cNvPr>
          <p:cNvSpPr>
            <a:spLocks noGrp="1"/>
          </p:cNvSpPr>
          <p:nvPr/>
        </p:nvSpPr>
        <p:spPr>
          <a:xfrm>
            <a:off x="640080" y="5806440"/>
            <a:ext cx="10881360" cy="594360"/>
          </a:xfrm>
          <a:prstGeom prst="roundRect">
            <a:avLst>
              <a:gd name="adj" fmla="val 9231"/>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4" name="Text 21">
            <a:extLst>
              <a:ext uri="{FF2B5EF4-FFF2-40B4-BE49-F238E27FC236}">
                <a16:creationId xmlns:a16="http://schemas.microsoft.com/office/drawing/2014/main" id="{7502EFD3-A867-4F88-8FFB-CC7039D40A01}"/>
              </a:ext>
            </a:extLst>
          </p:cNvPr>
          <p:cNvSpPr>
            <a:spLocks noGrp="1"/>
          </p:cNvSpPr>
          <p:nvPr/>
        </p:nvSpPr>
        <p:spPr>
          <a:xfrm>
            <a:off x="914400" y="5806440"/>
            <a:ext cx="10332720" cy="594360"/>
          </a:xfrm>
          <a:prstGeom prst="rect">
            <a:avLst/>
          </a:prstGeom>
          <a:noFill/>
        </p:spPr>
        <p:txBody>
          <a:bodyPr wrap="square" lIns="0" tIns="0" rIns="0" bIns="0" anchor="ctr"/>
          <a:lstStyle/>
          <a:p>
            <a:pPr marL="0" indent="0">
              <a:buNone/>
            </a:pPr>
            <a:r>
              <a:rPr sz="1150" i="1">
                <a:solidFill>
                  <a:srgbClr val="A97C1E"/>
                </a:solidFill>
                <a:latin typeface="Calibri"/>
                <a:ea typeface="Calibri"/>
                <a:cs typeface="Calibri"/>
              </a:rPr>
              <a:t>Methodische Einschränkung: Survivorship-Bias — nur heute noch existierende Ticker sind enthalten.</a:t>
            </a:r>
          </a:p>
        </p:txBody>
      </p:sp>
      <p:sp>
        <p:nvSpPr>
          <p:cNvPr id="25" name="Text 22">
            <a:extLst>
              <a:ext uri="{FF2B5EF4-FFF2-40B4-BE49-F238E27FC236}">
                <a16:creationId xmlns:a16="http://schemas.microsoft.com/office/drawing/2014/main" id="{0C9FB0B7-F349-4053-A0BD-B43FBCFCCFC5}"/>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6" name="Text 23">
            <a:extLst>
              <a:ext uri="{FF2B5EF4-FFF2-40B4-BE49-F238E27FC236}">
                <a16:creationId xmlns:a16="http://schemas.microsoft.com/office/drawing/2014/main" id="{28DBC017-1EE5-40D6-A9CA-6FC60BC56BBB}"/>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10</a:t>
            </a:r>
          </a:p>
        </p:txBody>
      </p:sp>
    </p:spTree>
    <p:extLst>
      <p:ext uri="{BB962C8B-B14F-4D97-AF65-F5344CB8AC3E}">
        <p14:creationId xmlns:p14="http://schemas.microsoft.com/office/powerpoint/2010/main" val="16514284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1C4565E-2D15-47E6-9AB2-D6DA7AB15CC4}"/>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6"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E8536B3F-98A5-4AAF-95F0-B164F1148944}"/>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5 · U — UNDERSTANDING</a:t>
            </a:r>
          </a:p>
        </p:txBody>
      </p:sp>
      <p:sp>
        <p:nvSpPr>
          <p:cNvPr id="5" name="Text 2">
            <a:extLst>
              <a:ext uri="{FF2B5EF4-FFF2-40B4-BE49-F238E27FC236}">
                <a16:creationId xmlns:a16="http://schemas.microsoft.com/office/drawing/2014/main" id="{A9A9D3CE-D305-4AA0-874D-159D9B883B11}"/>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Explorative Datenanalyse</a:t>
            </a:r>
          </a:p>
        </p:txBody>
      </p:sp>
      <p:sp>
        <p:nvSpPr>
          <p:cNvPr id="6" name="Text 3">
            <a:extLst>
              <a:ext uri="{FF2B5EF4-FFF2-40B4-BE49-F238E27FC236}">
                <a16:creationId xmlns:a16="http://schemas.microsoft.com/office/drawing/2014/main" id="{CADE2AB1-75F3-49C1-BE71-6E3F16DF815E}"/>
              </a:ext>
            </a:extLst>
          </p:cNvPr>
          <p:cNvSpPr>
            <a:spLocks noGrp="1"/>
          </p:cNvSpPr>
          <p:nvPr/>
        </p:nvSpPr>
        <p:spPr>
          <a:xfrm>
            <a:off x="640080" y="1463040"/>
            <a:ext cx="5029200" cy="2377440"/>
          </a:xfrm>
          <a:prstGeom prst="rect">
            <a:avLst/>
          </a:prstGeom>
          <a:noFill/>
        </p:spPr>
        <p:txBody>
          <a:bodyPr wrap="square" lIns="0" tIns="0" rIns="0" bIns="0" anchor="t"/>
          <a:lstStyle/>
          <a:p>
            <a:pPr marL="228600" indent="-228600">
              <a:spcAft>
                <a:spcPts val="1400"/>
              </a:spcAft>
              <a:buSzPct val="100000"/>
              <a:buChar char="▪"/>
            </a:pPr>
            <a:r>
              <a:rPr sz="1450">
                <a:solidFill>
                  <a:srgbClr val="171A17"/>
                </a:solidFill>
                <a:latin typeface="Calibri"/>
                <a:ea typeface="Calibri"/>
                <a:cs typeface="Calibri"/>
              </a:rPr>
              <a:t>Histogramme mit Kernel-Dichte-Schätzung für alle acht ML-Features</a:t>
            </a:r>
          </a:p>
          <a:p>
            <a:pPr marL="228600" indent="-228600">
              <a:spcAft>
                <a:spcPts val="1400"/>
              </a:spcAft>
              <a:buSzPct val="100000"/>
              <a:buChar char="▪"/>
            </a:pPr>
            <a:r>
              <a:rPr sz="1450">
                <a:solidFill>
                  <a:srgbClr val="171A17"/>
                </a:solidFill>
                <a:latin typeface="Calibri"/>
                <a:ea typeface="Calibri"/>
                <a:cs typeface="Calibri"/>
              </a:rPr>
              <a:t>Boxplots zur Ausreißer-Identifikation (IQR-Methode)</a:t>
            </a:r>
          </a:p>
          <a:p>
            <a:pPr marL="228600" indent="-228600">
              <a:spcAft>
                <a:spcPts val="1400"/>
              </a:spcAft>
              <a:buSzPct val="100000"/>
              <a:buChar char="▪"/>
            </a:pPr>
            <a:r>
              <a:rPr sz="1450">
                <a:solidFill>
                  <a:srgbClr val="171A17"/>
                </a:solidFill>
                <a:latin typeface="Calibri"/>
                <a:ea typeface="Calibri"/>
                <a:cs typeface="Calibri"/>
              </a:rPr>
              <a:t>Scatterplots zwischen Features und Zielvariable</a:t>
            </a:r>
          </a:p>
          <a:p>
            <a:pPr marL="228600" indent="-228600">
              <a:spcAft>
                <a:spcPts val="1400"/>
              </a:spcAft>
              <a:buSzPct val="100000"/>
              <a:buChar char="▪"/>
            </a:pPr>
            <a:r>
              <a:rPr sz="1450">
                <a:solidFill>
                  <a:srgbClr val="171A17"/>
                </a:solidFill>
                <a:latin typeface="Calibri"/>
                <a:ea typeface="Calibri"/>
                <a:cs typeface="Calibri"/>
              </a:rPr>
              <a:t>Pearson- und Spearman-Korrelationsmatrizen</a:t>
            </a:r>
          </a:p>
        </p:txBody>
      </p:sp>
      <p:sp>
        <p:nvSpPr>
          <p:cNvPr id="7" name="Shape 4">
            <a:extLst>
              <a:ext uri="{FF2B5EF4-FFF2-40B4-BE49-F238E27FC236}">
                <a16:creationId xmlns:a16="http://schemas.microsoft.com/office/drawing/2014/main" id="{C2242B27-9AC3-4B5E-9F9F-6E14A0FFA54A}"/>
              </a:ext>
            </a:extLst>
          </p:cNvPr>
          <p:cNvSpPr>
            <a:spLocks noGrp="1"/>
          </p:cNvSpPr>
          <p:nvPr/>
        </p:nvSpPr>
        <p:spPr>
          <a:xfrm>
            <a:off x="640080" y="3977640"/>
            <a:ext cx="5029200" cy="1783080"/>
          </a:xfrm>
          <a:prstGeom prst="roundRect">
            <a:avLst>
              <a:gd name="adj" fmla="val 3077"/>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Text 5">
            <a:extLst>
              <a:ext uri="{FF2B5EF4-FFF2-40B4-BE49-F238E27FC236}">
                <a16:creationId xmlns:a16="http://schemas.microsoft.com/office/drawing/2014/main" id="{197B51B9-B17B-4DB4-A050-46B902310A69}"/>
              </a:ext>
            </a:extLst>
          </p:cNvPr>
          <p:cNvSpPr>
            <a:spLocks noGrp="1"/>
          </p:cNvSpPr>
          <p:nvPr/>
        </p:nvSpPr>
        <p:spPr>
          <a:xfrm>
            <a:off x="868680" y="4160520"/>
            <a:ext cx="4572000" cy="146304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Ergebnis: Features sind leicht schiefsymmetrisch (→ Median-Imputation), Korrelationen moderat — kein extremes Multikollinearitätsproblem.</a:t>
            </a:r>
          </a:p>
        </p:txBody>
      </p:sp>
      <p:sp>
        <p:nvSpPr>
          <p:cNvPr id="9" name="Shape 6">
            <a:extLst>
              <a:ext uri="{FF2B5EF4-FFF2-40B4-BE49-F238E27FC236}">
                <a16:creationId xmlns:a16="http://schemas.microsoft.com/office/drawing/2014/main" id="{98C9CBA0-4746-4819-A787-5DB8D0AFFE5A}"/>
              </a:ext>
            </a:extLst>
          </p:cNvPr>
          <p:cNvSpPr>
            <a:spLocks noGrp="1"/>
          </p:cNvSpPr>
          <p:nvPr/>
        </p:nvSpPr>
        <p:spPr>
          <a:xfrm>
            <a:off x="5989320" y="1463040"/>
            <a:ext cx="5559552" cy="4297680"/>
          </a:xfrm>
          <a:prstGeom prst="roundRect">
            <a:avLst>
              <a:gd name="adj" fmla="val 127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pic>
        <p:nvPicPr>
          <p:cNvPr id="23" name="Image 1"/>
          <p:cNvPicPr>
            <a:picLocks noChangeAspect="1"/>
          </p:cNvPicPr>
          <p:nvPr/>
        </p:nvPicPr>
        <p:blipFill>
          <a:blip r:embed="rId4"/>
          <a:srcRect/>
          <a:stretch/>
        </p:blipFill>
        <p:spPr>
          <a:xfrm>
            <a:off x="6172200" y="1645920"/>
            <a:ext cx="5193792" cy="3931920"/>
          </a:xfrm>
          <a:prstGeom prst="rect">
            <a:avLst/>
          </a:prstGeom>
        </p:spPr>
      </p:pic>
      <p:sp>
        <p:nvSpPr>
          <p:cNvPr id="11" name="Text 7">
            <a:extLst>
              <a:ext uri="{FF2B5EF4-FFF2-40B4-BE49-F238E27FC236}">
                <a16:creationId xmlns:a16="http://schemas.microsoft.com/office/drawing/2014/main" id="{7B94F3C5-11FD-4926-921F-42FF906F885E}"/>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2" name="Text 8">
            <a:extLst>
              <a:ext uri="{FF2B5EF4-FFF2-40B4-BE49-F238E27FC236}">
                <a16:creationId xmlns:a16="http://schemas.microsoft.com/office/drawing/2014/main" id="{6C5A1424-0D60-4628-ABCB-3EE1DEEA4203}"/>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11</a:t>
            </a:r>
          </a:p>
        </p:txBody>
      </p:sp>
    </p:spTree>
    <p:extLst>
      <p:ext uri="{BB962C8B-B14F-4D97-AF65-F5344CB8AC3E}">
        <p14:creationId xmlns:p14="http://schemas.microsoft.com/office/powerpoint/2010/main" val="6725005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BFA5EB5-7E51-4920-84D5-BCDAC6A41821}"/>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5"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3E6DA419-AFCB-4D68-96A2-32E2D4F713A9}"/>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5 · U — UNDERSTANDING</a:t>
            </a:r>
          </a:p>
        </p:txBody>
      </p:sp>
      <p:sp>
        <p:nvSpPr>
          <p:cNvPr id="5" name="Text 2">
            <a:extLst>
              <a:ext uri="{FF2B5EF4-FFF2-40B4-BE49-F238E27FC236}">
                <a16:creationId xmlns:a16="http://schemas.microsoft.com/office/drawing/2014/main" id="{D224752B-EC8B-4D45-A074-5E8A9F506F51}"/>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Fehlende Werte: MCAR, MAR, MNAR</a:t>
            </a:r>
          </a:p>
        </p:txBody>
      </p:sp>
      <p:sp>
        <p:nvSpPr>
          <p:cNvPr id="6" name="Text 3">
            <a:extLst>
              <a:ext uri="{FF2B5EF4-FFF2-40B4-BE49-F238E27FC236}">
                <a16:creationId xmlns:a16="http://schemas.microsoft.com/office/drawing/2014/main" id="{85897D35-8444-4A63-88CE-39136AFD28C3}"/>
              </a:ext>
            </a:extLst>
          </p:cNvPr>
          <p:cNvSpPr>
            <a:spLocks noGrp="1"/>
          </p:cNvSpPr>
          <p:nvPr/>
        </p:nvSpPr>
        <p:spPr>
          <a:xfrm>
            <a:off x="640080" y="1463040"/>
            <a:ext cx="10881360" cy="822960"/>
          </a:xfrm>
          <a:prstGeom prst="rect">
            <a:avLst/>
          </a:prstGeom>
          <a:noFill/>
        </p:spPr>
        <p:txBody>
          <a:bodyPr wrap="square" lIns="0" tIns="0" rIns="0" bIns="0" anchor="ctr"/>
          <a:lstStyle/>
          <a:p>
            <a:pPr marL="0" indent="0">
              <a:buNone/>
            </a:pPr>
            <a:r>
              <a:rPr sz="1450">
                <a:solidFill>
                  <a:srgbClr val="171A17"/>
                </a:solidFill>
                <a:latin typeface="Calibri"/>
                <a:ea typeface="Calibri"/>
                <a:cs typeface="Calibri"/>
              </a:rPr>
              <a:t>Fehlende Werte in den Moving-Average-Features — die ersten 20 bis 200 Handelstage je Ticker, weil der gleitende Durchschnitt noch keinen vollständigen Berechnungszeitraum hatte.</a:t>
            </a:r>
          </a:p>
        </p:txBody>
      </p:sp>
      <p:sp>
        <p:nvSpPr>
          <p:cNvPr id="7" name="Shape 4">
            <a:extLst>
              <a:ext uri="{FF2B5EF4-FFF2-40B4-BE49-F238E27FC236}">
                <a16:creationId xmlns:a16="http://schemas.microsoft.com/office/drawing/2014/main" id="{8A67A981-9C16-4BB9-9085-511C743FD39E}"/>
              </a:ext>
            </a:extLst>
          </p:cNvPr>
          <p:cNvSpPr>
            <a:spLocks noGrp="1"/>
          </p:cNvSpPr>
          <p:nvPr/>
        </p:nvSpPr>
        <p:spPr>
          <a:xfrm>
            <a:off x="640080" y="2377440"/>
            <a:ext cx="5349240" cy="1783080"/>
          </a:xfrm>
          <a:prstGeom prst="roundRect">
            <a:avLst>
              <a:gd name="adj" fmla="val 3077"/>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Text 5">
            <a:extLst>
              <a:ext uri="{FF2B5EF4-FFF2-40B4-BE49-F238E27FC236}">
                <a16:creationId xmlns:a16="http://schemas.microsoft.com/office/drawing/2014/main" id="{ADA43F9B-0FDE-4D76-8D75-00DD3C8D6C41}"/>
              </a:ext>
            </a:extLst>
          </p:cNvPr>
          <p:cNvSpPr>
            <a:spLocks noGrp="1"/>
          </p:cNvSpPr>
          <p:nvPr/>
        </p:nvSpPr>
        <p:spPr>
          <a:xfrm>
            <a:off x="868680" y="2542032"/>
            <a:ext cx="4892040" cy="365760"/>
          </a:xfrm>
          <a:prstGeom prst="rect">
            <a:avLst/>
          </a:prstGeom>
          <a:noFill/>
        </p:spPr>
        <p:txBody>
          <a:bodyPr wrap="square" lIns="0" tIns="0" rIns="0" bIns="0" anchor="ctr"/>
          <a:lstStyle/>
          <a:p>
            <a:pPr marL="0" indent="0">
              <a:buNone/>
            </a:pPr>
            <a:r>
              <a:rPr sz="1450" b="1">
                <a:solidFill>
                  <a:srgbClr val="2F5D53"/>
                </a:solidFill>
                <a:latin typeface="Cambria"/>
                <a:ea typeface="Cambria"/>
                <a:cs typeface="Cambria"/>
              </a:rPr>
              <a:t>MCAR — Missing Completely at Random</a:t>
            </a:r>
          </a:p>
        </p:txBody>
      </p:sp>
      <p:sp>
        <p:nvSpPr>
          <p:cNvPr id="9" name="Text 6">
            <a:extLst>
              <a:ext uri="{FF2B5EF4-FFF2-40B4-BE49-F238E27FC236}">
                <a16:creationId xmlns:a16="http://schemas.microsoft.com/office/drawing/2014/main" id="{BCD70F65-82B9-458E-B159-B1402BBE06A4}"/>
              </a:ext>
            </a:extLst>
          </p:cNvPr>
          <p:cNvSpPr>
            <a:spLocks noGrp="1"/>
          </p:cNvSpPr>
          <p:nvPr/>
        </p:nvSpPr>
        <p:spPr>
          <a:xfrm>
            <a:off x="868680" y="2944368"/>
            <a:ext cx="4892040" cy="109728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Das Fehlen ist unabhängig vom tatsächlichen Wert und von anderen Variablen — die beste Ausgangslage für eine Imputation.</a:t>
            </a:r>
          </a:p>
        </p:txBody>
      </p:sp>
      <p:sp>
        <p:nvSpPr>
          <p:cNvPr id="10" name="Shape 7">
            <a:extLst>
              <a:ext uri="{FF2B5EF4-FFF2-40B4-BE49-F238E27FC236}">
                <a16:creationId xmlns:a16="http://schemas.microsoft.com/office/drawing/2014/main" id="{3C4F9FE9-A505-4A47-B2E7-EE006C3DE5D3}"/>
              </a:ext>
            </a:extLst>
          </p:cNvPr>
          <p:cNvSpPr>
            <a:spLocks noGrp="1"/>
          </p:cNvSpPr>
          <p:nvPr/>
        </p:nvSpPr>
        <p:spPr>
          <a:xfrm>
            <a:off x="6172200" y="2377440"/>
            <a:ext cx="5349240" cy="1783080"/>
          </a:xfrm>
          <a:prstGeom prst="roundRect">
            <a:avLst>
              <a:gd name="adj" fmla="val 307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1" name="Text 8">
            <a:extLst>
              <a:ext uri="{FF2B5EF4-FFF2-40B4-BE49-F238E27FC236}">
                <a16:creationId xmlns:a16="http://schemas.microsoft.com/office/drawing/2014/main" id="{6606FABA-91F8-48D6-8E95-92659AA60BA3}"/>
              </a:ext>
            </a:extLst>
          </p:cNvPr>
          <p:cNvSpPr>
            <a:spLocks noGrp="1"/>
          </p:cNvSpPr>
          <p:nvPr/>
        </p:nvSpPr>
        <p:spPr>
          <a:xfrm>
            <a:off x="6400800" y="2542032"/>
            <a:ext cx="4892040" cy="365760"/>
          </a:xfrm>
          <a:prstGeom prst="rect">
            <a:avLst/>
          </a:prstGeom>
          <a:noFill/>
        </p:spPr>
        <p:txBody>
          <a:bodyPr wrap="square" lIns="0" tIns="0" rIns="0" bIns="0" anchor="ctr"/>
          <a:lstStyle/>
          <a:p>
            <a:pPr marL="0" indent="0">
              <a:buNone/>
            </a:pPr>
            <a:r>
              <a:rPr sz="1450" b="1">
                <a:solidFill>
                  <a:srgbClr val="2F5D53"/>
                </a:solidFill>
                <a:latin typeface="Cambria"/>
                <a:ea typeface="Cambria"/>
                <a:cs typeface="Cambria"/>
              </a:rPr>
              <a:t>Drei Strategien verglichen</a:t>
            </a:r>
          </a:p>
        </p:txBody>
      </p:sp>
      <p:sp>
        <p:nvSpPr>
          <p:cNvPr id="12" name="Text 9">
            <a:extLst>
              <a:ext uri="{FF2B5EF4-FFF2-40B4-BE49-F238E27FC236}">
                <a16:creationId xmlns:a16="http://schemas.microsoft.com/office/drawing/2014/main" id="{414E2AF6-59CF-42A3-9844-D193360A2863}"/>
              </a:ext>
            </a:extLst>
          </p:cNvPr>
          <p:cNvSpPr>
            <a:spLocks noGrp="1"/>
          </p:cNvSpPr>
          <p:nvPr/>
        </p:nvSpPr>
        <p:spPr>
          <a:xfrm>
            <a:off x="6400800" y="2999232"/>
            <a:ext cx="1600200" cy="347472"/>
          </a:xfrm>
          <a:prstGeom prst="rect">
            <a:avLst/>
          </a:prstGeom>
          <a:noFill/>
        </p:spPr>
        <p:txBody>
          <a:bodyPr wrap="square" lIns="0" tIns="0" rIns="0" bIns="0" anchor="ctr"/>
          <a:lstStyle/>
          <a:p>
            <a:pPr marL="0" indent="0">
              <a:buNone/>
            </a:pPr>
            <a:r>
              <a:rPr sz="1250" b="1">
                <a:solidFill>
                  <a:srgbClr val="171A17"/>
                </a:solidFill>
                <a:latin typeface="Calibri"/>
                <a:ea typeface="Calibri"/>
                <a:cs typeface="Calibri"/>
              </a:rPr>
              <a:t>Mean</a:t>
            </a:r>
          </a:p>
        </p:txBody>
      </p:sp>
      <p:sp>
        <p:nvSpPr>
          <p:cNvPr id="13" name="Text 10">
            <a:extLst>
              <a:ext uri="{FF2B5EF4-FFF2-40B4-BE49-F238E27FC236}">
                <a16:creationId xmlns:a16="http://schemas.microsoft.com/office/drawing/2014/main" id="{AC9EAC83-2D78-4717-A55F-57036789985B}"/>
              </a:ext>
            </a:extLst>
          </p:cNvPr>
          <p:cNvSpPr>
            <a:spLocks noGrp="1"/>
          </p:cNvSpPr>
          <p:nvPr/>
        </p:nvSpPr>
        <p:spPr>
          <a:xfrm>
            <a:off x="8001000" y="2999232"/>
            <a:ext cx="3383280" cy="347472"/>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einfach, anfällig für Ausreißer</a:t>
            </a:r>
          </a:p>
        </p:txBody>
      </p:sp>
      <p:sp>
        <p:nvSpPr>
          <p:cNvPr id="14" name="Text 11">
            <a:extLst>
              <a:ext uri="{FF2B5EF4-FFF2-40B4-BE49-F238E27FC236}">
                <a16:creationId xmlns:a16="http://schemas.microsoft.com/office/drawing/2014/main" id="{7FA809ED-5483-40AE-B989-D3518CF8C84F}"/>
              </a:ext>
            </a:extLst>
          </p:cNvPr>
          <p:cNvSpPr>
            <a:spLocks noGrp="1"/>
          </p:cNvSpPr>
          <p:nvPr/>
        </p:nvSpPr>
        <p:spPr>
          <a:xfrm>
            <a:off x="6400800" y="3364992"/>
            <a:ext cx="1600200" cy="347472"/>
          </a:xfrm>
          <a:prstGeom prst="rect">
            <a:avLst/>
          </a:prstGeom>
          <a:noFill/>
        </p:spPr>
        <p:txBody>
          <a:bodyPr wrap="square" lIns="0" tIns="0" rIns="0" bIns="0" anchor="ctr"/>
          <a:lstStyle/>
          <a:p>
            <a:pPr marL="0" indent="0">
              <a:buNone/>
            </a:pPr>
            <a:r>
              <a:rPr sz="1250" b="1">
                <a:solidFill>
                  <a:srgbClr val="A97C1E"/>
                </a:solidFill>
                <a:latin typeface="Calibri"/>
                <a:ea typeface="Calibri"/>
                <a:cs typeface="Calibri"/>
              </a:rPr>
              <a:t>Median</a:t>
            </a:r>
          </a:p>
        </p:txBody>
      </p:sp>
      <p:sp>
        <p:nvSpPr>
          <p:cNvPr id="15" name="Text 12">
            <a:extLst>
              <a:ext uri="{FF2B5EF4-FFF2-40B4-BE49-F238E27FC236}">
                <a16:creationId xmlns:a16="http://schemas.microsoft.com/office/drawing/2014/main" id="{951403CA-04DA-4C44-B41B-47E631EA357B}"/>
              </a:ext>
            </a:extLst>
          </p:cNvPr>
          <p:cNvSpPr>
            <a:spLocks noGrp="1"/>
          </p:cNvSpPr>
          <p:nvPr/>
        </p:nvSpPr>
        <p:spPr>
          <a:xfrm>
            <a:off x="8001000" y="3364992"/>
            <a:ext cx="3383280" cy="347472"/>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robust — gewählt</a:t>
            </a:r>
          </a:p>
        </p:txBody>
      </p:sp>
      <p:sp>
        <p:nvSpPr>
          <p:cNvPr id="16" name="Text 13">
            <a:extLst>
              <a:ext uri="{FF2B5EF4-FFF2-40B4-BE49-F238E27FC236}">
                <a16:creationId xmlns:a16="http://schemas.microsoft.com/office/drawing/2014/main" id="{2632BFFE-84B9-4247-B02A-1A3449A8CD26}"/>
              </a:ext>
            </a:extLst>
          </p:cNvPr>
          <p:cNvSpPr>
            <a:spLocks noGrp="1"/>
          </p:cNvSpPr>
          <p:nvPr/>
        </p:nvSpPr>
        <p:spPr>
          <a:xfrm>
            <a:off x="6400800" y="3730752"/>
            <a:ext cx="1600200" cy="347472"/>
          </a:xfrm>
          <a:prstGeom prst="rect">
            <a:avLst/>
          </a:prstGeom>
          <a:noFill/>
        </p:spPr>
        <p:txBody>
          <a:bodyPr wrap="square" lIns="0" tIns="0" rIns="0" bIns="0" anchor="ctr"/>
          <a:lstStyle/>
          <a:p>
            <a:pPr marL="0" indent="0">
              <a:buNone/>
            </a:pPr>
            <a:r>
              <a:rPr sz="1250" b="1">
                <a:solidFill>
                  <a:srgbClr val="171A17"/>
                </a:solidFill>
                <a:latin typeface="Calibri"/>
                <a:ea typeface="Calibri"/>
                <a:cs typeface="Calibri"/>
              </a:rPr>
              <a:t>KNN (k=5)</a:t>
            </a:r>
          </a:p>
        </p:txBody>
      </p:sp>
      <p:sp>
        <p:nvSpPr>
          <p:cNvPr id="17" name="Text 14">
            <a:extLst>
              <a:ext uri="{FF2B5EF4-FFF2-40B4-BE49-F238E27FC236}">
                <a16:creationId xmlns:a16="http://schemas.microsoft.com/office/drawing/2014/main" id="{8788F7AB-CE20-4442-8157-55CFC8147AAB}"/>
              </a:ext>
            </a:extLst>
          </p:cNvPr>
          <p:cNvSpPr>
            <a:spLocks noGrp="1"/>
          </p:cNvSpPr>
          <p:nvPr/>
        </p:nvSpPr>
        <p:spPr>
          <a:xfrm>
            <a:off x="8001000" y="3730752"/>
            <a:ext cx="3383280" cy="347472"/>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gleichwertig, aber teurer</a:t>
            </a:r>
          </a:p>
        </p:txBody>
      </p:sp>
      <p:sp>
        <p:nvSpPr>
          <p:cNvPr id="18" name="Shape 15">
            <a:extLst>
              <a:ext uri="{FF2B5EF4-FFF2-40B4-BE49-F238E27FC236}">
                <a16:creationId xmlns:a16="http://schemas.microsoft.com/office/drawing/2014/main" id="{C2A6C24E-29EE-45BF-AB21-88BB92A26C9C}"/>
              </a:ext>
            </a:extLst>
          </p:cNvPr>
          <p:cNvSpPr>
            <a:spLocks noGrp="1"/>
          </p:cNvSpPr>
          <p:nvPr/>
        </p:nvSpPr>
        <p:spPr>
          <a:xfrm>
            <a:off x="640080" y="4434840"/>
            <a:ext cx="10881360" cy="1691640"/>
          </a:xfrm>
          <a:prstGeom prst="roundRect">
            <a:avLst>
              <a:gd name="adj" fmla="val 3243"/>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892DFDB4-F221-4532-AE89-60D2D0851DC3}"/>
              </a:ext>
            </a:extLst>
          </p:cNvPr>
          <p:cNvSpPr>
            <a:spLocks noGrp="1"/>
          </p:cNvSpPr>
          <p:nvPr/>
        </p:nvSpPr>
        <p:spPr>
          <a:xfrm>
            <a:off x="914400" y="4709160"/>
            <a:ext cx="10332720" cy="411480"/>
          </a:xfrm>
          <a:prstGeom prst="rect">
            <a:avLst/>
          </a:prstGeom>
          <a:noFill/>
        </p:spPr>
        <p:txBody>
          <a:bodyPr wrap="square" lIns="0" tIns="0" rIns="0" bIns="0" anchor="ctr"/>
          <a:lstStyle/>
          <a:p>
            <a:pPr marL="0" indent="0">
              <a:buNone/>
            </a:pPr>
            <a:r>
              <a:rPr sz="1500" b="1">
                <a:solidFill>
                  <a:srgbClr val="A97C1E"/>
                </a:solidFill>
                <a:latin typeface="Cambria"/>
                <a:ea typeface="Cambria"/>
                <a:cs typeface="Cambria"/>
              </a:rPr>
              <a:t>Kein akademisches Detail — eine direkte Qualitätsentscheidung</a:t>
            </a:r>
          </a:p>
        </p:txBody>
      </p:sp>
      <p:sp>
        <p:nvSpPr>
          <p:cNvPr id="20" name="Text 17">
            <a:extLst>
              <a:ext uri="{FF2B5EF4-FFF2-40B4-BE49-F238E27FC236}">
                <a16:creationId xmlns:a16="http://schemas.microsoft.com/office/drawing/2014/main" id="{6EC5E04F-45FA-43EC-8313-048D9FAB55F2}"/>
              </a:ext>
            </a:extLst>
          </p:cNvPr>
          <p:cNvSpPr>
            <a:spLocks noGrp="1"/>
          </p:cNvSpPr>
          <p:nvPr/>
        </p:nvSpPr>
        <p:spPr>
          <a:xfrm>
            <a:off x="914400" y="5166360"/>
            <a:ext cx="10332720" cy="822960"/>
          </a:xfrm>
          <a:prstGeom prst="rect">
            <a:avLst/>
          </a:prstGeom>
          <a:noFill/>
        </p:spPr>
        <p:txBody>
          <a:bodyPr wrap="square" lIns="0" tIns="0" rIns="0" bIns="0" anchor="ctr"/>
          <a:lstStyle/>
          <a:p>
            <a:pPr marL="0" indent="0">
              <a:buNone/>
            </a:pPr>
            <a:r>
              <a:rPr sz="1350" i="1">
                <a:solidFill>
                  <a:srgbClr val="171A17"/>
                </a:solidFill>
                <a:latin typeface="Calibri"/>
                <a:ea typeface="Calibri"/>
                <a:cs typeface="Calibri"/>
              </a:rPr>
              <a:t>Li et al. (2024), BMC: acht Imputationsverfahren auf 10.164 Kohortenfällen bei 20 % Fehlwerten — die Wahl des Verfahrens verändert die Modellgüte messbar. Median-Imputation ist damit nicht Beiwerk, sondern eine belegte Weichenstellung.</a:t>
            </a:r>
          </a:p>
        </p:txBody>
      </p:sp>
      <p:sp>
        <p:nvSpPr>
          <p:cNvPr id="21" name="Text 18">
            <a:extLst>
              <a:ext uri="{FF2B5EF4-FFF2-40B4-BE49-F238E27FC236}">
                <a16:creationId xmlns:a16="http://schemas.microsoft.com/office/drawing/2014/main" id="{7C021D94-CEB1-4823-82B5-41D60423C192}"/>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2" name="Text 19">
            <a:extLst>
              <a:ext uri="{FF2B5EF4-FFF2-40B4-BE49-F238E27FC236}">
                <a16:creationId xmlns:a16="http://schemas.microsoft.com/office/drawing/2014/main" id="{0748FA33-3987-4DAC-9A46-ECD0B0E8C767}"/>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12</a:t>
            </a:r>
          </a:p>
        </p:txBody>
      </p:sp>
    </p:spTree>
    <p:extLst>
      <p:ext uri="{BB962C8B-B14F-4D97-AF65-F5344CB8AC3E}">
        <p14:creationId xmlns:p14="http://schemas.microsoft.com/office/powerpoint/2010/main" val="1147072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59D196C-6CC5-4326-8B2B-BDDCBDC149E4}"/>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9"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8E4EF7AB-7FFB-460E-B158-764E6A6ECAE2}"/>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5 · U — UNDERSTANDING</a:t>
            </a:r>
          </a:p>
        </p:txBody>
      </p:sp>
      <p:sp>
        <p:nvSpPr>
          <p:cNvPr id="5" name="Text 2">
            <a:extLst>
              <a:ext uri="{FF2B5EF4-FFF2-40B4-BE49-F238E27FC236}">
                <a16:creationId xmlns:a16="http://schemas.microsoft.com/office/drawing/2014/main" id="{66447050-2C04-4E9E-ACB7-F66B19968DBF}"/>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StandardScaler — Wirkung &amp; Leakage</a:t>
            </a:r>
          </a:p>
        </p:txBody>
      </p:sp>
      <p:sp>
        <p:nvSpPr>
          <p:cNvPr id="6" name="Shape 3">
            <a:extLst>
              <a:ext uri="{FF2B5EF4-FFF2-40B4-BE49-F238E27FC236}">
                <a16:creationId xmlns:a16="http://schemas.microsoft.com/office/drawing/2014/main" id="{DF688154-32E1-4E2B-9D08-78A4C1C38D28}"/>
              </a:ext>
            </a:extLst>
          </p:cNvPr>
          <p:cNvSpPr>
            <a:spLocks noGrp="1"/>
          </p:cNvSpPr>
          <p:nvPr/>
        </p:nvSpPr>
        <p:spPr>
          <a:xfrm>
            <a:off x="640080" y="1463040"/>
            <a:ext cx="5257800" cy="187452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390A62E8-FD5F-491F-BF08-DE311450BCCE}"/>
              </a:ext>
            </a:extLst>
          </p:cNvPr>
          <p:cNvSpPr>
            <a:spLocks noGrp="1"/>
          </p:cNvSpPr>
          <p:nvPr/>
        </p:nvSpPr>
        <p:spPr>
          <a:xfrm>
            <a:off x="868680" y="1664208"/>
            <a:ext cx="4800600" cy="411480"/>
          </a:xfrm>
          <a:prstGeom prst="rect">
            <a:avLst/>
          </a:prstGeom>
          <a:noFill/>
        </p:spPr>
        <p:txBody>
          <a:bodyPr wrap="square" lIns="0" tIns="0" rIns="0" bIns="0" anchor="ctr"/>
          <a:lstStyle/>
          <a:p>
            <a:pPr marL="0" indent="0">
              <a:buNone/>
            </a:pPr>
            <a:r>
              <a:rPr sz="1450" b="1">
                <a:solidFill>
                  <a:srgbClr val="2F5D53"/>
                </a:solidFill>
                <a:latin typeface="Cambria"/>
                <a:ea typeface="Cambria"/>
                <a:cs typeface="Cambria"/>
              </a:rPr>
              <a:t>1 · Was macht der StandardScaler?</a:t>
            </a:r>
          </a:p>
        </p:txBody>
      </p:sp>
      <p:sp>
        <p:nvSpPr>
          <p:cNvPr id="8" name="Text 5">
            <a:extLst>
              <a:ext uri="{FF2B5EF4-FFF2-40B4-BE49-F238E27FC236}">
                <a16:creationId xmlns:a16="http://schemas.microsoft.com/office/drawing/2014/main" id="{FB23002E-39F8-4F06-9C92-D652DC8F22C6}"/>
              </a:ext>
            </a:extLst>
          </p:cNvPr>
          <p:cNvSpPr>
            <a:spLocks noGrp="1"/>
          </p:cNvSpPr>
          <p:nvPr/>
        </p:nvSpPr>
        <p:spPr>
          <a:xfrm>
            <a:off x="868680" y="2148840"/>
            <a:ext cx="4800600" cy="100584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z = (x − μ_train) / σ_train</a:t>
            </a:r>
          </a:p>
          <a:p>
            <a:pPr marL="0" indent="0">
              <a:buNone/>
            </a:pPr>
            <a:r>
              <a:rPr sz="1300">
                <a:solidFill>
                  <a:srgbClr val="171A17"/>
                </a:solidFill>
                <a:latin typeface="Calibri"/>
                <a:ea typeface="Calibri"/>
                <a:cs typeface="Calibri"/>
              </a:rPr>
              <a:t>Ergebnis je Feature: Mittelwert 0, Standardabweichung 1.</a:t>
            </a:r>
          </a:p>
          <a:p>
            <a:pPr marL="0" indent="0">
              <a:buNone/>
            </a:pPr>
            <a:r>
              <a:rPr sz="1300">
                <a:solidFill>
                  <a:srgbClr val="171A17"/>
                </a:solidFill>
                <a:latin typeface="Calibri"/>
                <a:ea typeface="Calibri"/>
                <a:cs typeface="Calibri"/>
              </a:rPr>
              <a:t>Die Rangfolge der Werte bleibt erhalten.</a:t>
            </a:r>
          </a:p>
        </p:txBody>
      </p:sp>
      <p:sp>
        <p:nvSpPr>
          <p:cNvPr id="9" name="Shape 6">
            <a:extLst>
              <a:ext uri="{FF2B5EF4-FFF2-40B4-BE49-F238E27FC236}">
                <a16:creationId xmlns:a16="http://schemas.microsoft.com/office/drawing/2014/main" id="{8E317231-4E1B-444E-A50D-60D0B6060035}"/>
              </a:ext>
            </a:extLst>
          </p:cNvPr>
          <p:cNvSpPr>
            <a:spLocks noGrp="1"/>
          </p:cNvSpPr>
          <p:nvPr/>
        </p:nvSpPr>
        <p:spPr>
          <a:xfrm>
            <a:off x="6172200" y="1463040"/>
            <a:ext cx="5376672" cy="1874520"/>
          </a:xfrm>
          <a:prstGeom prst="roundRect">
            <a:avLst>
              <a:gd name="adj" fmla="val 292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E7BB15FD-FD21-4676-BAE6-B2E277865D68}"/>
              </a:ext>
            </a:extLst>
          </p:cNvPr>
          <p:cNvSpPr>
            <a:spLocks noGrp="1"/>
          </p:cNvSpPr>
          <p:nvPr/>
        </p:nvSpPr>
        <p:spPr>
          <a:xfrm>
            <a:off x="6400800" y="1664208"/>
            <a:ext cx="4937760" cy="411480"/>
          </a:xfrm>
          <a:prstGeom prst="rect">
            <a:avLst/>
          </a:prstGeom>
          <a:noFill/>
        </p:spPr>
        <p:txBody>
          <a:bodyPr wrap="square" lIns="0" tIns="0" rIns="0" bIns="0" anchor="ctr"/>
          <a:lstStyle/>
          <a:p>
            <a:pPr marL="0" indent="0">
              <a:buNone/>
            </a:pPr>
            <a:r>
              <a:rPr sz="1450" b="1">
                <a:solidFill>
                  <a:srgbClr val="2F5D53"/>
                </a:solidFill>
                <a:latin typeface="Cambria"/>
                <a:ea typeface="Cambria"/>
                <a:cs typeface="Cambria"/>
              </a:rPr>
              <a:t>2 · Welche Modelle brauchen ihn?</a:t>
            </a:r>
          </a:p>
        </p:txBody>
      </p:sp>
      <p:sp>
        <p:nvSpPr>
          <p:cNvPr id="11" name="Text 8">
            <a:extLst>
              <a:ext uri="{FF2B5EF4-FFF2-40B4-BE49-F238E27FC236}">
                <a16:creationId xmlns:a16="http://schemas.microsoft.com/office/drawing/2014/main" id="{60EA55D2-DF67-4D1E-B155-E2B9635A4AAE}"/>
              </a:ext>
            </a:extLst>
          </p:cNvPr>
          <p:cNvSpPr>
            <a:spLocks noGrp="1"/>
          </p:cNvSpPr>
          <p:nvPr/>
        </p:nvSpPr>
        <p:spPr>
          <a:xfrm>
            <a:off x="6400800" y="2148840"/>
            <a:ext cx="4937760" cy="100584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LogReg &amp; SVM: ja — Abstände und Regularisierung reagieren auf Größenordnungen.</a:t>
            </a:r>
          </a:p>
          <a:p>
            <a:pPr marL="0" indent="0">
              <a:buNone/>
            </a:pPr>
            <a:r>
              <a:rPr sz="1300">
                <a:solidFill>
                  <a:srgbClr val="171A17"/>
                </a:solidFill>
                <a:latin typeface="Calibri"/>
                <a:ea typeface="Calibri"/>
                <a:cs typeface="Calibri"/>
              </a:rPr>
              <a:t>Decision Tree &amp; Random Forest: kaum — ihre Schwellenregeln bleiben gleich.</a:t>
            </a:r>
          </a:p>
        </p:txBody>
      </p:sp>
      <p:sp>
        <p:nvSpPr>
          <p:cNvPr id="12" name="Shape 9">
            <a:extLst>
              <a:ext uri="{FF2B5EF4-FFF2-40B4-BE49-F238E27FC236}">
                <a16:creationId xmlns:a16="http://schemas.microsoft.com/office/drawing/2014/main" id="{79EE2EB5-A54F-4CF8-918B-9F595E3A5FB2}"/>
              </a:ext>
            </a:extLst>
          </p:cNvPr>
          <p:cNvSpPr>
            <a:spLocks noGrp="1"/>
          </p:cNvSpPr>
          <p:nvPr/>
        </p:nvSpPr>
        <p:spPr>
          <a:xfrm>
            <a:off x="640080" y="3611880"/>
            <a:ext cx="10908792" cy="2331720"/>
          </a:xfrm>
          <a:prstGeom prst="roundRect">
            <a:avLst>
              <a:gd name="adj" fmla="val 2353"/>
            </a:avLst>
          </a:prstGeom>
          <a:solidFill>
            <a:srgbClr val="F5E1DD"/>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4A820AB3-537E-44EA-8351-91EA181564EA}"/>
              </a:ext>
            </a:extLst>
          </p:cNvPr>
          <p:cNvSpPr>
            <a:spLocks noGrp="1"/>
          </p:cNvSpPr>
          <p:nvPr/>
        </p:nvSpPr>
        <p:spPr>
          <a:xfrm>
            <a:off x="914400" y="3886200"/>
            <a:ext cx="10332720" cy="411480"/>
          </a:xfrm>
          <a:prstGeom prst="rect">
            <a:avLst/>
          </a:prstGeom>
          <a:noFill/>
        </p:spPr>
        <p:txBody>
          <a:bodyPr wrap="square" lIns="0" tIns="0" rIns="0" bIns="0" anchor="ctr"/>
          <a:lstStyle/>
          <a:p>
            <a:pPr marL="0" indent="0">
              <a:buNone/>
            </a:pPr>
            <a:r>
              <a:rPr sz="1600" b="1">
                <a:solidFill>
                  <a:srgbClr val="A83C30"/>
                </a:solidFill>
                <a:latin typeface="Cambria"/>
                <a:ea typeface="Cambria"/>
                <a:cs typeface="Cambria"/>
              </a:rPr>
              <a:t>3 · Leakage verhindern: fit nur im Trainingsfenster</a:t>
            </a:r>
          </a:p>
        </p:txBody>
      </p:sp>
      <p:sp>
        <p:nvSpPr>
          <p:cNvPr id="14" name="Text 11">
            <a:extLst>
              <a:ext uri="{FF2B5EF4-FFF2-40B4-BE49-F238E27FC236}">
                <a16:creationId xmlns:a16="http://schemas.microsoft.com/office/drawing/2014/main" id="{74F572DE-45A3-4E09-9FD6-2763232FB2E0}"/>
              </a:ext>
            </a:extLst>
          </p:cNvPr>
          <p:cNvSpPr>
            <a:spLocks noGrp="1"/>
          </p:cNvSpPr>
          <p:nvPr/>
        </p:nvSpPr>
        <p:spPr>
          <a:xfrm>
            <a:off x="914400" y="4389120"/>
            <a:ext cx="10332720" cy="1371600"/>
          </a:xfrm>
          <a:prstGeom prst="rect">
            <a:avLst/>
          </a:prstGeom>
          <a:noFill/>
        </p:spPr>
        <p:txBody>
          <a:bodyPr wrap="square" lIns="0" tIns="0" rIns="0" bIns="0" anchor="ctr"/>
          <a:lstStyle/>
          <a:p>
            <a:pPr marL="0" indent="0">
              <a:buNone/>
            </a:pPr>
            <a:r>
              <a:rPr sz="1400">
                <a:solidFill>
                  <a:srgbClr val="171A17"/>
                </a:solidFill>
                <a:latin typeface="Calibri"/>
                <a:ea typeface="Calibri"/>
                <a:cs typeface="Calibri"/>
              </a:rPr>
              <a:t>Falsch: scaler.fit(X_gesamt)</a:t>
            </a:r>
          </a:p>
          <a:p>
            <a:pPr marL="0" indent="0">
              <a:buNone/>
            </a:pPr>
            <a:r>
              <a:rPr sz="1400">
                <a:solidFill>
                  <a:srgbClr val="171A17"/>
                </a:solidFill>
                <a:latin typeface="Calibri"/>
                <a:ea typeface="Calibri"/>
                <a:cs typeface="Calibri"/>
              </a:rPr>
              <a:t>Richtig: Pipeline(Imputer → StandardScaler → Modell)</a:t>
            </a:r>
          </a:p>
          <a:p>
            <a:pPr marL="0" indent="0">
              <a:buNone/>
            </a:pPr>
            <a:r>
              <a:rPr sz="1400">
                <a:solidFill>
                  <a:srgbClr val="171A17"/>
                </a:solidFill>
                <a:latin typeface="Calibri"/>
                <a:ea typeface="Calibri"/>
                <a:cs typeface="Calibri"/>
              </a:rPr>
              <a:t>μ_train und σ_train werden ausschließlich im jeweiligen Trainingsfenster geschätzt. Validierung und Test erhalten nur transform(X) — niemals fit().</a:t>
            </a:r>
          </a:p>
        </p:txBody>
      </p:sp>
      <p:sp>
        <p:nvSpPr>
          <p:cNvPr id="15" name="Text 12">
            <a:extLst>
              <a:ext uri="{FF2B5EF4-FFF2-40B4-BE49-F238E27FC236}">
                <a16:creationId xmlns:a16="http://schemas.microsoft.com/office/drawing/2014/main" id="{EF4B7280-EC2D-4E5F-BD8A-A968672C6F4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6" name="Text 13">
            <a:extLst>
              <a:ext uri="{FF2B5EF4-FFF2-40B4-BE49-F238E27FC236}">
                <a16:creationId xmlns:a16="http://schemas.microsoft.com/office/drawing/2014/main" id="{82AB0E15-3812-4FF4-9017-E0CB1656C9DA}"/>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13</a:t>
            </a:r>
          </a:p>
        </p:txBody>
      </p:sp>
    </p:spTree>
    <p:extLst>
      <p:ext uri="{BB962C8B-B14F-4D97-AF65-F5344CB8AC3E}">
        <p14:creationId xmlns:p14="http://schemas.microsoft.com/office/powerpoint/2010/main" val="20043341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83BA25-D34F-4256-B4CB-7BCF95F866E5}"/>
              </a:ext>
            </a:extLst>
          </p:cNvPr>
          <p:cNvSpPr>
            <a:spLocks noGrp="1"/>
          </p:cNvSpPr>
          <p:nvPr/>
        </p:nvSpPr>
        <p:spPr>
          <a:xfrm>
            <a:off x="914400" y="0"/>
            <a:ext cx="0" cy="6858000"/>
          </a:xfrm>
          <a:prstGeom prst="line">
            <a:avLst/>
          </a:prstGeom>
          <a:noFill/>
          <a:ln w="6350">
            <a:solidFill>
              <a:srgbClr val="1C221C"/>
            </a:solidFill>
            <a:prstDash val="solid"/>
          </a:ln>
        </p:spPr>
        <p:txBody>
          <a:bodyPr/>
          <a:lstStyle/>
          <a:p>
            <a:endParaRPr/>
          </a:p>
        </p:txBody>
      </p:sp>
      <p:sp>
        <p:nvSpPr>
          <p:cNvPr id="3" name="Shape 1">
            <a:extLst>
              <a:ext uri="{FF2B5EF4-FFF2-40B4-BE49-F238E27FC236}">
                <a16:creationId xmlns:a16="http://schemas.microsoft.com/office/drawing/2014/main" id="{725900C5-875F-4EF1-9426-216609A92684}"/>
              </a:ext>
            </a:extLst>
          </p:cNvPr>
          <p:cNvSpPr>
            <a:spLocks noGrp="1"/>
          </p:cNvSpPr>
          <p:nvPr/>
        </p:nvSpPr>
        <p:spPr>
          <a:xfrm>
            <a:off x="1828800" y="0"/>
            <a:ext cx="0" cy="6858000"/>
          </a:xfrm>
          <a:prstGeom prst="line">
            <a:avLst/>
          </a:prstGeom>
          <a:noFill/>
          <a:ln w="6350">
            <a:solidFill>
              <a:srgbClr val="1C221C"/>
            </a:solidFill>
            <a:prstDash val="solid"/>
          </a:ln>
        </p:spPr>
        <p:txBody>
          <a:bodyPr/>
          <a:lstStyle/>
          <a:p>
            <a:endParaRPr/>
          </a:p>
        </p:txBody>
      </p:sp>
      <p:sp>
        <p:nvSpPr>
          <p:cNvPr id="4" name="Shape 2">
            <a:extLst>
              <a:ext uri="{FF2B5EF4-FFF2-40B4-BE49-F238E27FC236}">
                <a16:creationId xmlns:a16="http://schemas.microsoft.com/office/drawing/2014/main" id="{4BC3AB9B-30E3-4777-BE64-1740495470A2}"/>
              </a:ext>
            </a:extLst>
          </p:cNvPr>
          <p:cNvSpPr>
            <a:spLocks noGrp="1"/>
          </p:cNvSpPr>
          <p:nvPr/>
        </p:nvSpPr>
        <p:spPr>
          <a:xfrm>
            <a:off x="2743200" y="0"/>
            <a:ext cx="0" cy="6858000"/>
          </a:xfrm>
          <a:prstGeom prst="line">
            <a:avLst/>
          </a:prstGeom>
          <a:noFill/>
          <a:ln w="6350">
            <a:solidFill>
              <a:srgbClr val="1C221C"/>
            </a:solidFill>
            <a:prstDash val="solid"/>
          </a:ln>
        </p:spPr>
        <p:txBody>
          <a:bodyPr/>
          <a:lstStyle/>
          <a:p>
            <a:endParaRPr/>
          </a:p>
        </p:txBody>
      </p:sp>
      <p:sp>
        <p:nvSpPr>
          <p:cNvPr id="5" name="Shape 3">
            <a:extLst>
              <a:ext uri="{FF2B5EF4-FFF2-40B4-BE49-F238E27FC236}">
                <a16:creationId xmlns:a16="http://schemas.microsoft.com/office/drawing/2014/main" id="{4E89674B-1D1F-41F0-A086-008C8F108031}"/>
              </a:ext>
            </a:extLst>
          </p:cNvPr>
          <p:cNvSpPr>
            <a:spLocks noGrp="1"/>
          </p:cNvSpPr>
          <p:nvPr/>
        </p:nvSpPr>
        <p:spPr>
          <a:xfrm>
            <a:off x="3657600" y="0"/>
            <a:ext cx="0" cy="6858000"/>
          </a:xfrm>
          <a:prstGeom prst="line">
            <a:avLst/>
          </a:prstGeom>
          <a:noFill/>
          <a:ln w="6350">
            <a:solidFill>
              <a:srgbClr val="1C221C"/>
            </a:solidFill>
            <a:prstDash val="solid"/>
          </a:ln>
        </p:spPr>
        <p:txBody>
          <a:bodyPr/>
          <a:lstStyle/>
          <a:p>
            <a:endParaRPr/>
          </a:p>
        </p:txBody>
      </p:sp>
      <p:sp>
        <p:nvSpPr>
          <p:cNvPr id="6" name="Shape 4">
            <a:extLst>
              <a:ext uri="{FF2B5EF4-FFF2-40B4-BE49-F238E27FC236}">
                <a16:creationId xmlns:a16="http://schemas.microsoft.com/office/drawing/2014/main" id="{F2C12127-5F42-43A9-A1B0-6E9BD3B31F1C}"/>
              </a:ext>
            </a:extLst>
          </p:cNvPr>
          <p:cNvSpPr>
            <a:spLocks noGrp="1"/>
          </p:cNvSpPr>
          <p:nvPr/>
        </p:nvSpPr>
        <p:spPr>
          <a:xfrm>
            <a:off x="4572000" y="0"/>
            <a:ext cx="0" cy="6858000"/>
          </a:xfrm>
          <a:prstGeom prst="line">
            <a:avLst/>
          </a:prstGeom>
          <a:noFill/>
          <a:ln w="6350">
            <a:solidFill>
              <a:srgbClr val="1C221C"/>
            </a:solidFill>
            <a:prstDash val="solid"/>
          </a:ln>
        </p:spPr>
        <p:txBody>
          <a:bodyPr/>
          <a:lstStyle/>
          <a:p>
            <a:endParaRPr/>
          </a:p>
        </p:txBody>
      </p:sp>
      <p:sp>
        <p:nvSpPr>
          <p:cNvPr id="7" name="Shape 5">
            <a:extLst>
              <a:ext uri="{FF2B5EF4-FFF2-40B4-BE49-F238E27FC236}">
                <a16:creationId xmlns:a16="http://schemas.microsoft.com/office/drawing/2014/main" id="{D0ABD94B-E6F5-4575-A4EA-773060503840}"/>
              </a:ext>
            </a:extLst>
          </p:cNvPr>
          <p:cNvSpPr>
            <a:spLocks noGrp="1"/>
          </p:cNvSpPr>
          <p:nvPr/>
        </p:nvSpPr>
        <p:spPr>
          <a:xfrm>
            <a:off x="5486400" y="0"/>
            <a:ext cx="0" cy="6858000"/>
          </a:xfrm>
          <a:prstGeom prst="line">
            <a:avLst/>
          </a:prstGeom>
          <a:noFill/>
          <a:ln w="6350">
            <a:solidFill>
              <a:srgbClr val="1C221C"/>
            </a:solidFill>
            <a:prstDash val="solid"/>
          </a:ln>
        </p:spPr>
        <p:txBody>
          <a:bodyPr/>
          <a:lstStyle/>
          <a:p>
            <a:endParaRPr/>
          </a:p>
        </p:txBody>
      </p:sp>
      <p:sp>
        <p:nvSpPr>
          <p:cNvPr id="8" name="Shape 6">
            <a:extLst>
              <a:ext uri="{FF2B5EF4-FFF2-40B4-BE49-F238E27FC236}">
                <a16:creationId xmlns:a16="http://schemas.microsoft.com/office/drawing/2014/main" id="{081087F4-2B5E-4D5E-9AD7-9352D080286E}"/>
              </a:ext>
            </a:extLst>
          </p:cNvPr>
          <p:cNvSpPr>
            <a:spLocks noGrp="1"/>
          </p:cNvSpPr>
          <p:nvPr/>
        </p:nvSpPr>
        <p:spPr>
          <a:xfrm>
            <a:off x="6400800" y="0"/>
            <a:ext cx="0" cy="6858000"/>
          </a:xfrm>
          <a:prstGeom prst="line">
            <a:avLst/>
          </a:prstGeom>
          <a:noFill/>
          <a:ln w="6350">
            <a:solidFill>
              <a:srgbClr val="1C221C"/>
            </a:solidFill>
            <a:prstDash val="solid"/>
          </a:ln>
        </p:spPr>
        <p:txBody>
          <a:bodyPr/>
          <a:lstStyle/>
          <a:p>
            <a:endParaRPr/>
          </a:p>
        </p:txBody>
      </p:sp>
      <p:sp>
        <p:nvSpPr>
          <p:cNvPr id="9" name="Shape 7">
            <a:extLst>
              <a:ext uri="{FF2B5EF4-FFF2-40B4-BE49-F238E27FC236}">
                <a16:creationId xmlns:a16="http://schemas.microsoft.com/office/drawing/2014/main" id="{1882D830-4416-4421-94AE-5576F35BE018}"/>
              </a:ext>
            </a:extLst>
          </p:cNvPr>
          <p:cNvSpPr>
            <a:spLocks noGrp="1"/>
          </p:cNvSpPr>
          <p:nvPr/>
        </p:nvSpPr>
        <p:spPr>
          <a:xfrm>
            <a:off x="7315200" y="0"/>
            <a:ext cx="0" cy="6858000"/>
          </a:xfrm>
          <a:prstGeom prst="line">
            <a:avLst/>
          </a:prstGeom>
          <a:noFill/>
          <a:ln w="6350">
            <a:solidFill>
              <a:srgbClr val="1C221C"/>
            </a:solidFill>
            <a:prstDash val="solid"/>
          </a:ln>
        </p:spPr>
        <p:txBody>
          <a:bodyPr/>
          <a:lstStyle/>
          <a:p>
            <a:endParaRPr/>
          </a:p>
        </p:txBody>
      </p:sp>
      <p:sp>
        <p:nvSpPr>
          <p:cNvPr id="10" name="Shape 8">
            <a:extLst>
              <a:ext uri="{FF2B5EF4-FFF2-40B4-BE49-F238E27FC236}">
                <a16:creationId xmlns:a16="http://schemas.microsoft.com/office/drawing/2014/main" id="{1321A3F5-68C5-4E6E-8903-58DFD4A669F0}"/>
              </a:ext>
            </a:extLst>
          </p:cNvPr>
          <p:cNvSpPr>
            <a:spLocks noGrp="1"/>
          </p:cNvSpPr>
          <p:nvPr/>
        </p:nvSpPr>
        <p:spPr>
          <a:xfrm>
            <a:off x="8229600" y="0"/>
            <a:ext cx="0" cy="6858000"/>
          </a:xfrm>
          <a:prstGeom prst="line">
            <a:avLst/>
          </a:prstGeom>
          <a:noFill/>
          <a:ln w="6350">
            <a:solidFill>
              <a:srgbClr val="1C221C"/>
            </a:solidFill>
            <a:prstDash val="solid"/>
          </a:ln>
        </p:spPr>
        <p:txBody>
          <a:bodyPr/>
          <a:lstStyle/>
          <a:p>
            <a:endParaRPr/>
          </a:p>
        </p:txBody>
      </p:sp>
      <p:sp>
        <p:nvSpPr>
          <p:cNvPr id="11" name="Shape 9">
            <a:extLst>
              <a:ext uri="{FF2B5EF4-FFF2-40B4-BE49-F238E27FC236}">
                <a16:creationId xmlns:a16="http://schemas.microsoft.com/office/drawing/2014/main" id="{236E4465-5750-462B-9959-11BF135DEC88}"/>
              </a:ext>
            </a:extLst>
          </p:cNvPr>
          <p:cNvSpPr>
            <a:spLocks noGrp="1"/>
          </p:cNvSpPr>
          <p:nvPr/>
        </p:nvSpPr>
        <p:spPr>
          <a:xfrm>
            <a:off x="9144000" y="0"/>
            <a:ext cx="0" cy="6858000"/>
          </a:xfrm>
          <a:prstGeom prst="line">
            <a:avLst/>
          </a:prstGeom>
          <a:noFill/>
          <a:ln w="6350">
            <a:solidFill>
              <a:srgbClr val="1C221C"/>
            </a:solidFill>
            <a:prstDash val="solid"/>
          </a:ln>
        </p:spPr>
        <p:txBody>
          <a:bodyPr/>
          <a:lstStyle/>
          <a:p>
            <a:endParaRPr/>
          </a:p>
        </p:txBody>
      </p:sp>
      <p:sp>
        <p:nvSpPr>
          <p:cNvPr id="12" name="Shape 10">
            <a:extLst>
              <a:ext uri="{FF2B5EF4-FFF2-40B4-BE49-F238E27FC236}">
                <a16:creationId xmlns:a16="http://schemas.microsoft.com/office/drawing/2014/main" id="{21894109-835C-44B6-8502-4F50179FC1A5}"/>
              </a:ext>
            </a:extLst>
          </p:cNvPr>
          <p:cNvSpPr>
            <a:spLocks noGrp="1"/>
          </p:cNvSpPr>
          <p:nvPr/>
        </p:nvSpPr>
        <p:spPr>
          <a:xfrm>
            <a:off x="10058400" y="0"/>
            <a:ext cx="0" cy="6858000"/>
          </a:xfrm>
          <a:prstGeom prst="line">
            <a:avLst/>
          </a:prstGeom>
          <a:noFill/>
          <a:ln w="6350">
            <a:solidFill>
              <a:srgbClr val="1C221C"/>
            </a:solidFill>
            <a:prstDash val="solid"/>
          </a:ln>
        </p:spPr>
        <p:txBody>
          <a:bodyPr/>
          <a:lstStyle/>
          <a:p>
            <a:endParaRPr/>
          </a:p>
        </p:txBody>
      </p:sp>
      <p:sp>
        <p:nvSpPr>
          <p:cNvPr id="13" name="Shape 11">
            <a:extLst>
              <a:ext uri="{FF2B5EF4-FFF2-40B4-BE49-F238E27FC236}">
                <a16:creationId xmlns:a16="http://schemas.microsoft.com/office/drawing/2014/main" id="{F71C2AD2-00D2-4FCC-A4BD-67FC0F87179C}"/>
              </a:ext>
            </a:extLst>
          </p:cNvPr>
          <p:cNvSpPr>
            <a:spLocks noGrp="1"/>
          </p:cNvSpPr>
          <p:nvPr/>
        </p:nvSpPr>
        <p:spPr>
          <a:xfrm>
            <a:off x="10972800" y="0"/>
            <a:ext cx="0" cy="6858000"/>
          </a:xfrm>
          <a:prstGeom prst="line">
            <a:avLst/>
          </a:prstGeom>
          <a:noFill/>
          <a:ln w="6350">
            <a:solidFill>
              <a:srgbClr val="1C221C"/>
            </a:solidFill>
            <a:prstDash val="solid"/>
          </a:ln>
        </p:spPr>
        <p:txBody>
          <a:bodyPr/>
          <a:lstStyle/>
          <a:p>
            <a:endParaRPr/>
          </a:p>
        </p:txBody>
      </p:sp>
      <p:sp>
        <p:nvSpPr>
          <p:cNvPr id="14" name="Shape 12">
            <a:extLst>
              <a:ext uri="{FF2B5EF4-FFF2-40B4-BE49-F238E27FC236}">
                <a16:creationId xmlns:a16="http://schemas.microsoft.com/office/drawing/2014/main" id="{2ABF1DFF-612E-44E7-B663-BCE1849F223E}"/>
              </a:ext>
            </a:extLst>
          </p:cNvPr>
          <p:cNvSpPr>
            <a:spLocks noGrp="1"/>
          </p:cNvSpPr>
          <p:nvPr/>
        </p:nvSpPr>
        <p:spPr>
          <a:xfrm>
            <a:off x="11887200" y="0"/>
            <a:ext cx="0" cy="6858000"/>
          </a:xfrm>
          <a:prstGeom prst="line">
            <a:avLst/>
          </a:prstGeom>
          <a:noFill/>
          <a:ln w="6350">
            <a:solidFill>
              <a:srgbClr val="1C221C"/>
            </a:solidFill>
            <a:prstDash val="solid"/>
          </a:ln>
        </p:spPr>
        <p:txBody>
          <a:bodyPr/>
          <a:lstStyle/>
          <a:p>
            <a:endParaRPr/>
          </a:p>
        </p:txBody>
      </p:sp>
      <p:sp>
        <p:nvSpPr>
          <p:cNvPr id="15" name="Shape 13">
            <a:extLst>
              <a:ext uri="{FF2B5EF4-FFF2-40B4-BE49-F238E27FC236}">
                <a16:creationId xmlns:a16="http://schemas.microsoft.com/office/drawing/2014/main" id="{3460C38E-EA31-4CB2-AF3A-7AC629F713CB}"/>
              </a:ext>
            </a:extLst>
          </p:cNvPr>
          <p:cNvSpPr>
            <a:spLocks noGrp="1"/>
          </p:cNvSpPr>
          <p:nvPr/>
        </p:nvSpPr>
        <p:spPr>
          <a:xfrm>
            <a:off x="5682996" y="1965960"/>
            <a:ext cx="822960" cy="822960"/>
          </a:xfrm>
          <a:prstGeom prst="ellipse">
            <a:avLst/>
          </a:prstGeom>
          <a:solidFill>
            <a:srgbClr val="23302A"/>
          </a:solidFill>
        </p:spPr>
        <p:txBody>
          <a:bodyPr/>
          <a:lstStyle/>
          <a:p>
            <a:endParaRPr/>
          </a:p>
        </p:txBody>
      </p:sp>
      <p:pic>
        <p:nvPicPr>
          <p:cNvPr id="35" name="Image 0"/>
          <p:cNvPicPr>
            <a:picLocks noChangeAspect="1"/>
          </p:cNvPicPr>
          <p:nvPr/>
        </p:nvPicPr>
        <p:blipFill>
          <a:blip r:embed="rId3"/>
          <a:stretch>
            <a:fillRect/>
          </a:stretch>
        </p:blipFill>
        <p:spPr>
          <a:xfrm>
            <a:off x="5773522" y="2056486"/>
            <a:ext cx="641909" cy="641909"/>
          </a:xfrm>
          <a:prstGeom prst="rect">
            <a:avLst/>
          </a:prstGeom>
        </p:spPr>
      </p:pic>
      <p:sp>
        <p:nvSpPr>
          <p:cNvPr id="17" name="Text 14">
            <a:extLst>
              <a:ext uri="{FF2B5EF4-FFF2-40B4-BE49-F238E27FC236}">
                <a16:creationId xmlns:a16="http://schemas.microsoft.com/office/drawing/2014/main" id="{63C5551C-79CE-41FE-A7F1-171C167971B4}"/>
              </a:ext>
            </a:extLst>
          </p:cNvPr>
          <p:cNvSpPr>
            <a:spLocks noGrp="1"/>
          </p:cNvSpPr>
          <p:nvPr/>
        </p:nvSpPr>
        <p:spPr>
          <a:xfrm>
            <a:off x="822960" y="3063240"/>
            <a:ext cx="10515600" cy="822960"/>
          </a:xfrm>
          <a:prstGeom prst="rect">
            <a:avLst/>
          </a:prstGeom>
          <a:noFill/>
        </p:spPr>
        <p:txBody>
          <a:bodyPr wrap="square" lIns="0" tIns="0" rIns="0" bIns="0" anchor="ctr"/>
          <a:lstStyle/>
          <a:p>
            <a:pPr marL="0" indent="0" algn="ctr">
              <a:buNone/>
            </a:pPr>
            <a:r>
              <a:rPr sz="3200" b="1">
                <a:solidFill>
                  <a:srgbClr val="F4F5F0"/>
                </a:solidFill>
                <a:latin typeface="Cambria"/>
                <a:ea typeface="Cambria"/>
                <a:cs typeface="Cambria"/>
              </a:rPr>
              <a:t>Fragen zur Methodik?</a:t>
            </a:r>
          </a:p>
        </p:txBody>
      </p:sp>
      <p:sp>
        <p:nvSpPr>
          <p:cNvPr id="18" name="Text 15">
            <a:extLst>
              <a:ext uri="{FF2B5EF4-FFF2-40B4-BE49-F238E27FC236}">
                <a16:creationId xmlns:a16="http://schemas.microsoft.com/office/drawing/2014/main" id="{86F3D208-4D5F-445E-8DA2-0A89212881AF}"/>
              </a:ext>
            </a:extLst>
          </p:cNvPr>
          <p:cNvSpPr>
            <a:spLocks noGrp="1"/>
          </p:cNvSpPr>
          <p:nvPr/>
        </p:nvSpPr>
        <p:spPr>
          <a:xfrm>
            <a:off x="822960" y="3886200"/>
            <a:ext cx="10515600" cy="457200"/>
          </a:xfrm>
          <a:prstGeom prst="rect">
            <a:avLst/>
          </a:prstGeom>
          <a:noFill/>
        </p:spPr>
        <p:txBody>
          <a:bodyPr wrap="square" lIns="0" tIns="0" rIns="0" bIns="0" anchor="ctr"/>
          <a:lstStyle/>
          <a:p>
            <a:pPr marL="0" indent="0" algn="ctr">
              <a:buNone/>
            </a:pPr>
            <a:r>
              <a:rPr sz="1700">
                <a:solidFill>
                  <a:srgbClr val="9FC2B4"/>
                </a:solidFill>
                <a:latin typeface="Calibri"/>
                <a:ea typeface="Calibri"/>
                <a:cs typeface="Calibri"/>
              </a:rPr>
              <a:t>45 Sekunden — was ist bis hierhin unklar?</a:t>
            </a:r>
          </a:p>
        </p:txBody>
      </p:sp>
      <p:sp>
        <p:nvSpPr>
          <p:cNvPr id="19" name="Text 16">
            <a:extLst>
              <a:ext uri="{FF2B5EF4-FFF2-40B4-BE49-F238E27FC236}">
                <a16:creationId xmlns:a16="http://schemas.microsoft.com/office/drawing/2014/main" id="{2F2BB0FD-2D43-4F8A-9DC6-B42DFCF21055}"/>
              </a:ext>
            </a:extLst>
          </p:cNvPr>
          <p:cNvSpPr>
            <a:spLocks noGrp="1"/>
          </p:cNvSpPr>
          <p:nvPr/>
        </p:nvSpPr>
        <p:spPr>
          <a:xfrm>
            <a:off x="822960" y="6035040"/>
            <a:ext cx="10515600" cy="365760"/>
          </a:xfrm>
          <a:prstGeom prst="rect">
            <a:avLst/>
          </a:prstGeom>
          <a:noFill/>
        </p:spPr>
        <p:txBody>
          <a:bodyPr wrap="square" lIns="0" tIns="0" rIns="0" bIns="0" anchor="ctr"/>
          <a:lstStyle/>
          <a:p>
            <a:pPr marL="0" indent="0" algn="ctr">
              <a:buNone/>
            </a:pPr>
            <a:r>
              <a:rPr sz="1150">
                <a:solidFill>
                  <a:srgbClr val="6E7A6C"/>
                </a:solidFill>
                <a:latin typeface="Calibri"/>
                <a:ea typeface="Calibri"/>
                <a:cs typeface="Calibri"/>
              </a:rPr>
              <a:t>Danach:  A — Analytics  ·  Feature Engineering</a:t>
            </a:r>
          </a:p>
        </p:txBody>
      </p:sp>
    </p:spTree>
    <p:extLst>
      <p:ext uri="{BB962C8B-B14F-4D97-AF65-F5344CB8AC3E}">
        <p14:creationId xmlns:p14="http://schemas.microsoft.com/office/powerpoint/2010/main" val="15632337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448088E-5534-4310-B481-D8E5CC082840}"/>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7"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1EFDFCF0-FB67-4DDD-98E5-DA4DB67AF3E3}"/>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6 · A — ANALYTICS</a:t>
            </a:r>
          </a:p>
        </p:txBody>
      </p:sp>
      <p:sp>
        <p:nvSpPr>
          <p:cNvPr id="5" name="Text 2">
            <a:extLst>
              <a:ext uri="{FF2B5EF4-FFF2-40B4-BE49-F238E27FC236}">
                <a16:creationId xmlns:a16="http://schemas.microsoft.com/office/drawing/2014/main" id="{7CBE725E-FA0B-457E-8831-84F816EE5402}"/>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Feature Engineering</a:t>
            </a:r>
          </a:p>
        </p:txBody>
      </p:sp>
      <p:sp>
        <p:nvSpPr>
          <p:cNvPr id="6" name="Shape 3">
            <a:extLst>
              <a:ext uri="{FF2B5EF4-FFF2-40B4-BE49-F238E27FC236}">
                <a16:creationId xmlns:a16="http://schemas.microsoft.com/office/drawing/2014/main" id="{E4BD1C2A-8680-4FE4-8133-D69329D25A22}"/>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C1131EFD-0640-4FB2-BD24-8EFF1DA79339}"/>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2,5 Min</a:t>
            </a:r>
          </a:p>
        </p:txBody>
      </p:sp>
      <p:sp>
        <p:nvSpPr>
          <p:cNvPr id="8" name="Text 5">
            <a:extLst>
              <a:ext uri="{FF2B5EF4-FFF2-40B4-BE49-F238E27FC236}">
                <a16:creationId xmlns:a16="http://schemas.microsoft.com/office/drawing/2014/main" id="{875E631A-4D73-4954-AC23-11145143B803}"/>
              </a:ext>
            </a:extLst>
          </p:cNvPr>
          <p:cNvSpPr>
            <a:spLocks noGrp="1"/>
          </p:cNvSpPr>
          <p:nvPr/>
        </p:nvSpPr>
        <p:spPr>
          <a:xfrm>
            <a:off x="640080" y="1417320"/>
            <a:ext cx="10881360" cy="365760"/>
          </a:xfrm>
          <a:prstGeom prst="rect">
            <a:avLst/>
          </a:prstGeom>
          <a:noFill/>
        </p:spPr>
        <p:txBody>
          <a:bodyPr wrap="square" lIns="0" tIns="0" rIns="0" bIns="0" anchor="ctr"/>
          <a:lstStyle/>
          <a:p>
            <a:pPr marL="0" indent="0">
              <a:buNone/>
            </a:pPr>
            <a:r>
              <a:rPr sz="1400">
                <a:solidFill>
                  <a:srgbClr val="171A17"/>
                </a:solidFill>
                <a:latin typeface="Calibri"/>
                <a:ea typeface="Calibri"/>
                <a:cs typeface="Calibri"/>
              </a:rPr>
              <a:t>Aus OHLCV-Rohdaten (Open, High, Low, Close, Volume) werden acht Features destilliert:</a:t>
            </a:r>
          </a:p>
        </p:txBody>
      </p:sp>
      <p:sp>
        <p:nvSpPr>
          <p:cNvPr id="9" name="Shape 6">
            <a:extLst>
              <a:ext uri="{FF2B5EF4-FFF2-40B4-BE49-F238E27FC236}">
                <a16:creationId xmlns:a16="http://schemas.microsoft.com/office/drawing/2014/main" id="{0D9871DE-7787-48A3-8FA9-FD7290068A05}"/>
              </a:ext>
            </a:extLst>
          </p:cNvPr>
          <p:cNvSpPr>
            <a:spLocks noGrp="1"/>
          </p:cNvSpPr>
          <p:nvPr/>
        </p:nvSpPr>
        <p:spPr>
          <a:xfrm>
            <a:off x="640080" y="1965960"/>
            <a:ext cx="10881360" cy="868680"/>
          </a:xfrm>
          <a:prstGeom prst="roundRect">
            <a:avLst>
              <a:gd name="adj" fmla="val 6316"/>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3AC51C09-4F96-4B84-A92F-0D277BDA0E9C}"/>
              </a:ext>
            </a:extLst>
          </p:cNvPr>
          <p:cNvSpPr>
            <a:spLocks noGrp="1"/>
          </p:cNvSpPr>
          <p:nvPr/>
        </p:nvSpPr>
        <p:spPr>
          <a:xfrm>
            <a:off x="868680" y="1965960"/>
            <a:ext cx="2468880" cy="8686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Rendite-Features</a:t>
            </a:r>
          </a:p>
        </p:txBody>
      </p:sp>
      <p:sp>
        <p:nvSpPr>
          <p:cNvPr id="11" name="Text 8">
            <a:extLst>
              <a:ext uri="{FF2B5EF4-FFF2-40B4-BE49-F238E27FC236}">
                <a16:creationId xmlns:a16="http://schemas.microsoft.com/office/drawing/2014/main" id="{30757880-D034-41E4-B7CC-D90F80C3E21A}"/>
              </a:ext>
            </a:extLst>
          </p:cNvPr>
          <p:cNvSpPr>
            <a:spLocks noGrp="1"/>
          </p:cNvSpPr>
          <p:nvPr/>
        </p:nvSpPr>
        <p:spPr>
          <a:xfrm>
            <a:off x="3429000" y="1965960"/>
            <a:ext cx="3749040" cy="868680"/>
          </a:xfrm>
          <a:prstGeom prst="rect">
            <a:avLst/>
          </a:prstGeom>
          <a:noFill/>
        </p:spPr>
        <p:txBody>
          <a:bodyPr wrap="square" lIns="0" tIns="0" rIns="0" bIns="0" anchor="ctr"/>
          <a:lstStyle/>
          <a:p>
            <a:pPr marL="0" indent="0">
              <a:buNone/>
            </a:pPr>
            <a:r>
              <a:rPr sz="1150">
                <a:solidFill>
                  <a:srgbClr val="A97C1E"/>
                </a:solidFill>
                <a:latin typeface="Calibri"/>
                <a:ea typeface="Calibri"/>
                <a:cs typeface="Calibri"/>
              </a:rPr>
              <a:t>daily_return · return_5d · return_20d</a:t>
            </a:r>
          </a:p>
        </p:txBody>
      </p:sp>
      <p:sp>
        <p:nvSpPr>
          <p:cNvPr id="12" name="Text 9">
            <a:extLst>
              <a:ext uri="{FF2B5EF4-FFF2-40B4-BE49-F238E27FC236}">
                <a16:creationId xmlns:a16="http://schemas.microsoft.com/office/drawing/2014/main" id="{151A67F1-78B1-43EF-91FA-BDCF79E7C2CD}"/>
              </a:ext>
            </a:extLst>
          </p:cNvPr>
          <p:cNvSpPr>
            <a:spLocks noGrp="1"/>
          </p:cNvSpPr>
          <p:nvPr/>
        </p:nvSpPr>
        <p:spPr>
          <a:xfrm>
            <a:off x="7269480" y="1965960"/>
            <a:ext cx="4114800" cy="86868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Kurzfristige bis mittelfristige Kursentwicklung</a:t>
            </a:r>
          </a:p>
        </p:txBody>
      </p:sp>
      <p:sp>
        <p:nvSpPr>
          <p:cNvPr id="13" name="Shape 10">
            <a:extLst>
              <a:ext uri="{FF2B5EF4-FFF2-40B4-BE49-F238E27FC236}">
                <a16:creationId xmlns:a16="http://schemas.microsoft.com/office/drawing/2014/main" id="{EFD77320-5B94-43E4-8A60-C68DDA74B83C}"/>
              </a:ext>
            </a:extLst>
          </p:cNvPr>
          <p:cNvSpPr>
            <a:spLocks noGrp="1"/>
          </p:cNvSpPr>
          <p:nvPr/>
        </p:nvSpPr>
        <p:spPr>
          <a:xfrm>
            <a:off x="640080" y="2971800"/>
            <a:ext cx="10881360" cy="868680"/>
          </a:xfrm>
          <a:prstGeom prst="roundRect">
            <a:avLst>
              <a:gd name="adj" fmla="val 6316"/>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4" name="Text 11">
            <a:extLst>
              <a:ext uri="{FF2B5EF4-FFF2-40B4-BE49-F238E27FC236}">
                <a16:creationId xmlns:a16="http://schemas.microsoft.com/office/drawing/2014/main" id="{87AA88F4-C8C4-4F6E-9072-F79B8FC3772E}"/>
              </a:ext>
            </a:extLst>
          </p:cNvPr>
          <p:cNvSpPr>
            <a:spLocks noGrp="1"/>
          </p:cNvSpPr>
          <p:nvPr/>
        </p:nvSpPr>
        <p:spPr>
          <a:xfrm>
            <a:off x="868680" y="2971800"/>
            <a:ext cx="2468880" cy="8686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Trend-Features</a:t>
            </a:r>
          </a:p>
        </p:txBody>
      </p:sp>
      <p:sp>
        <p:nvSpPr>
          <p:cNvPr id="15" name="Text 12">
            <a:extLst>
              <a:ext uri="{FF2B5EF4-FFF2-40B4-BE49-F238E27FC236}">
                <a16:creationId xmlns:a16="http://schemas.microsoft.com/office/drawing/2014/main" id="{F0F98E8B-3BD2-48D2-A2F1-77CAE81D817C}"/>
              </a:ext>
            </a:extLst>
          </p:cNvPr>
          <p:cNvSpPr>
            <a:spLocks noGrp="1"/>
          </p:cNvSpPr>
          <p:nvPr/>
        </p:nvSpPr>
        <p:spPr>
          <a:xfrm>
            <a:off x="3429000" y="2971800"/>
            <a:ext cx="3749040" cy="868680"/>
          </a:xfrm>
          <a:prstGeom prst="rect">
            <a:avLst/>
          </a:prstGeom>
          <a:noFill/>
        </p:spPr>
        <p:txBody>
          <a:bodyPr wrap="square" lIns="0" tIns="0" rIns="0" bIns="0" anchor="ctr"/>
          <a:lstStyle/>
          <a:p>
            <a:pPr marL="0" indent="0">
              <a:buNone/>
            </a:pPr>
            <a:r>
              <a:rPr sz="1150">
                <a:solidFill>
                  <a:srgbClr val="A97C1E"/>
                </a:solidFill>
                <a:latin typeface="Calibri"/>
                <a:ea typeface="Calibri"/>
                <a:cs typeface="Calibri"/>
              </a:rPr>
              <a:t>MA-20 / MA-50 / MA-200 Distance</a:t>
            </a:r>
          </a:p>
        </p:txBody>
      </p:sp>
      <p:sp>
        <p:nvSpPr>
          <p:cNvPr id="16" name="Text 13">
            <a:extLst>
              <a:ext uri="{FF2B5EF4-FFF2-40B4-BE49-F238E27FC236}">
                <a16:creationId xmlns:a16="http://schemas.microsoft.com/office/drawing/2014/main" id="{702EC4C1-6DD1-4E4F-927A-A23FB005CF95}"/>
              </a:ext>
            </a:extLst>
          </p:cNvPr>
          <p:cNvSpPr>
            <a:spLocks noGrp="1"/>
          </p:cNvSpPr>
          <p:nvPr/>
        </p:nvSpPr>
        <p:spPr>
          <a:xfrm>
            <a:off x="7269480" y="2971800"/>
            <a:ext cx="4114800" cy="86868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Abstand zu gleitenden Durchschnitten — Mean-Reversion-Signal</a:t>
            </a:r>
          </a:p>
        </p:txBody>
      </p:sp>
      <p:sp>
        <p:nvSpPr>
          <p:cNvPr id="17" name="Shape 14">
            <a:extLst>
              <a:ext uri="{FF2B5EF4-FFF2-40B4-BE49-F238E27FC236}">
                <a16:creationId xmlns:a16="http://schemas.microsoft.com/office/drawing/2014/main" id="{A33A9AB8-1782-4C8E-8C10-A22F9544D665}"/>
              </a:ext>
            </a:extLst>
          </p:cNvPr>
          <p:cNvSpPr>
            <a:spLocks noGrp="1"/>
          </p:cNvSpPr>
          <p:nvPr/>
        </p:nvSpPr>
        <p:spPr>
          <a:xfrm>
            <a:off x="640080" y="3977640"/>
            <a:ext cx="10881360" cy="868680"/>
          </a:xfrm>
          <a:prstGeom prst="roundRect">
            <a:avLst>
              <a:gd name="adj" fmla="val 6316"/>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8" name="Text 15">
            <a:extLst>
              <a:ext uri="{FF2B5EF4-FFF2-40B4-BE49-F238E27FC236}">
                <a16:creationId xmlns:a16="http://schemas.microsoft.com/office/drawing/2014/main" id="{BF251C70-101C-4E0B-B73D-513BFB021F83}"/>
              </a:ext>
            </a:extLst>
          </p:cNvPr>
          <p:cNvSpPr>
            <a:spLocks noGrp="1"/>
          </p:cNvSpPr>
          <p:nvPr/>
        </p:nvSpPr>
        <p:spPr>
          <a:xfrm>
            <a:off x="868680" y="3977640"/>
            <a:ext cx="2468880" cy="8686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Risiko-Features</a:t>
            </a:r>
          </a:p>
        </p:txBody>
      </p:sp>
      <p:sp>
        <p:nvSpPr>
          <p:cNvPr id="19" name="Text 16">
            <a:extLst>
              <a:ext uri="{FF2B5EF4-FFF2-40B4-BE49-F238E27FC236}">
                <a16:creationId xmlns:a16="http://schemas.microsoft.com/office/drawing/2014/main" id="{76F2EB7E-CAF9-456C-A9E7-A8B8521812F3}"/>
              </a:ext>
            </a:extLst>
          </p:cNvPr>
          <p:cNvSpPr>
            <a:spLocks noGrp="1"/>
          </p:cNvSpPr>
          <p:nvPr/>
        </p:nvSpPr>
        <p:spPr>
          <a:xfrm>
            <a:off x="3429000" y="3977640"/>
            <a:ext cx="3749040" cy="868680"/>
          </a:xfrm>
          <a:prstGeom prst="rect">
            <a:avLst/>
          </a:prstGeom>
          <a:noFill/>
        </p:spPr>
        <p:txBody>
          <a:bodyPr wrap="square" lIns="0" tIns="0" rIns="0" bIns="0" anchor="ctr"/>
          <a:lstStyle/>
          <a:p>
            <a:pPr marL="0" indent="0">
              <a:buNone/>
            </a:pPr>
            <a:r>
              <a:rPr sz="1150">
                <a:solidFill>
                  <a:srgbClr val="A97C1E"/>
                </a:solidFill>
                <a:latin typeface="Calibri"/>
                <a:ea typeface="Calibri"/>
                <a:cs typeface="Calibri"/>
              </a:rPr>
              <a:t>volatility_20d · Drawdown</a:t>
            </a:r>
          </a:p>
        </p:txBody>
      </p:sp>
      <p:sp>
        <p:nvSpPr>
          <p:cNvPr id="20" name="Text 17">
            <a:extLst>
              <a:ext uri="{FF2B5EF4-FFF2-40B4-BE49-F238E27FC236}">
                <a16:creationId xmlns:a16="http://schemas.microsoft.com/office/drawing/2014/main" id="{096A647E-2F4E-42D3-B7F0-D8EB13DC0C46}"/>
              </a:ext>
            </a:extLst>
          </p:cNvPr>
          <p:cNvSpPr>
            <a:spLocks noGrp="1"/>
          </p:cNvSpPr>
          <p:nvPr/>
        </p:nvSpPr>
        <p:spPr>
          <a:xfrm>
            <a:off x="7269480" y="3977640"/>
            <a:ext cx="4114800" cy="86868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Schwankung und Abstand vom letzten Höchststand</a:t>
            </a:r>
          </a:p>
        </p:txBody>
      </p:sp>
      <p:sp>
        <p:nvSpPr>
          <p:cNvPr id="21" name="Shape 18">
            <a:extLst>
              <a:ext uri="{FF2B5EF4-FFF2-40B4-BE49-F238E27FC236}">
                <a16:creationId xmlns:a16="http://schemas.microsoft.com/office/drawing/2014/main" id="{8CBDAACE-C9AD-4DA5-AA42-B4ED596E8414}"/>
              </a:ext>
            </a:extLst>
          </p:cNvPr>
          <p:cNvSpPr>
            <a:spLocks noGrp="1"/>
          </p:cNvSpPr>
          <p:nvPr/>
        </p:nvSpPr>
        <p:spPr>
          <a:xfrm>
            <a:off x="640080" y="5074920"/>
            <a:ext cx="10881360" cy="1234440"/>
          </a:xfrm>
          <a:prstGeom prst="roundRect">
            <a:avLst>
              <a:gd name="adj" fmla="val 4444"/>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2" name="Text 19">
            <a:extLst>
              <a:ext uri="{FF2B5EF4-FFF2-40B4-BE49-F238E27FC236}">
                <a16:creationId xmlns:a16="http://schemas.microsoft.com/office/drawing/2014/main" id="{DB454637-B2BF-434A-9950-8473FB1E674C}"/>
              </a:ext>
            </a:extLst>
          </p:cNvPr>
          <p:cNvSpPr>
            <a:spLocks noGrp="1"/>
          </p:cNvSpPr>
          <p:nvPr/>
        </p:nvSpPr>
        <p:spPr>
          <a:xfrm>
            <a:off x="914400" y="5074920"/>
            <a:ext cx="10332720" cy="1234440"/>
          </a:xfrm>
          <a:prstGeom prst="rect">
            <a:avLst/>
          </a:prstGeom>
          <a:noFill/>
        </p:spPr>
        <p:txBody>
          <a:bodyPr wrap="square" lIns="0" tIns="0" rIns="0" bIns="0" anchor="ctr"/>
          <a:lstStyle/>
          <a:p>
            <a:pPr marL="0" indent="0">
              <a:buNone/>
            </a:pPr>
            <a:r>
              <a:rPr sz="1350" b="1">
                <a:solidFill>
                  <a:srgbClr val="2F5D53"/>
                </a:solidFill>
                <a:latin typeface="Calibri"/>
                <a:ea typeface="Calibri"/>
                <a:cs typeface="Calibri"/>
              </a:rPr>
              <a:t>Zielvariable target_20d: </a:t>
            </a:r>
            <a:r>
              <a:rPr sz="1350">
                <a:solidFill>
                  <a:srgbClr val="171A17"/>
                </a:solidFill>
                <a:latin typeface="Calibri"/>
                <a:ea typeface="Calibri"/>
                <a:cs typeface="Calibri"/>
              </a:rPr>
              <a:t>binär — ist der Schlusskurs in 20 Handelstagen höher als heute? Richtungsvorhersage statt Regression: realistischer und robuster quantifizierbar bei effizienten Märkten.</a:t>
            </a:r>
          </a:p>
        </p:txBody>
      </p:sp>
      <p:sp>
        <p:nvSpPr>
          <p:cNvPr id="23" name="Text 20">
            <a:extLst>
              <a:ext uri="{FF2B5EF4-FFF2-40B4-BE49-F238E27FC236}">
                <a16:creationId xmlns:a16="http://schemas.microsoft.com/office/drawing/2014/main" id="{A56369F1-727D-4097-BAD2-28DBEC2A7A0F}"/>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4" name="Text 21">
            <a:extLst>
              <a:ext uri="{FF2B5EF4-FFF2-40B4-BE49-F238E27FC236}">
                <a16:creationId xmlns:a16="http://schemas.microsoft.com/office/drawing/2014/main" id="{154F7B4C-DE4A-4371-9C4A-EF23C80A108F}"/>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15</a:t>
            </a:r>
          </a:p>
        </p:txBody>
      </p:sp>
    </p:spTree>
    <p:extLst>
      <p:ext uri="{BB962C8B-B14F-4D97-AF65-F5344CB8AC3E}">
        <p14:creationId xmlns:p14="http://schemas.microsoft.com/office/powerpoint/2010/main" val="11941785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1028619-3E42-4C4B-A9A5-C682A0B612A0}"/>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30"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144B116F-6DFF-4747-B5FD-851BA12FB8C8}"/>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7 · A — ALGORITHM</a:t>
            </a:r>
          </a:p>
        </p:txBody>
      </p:sp>
      <p:sp>
        <p:nvSpPr>
          <p:cNvPr id="5" name="Text 2">
            <a:extLst>
              <a:ext uri="{FF2B5EF4-FFF2-40B4-BE49-F238E27FC236}">
                <a16:creationId xmlns:a16="http://schemas.microsoft.com/office/drawing/2014/main" id="{7C53D0AA-82CA-4223-BA1E-496E5B68ABB2}"/>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Modellauswahl</a:t>
            </a:r>
          </a:p>
        </p:txBody>
      </p:sp>
      <p:sp>
        <p:nvSpPr>
          <p:cNvPr id="6" name="Shape 3">
            <a:extLst>
              <a:ext uri="{FF2B5EF4-FFF2-40B4-BE49-F238E27FC236}">
                <a16:creationId xmlns:a16="http://schemas.microsoft.com/office/drawing/2014/main" id="{E6B90296-05BA-4750-9156-7A45D1797D3F}"/>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5149B6C7-57DE-4787-B485-7401E01CE381}"/>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2,5 Min</a:t>
            </a:r>
          </a:p>
        </p:txBody>
      </p:sp>
      <p:sp>
        <p:nvSpPr>
          <p:cNvPr id="8" name="Shape 5">
            <a:extLst>
              <a:ext uri="{FF2B5EF4-FFF2-40B4-BE49-F238E27FC236}">
                <a16:creationId xmlns:a16="http://schemas.microsoft.com/office/drawing/2014/main" id="{0E68B9A8-17B0-482E-B830-159A807BC559}"/>
              </a:ext>
            </a:extLst>
          </p:cNvPr>
          <p:cNvSpPr>
            <a:spLocks noGrp="1"/>
          </p:cNvSpPr>
          <p:nvPr/>
        </p:nvSpPr>
        <p:spPr>
          <a:xfrm>
            <a:off x="640080" y="1463040"/>
            <a:ext cx="342900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B7ABF846-AFF3-475B-B98F-0A169163895C}"/>
              </a:ext>
            </a:extLst>
          </p:cNvPr>
          <p:cNvSpPr>
            <a:spLocks noGrp="1"/>
          </p:cNvSpPr>
          <p:nvPr/>
        </p:nvSpPr>
        <p:spPr>
          <a:xfrm>
            <a:off x="868680" y="1645920"/>
            <a:ext cx="2971800" cy="457200"/>
          </a:xfrm>
          <a:prstGeom prst="rect">
            <a:avLst/>
          </a:prstGeom>
          <a:noFill/>
        </p:spPr>
        <p:txBody>
          <a:bodyPr wrap="square" lIns="0" tIns="0" rIns="0" bIns="0" anchor="ctr"/>
          <a:lstStyle/>
          <a:p>
            <a:pPr marL="0" indent="0">
              <a:buNone/>
            </a:pPr>
            <a:r>
              <a:rPr sz="1600" b="1">
                <a:solidFill>
                  <a:srgbClr val="171A17"/>
                </a:solidFill>
                <a:latin typeface="Cambria"/>
                <a:ea typeface="Cambria"/>
                <a:cs typeface="Cambria"/>
              </a:rPr>
              <a:t>Baseline</a:t>
            </a:r>
          </a:p>
        </p:txBody>
      </p:sp>
      <p:sp>
        <p:nvSpPr>
          <p:cNvPr id="10" name="Text 7">
            <a:extLst>
              <a:ext uri="{FF2B5EF4-FFF2-40B4-BE49-F238E27FC236}">
                <a16:creationId xmlns:a16="http://schemas.microsoft.com/office/drawing/2014/main" id="{F76DBABB-74D9-4ABF-9A4B-EF616D017522}"/>
              </a:ext>
            </a:extLst>
          </p:cNvPr>
          <p:cNvSpPr>
            <a:spLocks noGrp="1"/>
          </p:cNvSpPr>
          <p:nvPr/>
        </p:nvSpPr>
        <p:spPr>
          <a:xfrm>
            <a:off x="868680" y="2103120"/>
            <a:ext cx="2971800" cy="365760"/>
          </a:xfrm>
          <a:prstGeom prst="rect">
            <a:avLst/>
          </a:prstGeom>
          <a:noFill/>
        </p:spPr>
        <p:txBody>
          <a:bodyPr wrap="square" lIns="0" tIns="0" rIns="0" bIns="0" anchor="ctr"/>
          <a:lstStyle/>
          <a:p>
            <a:pPr marL="0" indent="0">
              <a:buNone/>
            </a:pPr>
            <a:r>
              <a:rPr sz="1150" b="1">
                <a:solidFill>
                  <a:srgbClr val="A97C1E"/>
                </a:solidFill>
                <a:latin typeface="Calibri"/>
                <a:ea typeface="Calibri"/>
                <a:cs typeface="Calibri"/>
              </a:rPr>
              <a:t>DummyClassifier</a:t>
            </a:r>
          </a:p>
        </p:txBody>
      </p:sp>
      <p:sp>
        <p:nvSpPr>
          <p:cNvPr id="11" name="Text 8">
            <a:extLst>
              <a:ext uri="{FF2B5EF4-FFF2-40B4-BE49-F238E27FC236}">
                <a16:creationId xmlns:a16="http://schemas.microsoft.com/office/drawing/2014/main" id="{76040D63-3761-4F2C-B6F6-744911B388BC}"/>
              </a:ext>
            </a:extLst>
          </p:cNvPr>
          <p:cNvSpPr>
            <a:spLocks noGrp="1"/>
          </p:cNvSpPr>
          <p:nvPr/>
        </p:nvSpPr>
        <p:spPr>
          <a:xfrm>
            <a:off x="868680" y="2514600"/>
            <a:ext cx="2971800" cy="77724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Referenzpunkt — immer häufigste Klasse</a:t>
            </a:r>
          </a:p>
        </p:txBody>
      </p:sp>
      <p:sp>
        <p:nvSpPr>
          <p:cNvPr id="12" name="Text 9">
            <a:extLst>
              <a:ext uri="{FF2B5EF4-FFF2-40B4-BE49-F238E27FC236}">
                <a16:creationId xmlns:a16="http://schemas.microsoft.com/office/drawing/2014/main" id="{9300DCF6-E380-43DC-9269-B8E1F17FF2FD}"/>
              </a:ext>
            </a:extLst>
          </p:cNvPr>
          <p:cNvSpPr>
            <a:spLocks noGrp="1"/>
          </p:cNvSpPr>
          <p:nvPr/>
        </p:nvSpPr>
        <p:spPr>
          <a:xfrm>
            <a:off x="4069080" y="2103120"/>
            <a:ext cx="292608" cy="457200"/>
          </a:xfrm>
          <a:prstGeom prst="rect">
            <a:avLst/>
          </a:prstGeom>
          <a:noFill/>
        </p:spPr>
        <p:txBody>
          <a:bodyPr wrap="square" lIns="0" tIns="0" rIns="0" bIns="0" anchor="ctr"/>
          <a:lstStyle/>
          <a:p>
            <a:pPr marL="0" indent="0" algn="ctr">
              <a:buNone/>
            </a:pPr>
            <a:r>
              <a:rPr sz="1600">
                <a:solidFill>
                  <a:srgbClr val="5B6259"/>
                </a:solidFill>
                <a:latin typeface="Calibri"/>
                <a:ea typeface="Calibri"/>
                <a:cs typeface="Calibri"/>
              </a:rPr>
              <a:t>→</a:t>
            </a:r>
          </a:p>
        </p:txBody>
      </p:sp>
      <p:sp>
        <p:nvSpPr>
          <p:cNvPr id="13" name="Shape 10">
            <a:extLst>
              <a:ext uri="{FF2B5EF4-FFF2-40B4-BE49-F238E27FC236}">
                <a16:creationId xmlns:a16="http://schemas.microsoft.com/office/drawing/2014/main" id="{4879DD4D-176C-4F32-B10E-7BB0571EC2DF}"/>
              </a:ext>
            </a:extLst>
          </p:cNvPr>
          <p:cNvSpPr>
            <a:spLocks noGrp="1"/>
          </p:cNvSpPr>
          <p:nvPr/>
        </p:nvSpPr>
        <p:spPr>
          <a:xfrm>
            <a:off x="4361688" y="1463040"/>
            <a:ext cx="3429000" cy="1920240"/>
          </a:xfrm>
          <a:prstGeom prst="roundRect">
            <a:avLst>
              <a:gd name="adj" fmla="val 285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4" name="Text 11">
            <a:extLst>
              <a:ext uri="{FF2B5EF4-FFF2-40B4-BE49-F238E27FC236}">
                <a16:creationId xmlns:a16="http://schemas.microsoft.com/office/drawing/2014/main" id="{1A38AC3D-FBF4-4C2B-8622-D2145C0CF8B5}"/>
              </a:ext>
            </a:extLst>
          </p:cNvPr>
          <p:cNvSpPr>
            <a:spLocks noGrp="1"/>
          </p:cNvSpPr>
          <p:nvPr/>
        </p:nvSpPr>
        <p:spPr>
          <a:xfrm>
            <a:off x="4590288" y="1645920"/>
            <a:ext cx="2971800" cy="457200"/>
          </a:xfrm>
          <a:prstGeom prst="rect">
            <a:avLst/>
          </a:prstGeom>
          <a:noFill/>
        </p:spPr>
        <p:txBody>
          <a:bodyPr wrap="square" lIns="0" tIns="0" rIns="0" bIns="0" anchor="ctr"/>
          <a:lstStyle/>
          <a:p>
            <a:pPr marL="0" indent="0">
              <a:buNone/>
            </a:pPr>
            <a:r>
              <a:rPr sz="1600" b="1">
                <a:solidFill>
                  <a:srgbClr val="171A17"/>
                </a:solidFill>
                <a:latin typeface="Cambria"/>
                <a:ea typeface="Cambria"/>
                <a:cs typeface="Cambria"/>
              </a:rPr>
              <a:t>Lineare Modelle</a:t>
            </a:r>
          </a:p>
        </p:txBody>
      </p:sp>
      <p:sp>
        <p:nvSpPr>
          <p:cNvPr id="15" name="Text 12">
            <a:extLst>
              <a:ext uri="{FF2B5EF4-FFF2-40B4-BE49-F238E27FC236}">
                <a16:creationId xmlns:a16="http://schemas.microsoft.com/office/drawing/2014/main" id="{C01CF4A4-C39E-4C8C-8A43-6DAF6621D21F}"/>
              </a:ext>
            </a:extLst>
          </p:cNvPr>
          <p:cNvSpPr>
            <a:spLocks noGrp="1"/>
          </p:cNvSpPr>
          <p:nvPr/>
        </p:nvSpPr>
        <p:spPr>
          <a:xfrm>
            <a:off x="4590288" y="2103120"/>
            <a:ext cx="2971800" cy="365760"/>
          </a:xfrm>
          <a:prstGeom prst="rect">
            <a:avLst/>
          </a:prstGeom>
          <a:noFill/>
        </p:spPr>
        <p:txBody>
          <a:bodyPr wrap="square" lIns="0" tIns="0" rIns="0" bIns="0" anchor="ctr"/>
          <a:lstStyle/>
          <a:p>
            <a:pPr marL="0" indent="0">
              <a:buNone/>
            </a:pPr>
            <a:r>
              <a:rPr sz="1150" b="1">
                <a:solidFill>
                  <a:srgbClr val="A97C1E"/>
                </a:solidFill>
                <a:latin typeface="Calibri"/>
                <a:ea typeface="Calibri"/>
                <a:cs typeface="Calibri"/>
              </a:rPr>
              <a:t>LogReg + Linear SVM</a:t>
            </a:r>
          </a:p>
        </p:txBody>
      </p:sp>
      <p:sp>
        <p:nvSpPr>
          <p:cNvPr id="16" name="Text 13">
            <a:extLst>
              <a:ext uri="{FF2B5EF4-FFF2-40B4-BE49-F238E27FC236}">
                <a16:creationId xmlns:a16="http://schemas.microsoft.com/office/drawing/2014/main" id="{EAA05BB5-A9E9-439B-ACEB-5A76A38E55B0}"/>
              </a:ext>
            </a:extLst>
          </p:cNvPr>
          <p:cNvSpPr>
            <a:spLocks noGrp="1"/>
          </p:cNvSpPr>
          <p:nvPr/>
        </p:nvSpPr>
        <p:spPr>
          <a:xfrm>
            <a:off x="4590288" y="2514600"/>
            <a:ext cx="2971800" cy="77724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Schnell, nachvollziehbar, starke Referenz</a:t>
            </a:r>
          </a:p>
        </p:txBody>
      </p:sp>
      <p:sp>
        <p:nvSpPr>
          <p:cNvPr id="17" name="Text 14">
            <a:extLst>
              <a:ext uri="{FF2B5EF4-FFF2-40B4-BE49-F238E27FC236}">
                <a16:creationId xmlns:a16="http://schemas.microsoft.com/office/drawing/2014/main" id="{05D4357B-C477-4963-B640-C096287643BE}"/>
              </a:ext>
            </a:extLst>
          </p:cNvPr>
          <p:cNvSpPr>
            <a:spLocks noGrp="1"/>
          </p:cNvSpPr>
          <p:nvPr/>
        </p:nvSpPr>
        <p:spPr>
          <a:xfrm>
            <a:off x="7790688" y="2103120"/>
            <a:ext cx="292608" cy="457200"/>
          </a:xfrm>
          <a:prstGeom prst="rect">
            <a:avLst/>
          </a:prstGeom>
          <a:noFill/>
        </p:spPr>
        <p:txBody>
          <a:bodyPr wrap="square" lIns="0" tIns="0" rIns="0" bIns="0" anchor="ctr"/>
          <a:lstStyle/>
          <a:p>
            <a:pPr marL="0" indent="0" algn="ctr">
              <a:buNone/>
            </a:pPr>
            <a:r>
              <a:rPr sz="1600">
                <a:solidFill>
                  <a:srgbClr val="5B6259"/>
                </a:solidFill>
                <a:latin typeface="Calibri"/>
                <a:ea typeface="Calibri"/>
                <a:cs typeface="Calibri"/>
              </a:rPr>
              <a:t>→</a:t>
            </a:r>
          </a:p>
        </p:txBody>
      </p:sp>
      <p:sp>
        <p:nvSpPr>
          <p:cNvPr id="18" name="Shape 15">
            <a:extLst>
              <a:ext uri="{FF2B5EF4-FFF2-40B4-BE49-F238E27FC236}">
                <a16:creationId xmlns:a16="http://schemas.microsoft.com/office/drawing/2014/main" id="{73EF7197-2A3A-4991-9E7C-4377B1CD4888}"/>
              </a:ext>
            </a:extLst>
          </p:cNvPr>
          <p:cNvSpPr>
            <a:spLocks noGrp="1"/>
          </p:cNvSpPr>
          <p:nvPr/>
        </p:nvSpPr>
        <p:spPr>
          <a:xfrm>
            <a:off x="8083296" y="1463040"/>
            <a:ext cx="3429000" cy="1920240"/>
          </a:xfrm>
          <a:prstGeom prst="roundRect">
            <a:avLst>
              <a:gd name="adj" fmla="val 2857"/>
            </a:avLst>
          </a:prstGeom>
          <a:solidFill>
            <a:srgbClr val="2F5D53"/>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A9E2AEBD-9203-4D80-8E5B-88A31A568D7A}"/>
              </a:ext>
            </a:extLst>
          </p:cNvPr>
          <p:cNvSpPr>
            <a:spLocks noGrp="1"/>
          </p:cNvSpPr>
          <p:nvPr/>
        </p:nvSpPr>
        <p:spPr>
          <a:xfrm>
            <a:off x="8311896" y="1645920"/>
            <a:ext cx="2971800" cy="457200"/>
          </a:xfrm>
          <a:prstGeom prst="rect">
            <a:avLst/>
          </a:prstGeom>
          <a:noFill/>
        </p:spPr>
        <p:txBody>
          <a:bodyPr wrap="square" lIns="0" tIns="0" rIns="0" bIns="0" anchor="ctr"/>
          <a:lstStyle/>
          <a:p>
            <a:pPr marL="0" indent="0">
              <a:buNone/>
            </a:pPr>
            <a:r>
              <a:rPr sz="1600" b="1">
                <a:solidFill>
                  <a:srgbClr val="FFFFFF"/>
                </a:solidFill>
                <a:latin typeface="Cambria"/>
                <a:ea typeface="Cambria"/>
                <a:cs typeface="Cambria"/>
              </a:rPr>
              <a:t>Baumfamilie</a:t>
            </a:r>
          </a:p>
        </p:txBody>
      </p:sp>
      <p:sp>
        <p:nvSpPr>
          <p:cNvPr id="20" name="Text 17">
            <a:extLst>
              <a:ext uri="{FF2B5EF4-FFF2-40B4-BE49-F238E27FC236}">
                <a16:creationId xmlns:a16="http://schemas.microsoft.com/office/drawing/2014/main" id="{F2B81D55-877C-43DB-812D-408AF31E7CFB}"/>
              </a:ext>
            </a:extLst>
          </p:cNvPr>
          <p:cNvSpPr>
            <a:spLocks noGrp="1"/>
          </p:cNvSpPr>
          <p:nvPr/>
        </p:nvSpPr>
        <p:spPr>
          <a:xfrm>
            <a:off x="8311896" y="2103120"/>
            <a:ext cx="2971800" cy="365760"/>
          </a:xfrm>
          <a:prstGeom prst="rect">
            <a:avLst/>
          </a:prstGeom>
          <a:noFill/>
        </p:spPr>
        <p:txBody>
          <a:bodyPr wrap="square" lIns="0" tIns="0" rIns="0" bIns="0" anchor="ctr"/>
          <a:lstStyle/>
          <a:p>
            <a:pPr marL="0" indent="0">
              <a:buNone/>
            </a:pPr>
            <a:r>
              <a:rPr sz="1150" b="1">
                <a:solidFill>
                  <a:srgbClr val="CFE3DA"/>
                </a:solidFill>
                <a:latin typeface="Calibri"/>
                <a:ea typeface="Calibri"/>
                <a:cs typeface="Calibri"/>
              </a:rPr>
              <a:t>Decision Tree + RF</a:t>
            </a:r>
          </a:p>
        </p:txBody>
      </p:sp>
      <p:sp>
        <p:nvSpPr>
          <p:cNvPr id="21" name="Text 18">
            <a:extLst>
              <a:ext uri="{FF2B5EF4-FFF2-40B4-BE49-F238E27FC236}">
                <a16:creationId xmlns:a16="http://schemas.microsoft.com/office/drawing/2014/main" id="{ED91016C-2AB0-4199-9956-73ACD3CDFF86}"/>
              </a:ext>
            </a:extLst>
          </p:cNvPr>
          <p:cNvSpPr>
            <a:spLocks noGrp="1"/>
          </p:cNvSpPr>
          <p:nvPr/>
        </p:nvSpPr>
        <p:spPr>
          <a:xfrm>
            <a:off x="8311896" y="2514600"/>
            <a:ext cx="2971800" cy="777240"/>
          </a:xfrm>
          <a:prstGeom prst="rect">
            <a:avLst/>
          </a:prstGeom>
          <a:noFill/>
        </p:spPr>
        <p:txBody>
          <a:bodyPr wrap="square" lIns="0" tIns="0" rIns="0" bIns="0" anchor="ctr"/>
          <a:lstStyle/>
          <a:p>
            <a:pPr marL="0" indent="0">
              <a:buNone/>
            </a:pPr>
            <a:r>
              <a:rPr sz="1200">
                <a:solidFill>
                  <a:srgbClr val="E4EEE8"/>
                </a:solidFill>
                <a:latin typeface="Calibri"/>
                <a:ea typeface="Calibri"/>
                <a:cs typeface="Calibri"/>
              </a:rPr>
              <a:t>Nichtlinear, erklärbar, vergleichbar</a:t>
            </a:r>
          </a:p>
        </p:txBody>
      </p:sp>
      <p:sp>
        <p:nvSpPr>
          <p:cNvPr id="22" name="Text 19">
            <a:extLst>
              <a:ext uri="{FF2B5EF4-FFF2-40B4-BE49-F238E27FC236}">
                <a16:creationId xmlns:a16="http://schemas.microsoft.com/office/drawing/2014/main" id="{694D214C-7B85-44D8-8477-8798430F9856}"/>
              </a:ext>
            </a:extLst>
          </p:cNvPr>
          <p:cNvSpPr>
            <a:spLocks noGrp="1"/>
          </p:cNvSpPr>
          <p:nvPr/>
        </p:nvSpPr>
        <p:spPr>
          <a:xfrm>
            <a:off x="640080" y="3703320"/>
            <a:ext cx="10881360" cy="365760"/>
          </a:xfrm>
          <a:prstGeom prst="rect">
            <a:avLst/>
          </a:prstGeom>
          <a:noFill/>
        </p:spPr>
        <p:txBody>
          <a:bodyPr wrap="square" lIns="0" tIns="0" rIns="0" bIns="0" anchor="ctr"/>
          <a:lstStyle/>
          <a:p>
            <a:pPr marL="0" indent="0">
              <a:buNone/>
            </a:pPr>
            <a:r>
              <a:rPr sz="1500" b="1">
                <a:solidFill>
                  <a:srgbClr val="2F5D53"/>
                </a:solidFill>
                <a:latin typeface="Cambria"/>
                <a:ea typeface="Cambria"/>
                <a:cs typeface="Cambria"/>
              </a:rPr>
              <a:t>Warum fünf Modellgenerationen?</a:t>
            </a:r>
          </a:p>
        </p:txBody>
      </p:sp>
      <p:sp>
        <p:nvSpPr>
          <p:cNvPr id="23" name="Text 20">
            <a:extLst>
              <a:ext uri="{FF2B5EF4-FFF2-40B4-BE49-F238E27FC236}">
                <a16:creationId xmlns:a16="http://schemas.microsoft.com/office/drawing/2014/main" id="{8EE3145F-B8A8-4E5A-B4B4-46849C4048A5}"/>
              </a:ext>
            </a:extLst>
          </p:cNvPr>
          <p:cNvSpPr>
            <a:spLocks noGrp="1"/>
          </p:cNvSpPr>
          <p:nvPr/>
        </p:nvSpPr>
        <p:spPr>
          <a:xfrm>
            <a:off x="640080" y="4114800"/>
            <a:ext cx="10881360" cy="1737360"/>
          </a:xfrm>
          <a:prstGeom prst="rect">
            <a:avLst/>
          </a:prstGeom>
          <a:noFill/>
        </p:spPr>
        <p:txBody>
          <a:bodyPr wrap="square" lIns="0" tIns="0" rIns="0" bIns="0" anchor="t"/>
          <a:lstStyle/>
          <a:p>
            <a:pPr marL="228600" indent="-228600">
              <a:spcAft>
                <a:spcPts val="900"/>
              </a:spcAft>
              <a:buSzPct val="100000"/>
              <a:buChar char="▪"/>
            </a:pPr>
            <a:r>
              <a:rPr sz="1350">
                <a:solidFill>
                  <a:srgbClr val="171A17"/>
                </a:solidFill>
                <a:latin typeface="Calibri"/>
                <a:ea typeface="Calibri"/>
                <a:cs typeface="Calibri"/>
              </a:rPr>
              <a:t>Baseline trennt Mehrwert von Klassenhäufigkeit</a:t>
            </a:r>
          </a:p>
          <a:p>
            <a:pPr marL="228600" indent="-228600">
              <a:spcAft>
                <a:spcPts val="900"/>
              </a:spcAft>
              <a:buSzPct val="100000"/>
              <a:buChar char="▪"/>
            </a:pPr>
            <a:r>
              <a:rPr sz="1350">
                <a:solidFill>
                  <a:srgbClr val="171A17"/>
                </a:solidFill>
                <a:latin typeface="Calibri"/>
                <a:ea typeface="Calibri"/>
                <a:cs typeface="Calibri"/>
              </a:rPr>
              <a:t>LogReg und Linear SVM prüfen lineare Signalstruktur</a:t>
            </a:r>
          </a:p>
          <a:p>
            <a:pPr marL="228600" indent="-228600">
              <a:spcAft>
                <a:spcPts val="900"/>
              </a:spcAft>
              <a:buSzPct val="100000"/>
              <a:buChar char="▪"/>
            </a:pPr>
            <a:r>
              <a:rPr sz="1350">
                <a:solidFill>
                  <a:srgbClr val="171A17"/>
                </a:solidFill>
                <a:latin typeface="Calibri"/>
                <a:ea typeface="Calibri"/>
                <a:cs typeface="Calibri"/>
              </a:rPr>
              <a:t>Decision Tree zeigt den Schritt zu nichtlinearen Regeln</a:t>
            </a:r>
          </a:p>
          <a:p>
            <a:pPr marL="228600" indent="-228600">
              <a:spcAft>
                <a:spcPts val="900"/>
              </a:spcAft>
              <a:buSzPct val="100000"/>
              <a:buChar char="▪"/>
            </a:pPr>
            <a:r>
              <a:rPr sz="1350">
                <a:solidFill>
                  <a:srgbClr val="171A17"/>
                </a:solidFill>
                <a:latin typeface="Calibri"/>
                <a:ea typeface="Calibri"/>
                <a:cs typeface="Calibri"/>
              </a:rPr>
              <a:t>Random Forest reduziert Varianz und liefert Feature Importance</a:t>
            </a:r>
          </a:p>
        </p:txBody>
      </p:sp>
      <p:sp>
        <p:nvSpPr>
          <p:cNvPr id="24" name="Shape 21">
            <a:extLst>
              <a:ext uri="{FF2B5EF4-FFF2-40B4-BE49-F238E27FC236}">
                <a16:creationId xmlns:a16="http://schemas.microsoft.com/office/drawing/2014/main" id="{E030D562-E0B3-4192-B52E-E42D8ED24977}"/>
              </a:ext>
            </a:extLst>
          </p:cNvPr>
          <p:cNvSpPr>
            <a:spLocks noGrp="1"/>
          </p:cNvSpPr>
          <p:nvPr/>
        </p:nvSpPr>
        <p:spPr>
          <a:xfrm>
            <a:off x="640080" y="5989320"/>
            <a:ext cx="10881360" cy="502920"/>
          </a:xfrm>
          <a:prstGeom prst="roundRect">
            <a:avLst>
              <a:gd name="adj" fmla="val 10909"/>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5" name="Text 22">
            <a:extLst>
              <a:ext uri="{FF2B5EF4-FFF2-40B4-BE49-F238E27FC236}">
                <a16:creationId xmlns:a16="http://schemas.microsoft.com/office/drawing/2014/main" id="{CA8A1020-6333-46D9-ACFF-AB987CAF6738}"/>
              </a:ext>
            </a:extLst>
          </p:cNvPr>
          <p:cNvSpPr>
            <a:spLocks noGrp="1"/>
          </p:cNvSpPr>
          <p:nvPr/>
        </p:nvSpPr>
        <p:spPr>
          <a:xfrm>
            <a:off x="914400" y="5989320"/>
            <a:ext cx="10332720" cy="502920"/>
          </a:xfrm>
          <a:prstGeom prst="rect">
            <a:avLst/>
          </a:prstGeom>
          <a:noFill/>
        </p:spPr>
        <p:txBody>
          <a:bodyPr wrap="square" lIns="0" tIns="0" rIns="0" bIns="0" anchor="ctr"/>
          <a:lstStyle/>
          <a:p>
            <a:pPr marL="0" indent="0">
              <a:buNone/>
            </a:pPr>
            <a:r>
              <a:rPr sz="1150" i="1">
                <a:solidFill>
                  <a:srgbClr val="A97C1E"/>
                </a:solidFill>
                <a:latin typeface="Calibri"/>
                <a:ea typeface="Calibri"/>
                <a:cs typeface="Calibri"/>
              </a:rPr>
              <a:t>Kein neuronales Netz: Datengröße und Feature-Set rechtfertigen die Komplexität nicht — Occam’s Razor.</a:t>
            </a:r>
          </a:p>
        </p:txBody>
      </p:sp>
      <p:sp>
        <p:nvSpPr>
          <p:cNvPr id="26" name="Text 23">
            <a:extLst>
              <a:ext uri="{FF2B5EF4-FFF2-40B4-BE49-F238E27FC236}">
                <a16:creationId xmlns:a16="http://schemas.microsoft.com/office/drawing/2014/main" id="{E79C876B-B0E5-4F60-B953-A1965E9E2113}"/>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7" name="Text 24">
            <a:extLst>
              <a:ext uri="{FF2B5EF4-FFF2-40B4-BE49-F238E27FC236}">
                <a16:creationId xmlns:a16="http://schemas.microsoft.com/office/drawing/2014/main" id="{506B47F0-5EDD-40AD-A36F-C794C953A11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16</a:t>
            </a:r>
          </a:p>
        </p:txBody>
      </p:sp>
    </p:spTree>
    <p:extLst>
      <p:ext uri="{BB962C8B-B14F-4D97-AF65-F5344CB8AC3E}">
        <p14:creationId xmlns:p14="http://schemas.microsoft.com/office/powerpoint/2010/main" val="20146433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8C70C58-2EDE-4851-94C1-7DE788267054}"/>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7"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FEF6B0DC-5F47-47C4-8B1D-932E372B4DF4}"/>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8 · A — ADAPTION</a:t>
            </a:r>
          </a:p>
        </p:txBody>
      </p:sp>
      <p:sp>
        <p:nvSpPr>
          <p:cNvPr id="5" name="Text 2">
            <a:extLst>
              <a:ext uri="{FF2B5EF4-FFF2-40B4-BE49-F238E27FC236}">
                <a16:creationId xmlns:a16="http://schemas.microsoft.com/office/drawing/2014/main" id="{02D87300-2658-4AF4-8D1B-D1B689421CF1}"/>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Training ohne Zukunftswissen</a:t>
            </a:r>
          </a:p>
        </p:txBody>
      </p:sp>
      <p:sp>
        <p:nvSpPr>
          <p:cNvPr id="6" name="Shape 3">
            <a:extLst>
              <a:ext uri="{FF2B5EF4-FFF2-40B4-BE49-F238E27FC236}">
                <a16:creationId xmlns:a16="http://schemas.microsoft.com/office/drawing/2014/main" id="{B55EED33-903A-4055-A450-B677A2C70334}"/>
              </a:ext>
            </a:extLst>
          </p:cNvPr>
          <p:cNvSpPr>
            <a:spLocks noGrp="1"/>
          </p:cNvSpPr>
          <p:nvPr/>
        </p:nvSpPr>
        <p:spPr>
          <a:xfrm>
            <a:off x="10643616" y="457200"/>
            <a:ext cx="1088136"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46876B6F-6B00-48B2-B98A-43D73F4CC63E}"/>
              </a:ext>
            </a:extLst>
          </p:cNvPr>
          <p:cNvSpPr>
            <a:spLocks noGrp="1"/>
          </p:cNvSpPr>
          <p:nvPr/>
        </p:nvSpPr>
        <p:spPr>
          <a:xfrm>
            <a:off x="10643616" y="457200"/>
            <a:ext cx="1088136"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1,5 Min</a:t>
            </a:r>
          </a:p>
        </p:txBody>
      </p:sp>
      <p:sp>
        <p:nvSpPr>
          <p:cNvPr id="8" name="Shape 5">
            <a:extLst>
              <a:ext uri="{FF2B5EF4-FFF2-40B4-BE49-F238E27FC236}">
                <a16:creationId xmlns:a16="http://schemas.microsoft.com/office/drawing/2014/main" id="{61AD5388-4440-4992-8DA9-768C65BC2AFE}"/>
              </a:ext>
            </a:extLst>
          </p:cNvPr>
          <p:cNvSpPr>
            <a:spLocks noGrp="1"/>
          </p:cNvSpPr>
          <p:nvPr/>
        </p:nvSpPr>
        <p:spPr>
          <a:xfrm>
            <a:off x="640080" y="1508760"/>
            <a:ext cx="5257800" cy="548640"/>
          </a:xfrm>
          <a:prstGeom prst="roundRect">
            <a:avLst>
              <a:gd name="adj" fmla="val 10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F35E1FAA-A5B6-4B96-81BB-72632E4E6CAC}"/>
              </a:ext>
            </a:extLst>
          </p:cNvPr>
          <p:cNvSpPr>
            <a:spLocks noGrp="1"/>
          </p:cNvSpPr>
          <p:nvPr/>
        </p:nvSpPr>
        <p:spPr>
          <a:xfrm>
            <a:off x="868680" y="1508760"/>
            <a:ext cx="4800600" cy="548640"/>
          </a:xfrm>
          <a:prstGeom prst="rect">
            <a:avLst/>
          </a:prstGeom>
          <a:noFill/>
        </p:spPr>
        <p:txBody>
          <a:bodyPr wrap="square" lIns="0" tIns="0" rIns="0" bIns="0" anchor="ctr"/>
          <a:lstStyle/>
          <a:p>
            <a:pPr marL="0" indent="0">
              <a:buNone/>
            </a:pPr>
            <a:r>
              <a:rPr sz="1250" b="1">
                <a:solidFill>
                  <a:srgbClr val="A97C1E"/>
                </a:solidFill>
                <a:latin typeface="Calibri"/>
                <a:ea typeface="Calibri"/>
                <a:cs typeface="Calibri"/>
              </a:rPr>
              <a:t>n_estimators = 200</a:t>
            </a:r>
          </a:p>
        </p:txBody>
      </p:sp>
      <p:sp>
        <p:nvSpPr>
          <p:cNvPr id="10" name="Shape 7">
            <a:extLst>
              <a:ext uri="{FF2B5EF4-FFF2-40B4-BE49-F238E27FC236}">
                <a16:creationId xmlns:a16="http://schemas.microsoft.com/office/drawing/2014/main" id="{7A7BF0F7-19CB-4751-B984-4817C3BA0DEA}"/>
              </a:ext>
            </a:extLst>
          </p:cNvPr>
          <p:cNvSpPr>
            <a:spLocks noGrp="1"/>
          </p:cNvSpPr>
          <p:nvPr/>
        </p:nvSpPr>
        <p:spPr>
          <a:xfrm>
            <a:off x="640080" y="2167128"/>
            <a:ext cx="5257800" cy="548640"/>
          </a:xfrm>
          <a:prstGeom prst="roundRect">
            <a:avLst>
              <a:gd name="adj" fmla="val 10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1" name="Text 8">
            <a:extLst>
              <a:ext uri="{FF2B5EF4-FFF2-40B4-BE49-F238E27FC236}">
                <a16:creationId xmlns:a16="http://schemas.microsoft.com/office/drawing/2014/main" id="{8B00BD04-E6F6-48D4-BD64-889CDD80D4BA}"/>
              </a:ext>
            </a:extLst>
          </p:cNvPr>
          <p:cNvSpPr>
            <a:spLocks noGrp="1"/>
          </p:cNvSpPr>
          <p:nvPr/>
        </p:nvSpPr>
        <p:spPr>
          <a:xfrm>
            <a:off x="868680" y="2167128"/>
            <a:ext cx="4800600" cy="548640"/>
          </a:xfrm>
          <a:prstGeom prst="rect">
            <a:avLst/>
          </a:prstGeom>
          <a:noFill/>
        </p:spPr>
        <p:txBody>
          <a:bodyPr wrap="square" lIns="0" tIns="0" rIns="0" bIns="0" anchor="ctr"/>
          <a:lstStyle/>
          <a:p>
            <a:pPr marL="0" indent="0">
              <a:buNone/>
            </a:pPr>
            <a:r>
              <a:rPr sz="1250" b="1">
                <a:solidFill>
                  <a:srgbClr val="A97C1E"/>
                </a:solidFill>
                <a:latin typeface="Calibri"/>
                <a:ea typeface="Calibri"/>
                <a:cs typeface="Calibri"/>
              </a:rPr>
              <a:t>max_depth = 8</a:t>
            </a:r>
          </a:p>
        </p:txBody>
      </p:sp>
      <p:sp>
        <p:nvSpPr>
          <p:cNvPr id="12" name="Shape 9">
            <a:extLst>
              <a:ext uri="{FF2B5EF4-FFF2-40B4-BE49-F238E27FC236}">
                <a16:creationId xmlns:a16="http://schemas.microsoft.com/office/drawing/2014/main" id="{47C6C1E2-40E4-43BC-8AE5-378B35BAC4E0}"/>
              </a:ext>
            </a:extLst>
          </p:cNvPr>
          <p:cNvSpPr>
            <a:spLocks noGrp="1"/>
          </p:cNvSpPr>
          <p:nvPr/>
        </p:nvSpPr>
        <p:spPr>
          <a:xfrm>
            <a:off x="640080" y="2825496"/>
            <a:ext cx="5257800" cy="548640"/>
          </a:xfrm>
          <a:prstGeom prst="roundRect">
            <a:avLst>
              <a:gd name="adj" fmla="val 10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3CCAB258-79E7-4142-B4B0-F4C41CF2C98E}"/>
              </a:ext>
            </a:extLst>
          </p:cNvPr>
          <p:cNvSpPr>
            <a:spLocks noGrp="1"/>
          </p:cNvSpPr>
          <p:nvPr/>
        </p:nvSpPr>
        <p:spPr>
          <a:xfrm>
            <a:off x="868680" y="2825496"/>
            <a:ext cx="4800600" cy="548640"/>
          </a:xfrm>
          <a:prstGeom prst="rect">
            <a:avLst/>
          </a:prstGeom>
          <a:noFill/>
        </p:spPr>
        <p:txBody>
          <a:bodyPr wrap="square" lIns="0" tIns="0" rIns="0" bIns="0" anchor="ctr"/>
          <a:lstStyle/>
          <a:p>
            <a:pPr marL="0" indent="0">
              <a:buNone/>
            </a:pPr>
            <a:r>
              <a:rPr sz="1250" b="1">
                <a:solidFill>
                  <a:srgbClr val="A97C1E"/>
                </a:solidFill>
                <a:latin typeface="Calibri"/>
                <a:ea typeface="Calibri"/>
                <a:cs typeface="Calibri"/>
              </a:rPr>
              <a:t>min_samples_leaf = 5</a:t>
            </a:r>
          </a:p>
        </p:txBody>
      </p:sp>
      <p:sp>
        <p:nvSpPr>
          <p:cNvPr id="14" name="Text 11">
            <a:extLst>
              <a:ext uri="{FF2B5EF4-FFF2-40B4-BE49-F238E27FC236}">
                <a16:creationId xmlns:a16="http://schemas.microsoft.com/office/drawing/2014/main" id="{D055E6A6-2D17-4BDC-8258-380F0ACF0EEA}"/>
              </a:ext>
            </a:extLst>
          </p:cNvPr>
          <p:cNvSpPr>
            <a:spLocks noGrp="1"/>
          </p:cNvSpPr>
          <p:nvPr/>
        </p:nvSpPr>
        <p:spPr>
          <a:xfrm>
            <a:off x="6126480" y="1508760"/>
            <a:ext cx="5394960" cy="54864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200 Bäume für stabile Schätzungen</a:t>
            </a:r>
          </a:p>
        </p:txBody>
      </p:sp>
      <p:sp>
        <p:nvSpPr>
          <p:cNvPr id="15" name="Text 12">
            <a:extLst>
              <a:ext uri="{FF2B5EF4-FFF2-40B4-BE49-F238E27FC236}">
                <a16:creationId xmlns:a16="http://schemas.microsoft.com/office/drawing/2014/main" id="{25859FB6-A341-43E6-8B94-CFAA69F52A4A}"/>
              </a:ext>
            </a:extLst>
          </p:cNvPr>
          <p:cNvSpPr>
            <a:spLocks noGrp="1"/>
          </p:cNvSpPr>
          <p:nvPr/>
        </p:nvSpPr>
        <p:spPr>
          <a:xfrm>
            <a:off x="6126480" y="2167128"/>
            <a:ext cx="5394960" cy="54864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Tiefe begrenzt die Modellkomplexität</a:t>
            </a:r>
          </a:p>
        </p:txBody>
      </p:sp>
      <p:sp>
        <p:nvSpPr>
          <p:cNvPr id="16" name="Text 13">
            <a:extLst>
              <a:ext uri="{FF2B5EF4-FFF2-40B4-BE49-F238E27FC236}">
                <a16:creationId xmlns:a16="http://schemas.microsoft.com/office/drawing/2014/main" id="{C905CEC4-6E7B-4389-9E16-85A1EC4F8664}"/>
              </a:ext>
            </a:extLst>
          </p:cNvPr>
          <p:cNvSpPr>
            <a:spLocks noGrp="1"/>
          </p:cNvSpPr>
          <p:nvPr/>
        </p:nvSpPr>
        <p:spPr>
          <a:xfrm>
            <a:off x="6126480" y="2825496"/>
            <a:ext cx="5394960" cy="54864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Blätter regularisiert gegen Rauschen</a:t>
            </a:r>
          </a:p>
        </p:txBody>
      </p:sp>
      <p:sp>
        <p:nvSpPr>
          <p:cNvPr id="17" name="Shape 14">
            <a:extLst>
              <a:ext uri="{FF2B5EF4-FFF2-40B4-BE49-F238E27FC236}">
                <a16:creationId xmlns:a16="http://schemas.microsoft.com/office/drawing/2014/main" id="{03E27F45-3A0E-4269-B100-3D4A4D41B29B}"/>
              </a:ext>
            </a:extLst>
          </p:cNvPr>
          <p:cNvSpPr>
            <a:spLocks noGrp="1"/>
          </p:cNvSpPr>
          <p:nvPr/>
        </p:nvSpPr>
        <p:spPr>
          <a:xfrm>
            <a:off x="640080" y="3703320"/>
            <a:ext cx="10881360" cy="1051560"/>
          </a:xfrm>
          <a:prstGeom prst="roundRect">
            <a:avLst>
              <a:gd name="adj" fmla="val 5217"/>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8" name="Text 15">
            <a:extLst>
              <a:ext uri="{FF2B5EF4-FFF2-40B4-BE49-F238E27FC236}">
                <a16:creationId xmlns:a16="http://schemas.microsoft.com/office/drawing/2014/main" id="{1DFDE3BA-DEE7-42A0-A954-5667A70C5678}"/>
              </a:ext>
            </a:extLst>
          </p:cNvPr>
          <p:cNvSpPr>
            <a:spLocks noGrp="1"/>
          </p:cNvSpPr>
          <p:nvPr/>
        </p:nvSpPr>
        <p:spPr>
          <a:xfrm>
            <a:off x="868680" y="3840480"/>
            <a:ext cx="4572000" cy="32004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Pipeline (Data-Leakage-Prävention)</a:t>
            </a:r>
          </a:p>
        </p:txBody>
      </p:sp>
      <p:sp>
        <p:nvSpPr>
          <p:cNvPr id="19" name="Text 16">
            <a:extLst>
              <a:ext uri="{FF2B5EF4-FFF2-40B4-BE49-F238E27FC236}">
                <a16:creationId xmlns:a16="http://schemas.microsoft.com/office/drawing/2014/main" id="{96CEB595-8568-4081-93D1-C0241E5510E5}"/>
              </a:ext>
            </a:extLst>
          </p:cNvPr>
          <p:cNvSpPr>
            <a:spLocks noGrp="1"/>
          </p:cNvSpPr>
          <p:nvPr/>
        </p:nvSpPr>
        <p:spPr>
          <a:xfrm>
            <a:off x="868680" y="4206240"/>
            <a:ext cx="10424160" cy="45720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Imputation  →  Scaling (nur LogReg/SVM)  →  Modell   —   Pipeline verhindert Leakage innerhalb jedes Trainingsfensters; Zeitordnung und Sperrzone schützen zusätzlich.</a:t>
            </a:r>
          </a:p>
        </p:txBody>
      </p:sp>
      <p:sp>
        <p:nvSpPr>
          <p:cNvPr id="20" name="Shape 17">
            <a:extLst>
              <a:ext uri="{FF2B5EF4-FFF2-40B4-BE49-F238E27FC236}">
                <a16:creationId xmlns:a16="http://schemas.microsoft.com/office/drawing/2014/main" id="{A9C0D473-7363-4DF5-8721-433BC374635B}"/>
              </a:ext>
            </a:extLst>
          </p:cNvPr>
          <p:cNvSpPr>
            <a:spLocks noGrp="1"/>
          </p:cNvSpPr>
          <p:nvPr/>
        </p:nvSpPr>
        <p:spPr>
          <a:xfrm>
            <a:off x="640080" y="4937760"/>
            <a:ext cx="10881360" cy="1554480"/>
          </a:xfrm>
          <a:prstGeom prst="roundRect">
            <a:avLst>
              <a:gd name="adj" fmla="val 3529"/>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1" name="Text 18">
            <a:extLst>
              <a:ext uri="{FF2B5EF4-FFF2-40B4-BE49-F238E27FC236}">
                <a16:creationId xmlns:a16="http://schemas.microsoft.com/office/drawing/2014/main" id="{6C26BB92-8B95-47B5-B4B8-8FBC77ECB2E6}"/>
              </a:ext>
            </a:extLst>
          </p:cNvPr>
          <p:cNvSpPr>
            <a:spLocks noGrp="1"/>
          </p:cNvSpPr>
          <p:nvPr/>
        </p:nvSpPr>
        <p:spPr>
          <a:xfrm>
            <a:off x="868680" y="5074920"/>
            <a:ext cx="7315200" cy="32004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Out-of-Time-Test + 4 Walk-forward-Folds</a:t>
            </a:r>
          </a:p>
        </p:txBody>
      </p:sp>
      <p:sp>
        <p:nvSpPr>
          <p:cNvPr id="22" name="Text 19">
            <a:extLst>
              <a:ext uri="{FF2B5EF4-FFF2-40B4-BE49-F238E27FC236}">
                <a16:creationId xmlns:a16="http://schemas.microsoft.com/office/drawing/2014/main" id="{DB078D13-53BE-4037-BB32-6445ECC851FB}"/>
              </a:ext>
            </a:extLst>
          </p:cNvPr>
          <p:cNvSpPr>
            <a:spLocks noGrp="1"/>
          </p:cNvSpPr>
          <p:nvPr/>
        </p:nvSpPr>
        <p:spPr>
          <a:xfrm>
            <a:off x="868680" y="5440680"/>
            <a:ext cx="10424160" cy="960120"/>
          </a:xfrm>
          <a:prstGeom prst="rect">
            <a:avLst/>
          </a:prstGeom>
          <a:noFill/>
        </p:spPr>
        <p:txBody>
          <a:bodyPr wrap="square" lIns="0" tIns="0" rIns="0" bIns="0" anchor="ctr"/>
          <a:lstStyle/>
          <a:p>
            <a:pPr marL="0" indent="0">
              <a:buNone/>
            </a:pPr>
            <a:r>
              <a:rPr sz="1300">
                <a:solidFill>
                  <a:srgbClr val="171A17"/>
                </a:solidFill>
                <a:latin typeface="Calibri"/>
                <a:ea typeface="Calibri"/>
                <a:cs typeface="Calibri"/>
              </a:rPr>
              <a:t>Training bis 09.10.2006, danach 20 Handelstage Sperrzone; unangetasteter Test vom 07.11.2006 bis 10.11.2017. Vier expandierende Walk-forward-Folds prüfen zusätzlich, ob das schwache Signal über Zeiträume stabil bleibt.</a:t>
            </a:r>
          </a:p>
        </p:txBody>
      </p:sp>
      <p:sp>
        <p:nvSpPr>
          <p:cNvPr id="23" name="Text 20">
            <a:extLst>
              <a:ext uri="{FF2B5EF4-FFF2-40B4-BE49-F238E27FC236}">
                <a16:creationId xmlns:a16="http://schemas.microsoft.com/office/drawing/2014/main" id="{252C8D37-5DF1-4C66-A47E-D4D074F13E1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4" name="Text 21">
            <a:extLst>
              <a:ext uri="{FF2B5EF4-FFF2-40B4-BE49-F238E27FC236}">
                <a16:creationId xmlns:a16="http://schemas.microsoft.com/office/drawing/2014/main" id="{D797C413-4B3D-4DAA-BCA2-1F69071F4CEE}"/>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17</a:t>
            </a:r>
          </a:p>
        </p:txBody>
      </p:sp>
    </p:spTree>
    <p:extLst>
      <p:ext uri="{BB962C8B-B14F-4D97-AF65-F5344CB8AC3E}">
        <p14:creationId xmlns:p14="http://schemas.microsoft.com/office/powerpoint/2010/main" val="414817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281A184-3C65-4E4E-8594-F16C5E243DB2}"/>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6"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3D65EEED-32FA-4AE8-BEA4-218967C18B05}"/>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8 · A — ADAPTION</a:t>
            </a:r>
          </a:p>
        </p:txBody>
      </p:sp>
      <p:sp>
        <p:nvSpPr>
          <p:cNvPr id="5" name="Text 2">
            <a:extLst>
              <a:ext uri="{FF2B5EF4-FFF2-40B4-BE49-F238E27FC236}">
                <a16:creationId xmlns:a16="http://schemas.microsoft.com/office/drawing/2014/main" id="{2D803DCD-0620-49E2-8F11-3C6D1D5B327B}"/>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Die Ergebnisse</a:t>
            </a:r>
          </a:p>
        </p:txBody>
      </p:sp>
      <p:graphicFrame>
        <p:nvGraphicFramePr>
          <p:cNvPr id="19" name="Table 0"/>
          <p:cNvGraphicFramePr/>
          <p:nvPr/>
        </p:nvGraphicFramePr>
        <p:xfrm>
          <a:off x="640080" y="1463040"/>
          <a:ext cx="108813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gridCol w="2596896">
                  <a:extLst>
                    <a:ext uri="{9D8B030D-6E8A-4147-A177-3AD203B41FA5}">
                      <a16:colId xmlns:a16="http://schemas.microsoft.com/office/drawing/2014/main" val="20003"/>
                    </a:ext>
                  </a:extLst>
                </a:gridCol>
              </a:tblGrid>
              <a:tr h="548640">
                <a:tc>
                  <a:txBody>
                    <a:bodyPr/>
                    <a:lstStyle/>
                    <a:p>
                      <a:pPr marL="0" indent="0" algn="l">
                        <a:buNone/>
                      </a:pPr>
                      <a:r>
                        <a:rPr sz="1300" b="1">
                          <a:solidFill>
                            <a:srgbClr val="FFFFFF"/>
                          </a:solidFill>
                          <a:latin typeface="Calibri"/>
                          <a:ea typeface="Calibri"/>
                          <a:cs typeface="Calibri"/>
                        </a:rPr>
                        <a:t>Metrik</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Baseline</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Decision Tree</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Random Forest</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extLst>
                  <a:ext uri="{0D108BD9-81ED-4DB2-BD59-A6C34878D82A}">
                    <a16:rowId xmlns:a16="http://schemas.microsoft.com/office/drawing/2014/main" val="10000"/>
                  </a:ext>
                </a:extLst>
              </a:tr>
              <a:tr h="548640">
                <a:tc>
                  <a:txBody>
                    <a:bodyPr/>
                    <a:lstStyle/>
                    <a:p>
                      <a:pPr marL="0" indent="0">
                        <a:buNone/>
                      </a:pPr>
                      <a:r>
                        <a:rPr sz="1300" b="1">
                          <a:solidFill>
                            <a:srgbClr val="171A17"/>
                          </a:solidFill>
                          <a:latin typeface="Calibri"/>
                          <a:ea typeface="Calibri"/>
                          <a:cs typeface="Calibri"/>
                        </a:rPr>
                        <a:t>Accuracy</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59,1 %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51,8 %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51,9 %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1"/>
                  </a:ext>
                </a:extLst>
              </a:tr>
              <a:tr h="548640">
                <a:tc>
                  <a:txBody>
                    <a:bodyPr/>
                    <a:lstStyle/>
                    <a:p>
                      <a:pPr marL="0" indent="0">
                        <a:buNone/>
                      </a:pPr>
                      <a:r>
                        <a:rPr sz="1300" b="1">
                          <a:solidFill>
                            <a:srgbClr val="171A17"/>
                          </a:solidFill>
                          <a:latin typeface="Calibri"/>
                          <a:ea typeface="Calibri"/>
                          <a:cs typeface="Calibri"/>
                        </a:rPr>
                        <a:t>Balanced Acc.</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50,0 %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51,3 %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51,3 %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2"/>
                  </a:ext>
                </a:extLst>
              </a:tr>
              <a:tr h="548640">
                <a:tc>
                  <a:txBody>
                    <a:bodyPr/>
                    <a:lstStyle/>
                    <a:p>
                      <a:pPr marL="0" indent="0">
                        <a:buNone/>
                      </a:pPr>
                      <a:r>
                        <a:rPr sz="1300" b="1">
                          <a:solidFill>
                            <a:srgbClr val="171A17"/>
                          </a:solidFill>
                          <a:latin typeface="Calibri"/>
                          <a:ea typeface="Calibri"/>
                          <a:cs typeface="Calibri"/>
                        </a:rPr>
                        <a:t>ROC-AUC</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0,500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0,518</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0,519</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3"/>
                  </a:ext>
                </a:extLst>
              </a:tr>
            </a:tbl>
          </a:graphicData>
        </a:graphic>
      </p:graphicFrame>
      <p:sp>
        <p:nvSpPr>
          <p:cNvPr id="7" name="Shape 3">
            <a:extLst>
              <a:ext uri="{FF2B5EF4-FFF2-40B4-BE49-F238E27FC236}">
                <a16:creationId xmlns:a16="http://schemas.microsoft.com/office/drawing/2014/main" id="{31FF8A83-35D5-4847-844A-87BFA9CAF2BA}"/>
              </a:ext>
            </a:extLst>
          </p:cNvPr>
          <p:cNvSpPr>
            <a:spLocks noGrp="1"/>
          </p:cNvSpPr>
          <p:nvPr/>
        </p:nvSpPr>
        <p:spPr>
          <a:xfrm>
            <a:off x="640080" y="3657600"/>
            <a:ext cx="10881360" cy="2651760"/>
          </a:xfrm>
          <a:prstGeom prst="roundRect">
            <a:avLst>
              <a:gd name="adj" fmla="val 2069"/>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Text 4">
            <a:extLst>
              <a:ext uri="{FF2B5EF4-FFF2-40B4-BE49-F238E27FC236}">
                <a16:creationId xmlns:a16="http://schemas.microsoft.com/office/drawing/2014/main" id="{72A0F0E3-F38C-43DB-A2EA-2291CE02A77C}"/>
              </a:ext>
            </a:extLst>
          </p:cNvPr>
          <p:cNvSpPr>
            <a:spLocks noGrp="1"/>
          </p:cNvSpPr>
          <p:nvPr/>
        </p:nvSpPr>
        <p:spPr>
          <a:xfrm>
            <a:off x="914400" y="3840480"/>
            <a:ext cx="10332720" cy="411480"/>
          </a:xfrm>
          <a:prstGeom prst="rect">
            <a:avLst/>
          </a:prstGeom>
          <a:noFill/>
        </p:spPr>
        <p:txBody>
          <a:bodyPr wrap="square" lIns="0" tIns="0" rIns="0" bIns="0" anchor="ctr"/>
          <a:lstStyle/>
          <a:p>
            <a:pPr marL="0" indent="0">
              <a:buNone/>
            </a:pPr>
            <a:r>
              <a:rPr sz="1700" b="1">
                <a:solidFill>
                  <a:srgbClr val="2F5D53"/>
                </a:solidFill>
                <a:latin typeface="Cambria"/>
                <a:ea typeface="Cambria"/>
                <a:cs typeface="Cambria"/>
              </a:rPr>
              <a:t>Was zeigt der ehrliche Out-of-Time-Test?</a:t>
            </a:r>
          </a:p>
        </p:txBody>
      </p:sp>
      <p:sp>
        <p:nvSpPr>
          <p:cNvPr id="9" name="Text 5">
            <a:extLst>
              <a:ext uri="{FF2B5EF4-FFF2-40B4-BE49-F238E27FC236}">
                <a16:creationId xmlns:a16="http://schemas.microsoft.com/office/drawing/2014/main" id="{4A31AB28-1022-4735-8F4A-CB16C61752A4}"/>
              </a:ext>
            </a:extLst>
          </p:cNvPr>
          <p:cNvSpPr>
            <a:spLocks noGrp="1"/>
          </p:cNvSpPr>
          <p:nvPr/>
        </p:nvSpPr>
        <p:spPr>
          <a:xfrm>
            <a:off x="914400" y="4343400"/>
            <a:ext cx="10332720" cy="1097280"/>
          </a:xfrm>
          <a:prstGeom prst="rect">
            <a:avLst/>
          </a:prstGeom>
          <a:noFill/>
        </p:spPr>
        <p:txBody>
          <a:bodyPr wrap="square" lIns="0" tIns="0" rIns="0" bIns="0" anchor="ctr"/>
          <a:lstStyle/>
          <a:p>
            <a:pPr marL="0" indent="0">
              <a:buNone/>
            </a:pPr>
            <a:r>
              <a:rPr sz="1350">
                <a:solidFill>
                  <a:srgbClr val="171A17"/>
                </a:solidFill>
                <a:latin typeface="Calibri"/>
                <a:ea typeface="Calibri"/>
                <a:cs typeface="Calibri"/>
              </a:rPr>
              <a:t>Die Accuracy des Random Forest liegt unter der Majority-Baseline. Balanced Accuracy und ROC-AUC liegen nur knapp über 0,5. Damit zeigt das Projekt keinen belastbaren Handelsvorteil — aber eine belastbare, reproduzierbare Negativdiagnose.</a:t>
            </a:r>
          </a:p>
        </p:txBody>
      </p:sp>
      <p:sp>
        <p:nvSpPr>
          <p:cNvPr id="10" name="Text 6">
            <a:extLst>
              <a:ext uri="{FF2B5EF4-FFF2-40B4-BE49-F238E27FC236}">
                <a16:creationId xmlns:a16="http://schemas.microsoft.com/office/drawing/2014/main" id="{0C42C712-6177-48E9-8C62-29D5090077EC}"/>
              </a:ext>
            </a:extLst>
          </p:cNvPr>
          <p:cNvSpPr>
            <a:spLocks noGrp="1"/>
          </p:cNvSpPr>
          <p:nvPr/>
        </p:nvSpPr>
        <p:spPr>
          <a:xfrm>
            <a:off x="914400" y="5532120"/>
            <a:ext cx="10332720" cy="594360"/>
          </a:xfrm>
          <a:prstGeom prst="rect">
            <a:avLst/>
          </a:prstGeom>
          <a:noFill/>
        </p:spPr>
        <p:txBody>
          <a:bodyPr wrap="square" lIns="0" tIns="0" rIns="0" bIns="0" anchor="ctr"/>
          <a:lstStyle/>
          <a:p>
            <a:pPr marL="0" indent="0">
              <a:buNone/>
            </a:pPr>
            <a:r>
              <a:rPr sz="1350" b="1">
                <a:solidFill>
                  <a:srgbClr val="2F5D53"/>
                </a:solidFill>
                <a:latin typeface="Calibri"/>
                <a:ea typeface="Calibri"/>
                <a:cs typeface="Calibri"/>
              </a:rPr>
              <a:t>Random Forest: ROC-AUC 0,519 im Test und 0,514 über vier Walk-forward-Folds. H1 wird nicht bestätigt; Komplexität ersetzt keine echte Information.</a:t>
            </a:r>
          </a:p>
        </p:txBody>
      </p:sp>
      <p:sp>
        <p:nvSpPr>
          <p:cNvPr id="11" name="Text 7">
            <a:extLst>
              <a:ext uri="{FF2B5EF4-FFF2-40B4-BE49-F238E27FC236}">
                <a16:creationId xmlns:a16="http://schemas.microsoft.com/office/drawing/2014/main" id="{67305E45-F99F-467C-B536-76DD19F41308}"/>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2" name="Text 8">
            <a:extLst>
              <a:ext uri="{FF2B5EF4-FFF2-40B4-BE49-F238E27FC236}">
                <a16:creationId xmlns:a16="http://schemas.microsoft.com/office/drawing/2014/main" id="{D6830D31-BF83-4D52-BCAA-2CD2C579640D}"/>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18</a:t>
            </a:r>
          </a:p>
        </p:txBody>
      </p:sp>
    </p:spTree>
    <p:extLst>
      <p:ext uri="{BB962C8B-B14F-4D97-AF65-F5344CB8AC3E}">
        <p14:creationId xmlns:p14="http://schemas.microsoft.com/office/powerpoint/2010/main" val="2433988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281A184-3C65-4E4E-8594-F16C5E243DB2}"/>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6"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3D65EEED-32FA-4AE8-BEA4-218967C18B05}"/>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8 · A — ADAPTION</a:t>
            </a:r>
          </a:p>
        </p:txBody>
      </p:sp>
      <p:sp>
        <p:nvSpPr>
          <p:cNvPr id="5" name="Text 2">
            <a:extLst>
              <a:ext uri="{FF2B5EF4-FFF2-40B4-BE49-F238E27FC236}">
                <a16:creationId xmlns:a16="http://schemas.microsoft.com/office/drawing/2014/main" id="{2D803DCD-0620-49E2-8F11-3C6D1D5B327B}"/>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Was Methodik wert ist</a:t>
            </a:r>
          </a:p>
        </p:txBody>
      </p:sp>
      <p:graphicFrame>
        <p:nvGraphicFramePr>
          <p:cNvPr id="19" name="Table 0"/>
          <p:cNvGraphicFramePr/>
          <p:nvPr/>
        </p:nvGraphicFramePr>
        <p:xfrm>
          <a:off x="640080" y="1463040"/>
          <a:ext cx="108813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gridCol w="2596896">
                  <a:extLst>
                    <a:ext uri="{9D8B030D-6E8A-4147-A177-3AD203B41FA5}">
                      <a16:colId xmlns:a16="http://schemas.microsoft.com/office/drawing/2014/main" val="20003"/>
                    </a:ext>
                  </a:extLst>
                </a:gridCol>
              </a:tblGrid>
              <a:tr h="548640">
                <a:tc>
                  <a:txBody>
                    <a:bodyPr/>
                    <a:lstStyle/>
                    <a:p>
                      <a:pPr marL="0" indent="0" algn="l">
                        <a:buNone/>
                      </a:pPr>
                      <a:r>
                        <a:rPr sz="1300" b="1">
                          <a:solidFill>
                            <a:srgbClr val="FFFFFF"/>
                          </a:solidFill>
                          <a:latin typeface="Calibri"/>
                          <a:ea typeface="Calibri"/>
                          <a:cs typeface="Calibri"/>
                        </a:rPr>
                        <a:t>Aufteilung</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ROC-AUC</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Accuracy</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Leakage</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extLst>
                  <a:ext uri="{0D108BD9-81ED-4DB2-BD59-A6C34878D82A}">
                    <a16:rowId xmlns:a16="http://schemas.microsoft.com/office/drawing/2014/main" val="10000"/>
                  </a:ext>
                </a:extLst>
              </a:tr>
              <a:tr h="548640">
                <a:tc>
                  <a:txBody>
                    <a:bodyPr/>
                    <a:lstStyle/>
                    <a:p>
                      <a:pPr marL="0" indent="0">
                        <a:buNone/>
                      </a:pPr>
                      <a:r>
                        <a:rPr sz="1300" b="1">
                          <a:solidFill>
                            <a:srgbClr val="171A17"/>
                          </a:solidFill>
                          <a:latin typeface="Calibri"/>
                          <a:ea typeface="Calibri"/>
                          <a:cs typeface="Calibri"/>
                        </a:rPr>
                        <a:t>Zeitlich + Sperrzone (v1.0)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0,519</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51,9 %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keines</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1"/>
                  </a:ext>
                </a:extLst>
              </a:tr>
              <a:tr h="548640">
                <a:tc>
                  <a:txBody>
                    <a:bodyPr/>
                    <a:lstStyle/>
                    <a:p>
                      <a:pPr marL="0" indent="0">
                        <a:buNone/>
                      </a:pPr>
                      <a:r>
                        <a:rPr sz="1300" b="1">
                          <a:solidFill>
                            <a:srgbClr val="171A17"/>
                          </a:solidFill>
                          <a:latin typeface="Calibri"/>
                          <a:ea typeface="Calibri"/>
                          <a:cs typeface="Calibri"/>
                        </a:rPr>
                        <a:t>Zeitlich, ohne Sperrzone</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0,524</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53,1 %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Zielhorizont-Overlap</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2"/>
                  </a:ext>
                </a:extLst>
              </a:tr>
              <a:tr h="548640">
                <a:tc>
                  <a:txBody>
                    <a:bodyPr/>
                    <a:lstStyle/>
                    <a:p>
                      <a:pPr marL="0" indent="0">
                        <a:buNone/>
                      </a:pPr>
                      <a:r>
                        <a:rPr sz="1300" b="1">
                          <a:solidFill>
                            <a:srgbClr val="171A17"/>
                          </a:solidFill>
                          <a:latin typeface="Calibri"/>
                          <a:ea typeface="Calibri"/>
                          <a:cs typeface="Calibri"/>
                        </a:rPr>
                        <a:t>Naiver Zufalls-Split 80/20</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0,581</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54,7 %</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Zukunft im Training</a:t>
                      </a:r>
                    </a:p>
                  </a:txBody>
                  <a:tcPr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extLst>
                  <a:ext uri="{0D108BD9-81ED-4DB2-BD59-A6C34878D82A}">
                    <a16:rowId xmlns:a16="http://schemas.microsoft.com/office/drawing/2014/main" val="10003"/>
                  </a:ext>
                </a:extLst>
              </a:tr>
            </a:tbl>
          </a:graphicData>
        </a:graphic>
      </p:graphicFrame>
      <p:sp>
        <p:nvSpPr>
          <p:cNvPr id="7" name="Shape 3">
            <a:extLst>
              <a:ext uri="{FF2B5EF4-FFF2-40B4-BE49-F238E27FC236}">
                <a16:creationId xmlns:a16="http://schemas.microsoft.com/office/drawing/2014/main" id="{31FF8A83-35D5-4847-844A-87BFA9CAF2BA}"/>
              </a:ext>
            </a:extLst>
          </p:cNvPr>
          <p:cNvSpPr>
            <a:spLocks noGrp="1"/>
          </p:cNvSpPr>
          <p:nvPr/>
        </p:nvSpPr>
        <p:spPr>
          <a:xfrm>
            <a:off x="640080" y="3657600"/>
            <a:ext cx="10881360" cy="2651760"/>
          </a:xfrm>
          <a:prstGeom prst="roundRect">
            <a:avLst>
              <a:gd name="adj" fmla="val 2069"/>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Text 4">
            <a:extLst>
              <a:ext uri="{FF2B5EF4-FFF2-40B4-BE49-F238E27FC236}">
                <a16:creationId xmlns:a16="http://schemas.microsoft.com/office/drawing/2014/main" id="{72A0F0E3-F38C-43DB-A2EA-2291CE02A77C}"/>
              </a:ext>
            </a:extLst>
          </p:cNvPr>
          <p:cNvSpPr>
            <a:spLocks noGrp="1"/>
          </p:cNvSpPr>
          <p:nvPr/>
        </p:nvSpPr>
        <p:spPr>
          <a:xfrm>
            <a:off x="914400" y="3840480"/>
            <a:ext cx="10332720" cy="411480"/>
          </a:xfrm>
          <a:prstGeom prst="rect">
            <a:avLst/>
          </a:prstGeom>
          <a:noFill/>
        </p:spPr>
        <p:txBody>
          <a:bodyPr wrap="square" lIns="0" tIns="0" rIns="0" bIns="0" anchor="ctr"/>
          <a:lstStyle/>
          <a:p>
            <a:pPr marL="0" indent="0">
              <a:buNone/>
            </a:pPr>
            <a:r>
              <a:rPr sz="1700" b="1">
                <a:solidFill>
                  <a:srgbClr val="2F5D53"/>
                </a:solidFill>
                <a:latin typeface="Cambria"/>
                <a:ea typeface="Cambria"/>
                <a:cs typeface="Cambria"/>
              </a:rPr>
              <a:t>Dieselben Daten, dasselbe Modell — nur die Aufteilung ändert sich</a:t>
            </a:r>
          </a:p>
        </p:txBody>
      </p:sp>
      <p:sp>
        <p:nvSpPr>
          <p:cNvPr id="9" name="Text 5">
            <a:extLst>
              <a:ext uri="{FF2B5EF4-FFF2-40B4-BE49-F238E27FC236}">
                <a16:creationId xmlns:a16="http://schemas.microsoft.com/office/drawing/2014/main" id="{4A31AB28-1022-4735-8F4A-CB16C61752A4}"/>
              </a:ext>
            </a:extLst>
          </p:cNvPr>
          <p:cNvSpPr>
            <a:spLocks noGrp="1"/>
          </p:cNvSpPr>
          <p:nvPr/>
        </p:nvSpPr>
        <p:spPr>
          <a:xfrm>
            <a:off x="914400" y="4343400"/>
            <a:ext cx="10332720" cy="1097280"/>
          </a:xfrm>
          <a:prstGeom prst="rect">
            <a:avLst/>
          </a:prstGeom>
          <a:noFill/>
        </p:spPr>
        <p:txBody>
          <a:bodyPr wrap="square" lIns="0" tIns="0" rIns="0" bIns="0" anchor="ctr"/>
          <a:lstStyle/>
          <a:p>
            <a:pPr marL="0" indent="0">
              <a:buNone/>
            </a:pPr>
            <a:r>
              <a:rPr sz="1350">
                <a:solidFill>
                  <a:srgbClr val="171A17"/>
                </a:solidFill>
                <a:latin typeface="Calibri"/>
                <a:ea typeface="Calibri"/>
                <a:cs typeface="Calibri"/>
              </a:rPr>
              <a:t>Gemessen am Zufallsniveau 0,5 erscheint das Signal beim naiven Zufalls-Split mit 0,081 statt 0,019 — also 4,2-mal größer. Nicht durch eine bessere Idee, sondern durch eine Zeile Code bei der Aufteilung.</a:t>
            </a:r>
          </a:p>
        </p:txBody>
      </p:sp>
      <p:sp>
        <p:nvSpPr>
          <p:cNvPr id="10" name="Text 6">
            <a:extLst>
              <a:ext uri="{FF2B5EF4-FFF2-40B4-BE49-F238E27FC236}">
                <a16:creationId xmlns:a16="http://schemas.microsoft.com/office/drawing/2014/main" id="{0C42C712-6177-48E9-8C62-29D5090077EC}"/>
              </a:ext>
            </a:extLst>
          </p:cNvPr>
          <p:cNvSpPr>
            <a:spLocks noGrp="1"/>
          </p:cNvSpPr>
          <p:nvPr/>
        </p:nvSpPr>
        <p:spPr>
          <a:xfrm>
            <a:off x="914400" y="5532120"/>
            <a:ext cx="10332720" cy="594360"/>
          </a:xfrm>
          <a:prstGeom prst="rect">
            <a:avLst/>
          </a:prstGeom>
          <a:noFill/>
        </p:spPr>
        <p:txBody>
          <a:bodyPr wrap="square" lIns="0" tIns="0" rIns="0" bIns="0" anchor="ctr"/>
          <a:lstStyle/>
          <a:p>
            <a:pPr marL="0" indent="0">
              <a:buNone/>
            </a:pPr>
            <a:r>
              <a:rPr sz="1350" b="1">
                <a:solidFill>
                  <a:srgbClr val="2F5D53"/>
                </a:solidFill>
                <a:latin typeface="Calibri"/>
                <a:ea typeface="Calibri"/>
                <a:cs typeface="Calibri"/>
              </a:rPr>
              <a:t>Ich hätte 0,581 berichten können. Ich berichte 0,519 — die Zahl, die übrig bleibt, wenn man dem Modell die Zukunft wegnimmt. Quelle: scripts/validation_experiments.py.</a:t>
            </a:r>
          </a:p>
        </p:txBody>
      </p:sp>
      <p:sp>
        <p:nvSpPr>
          <p:cNvPr id="11" name="Text 7">
            <a:extLst>
              <a:ext uri="{FF2B5EF4-FFF2-40B4-BE49-F238E27FC236}">
                <a16:creationId xmlns:a16="http://schemas.microsoft.com/office/drawing/2014/main" id="{67305E45-F99F-467C-B536-76DD19F41308}"/>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2" name="Text 8">
            <a:extLst>
              <a:ext uri="{FF2B5EF4-FFF2-40B4-BE49-F238E27FC236}">
                <a16:creationId xmlns:a16="http://schemas.microsoft.com/office/drawing/2014/main" id="{D6830D31-BF83-4D52-BCAA-2CD2C579640D}"/>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19</a:t>
            </a:r>
          </a:p>
        </p:txBody>
      </p:sp>
    </p:spTree>
    <p:extLst>
      <p:ext uri="{BB962C8B-B14F-4D97-AF65-F5344CB8AC3E}">
        <p14:creationId xmlns:p14="http://schemas.microsoft.com/office/powerpoint/2010/main" val="2433988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512C4A6-E415-4958-B124-B24FD1B5BF41}"/>
              </a:ext>
            </a:extLst>
          </p:cNvPr>
          <p:cNvSpPr>
            <a:spLocks noGrp="1"/>
          </p:cNvSpPr>
          <p:nvPr/>
        </p:nvSpPr>
        <p:spPr>
          <a:xfrm>
            <a:off x="548640" y="475488"/>
            <a:ext cx="566928" cy="566928"/>
          </a:xfrm>
          <a:prstGeom prst="ellipse">
            <a:avLst/>
          </a:prstGeom>
          <a:solidFill>
            <a:srgbClr val="23302A"/>
          </a:solidFill>
        </p:spPr>
        <p:txBody>
          <a:bodyPr/>
          <a:lstStyle/>
          <a:p>
            <a:endParaRPr/>
          </a:p>
        </p:txBody>
      </p:sp>
      <p:pic>
        <p:nvPicPr>
          <p:cNvPr id="48"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8D92E48B-6340-42F1-B613-9BCD040353E3}"/>
              </a:ext>
            </a:extLst>
          </p:cNvPr>
          <p:cNvSpPr>
            <a:spLocks noGrp="1"/>
          </p:cNvSpPr>
          <p:nvPr/>
        </p:nvSpPr>
        <p:spPr>
          <a:xfrm>
            <a:off x="1234440" y="512064"/>
            <a:ext cx="9144000" cy="548640"/>
          </a:xfrm>
          <a:prstGeom prst="rect">
            <a:avLst/>
          </a:prstGeom>
          <a:noFill/>
        </p:spPr>
        <p:txBody>
          <a:bodyPr wrap="square" lIns="0" tIns="0" rIns="0" bIns="0" anchor="ctr"/>
          <a:lstStyle/>
          <a:p>
            <a:pPr marL="0" indent="0">
              <a:buNone/>
            </a:pPr>
            <a:r>
              <a:rPr sz="2800" b="1">
                <a:solidFill>
                  <a:srgbClr val="F4F5F0"/>
                </a:solidFill>
                <a:latin typeface="Cambria"/>
                <a:ea typeface="Cambria"/>
                <a:cs typeface="Cambria"/>
              </a:rPr>
              <a:t>K — Knowledge: Die App in Aktion</a:t>
            </a:r>
          </a:p>
        </p:txBody>
      </p:sp>
      <p:sp>
        <p:nvSpPr>
          <p:cNvPr id="5" name="Shape 2">
            <a:extLst>
              <a:ext uri="{FF2B5EF4-FFF2-40B4-BE49-F238E27FC236}">
                <a16:creationId xmlns:a16="http://schemas.microsoft.com/office/drawing/2014/main" id="{3EAB3D3C-4B03-471D-B0B3-6988B6D83D49}"/>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6" name="Text 3">
            <a:extLst>
              <a:ext uri="{FF2B5EF4-FFF2-40B4-BE49-F238E27FC236}">
                <a16:creationId xmlns:a16="http://schemas.microsoft.com/office/drawing/2014/main" id="{354B3A06-FE91-4936-82D3-C45CEDF229CE}"/>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4,5 Min</a:t>
            </a:r>
          </a:p>
        </p:txBody>
      </p:sp>
      <p:sp>
        <p:nvSpPr>
          <p:cNvPr id="7" name="Text 4">
            <a:extLst>
              <a:ext uri="{FF2B5EF4-FFF2-40B4-BE49-F238E27FC236}">
                <a16:creationId xmlns:a16="http://schemas.microsoft.com/office/drawing/2014/main" id="{C3EEF3BA-BCB7-404E-AD9E-5F912782B9A5}"/>
              </a:ext>
            </a:extLst>
          </p:cNvPr>
          <p:cNvSpPr>
            <a:spLocks noGrp="1"/>
          </p:cNvSpPr>
          <p:nvPr/>
        </p:nvSpPr>
        <p:spPr>
          <a:xfrm>
            <a:off x="640080" y="1371600"/>
            <a:ext cx="10881360" cy="457200"/>
          </a:xfrm>
          <a:prstGeom prst="rect">
            <a:avLst/>
          </a:prstGeom>
          <a:noFill/>
        </p:spPr>
        <p:txBody>
          <a:bodyPr wrap="square" lIns="0" tIns="0" rIns="0" bIns="0" anchor="ctr"/>
          <a:lstStyle/>
          <a:p>
            <a:pPr marL="0" indent="0">
              <a:buNone/>
            </a:pPr>
            <a:r>
              <a:rPr sz="1400" i="1">
                <a:solidFill>
                  <a:srgbClr val="9FC2B4"/>
                </a:solidFill>
                <a:latin typeface="Calibri"/>
                <a:ea typeface="Calibri"/>
                <a:cs typeface="Calibri"/>
              </a:rPr>
              <a:t>Jetzt live. Falls die Verbindung ausfällt: die Backup-Folien im Anhang zeigen jede Station als Screenshot.</a:t>
            </a:r>
          </a:p>
        </p:txBody>
      </p:sp>
      <p:sp>
        <p:nvSpPr>
          <p:cNvPr id="8" name="Shape 5">
            <a:extLst>
              <a:ext uri="{FF2B5EF4-FFF2-40B4-BE49-F238E27FC236}">
                <a16:creationId xmlns:a16="http://schemas.microsoft.com/office/drawing/2014/main" id="{6CB1522E-AC5E-4D36-9D9A-617C834F067C}"/>
              </a:ext>
            </a:extLst>
          </p:cNvPr>
          <p:cNvSpPr>
            <a:spLocks noGrp="1"/>
          </p:cNvSpPr>
          <p:nvPr/>
        </p:nvSpPr>
        <p:spPr>
          <a:xfrm>
            <a:off x="640080" y="21488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9" name="Shape 6">
            <a:extLst>
              <a:ext uri="{FF2B5EF4-FFF2-40B4-BE49-F238E27FC236}">
                <a16:creationId xmlns:a16="http://schemas.microsoft.com/office/drawing/2014/main" id="{866ED0B7-D6D4-425E-A5D6-198F13238A81}"/>
              </a:ext>
            </a:extLst>
          </p:cNvPr>
          <p:cNvSpPr>
            <a:spLocks noGrp="1"/>
          </p:cNvSpPr>
          <p:nvPr/>
        </p:nvSpPr>
        <p:spPr>
          <a:xfrm>
            <a:off x="841248" y="2331720"/>
            <a:ext cx="457200" cy="457200"/>
          </a:xfrm>
          <a:prstGeom prst="ellipse">
            <a:avLst/>
          </a:prstGeom>
          <a:solidFill>
            <a:srgbClr val="2A362E"/>
          </a:solidFill>
        </p:spPr>
        <p:txBody>
          <a:bodyPr/>
          <a:lstStyle/>
          <a:p>
            <a:endParaRPr/>
          </a:p>
        </p:txBody>
      </p:sp>
      <p:pic>
        <p:nvPicPr>
          <p:cNvPr id="55" name="Image 1"/>
          <p:cNvPicPr>
            <a:picLocks noChangeAspect="1"/>
          </p:cNvPicPr>
          <p:nvPr/>
        </p:nvPicPr>
        <p:blipFill>
          <a:blip r:embed="rId4"/>
          <a:stretch>
            <a:fillRect/>
          </a:stretch>
        </p:blipFill>
        <p:spPr>
          <a:xfrm>
            <a:off x="891540" y="2382012"/>
            <a:ext cx="356616" cy="356616"/>
          </a:xfrm>
          <a:prstGeom prst="rect">
            <a:avLst/>
          </a:prstGeom>
        </p:spPr>
      </p:pic>
      <p:sp>
        <p:nvSpPr>
          <p:cNvPr id="11" name="Text 7">
            <a:extLst>
              <a:ext uri="{FF2B5EF4-FFF2-40B4-BE49-F238E27FC236}">
                <a16:creationId xmlns:a16="http://schemas.microsoft.com/office/drawing/2014/main" id="{D44ECD89-45E3-4EB5-886F-E67AC60A8FB2}"/>
              </a:ext>
            </a:extLst>
          </p:cNvPr>
          <p:cNvSpPr>
            <a:spLocks noGrp="1"/>
          </p:cNvSpPr>
          <p:nvPr/>
        </p:nvSpPr>
        <p:spPr>
          <a:xfrm>
            <a:off x="1417320" y="23317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Start</a:t>
            </a:r>
          </a:p>
        </p:txBody>
      </p:sp>
      <p:sp>
        <p:nvSpPr>
          <p:cNvPr id="12" name="Text 8">
            <a:extLst>
              <a:ext uri="{FF2B5EF4-FFF2-40B4-BE49-F238E27FC236}">
                <a16:creationId xmlns:a16="http://schemas.microsoft.com/office/drawing/2014/main" id="{ABCED1AC-C687-4514-9D3E-FAAB10BC9267}"/>
              </a:ext>
            </a:extLst>
          </p:cNvPr>
          <p:cNvSpPr>
            <a:spLocks noGrp="1"/>
          </p:cNvSpPr>
          <p:nvPr/>
        </p:nvSpPr>
        <p:spPr>
          <a:xfrm>
            <a:off x="841248" y="29260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Aktuelles Signal, KPIs, Kursverlauf</a:t>
            </a:r>
          </a:p>
        </p:txBody>
      </p:sp>
      <p:sp>
        <p:nvSpPr>
          <p:cNvPr id="13" name="Shape 9">
            <a:extLst>
              <a:ext uri="{FF2B5EF4-FFF2-40B4-BE49-F238E27FC236}">
                <a16:creationId xmlns:a16="http://schemas.microsoft.com/office/drawing/2014/main" id="{74942AE2-2E62-4391-A4CC-7F22B11EF467}"/>
              </a:ext>
            </a:extLst>
          </p:cNvPr>
          <p:cNvSpPr>
            <a:spLocks noGrp="1"/>
          </p:cNvSpPr>
          <p:nvPr/>
        </p:nvSpPr>
        <p:spPr>
          <a:xfrm>
            <a:off x="4361688" y="21488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14" name="Shape 10">
            <a:extLst>
              <a:ext uri="{FF2B5EF4-FFF2-40B4-BE49-F238E27FC236}">
                <a16:creationId xmlns:a16="http://schemas.microsoft.com/office/drawing/2014/main" id="{79A9BCD9-EA21-4111-9932-AAB19A90167C}"/>
              </a:ext>
            </a:extLst>
          </p:cNvPr>
          <p:cNvSpPr>
            <a:spLocks noGrp="1"/>
          </p:cNvSpPr>
          <p:nvPr/>
        </p:nvSpPr>
        <p:spPr>
          <a:xfrm>
            <a:off x="4562856" y="2331720"/>
            <a:ext cx="457200" cy="457200"/>
          </a:xfrm>
          <a:prstGeom prst="ellipse">
            <a:avLst/>
          </a:prstGeom>
          <a:solidFill>
            <a:srgbClr val="2A362E"/>
          </a:solidFill>
        </p:spPr>
        <p:txBody>
          <a:bodyPr/>
          <a:lstStyle/>
          <a:p>
            <a:endParaRPr/>
          </a:p>
        </p:txBody>
      </p:sp>
      <p:pic>
        <p:nvPicPr>
          <p:cNvPr id="60" name="Image 2"/>
          <p:cNvPicPr>
            <a:picLocks noChangeAspect="1"/>
          </p:cNvPicPr>
          <p:nvPr/>
        </p:nvPicPr>
        <p:blipFill>
          <a:blip r:embed="rId5"/>
          <a:stretch>
            <a:fillRect/>
          </a:stretch>
        </p:blipFill>
        <p:spPr>
          <a:xfrm>
            <a:off x="4613148" y="2382012"/>
            <a:ext cx="356616" cy="356616"/>
          </a:xfrm>
          <a:prstGeom prst="rect">
            <a:avLst/>
          </a:prstGeom>
        </p:spPr>
      </p:pic>
      <p:sp>
        <p:nvSpPr>
          <p:cNvPr id="16" name="Text 11">
            <a:extLst>
              <a:ext uri="{FF2B5EF4-FFF2-40B4-BE49-F238E27FC236}">
                <a16:creationId xmlns:a16="http://schemas.microsoft.com/office/drawing/2014/main" id="{22D8A367-54E9-49AA-89B8-E990DC652D41}"/>
              </a:ext>
            </a:extLst>
          </p:cNvPr>
          <p:cNvSpPr>
            <a:spLocks noGrp="1"/>
          </p:cNvSpPr>
          <p:nvPr/>
        </p:nvSpPr>
        <p:spPr>
          <a:xfrm>
            <a:off x="5138928" y="23317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Marktanalyse</a:t>
            </a:r>
          </a:p>
        </p:txBody>
      </p:sp>
      <p:sp>
        <p:nvSpPr>
          <p:cNvPr id="17" name="Text 12">
            <a:extLst>
              <a:ext uri="{FF2B5EF4-FFF2-40B4-BE49-F238E27FC236}">
                <a16:creationId xmlns:a16="http://schemas.microsoft.com/office/drawing/2014/main" id="{E40CF22C-1441-42A1-BC42-B28F80931351}"/>
              </a:ext>
            </a:extLst>
          </p:cNvPr>
          <p:cNvSpPr>
            <a:spLocks noGrp="1"/>
          </p:cNvSpPr>
          <p:nvPr/>
        </p:nvSpPr>
        <p:spPr>
          <a:xfrm>
            <a:off x="4562856" y="29260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Candlestick, MA-20/50/200, Drawdown</a:t>
            </a:r>
          </a:p>
        </p:txBody>
      </p:sp>
      <p:sp>
        <p:nvSpPr>
          <p:cNvPr id="18" name="Shape 13">
            <a:extLst>
              <a:ext uri="{FF2B5EF4-FFF2-40B4-BE49-F238E27FC236}">
                <a16:creationId xmlns:a16="http://schemas.microsoft.com/office/drawing/2014/main" id="{8445A64C-9956-4E61-99C7-68779CCBACF6}"/>
              </a:ext>
            </a:extLst>
          </p:cNvPr>
          <p:cNvSpPr>
            <a:spLocks noGrp="1"/>
          </p:cNvSpPr>
          <p:nvPr/>
        </p:nvSpPr>
        <p:spPr>
          <a:xfrm>
            <a:off x="8083296" y="21488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19" name="Shape 14">
            <a:extLst>
              <a:ext uri="{FF2B5EF4-FFF2-40B4-BE49-F238E27FC236}">
                <a16:creationId xmlns:a16="http://schemas.microsoft.com/office/drawing/2014/main" id="{E6957694-DB0D-4525-9543-97F64B6E19D8}"/>
              </a:ext>
            </a:extLst>
          </p:cNvPr>
          <p:cNvSpPr>
            <a:spLocks noGrp="1"/>
          </p:cNvSpPr>
          <p:nvPr/>
        </p:nvSpPr>
        <p:spPr>
          <a:xfrm>
            <a:off x="8284464" y="2331720"/>
            <a:ext cx="457200" cy="457200"/>
          </a:xfrm>
          <a:prstGeom prst="ellipse">
            <a:avLst/>
          </a:prstGeom>
          <a:solidFill>
            <a:srgbClr val="2A362E"/>
          </a:solidFill>
        </p:spPr>
        <p:txBody>
          <a:bodyPr/>
          <a:lstStyle/>
          <a:p>
            <a:endParaRPr/>
          </a:p>
        </p:txBody>
      </p:sp>
      <p:pic>
        <p:nvPicPr>
          <p:cNvPr id="65" name="Image 3"/>
          <p:cNvPicPr>
            <a:picLocks noChangeAspect="1"/>
          </p:cNvPicPr>
          <p:nvPr/>
        </p:nvPicPr>
        <p:blipFill>
          <a:blip r:embed="rId6"/>
          <a:stretch>
            <a:fillRect/>
          </a:stretch>
        </p:blipFill>
        <p:spPr>
          <a:xfrm>
            <a:off x="8334756" y="2382012"/>
            <a:ext cx="356616" cy="356616"/>
          </a:xfrm>
          <a:prstGeom prst="rect">
            <a:avLst/>
          </a:prstGeom>
        </p:spPr>
      </p:pic>
      <p:sp>
        <p:nvSpPr>
          <p:cNvPr id="21" name="Text 15">
            <a:extLst>
              <a:ext uri="{FF2B5EF4-FFF2-40B4-BE49-F238E27FC236}">
                <a16:creationId xmlns:a16="http://schemas.microsoft.com/office/drawing/2014/main" id="{2A295016-28C0-4B98-A878-27D38C8F01F5}"/>
              </a:ext>
            </a:extLst>
          </p:cNvPr>
          <p:cNvSpPr>
            <a:spLocks noGrp="1"/>
          </p:cNvSpPr>
          <p:nvPr/>
        </p:nvSpPr>
        <p:spPr>
          <a:xfrm>
            <a:off x="8860536" y="23317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ML-Insights</a:t>
            </a:r>
          </a:p>
        </p:txBody>
      </p:sp>
      <p:sp>
        <p:nvSpPr>
          <p:cNvPr id="22" name="Text 16">
            <a:extLst>
              <a:ext uri="{FF2B5EF4-FFF2-40B4-BE49-F238E27FC236}">
                <a16:creationId xmlns:a16="http://schemas.microsoft.com/office/drawing/2014/main" id="{E5201877-2569-4E24-B5EA-84EED6F5DF6E}"/>
              </a:ext>
            </a:extLst>
          </p:cNvPr>
          <p:cNvSpPr>
            <a:spLocks noGrp="1"/>
          </p:cNvSpPr>
          <p:nvPr/>
        </p:nvSpPr>
        <p:spPr>
          <a:xfrm>
            <a:off x="8284464" y="29260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Korrelation → Konfusion → Lernkurve → SHAP</a:t>
            </a:r>
          </a:p>
        </p:txBody>
      </p:sp>
      <p:sp>
        <p:nvSpPr>
          <p:cNvPr id="23" name="Shape 17">
            <a:extLst>
              <a:ext uri="{FF2B5EF4-FFF2-40B4-BE49-F238E27FC236}">
                <a16:creationId xmlns:a16="http://schemas.microsoft.com/office/drawing/2014/main" id="{E09CBDA3-63BE-4BF0-8759-3D4D3B7DE6C2}"/>
              </a:ext>
            </a:extLst>
          </p:cNvPr>
          <p:cNvSpPr>
            <a:spLocks noGrp="1"/>
          </p:cNvSpPr>
          <p:nvPr/>
        </p:nvSpPr>
        <p:spPr>
          <a:xfrm>
            <a:off x="640080" y="39776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24" name="Shape 18">
            <a:extLst>
              <a:ext uri="{FF2B5EF4-FFF2-40B4-BE49-F238E27FC236}">
                <a16:creationId xmlns:a16="http://schemas.microsoft.com/office/drawing/2014/main" id="{DF796BF8-2A22-4005-8CDB-6C229E722E14}"/>
              </a:ext>
            </a:extLst>
          </p:cNvPr>
          <p:cNvSpPr>
            <a:spLocks noGrp="1"/>
          </p:cNvSpPr>
          <p:nvPr/>
        </p:nvSpPr>
        <p:spPr>
          <a:xfrm>
            <a:off x="841248" y="4160520"/>
            <a:ext cx="457200" cy="457200"/>
          </a:xfrm>
          <a:prstGeom prst="ellipse">
            <a:avLst/>
          </a:prstGeom>
          <a:solidFill>
            <a:srgbClr val="2A362E"/>
          </a:solidFill>
        </p:spPr>
        <p:txBody>
          <a:bodyPr/>
          <a:lstStyle/>
          <a:p>
            <a:endParaRPr/>
          </a:p>
        </p:txBody>
      </p:sp>
      <p:pic>
        <p:nvPicPr>
          <p:cNvPr id="70" name="Image 4"/>
          <p:cNvPicPr>
            <a:picLocks noChangeAspect="1"/>
          </p:cNvPicPr>
          <p:nvPr/>
        </p:nvPicPr>
        <p:blipFill>
          <a:blip r:embed="rId7"/>
          <a:stretch>
            <a:fillRect/>
          </a:stretch>
        </p:blipFill>
        <p:spPr>
          <a:xfrm>
            <a:off x="891540" y="4210812"/>
            <a:ext cx="356616" cy="356616"/>
          </a:xfrm>
          <a:prstGeom prst="rect">
            <a:avLst/>
          </a:prstGeom>
        </p:spPr>
      </p:pic>
      <p:sp>
        <p:nvSpPr>
          <p:cNvPr id="26" name="Text 19">
            <a:extLst>
              <a:ext uri="{FF2B5EF4-FFF2-40B4-BE49-F238E27FC236}">
                <a16:creationId xmlns:a16="http://schemas.microsoft.com/office/drawing/2014/main" id="{311017B5-9C00-4854-992C-619DC6B8959F}"/>
              </a:ext>
            </a:extLst>
          </p:cNvPr>
          <p:cNvSpPr>
            <a:spLocks noGrp="1"/>
          </p:cNvSpPr>
          <p:nvPr/>
        </p:nvSpPr>
        <p:spPr>
          <a:xfrm>
            <a:off x="1417320" y="41605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Kapital-Kompass</a:t>
            </a:r>
          </a:p>
        </p:txBody>
      </p:sp>
      <p:sp>
        <p:nvSpPr>
          <p:cNvPr id="27" name="Text 20">
            <a:extLst>
              <a:ext uri="{FF2B5EF4-FFF2-40B4-BE49-F238E27FC236}">
                <a16:creationId xmlns:a16="http://schemas.microsoft.com/office/drawing/2014/main" id="{153F3EAB-C2B4-4D2A-B484-BBA764F645A9}"/>
              </a:ext>
            </a:extLst>
          </p:cNvPr>
          <p:cNvSpPr>
            <a:spLocks noGrp="1"/>
          </p:cNvSpPr>
          <p:nvPr/>
        </p:nvSpPr>
        <p:spPr>
          <a:xfrm>
            <a:off x="841248" y="47548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Risikobetrag &amp; Positionsgröße live berechnet</a:t>
            </a:r>
          </a:p>
        </p:txBody>
      </p:sp>
      <p:sp>
        <p:nvSpPr>
          <p:cNvPr id="28" name="Shape 21">
            <a:extLst>
              <a:ext uri="{FF2B5EF4-FFF2-40B4-BE49-F238E27FC236}">
                <a16:creationId xmlns:a16="http://schemas.microsoft.com/office/drawing/2014/main" id="{7D59C8B7-9C33-4E07-B87D-4263E9A4D487}"/>
              </a:ext>
            </a:extLst>
          </p:cNvPr>
          <p:cNvSpPr>
            <a:spLocks noGrp="1"/>
          </p:cNvSpPr>
          <p:nvPr/>
        </p:nvSpPr>
        <p:spPr>
          <a:xfrm>
            <a:off x="4361688" y="39776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29" name="Shape 22">
            <a:extLst>
              <a:ext uri="{FF2B5EF4-FFF2-40B4-BE49-F238E27FC236}">
                <a16:creationId xmlns:a16="http://schemas.microsoft.com/office/drawing/2014/main" id="{9055213F-B22B-4A5C-8797-E67B2DF95464}"/>
              </a:ext>
            </a:extLst>
          </p:cNvPr>
          <p:cNvSpPr>
            <a:spLocks noGrp="1"/>
          </p:cNvSpPr>
          <p:nvPr/>
        </p:nvSpPr>
        <p:spPr>
          <a:xfrm>
            <a:off x="4562856" y="4160520"/>
            <a:ext cx="457200" cy="457200"/>
          </a:xfrm>
          <a:prstGeom prst="ellipse">
            <a:avLst/>
          </a:prstGeom>
          <a:solidFill>
            <a:srgbClr val="2A362E"/>
          </a:solidFill>
        </p:spPr>
        <p:txBody>
          <a:bodyPr/>
          <a:lstStyle/>
          <a:p>
            <a:endParaRPr/>
          </a:p>
        </p:txBody>
      </p:sp>
      <p:pic>
        <p:nvPicPr>
          <p:cNvPr id="75" name="Image 5"/>
          <p:cNvPicPr>
            <a:picLocks noChangeAspect="1"/>
          </p:cNvPicPr>
          <p:nvPr/>
        </p:nvPicPr>
        <p:blipFill>
          <a:blip r:embed="rId8"/>
          <a:stretch>
            <a:fillRect/>
          </a:stretch>
        </p:blipFill>
        <p:spPr>
          <a:xfrm>
            <a:off x="4613148" y="4210812"/>
            <a:ext cx="356616" cy="356616"/>
          </a:xfrm>
          <a:prstGeom prst="rect">
            <a:avLst/>
          </a:prstGeom>
        </p:spPr>
      </p:pic>
      <p:sp>
        <p:nvSpPr>
          <p:cNvPr id="31" name="Text 23">
            <a:extLst>
              <a:ext uri="{FF2B5EF4-FFF2-40B4-BE49-F238E27FC236}">
                <a16:creationId xmlns:a16="http://schemas.microsoft.com/office/drawing/2014/main" id="{CA01B2BF-947D-4378-9DB1-7D493AE9B48A}"/>
              </a:ext>
            </a:extLst>
          </p:cNvPr>
          <p:cNvSpPr>
            <a:spLocks noGrp="1"/>
          </p:cNvSpPr>
          <p:nvPr/>
        </p:nvSpPr>
        <p:spPr>
          <a:xfrm>
            <a:off x="5138928" y="41605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Simulator</a:t>
            </a:r>
          </a:p>
        </p:txBody>
      </p:sp>
      <p:sp>
        <p:nvSpPr>
          <p:cNvPr id="32" name="Text 24">
            <a:extLst>
              <a:ext uri="{FF2B5EF4-FFF2-40B4-BE49-F238E27FC236}">
                <a16:creationId xmlns:a16="http://schemas.microsoft.com/office/drawing/2014/main" id="{94CAF596-11CB-4358-9109-898D055776E5}"/>
              </a:ext>
            </a:extLst>
          </p:cNvPr>
          <p:cNvSpPr>
            <a:spLocks noGrp="1"/>
          </p:cNvSpPr>
          <p:nvPr/>
        </p:nvSpPr>
        <p:spPr>
          <a:xfrm>
            <a:off x="4562856" y="47548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Allokation über 4 Ticker, Konzentrationsmaß</a:t>
            </a:r>
          </a:p>
        </p:txBody>
      </p:sp>
      <p:sp>
        <p:nvSpPr>
          <p:cNvPr id="33" name="Shape 25">
            <a:extLst>
              <a:ext uri="{FF2B5EF4-FFF2-40B4-BE49-F238E27FC236}">
                <a16:creationId xmlns:a16="http://schemas.microsoft.com/office/drawing/2014/main" id="{8AE6906F-3FE9-43DA-9E6E-23304061E9E9}"/>
              </a:ext>
            </a:extLst>
          </p:cNvPr>
          <p:cNvSpPr>
            <a:spLocks noGrp="1"/>
          </p:cNvSpPr>
          <p:nvPr/>
        </p:nvSpPr>
        <p:spPr>
          <a:xfrm>
            <a:off x="8083296" y="3977640"/>
            <a:ext cx="3429000" cy="1600200"/>
          </a:xfrm>
          <a:prstGeom prst="roundRect">
            <a:avLst>
              <a:gd name="adj" fmla="val 4000"/>
            </a:avLst>
          </a:prstGeom>
          <a:solidFill>
            <a:srgbClr val="171A15"/>
          </a:solidFill>
          <a:ln w="9525">
            <a:solidFill>
              <a:srgbClr val="2A332A"/>
            </a:solidFill>
            <a:prstDash val="solid"/>
          </a:ln>
        </p:spPr>
        <p:txBody>
          <a:bodyPr/>
          <a:lstStyle/>
          <a:p>
            <a:endParaRPr/>
          </a:p>
        </p:txBody>
      </p:sp>
      <p:sp>
        <p:nvSpPr>
          <p:cNvPr id="34" name="Shape 26">
            <a:extLst>
              <a:ext uri="{FF2B5EF4-FFF2-40B4-BE49-F238E27FC236}">
                <a16:creationId xmlns:a16="http://schemas.microsoft.com/office/drawing/2014/main" id="{5DDD2DEF-D8AA-43CA-97DE-3092990FEC1D}"/>
              </a:ext>
            </a:extLst>
          </p:cNvPr>
          <p:cNvSpPr>
            <a:spLocks noGrp="1"/>
          </p:cNvSpPr>
          <p:nvPr/>
        </p:nvSpPr>
        <p:spPr>
          <a:xfrm>
            <a:off x="8284464" y="4160520"/>
            <a:ext cx="457200" cy="457200"/>
          </a:xfrm>
          <a:prstGeom prst="ellipse">
            <a:avLst/>
          </a:prstGeom>
          <a:solidFill>
            <a:srgbClr val="2A362E"/>
          </a:solidFill>
        </p:spPr>
        <p:txBody>
          <a:bodyPr/>
          <a:lstStyle/>
          <a:p>
            <a:endParaRPr/>
          </a:p>
        </p:txBody>
      </p:sp>
      <p:pic>
        <p:nvPicPr>
          <p:cNvPr id="80" name="Image 6"/>
          <p:cNvPicPr>
            <a:picLocks noChangeAspect="1"/>
          </p:cNvPicPr>
          <p:nvPr/>
        </p:nvPicPr>
        <p:blipFill>
          <a:blip r:embed="rId9"/>
          <a:stretch>
            <a:fillRect/>
          </a:stretch>
        </p:blipFill>
        <p:spPr>
          <a:xfrm>
            <a:off x="8334756" y="4210812"/>
            <a:ext cx="356616" cy="356616"/>
          </a:xfrm>
          <a:prstGeom prst="rect">
            <a:avLst/>
          </a:prstGeom>
        </p:spPr>
      </p:pic>
      <p:sp>
        <p:nvSpPr>
          <p:cNvPr id="36" name="Text 27">
            <a:extLst>
              <a:ext uri="{FF2B5EF4-FFF2-40B4-BE49-F238E27FC236}">
                <a16:creationId xmlns:a16="http://schemas.microsoft.com/office/drawing/2014/main" id="{F122A1FC-0D18-4606-B0FA-BF8925A81B8D}"/>
              </a:ext>
            </a:extLst>
          </p:cNvPr>
          <p:cNvSpPr>
            <a:spLocks noGrp="1"/>
          </p:cNvSpPr>
          <p:nvPr/>
        </p:nvSpPr>
        <p:spPr>
          <a:xfrm>
            <a:off x="8860536" y="4160520"/>
            <a:ext cx="2514600" cy="457200"/>
          </a:xfrm>
          <a:prstGeom prst="rect">
            <a:avLst/>
          </a:prstGeom>
          <a:noFill/>
        </p:spPr>
        <p:txBody>
          <a:bodyPr wrap="square" lIns="0" tIns="0" rIns="0" bIns="0" anchor="ctr"/>
          <a:lstStyle/>
          <a:p>
            <a:pPr marL="0" indent="0">
              <a:buNone/>
            </a:pPr>
            <a:r>
              <a:rPr sz="1350" b="1">
                <a:solidFill>
                  <a:srgbClr val="F4F5F0"/>
                </a:solidFill>
                <a:latin typeface="Cambria"/>
                <a:ea typeface="Cambria"/>
                <a:cs typeface="Cambria"/>
              </a:rPr>
              <a:t>Methodik &amp; Lernen</a:t>
            </a:r>
          </a:p>
        </p:txBody>
      </p:sp>
      <p:sp>
        <p:nvSpPr>
          <p:cNvPr id="37" name="Text 28">
            <a:extLst>
              <a:ext uri="{FF2B5EF4-FFF2-40B4-BE49-F238E27FC236}">
                <a16:creationId xmlns:a16="http://schemas.microsoft.com/office/drawing/2014/main" id="{23E51774-84FB-48A1-904B-FBEE474570BA}"/>
              </a:ext>
            </a:extLst>
          </p:cNvPr>
          <p:cNvSpPr>
            <a:spLocks noGrp="1"/>
          </p:cNvSpPr>
          <p:nvPr/>
        </p:nvSpPr>
        <p:spPr>
          <a:xfrm>
            <a:off x="8284464" y="4754880"/>
            <a:ext cx="3026664" cy="731520"/>
          </a:xfrm>
          <a:prstGeom prst="rect">
            <a:avLst/>
          </a:prstGeom>
          <a:noFill/>
        </p:spPr>
        <p:txBody>
          <a:bodyPr wrap="square" lIns="0" tIns="0" rIns="0" bIns="0" anchor="ctr"/>
          <a:lstStyle/>
          <a:p>
            <a:pPr marL="0" indent="0">
              <a:buNone/>
            </a:pPr>
            <a:r>
              <a:rPr sz="1050">
                <a:solidFill>
                  <a:srgbClr val="9FC2B4"/>
                </a:solidFill>
                <a:latin typeface="Calibri"/>
                <a:ea typeface="Calibri"/>
                <a:cs typeface="Calibri"/>
              </a:rPr>
              <a:t>QUA³CK · Lernstudio · Export</a:t>
            </a:r>
          </a:p>
        </p:txBody>
      </p:sp>
      <p:sp>
        <p:nvSpPr>
          <p:cNvPr id="38" name="Text 29">
            <a:extLst>
              <a:ext uri="{FF2B5EF4-FFF2-40B4-BE49-F238E27FC236}">
                <a16:creationId xmlns:a16="http://schemas.microsoft.com/office/drawing/2014/main" id="{76D4177C-F43C-402C-8FF5-46C44F393219}"/>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9AA398"/>
                </a:solidFill>
                <a:latin typeface="Calibri"/>
                <a:ea typeface="Calibri"/>
                <a:cs typeface="Calibri"/>
              </a:rPr>
              <a:t>WealthScope AI</a:t>
            </a:r>
          </a:p>
        </p:txBody>
      </p:sp>
      <p:sp>
        <p:nvSpPr>
          <p:cNvPr id="39" name="Text 30">
            <a:extLst>
              <a:ext uri="{FF2B5EF4-FFF2-40B4-BE49-F238E27FC236}">
                <a16:creationId xmlns:a16="http://schemas.microsoft.com/office/drawing/2014/main" id="{F12AB4C8-2DDB-4EF1-B93A-ECBEF525507E}"/>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9AA398"/>
                </a:solidFill>
                <a:latin typeface="Calibri"/>
                <a:ea typeface="Calibri"/>
                <a:cs typeface="Calibri"/>
              </a:rPr>
              <a:t>20</a:t>
            </a:r>
          </a:p>
        </p:txBody>
      </p:sp>
    </p:spTree>
    <p:extLst>
      <p:ext uri="{BB962C8B-B14F-4D97-AF65-F5344CB8AC3E}">
        <p14:creationId xmlns:p14="http://schemas.microsoft.com/office/powerpoint/2010/main" val="968129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83BA25-D34F-4256-B4CB-7BCF95F866E5}"/>
              </a:ext>
            </a:extLst>
          </p:cNvPr>
          <p:cNvSpPr>
            <a:spLocks noGrp="1"/>
          </p:cNvSpPr>
          <p:nvPr/>
        </p:nvSpPr>
        <p:spPr>
          <a:xfrm>
            <a:off x="914400" y="0"/>
            <a:ext cx="0" cy="6858000"/>
          </a:xfrm>
          <a:prstGeom prst="line">
            <a:avLst/>
          </a:prstGeom>
          <a:noFill/>
          <a:ln w="6350">
            <a:solidFill>
              <a:srgbClr val="1C221C"/>
            </a:solidFill>
            <a:prstDash val="solid"/>
          </a:ln>
        </p:spPr>
        <p:txBody>
          <a:bodyPr/>
          <a:lstStyle/>
          <a:p>
            <a:endParaRPr/>
          </a:p>
        </p:txBody>
      </p:sp>
      <p:sp>
        <p:nvSpPr>
          <p:cNvPr id="3" name="Shape 1">
            <a:extLst>
              <a:ext uri="{FF2B5EF4-FFF2-40B4-BE49-F238E27FC236}">
                <a16:creationId xmlns:a16="http://schemas.microsoft.com/office/drawing/2014/main" id="{725900C5-875F-4EF1-9426-216609A92684}"/>
              </a:ext>
            </a:extLst>
          </p:cNvPr>
          <p:cNvSpPr>
            <a:spLocks noGrp="1"/>
          </p:cNvSpPr>
          <p:nvPr/>
        </p:nvSpPr>
        <p:spPr>
          <a:xfrm>
            <a:off x="1828800" y="0"/>
            <a:ext cx="0" cy="6858000"/>
          </a:xfrm>
          <a:prstGeom prst="line">
            <a:avLst/>
          </a:prstGeom>
          <a:noFill/>
          <a:ln w="6350">
            <a:solidFill>
              <a:srgbClr val="1C221C"/>
            </a:solidFill>
            <a:prstDash val="solid"/>
          </a:ln>
        </p:spPr>
        <p:txBody>
          <a:bodyPr/>
          <a:lstStyle/>
          <a:p>
            <a:endParaRPr/>
          </a:p>
        </p:txBody>
      </p:sp>
      <p:sp>
        <p:nvSpPr>
          <p:cNvPr id="4" name="Shape 2">
            <a:extLst>
              <a:ext uri="{FF2B5EF4-FFF2-40B4-BE49-F238E27FC236}">
                <a16:creationId xmlns:a16="http://schemas.microsoft.com/office/drawing/2014/main" id="{4BC3AB9B-30E3-4777-BE64-1740495470A2}"/>
              </a:ext>
            </a:extLst>
          </p:cNvPr>
          <p:cNvSpPr>
            <a:spLocks noGrp="1"/>
          </p:cNvSpPr>
          <p:nvPr/>
        </p:nvSpPr>
        <p:spPr>
          <a:xfrm>
            <a:off x="2743200" y="0"/>
            <a:ext cx="0" cy="6858000"/>
          </a:xfrm>
          <a:prstGeom prst="line">
            <a:avLst/>
          </a:prstGeom>
          <a:noFill/>
          <a:ln w="6350">
            <a:solidFill>
              <a:srgbClr val="1C221C"/>
            </a:solidFill>
            <a:prstDash val="solid"/>
          </a:ln>
        </p:spPr>
        <p:txBody>
          <a:bodyPr/>
          <a:lstStyle/>
          <a:p>
            <a:endParaRPr/>
          </a:p>
        </p:txBody>
      </p:sp>
      <p:sp>
        <p:nvSpPr>
          <p:cNvPr id="5" name="Shape 3">
            <a:extLst>
              <a:ext uri="{FF2B5EF4-FFF2-40B4-BE49-F238E27FC236}">
                <a16:creationId xmlns:a16="http://schemas.microsoft.com/office/drawing/2014/main" id="{4E89674B-1D1F-41F0-A086-008C8F108031}"/>
              </a:ext>
            </a:extLst>
          </p:cNvPr>
          <p:cNvSpPr>
            <a:spLocks noGrp="1"/>
          </p:cNvSpPr>
          <p:nvPr/>
        </p:nvSpPr>
        <p:spPr>
          <a:xfrm>
            <a:off x="3657600" y="0"/>
            <a:ext cx="0" cy="6858000"/>
          </a:xfrm>
          <a:prstGeom prst="line">
            <a:avLst/>
          </a:prstGeom>
          <a:noFill/>
          <a:ln w="6350">
            <a:solidFill>
              <a:srgbClr val="1C221C"/>
            </a:solidFill>
            <a:prstDash val="solid"/>
          </a:ln>
        </p:spPr>
        <p:txBody>
          <a:bodyPr/>
          <a:lstStyle/>
          <a:p>
            <a:endParaRPr/>
          </a:p>
        </p:txBody>
      </p:sp>
      <p:sp>
        <p:nvSpPr>
          <p:cNvPr id="6" name="Shape 4">
            <a:extLst>
              <a:ext uri="{FF2B5EF4-FFF2-40B4-BE49-F238E27FC236}">
                <a16:creationId xmlns:a16="http://schemas.microsoft.com/office/drawing/2014/main" id="{F2C12127-5F42-43A9-A1B0-6E9BD3B31F1C}"/>
              </a:ext>
            </a:extLst>
          </p:cNvPr>
          <p:cNvSpPr>
            <a:spLocks noGrp="1"/>
          </p:cNvSpPr>
          <p:nvPr/>
        </p:nvSpPr>
        <p:spPr>
          <a:xfrm>
            <a:off x="4572000" y="0"/>
            <a:ext cx="0" cy="6858000"/>
          </a:xfrm>
          <a:prstGeom prst="line">
            <a:avLst/>
          </a:prstGeom>
          <a:noFill/>
          <a:ln w="6350">
            <a:solidFill>
              <a:srgbClr val="1C221C"/>
            </a:solidFill>
            <a:prstDash val="solid"/>
          </a:ln>
        </p:spPr>
        <p:txBody>
          <a:bodyPr/>
          <a:lstStyle/>
          <a:p>
            <a:endParaRPr/>
          </a:p>
        </p:txBody>
      </p:sp>
      <p:sp>
        <p:nvSpPr>
          <p:cNvPr id="7" name="Shape 5">
            <a:extLst>
              <a:ext uri="{FF2B5EF4-FFF2-40B4-BE49-F238E27FC236}">
                <a16:creationId xmlns:a16="http://schemas.microsoft.com/office/drawing/2014/main" id="{D0ABD94B-E6F5-4575-A4EA-773060503840}"/>
              </a:ext>
            </a:extLst>
          </p:cNvPr>
          <p:cNvSpPr>
            <a:spLocks noGrp="1"/>
          </p:cNvSpPr>
          <p:nvPr/>
        </p:nvSpPr>
        <p:spPr>
          <a:xfrm>
            <a:off x="5486400" y="0"/>
            <a:ext cx="0" cy="6858000"/>
          </a:xfrm>
          <a:prstGeom prst="line">
            <a:avLst/>
          </a:prstGeom>
          <a:noFill/>
          <a:ln w="6350">
            <a:solidFill>
              <a:srgbClr val="1C221C"/>
            </a:solidFill>
            <a:prstDash val="solid"/>
          </a:ln>
        </p:spPr>
        <p:txBody>
          <a:bodyPr/>
          <a:lstStyle/>
          <a:p>
            <a:endParaRPr/>
          </a:p>
        </p:txBody>
      </p:sp>
      <p:sp>
        <p:nvSpPr>
          <p:cNvPr id="8" name="Shape 6">
            <a:extLst>
              <a:ext uri="{FF2B5EF4-FFF2-40B4-BE49-F238E27FC236}">
                <a16:creationId xmlns:a16="http://schemas.microsoft.com/office/drawing/2014/main" id="{081087F4-2B5E-4D5E-9AD7-9352D080286E}"/>
              </a:ext>
            </a:extLst>
          </p:cNvPr>
          <p:cNvSpPr>
            <a:spLocks noGrp="1"/>
          </p:cNvSpPr>
          <p:nvPr/>
        </p:nvSpPr>
        <p:spPr>
          <a:xfrm>
            <a:off x="6400800" y="0"/>
            <a:ext cx="0" cy="6858000"/>
          </a:xfrm>
          <a:prstGeom prst="line">
            <a:avLst/>
          </a:prstGeom>
          <a:noFill/>
          <a:ln w="6350">
            <a:solidFill>
              <a:srgbClr val="1C221C"/>
            </a:solidFill>
            <a:prstDash val="solid"/>
          </a:ln>
        </p:spPr>
        <p:txBody>
          <a:bodyPr/>
          <a:lstStyle/>
          <a:p>
            <a:endParaRPr/>
          </a:p>
        </p:txBody>
      </p:sp>
      <p:sp>
        <p:nvSpPr>
          <p:cNvPr id="9" name="Shape 7">
            <a:extLst>
              <a:ext uri="{FF2B5EF4-FFF2-40B4-BE49-F238E27FC236}">
                <a16:creationId xmlns:a16="http://schemas.microsoft.com/office/drawing/2014/main" id="{1882D830-4416-4421-94AE-5576F35BE018}"/>
              </a:ext>
            </a:extLst>
          </p:cNvPr>
          <p:cNvSpPr>
            <a:spLocks noGrp="1"/>
          </p:cNvSpPr>
          <p:nvPr/>
        </p:nvSpPr>
        <p:spPr>
          <a:xfrm>
            <a:off x="7315200" y="0"/>
            <a:ext cx="0" cy="6858000"/>
          </a:xfrm>
          <a:prstGeom prst="line">
            <a:avLst/>
          </a:prstGeom>
          <a:noFill/>
          <a:ln w="6350">
            <a:solidFill>
              <a:srgbClr val="1C221C"/>
            </a:solidFill>
            <a:prstDash val="solid"/>
          </a:ln>
        </p:spPr>
        <p:txBody>
          <a:bodyPr/>
          <a:lstStyle/>
          <a:p>
            <a:endParaRPr/>
          </a:p>
        </p:txBody>
      </p:sp>
      <p:sp>
        <p:nvSpPr>
          <p:cNvPr id="10" name="Shape 8">
            <a:extLst>
              <a:ext uri="{FF2B5EF4-FFF2-40B4-BE49-F238E27FC236}">
                <a16:creationId xmlns:a16="http://schemas.microsoft.com/office/drawing/2014/main" id="{1321A3F5-68C5-4E6E-8903-58DFD4A669F0}"/>
              </a:ext>
            </a:extLst>
          </p:cNvPr>
          <p:cNvSpPr>
            <a:spLocks noGrp="1"/>
          </p:cNvSpPr>
          <p:nvPr/>
        </p:nvSpPr>
        <p:spPr>
          <a:xfrm>
            <a:off x="8229600" y="0"/>
            <a:ext cx="0" cy="6858000"/>
          </a:xfrm>
          <a:prstGeom prst="line">
            <a:avLst/>
          </a:prstGeom>
          <a:noFill/>
          <a:ln w="6350">
            <a:solidFill>
              <a:srgbClr val="1C221C"/>
            </a:solidFill>
            <a:prstDash val="solid"/>
          </a:ln>
        </p:spPr>
        <p:txBody>
          <a:bodyPr/>
          <a:lstStyle/>
          <a:p>
            <a:endParaRPr/>
          </a:p>
        </p:txBody>
      </p:sp>
      <p:sp>
        <p:nvSpPr>
          <p:cNvPr id="11" name="Shape 9">
            <a:extLst>
              <a:ext uri="{FF2B5EF4-FFF2-40B4-BE49-F238E27FC236}">
                <a16:creationId xmlns:a16="http://schemas.microsoft.com/office/drawing/2014/main" id="{236E4465-5750-462B-9959-11BF135DEC88}"/>
              </a:ext>
            </a:extLst>
          </p:cNvPr>
          <p:cNvSpPr>
            <a:spLocks noGrp="1"/>
          </p:cNvSpPr>
          <p:nvPr/>
        </p:nvSpPr>
        <p:spPr>
          <a:xfrm>
            <a:off x="9144000" y="0"/>
            <a:ext cx="0" cy="6858000"/>
          </a:xfrm>
          <a:prstGeom prst="line">
            <a:avLst/>
          </a:prstGeom>
          <a:noFill/>
          <a:ln w="6350">
            <a:solidFill>
              <a:srgbClr val="1C221C"/>
            </a:solidFill>
            <a:prstDash val="solid"/>
          </a:ln>
        </p:spPr>
        <p:txBody>
          <a:bodyPr/>
          <a:lstStyle/>
          <a:p>
            <a:endParaRPr/>
          </a:p>
        </p:txBody>
      </p:sp>
      <p:sp>
        <p:nvSpPr>
          <p:cNvPr id="12" name="Shape 10">
            <a:extLst>
              <a:ext uri="{FF2B5EF4-FFF2-40B4-BE49-F238E27FC236}">
                <a16:creationId xmlns:a16="http://schemas.microsoft.com/office/drawing/2014/main" id="{21894109-835C-44B6-8502-4F50179FC1A5}"/>
              </a:ext>
            </a:extLst>
          </p:cNvPr>
          <p:cNvSpPr>
            <a:spLocks noGrp="1"/>
          </p:cNvSpPr>
          <p:nvPr/>
        </p:nvSpPr>
        <p:spPr>
          <a:xfrm>
            <a:off x="10058400" y="0"/>
            <a:ext cx="0" cy="6858000"/>
          </a:xfrm>
          <a:prstGeom prst="line">
            <a:avLst/>
          </a:prstGeom>
          <a:noFill/>
          <a:ln w="6350">
            <a:solidFill>
              <a:srgbClr val="1C221C"/>
            </a:solidFill>
            <a:prstDash val="solid"/>
          </a:ln>
        </p:spPr>
        <p:txBody>
          <a:bodyPr/>
          <a:lstStyle/>
          <a:p>
            <a:endParaRPr/>
          </a:p>
        </p:txBody>
      </p:sp>
      <p:sp>
        <p:nvSpPr>
          <p:cNvPr id="13" name="Shape 11">
            <a:extLst>
              <a:ext uri="{FF2B5EF4-FFF2-40B4-BE49-F238E27FC236}">
                <a16:creationId xmlns:a16="http://schemas.microsoft.com/office/drawing/2014/main" id="{F71C2AD2-00D2-4FCC-A4BD-67FC0F87179C}"/>
              </a:ext>
            </a:extLst>
          </p:cNvPr>
          <p:cNvSpPr>
            <a:spLocks noGrp="1"/>
          </p:cNvSpPr>
          <p:nvPr/>
        </p:nvSpPr>
        <p:spPr>
          <a:xfrm>
            <a:off x="10972800" y="0"/>
            <a:ext cx="0" cy="6858000"/>
          </a:xfrm>
          <a:prstGeom prst="line">
            <a:avLst/>
          </a:prstGeom>
          <a:noFill/>
          <a:ln w="6350">
            <a:solidFill>
              <a:srgbClr val="1C221C"/>
            </a:solidFill>
            <a:prstDash val="solid"/>
          </a:ln>
        </p:spPr>
        <p:txBody>
          <a:bodyPr/>
          <a:lstStyle/>
          <a:p>
            <a:endParaRPr/>
          </a:p>
        </p:txBody>
      </p:sp>
      <p:sp>
        <p:nvSpPr>
          <p:cNvPr id="14" name="Shape 12">
            <a:extLst>
              <a:ext uri="{FF2B5EF4-FFF2-40B4-BE49-F238E27FC236}">
                <a16:creationId xmlns:a16="http://schemas.microsoft.com/office/drawing/2014/main" id="{2ABF1DFF-612E-44E7-B663-BCE1849F223E}"/>
              </a:ext>
            </a:extLst>
          </p:cNvPr>
          <p:cNvSpPr>
            <a:spLocks noGrp="1"/>
          </p:cNvSpPr>
          <p:nvPr/>
        </p:nvSpPr>
        <p:spPr>
          <a:xfrm>
            <a:off x="11887200" y="0"/>
            <a:ext cx="0" cy="6858000"/>
          </a:xfrm>
          <a:prstGeom prst="line">
            <a:avLst/>
          </a:prstGeom>
          <a:noFill/>
          <a:ln w="6350">
            <a:solidFill>
              <a:srgbClr val="1C221C"/>
            </a:solidFill>
            <a:prstDash val="solid"/>
          </a:ln>
        </p:spPr>
        <p:txBody>
          <a:bodyPr/>
          <a:lstStyle/>
          <a:p>
            <a:endParaRPr/>
          </a:p>
        </p:txBody>
      </p:sp>
      <p:sp>
        <p:nvSpPr>
          <p:cNvPr id="15" name="Shape 13">
            <a:extLst>
              <a:ext uri="{FF2B5EF4-FFF2-40B4-BE49-F238E27FC236}">
                <a16:creationId xmlns:a16="http://schemas.microsoft.com/office/drawing/2014/main" id="{3460C38E-EA31-4CB2-AF3A-7AC629F713CB}"/>
              </a:ext>
            </a:extLst>
          </p:cNvPr>
          <p:cNvSpPr>
            <a:spLocks noGrp="1"/>
          </p:cNvSpPr>
          <p:nvPr/>
        </p:nvSpPr>
        <p:spPr>
          <a:xfrm>
            <a:off x="5682996" y="1965960"/>
            <a:ext cx="822960" cy="822960"/>
          </a:xfrm>
          <a:prstGeom prst="ellipse">
            <a:avLst/>
          </a:prstGeom>
          <a:solidFill>
            <a:srgbClr val="23302A"/>
          </a:solidFill>
        </p:spPr>
        <p:txBody>
          <a:bodyPr/>
          <a:lstStyle/>
          <a:p>
            <a:endParaRPr/>
          </a:p>
        </p:txBody>
      </p:sp>
      <p:pic>
        <p:nvPicPr>
          <p:cNvPr id="35" name="Image 0"/>
          <p:cNvPicPr>
            <a:picLocks noChangeAspect="1"/>
          </p:cNvPicPr>
          <p:nvPr/>
        </p:nvPicPr>
        <p:blipFill>
          <a:blip r:embed="rId3"/>
          <a:stretch>
            <a:fillRect/>
          </a:stretch>
        </p:blipFill>
        <p:spPr>
          <a:xfrm>
            <a:off x="5773522" y="2056486"/>
            <a:ext cx="641909" cy="641909"/>
          </a:xfrm>
          <a:prstGeom prst="rect">
            <a:avLst/>
          </a:prstGeom>
        </p:spPr>
      </p:pic>
      <p:sp>
        <p:nvSpPr>
          <p:cNvPr id="17" name="Text 14">
            <a:extLst>
              <a:ext uri="{FF2B5EF4-FFF2-40B4-BE49-F238E27FC236}">
                <a16:creationId xmlns:a16="http://schemas.microsoft.com/office/drawing/2014/main" id="{63C5551C-79CE-41FE-A7F1-171C167971B4}"/>
              </a:ext>
            </a:extLst>
          </p:cNvPr>
          <p:cNvSpPr>
            <a:spLocks noGrp="1"/>
          </p:cNvSpPr>
          <p:nvPr/>
        </p:nvSpPr>
        <p:spPr>
          <a:xfrm>
            <a:off x="822960" y="3063240"/>
            <a:ext cx="10515600" cy="822960"/>
          </a:xfrm>
          <a:prstGeom prst="rect">
            <a:avLst/>
          </a:prstGeom>
          <a:noFill/>
        </p:spPr>
        <p:txBody>
          <a:bodyPr wrap="square" lIns="0" tIns="0" rIns="0" bIns="0" anchor="ctr"/>
          <a:lstStyle/>
          <a:p>
            <a:pPr marL="0" indent="0" algn="ctr">
              <a:buNone/>
            </a:pPr>
            <a:r>
              <a:rPr sz="3200" b="1">
                <a:solidFill>
                  <a:srgbClr val="F4F5F0"/>
                </a:solidFill>
                <a:latin typeface="Cambria"/>
                <a:ea typeface="Cambria"/>
                <a:cs typeface="Cambria"/>
              </a:rPr>
              <a:t>Fragen zu Modell und App?</a:t>
            </a:r>
          </a:p>
        </p:txBody>
      </p:sp>
      <p:sp>
        <p:nvSpPr>
          <p:cNvPr id="18" name="Text 15">
            <a:extLst>
              <a:ext uri="{FF2B5EF4-FFF2-40B4-BE49-F238E27FC236}">
                <a16:creationId xmlns:a16="http://schemas.microsoft.com/office/drawing/2014/main" id="{86F3D208-4D5F-445E-8DA2-0A89212881AF}"/>
              </a:ext>
            </a:extLst>
          </p:cNvPr>
          <p:cNvSpPr>
            <a:spLocks noGrp="1"/>
          </p:cNvSpPr>
          <p:nvPr/>
        </p:nvSpPr>
        <p:spPr>
          <a:xfrm>
            <a:off x="822960" y="3886200"/>
            <a:ext cx="10515600" cy="457200"/>
          </a:xfrm>
          <a:prstGeom prst="rect">
            <a:avLst/>
          </a:prstGeom>
          <a:noFill/>
        </p:spPr>
        <p:txBody>
          <a:bodyPr wrap="square" lIns="0" tIns="0" rIns="0" bIns="0" anchor="ctr"/>
          <a:lstStyle/>
          <a:p>
            <a:pPr marL="0" indent="0" algn="ctr">
              <a:buNone/>
            </a:pPr>
            <a:r>
              <a:rPr sz="1700">
                <a:solidFill>
                  <a:srgbClr val="9FC2B4"/>
                </a:solidFill>
                <a:latin typeface="Calibri"/>
                <a:ea typeface="Calibri"/>
                <a:cs typeface="Calibri"/>
              </a:rPr>
              <a:t>45 Sekunden — bevor wir das Fazit ziehen.</a:t>
            </a:r>
          </a:p>
        </p:txBody>
      </p:sp>
      <p:sp>
        <p:nvSpPr>
          <p:cNvPr id="19" name="Text 16">
            <a:extLst>
              <a:ext uri="{FF2B5EF4-FFF2-40B4-BE49-F238E27FC236}">
                <a16:creationId xmlns:a16="http://schemas.microsoft.com/office/drawing/2014/main" id="{2F2BB0FD-2D43-4F8A-9DC6-B42DFCF21055}"/>
              </a:ext>
            </a:extLst>
          </p:cNvPr>
          <p:cNvSpPr>
            <a:spLocks noGrp="1"/>
          </p:cNvSpPr>
          <p:nvPr/>
        </p:nvSpPr>
        <p:spPr>
          <a:xfrm>
            <a:off x="822960" y="6035040"/>
            <a:ext cx="10515600" cy="365760"/>
          </a:xfrm>
          <a:prstGeom prst="rect">
            <a:avLst/>
          </a:prstGeom>
          <a:noFill/>
        </p:spPr>
        <p:txBody>
          <a:bodyPr wrap="square" lIns="0" tIns="0" rIns="0" bIns="0" anchor="ctr"/>
          <a:lstStyle/>
          <a:p>
            <a:pPr marL="0" indent="0" algn="ctr">
              <a:buNone/>
            </a:pPr>
            <a:r>
              <a:rPr sz="1150">
                <a:solidFill>
                  <a:srgbClr val="6E7A6C"/>
                </a:solidFill>
                <a:latin typeface="Calibri"/>
                <a:ea typeface="Calibri"/>
                <a:cs typeface="Calibri"/>
              </a:rPr>
              <a:t>Danach:  C — Conclude  ·  Fazit, Grenzen &amp; Ausblick</a:t>
            </a:r>
          </a:p>
        </p:txBody>
      </p:sp>
    </p:spTree>
    <p:extLst>
      <p:ext uri="{BB962C8B-B14F-4D97-AF65-F5344CB8AC3E}">
        <p14:creationId xmlns:p14="http://schemas.microsoft.com/office/powerpoint/2010/main" val="15632337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874B5DC-50A4-4824-85FD-B62251246221}"/>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7"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F2DEC867-8B5A-4BDB-A740-147D82C9CFB4}"/>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9 · C — CONCLUDE</a:t>
            </a:r>
          </a:p>
        </p:txBody>
      </p:sp>
      <p:sp>
        <p:nvSpPr>
          <p:cNvPr id="5" name="Text 2">
            <a:extLst>
              <a:ext uri="{FF2B5EF4-FFF2-40B4-BE49-F238E27FC236}">
                <a16:creationId xmlns:a16="http://schemas.microsoft.com/office/drawing/2014/main" id="{EDC4ACC3-9546-47E8-A0A0-19CDE8A43E1C}"/>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Was haben wir gelernt?</a:t>
            </a:r>
          </a:p>
        </p:txBody>
      </p:sp>
      <p:sp>
        <p:nvSpPr>
          <p:cNvPr id="6" name="Shape 3">
            <a:extLst>
              <a:ext uri="{FF2B5EF4-FFF2-40B4-BE49-F238E27FC236}">
                <a16:creationId xmlns:a16="http://schemas.microsoft.com/office/drawing/2014/main" id="{F34BECA8-92F6-40BE-A91C-0F78F8EA438F}"/>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7" name="Text 4">
            <a:extLst>
              <a:ext uri="{FF2B5EF4-FFF2-40B4-BE49-F238E27FC236}">
                <a16:creationId xmlns:a16="http://schemas.microsoft.com/office/drawing/2014/main" id="{500811E2-145E-4F90-AE2B-EDA2687F2D6D}"/>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1,5 Min</a:t>
            </a:r>
          </a:p>
        </p:txBody>
      </p:sp>
      <p:sp>
        <p:nvSpPr>
          <p:cNvPr id="8" name="Shape 5">
            <a:extLst>
              <a:ext uri="{FF2B5EF4-FFF2-40B4-BE49-F238E27FC236}">
                <a16:creationId xmlns:a16="http://schemas.microsoft.com/office/drawing/2014/main" id="{A6BA78FC-8058-4B4B-9A5B-FDA92D011FE7}"/>
              </a:ext>
            </a:extLst>
          </p:cNvPr>
          <p:cNvSpPr>
            <a:spLocks noGrp="1"/>
          </p:cNvSpPr>
          <p:nvPr/>
        </p:nvSpPr>
        <p:spPr>
          <a:xfrm>
            <a:off x="640080" y="1554480"/>
            <a:ext cx="10881360" cy="914400"/>
          </a:xfrm>
          <a:prstGeom prst="roundRect">
            <a:avLst>
              <a:gd name="adj" fmla="val 6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Shape 6">
            <a:extLst>
              <a:ext uri="{FF2B5EF4-FFF2-40B4-BE49-F238E27FC236}">
                <a16:creationId xmlns:a16="http://schemas.microsoft.com/office/drawing/2014/main" id="{5563A612-37E6-4FD6-B12F-7990961AD6AB}"/>
              </a:ext>
            </a:extLst>
          </p:cNvPr>
          <p:cNvSpPr>
            <a:spLocks noGrp="1"/>
          </p:cNvSpPr>
          <p:nvPr/>
        </p:nvSpPr>
        <p:spPr>
          <a:xfrm>
            <a:off x="868680" y="1728216"/>
            <a:ext cx="566928" cy="566928"/>
          </a:xfrm>
          <a:prstGeom prst="ellipse">
            <a:avLst/>
          </a:prstGeom>
          <a:solidFill>
            <a:srgbClr val="2F5D53"/>
          </a:solidFill>
        </p:spPr>
        <p:txBody>
          <a:bodyPr/>
          <a:lstStyle/>
          <a:p>
            <a:endParaRPr/>
          </a:p>
        </p:txBody>
      </p:sp>
      <p:sp>
        <p:nvSpPr>
          <p:cNvPr id="10" name="Text 7">
            <a:extLst>
              <a:ext uri="{FF2B5EF4-FFF2-40B4-BE49-F238E27FC236}">
                <a16:creationId xmlns:a16="http://schemas.microsoft.com/office/drawing/2014/main" id="{43945BCC-6176-4843-A89D-FDA9976BE722}"/>
              </a:ext>
            </a:extLst>
          </p:cNvPr>
          <p:cNvSpPr>
            <a:spLocks noGrp="1"/>
          </p:cNvSpPr>
          <p:nvPr/>
        </p:nvSpPr>
        <p:spPr>
          <a:xfrm>
            <a:off x="868680" y="1728216"/>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H1</a:t>
            </a:r>
          </a:p>
        </p:txBody>
      </p:sp>
      <p:sp>
        <p:nvSpPr>
          <p:cNvPr id="11" name="Text 8">
            <a:extLst>
              <a:ext uri="{FF2B5EF4-FFF2-40B4-BE49-F238E27FC236}">
                <a16:creationId xmlns:a16="http://schemas.microsoft.com/office/drawing/2014/main" id="{27FF3CAB-7629-498A-92D5-8E94FDE4AE9A}"/>
              </a:ext>
            </a:extLst>
          </p:cNvPr>
          <p:cNvSpPr>
            <a:spLocks noGrp="1"/>
          </p:cNvSpPr>
          <p:nvPr/>
        </p:nvSpPr>
        <p:spPr>
          <a:xfrm>
            <a:off x="1645920" y="1664208"/>
            <a:ext cx="2468880" cy="320040"/>
          </a:xfrm>
          <a:prstGeom prst="rect">
            <a:avLst/>
          </a:prstGeom>
          <a:noFill/>
        </p:spPr>
        <p:txBody>
          <a:bodyPr wrap="square" lIns="0" tIns="0" rIns="0" bIns="0" anchor="ctr"/>
          <a:lstStyle/>
          <a:p>
            <a:pPr marL="0" indent="0">
              <a:buNone/>
            </a:pPr>
            <a:r>
              <a:rPr sz="1200" b="1">
                <a:solidFill>
                  <a:srgbClr val="2F5D53"/>
                </a:solidFill>
                <a:latin typeface="Calibri"/>
                <a:ea typeface="Calibri"/>
                <a:cs typeface="Calibri"/>
              </a:rPr>
              <a:t>nicht bestätigt</a:t>
            </a:r>
          </a:p>
        </p:txBody>
      </p:sp>
      <p:sp>
        <p:nvSpPr>
          <p:cNvPr id="12" name="Text 9">
            <a:extLst>
              <a:ext uri="{FF2B5EF4-FFF2-40B4-BE49-F238E27FC236}">
                <a16:creationId xmlns:a16="http://schemas.microsoft.com/office/drawing/2014/main" id="{18D5E86B-F5B6-4FE6-A2FF-8030FB838889}"/>
              </a:ext>
            </a:extLst>
          </p:cNvPr>
          <p:cNvSpPr>
            <a:spLocks noGrp="1"/>
          </p:cNvSpPr>
          <p:nvPr/>
        </p:nvSpPr>
        <p:spPr>
          <a:xfrm>
            <a:off x="1645920" y="1956816"/>
            <a:ext cx="8778240" cy="45720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Out-of-Time-AUC 0,519 und Walk-forward-AUC 0,514 — kein belastbares Handelssignal.</a:t>
            </a:r>
          </a:p>
        </p:txBody>
      </p:sp>
      <p:sp>
        <p:nvSpPr>
          <p:cNvPr id="13" name="Shape 10">
            <a:extLst>
              <a:ext uri="{FF2B5EF4-FFF2-40B4-BE49-F238E27FC236}">
                <a16:creationId xmlns:a16="http://schemas.microsoft.com/office/drawing/2014/main" id="{FB24BE56-5C47-4351-A9CA-5C65325977CC}"/>
              </a:ext>
            </a:extLst>
          </p:cNvPr>
          <p:cNvSpPr>
            <a:spLocks noGrp="1"/>
          </p:cNvSpPr>
          <p:nvPr/>
        </p:nvSpPr>
        <p:spPr>
          <a:xfrm>
            <a:off x="640080" y="2606040"/>
            <a:ext cx="10881360" cy="914400"/>
          </a:xfrm>
          <a:prstGeom prst="roundRect">
            <a:avLst>
              <a:gd name="adj" fmla="val 6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4" name="Shape 11">
            <a:extLst>
              <a:ext uri="{FF2B5EF4-FFF2-40B4-BE49-F238E27FC236}">
                <a16:creationId xmlns:a16="http://schemas.microsoft.com/office/drawing/2014/main" id="{04EFC647-DF80-4DD8-B3C2-136C2D42F258}"/>
              </a:ext>
            </a:extLst>
          </p:cNvPr>
          <p:cNvSpPr>
            <a:spLocks noGrp="1"/>
          </p:cNvSpPr>
          <p:nvPr/>
        </p:nvSpPr>
        <p:spPr>
          <a:xfrm>
            <a:off x="868680" y="2779776"/>
            <a:ext cx="566928" cy="566928"/>
          </a:xfrm>
          <a:prstGeom prst="ellipse">
            <a:avLst/>
          </a:prstGeom>
          <a:solidFill>
            <a:srgbClr val="2F5D53"/>
          </a:solidFill>
        </p:spPr>
        <p:txBody>
          <a:bodyPr/>
          <a:lstStyle/>
          <a:p>
            <a:endParaRPr/>
          </a:p>
        </p:txBody>
      </p:sp>
      <p:sp>
        <p:nvSpPr>
          <p:cNvPr id="15" name="Text 12">
            <a:extLst>
              <a:ext uri="{FF2B5EF4-FFF2-40B4-BE49-F238E27FC236}">
                <a16:creationId xmlns:a16="http://schemas.microsoft.com/office/drawing/2014/main" id="{E152D284-E760-4B43-8ECA-B874B7050BEE}"/>
              </a:ext>
            </a:extLst>
          </p:cNvPr>
          <p:cNvSpPr>
            <a:spLocks noGrp="1"/>
          </p:cNvSpPr>
          <p:nvPr/>
        </p:nvSpPr>
        <p:spPr>
          <a:xfrm>
            <a:off x="868680" y="2779776"/>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H2</a:t>
            </a:r>
          </a:p>
        </p:txBody>
      </p:sp>
      <p:sp>
        <p:nvSpPr>
          <p:cNvPr id="16" name="Text 13">
            <a:extLst>
              <a:ext uri="{FF2B5EF4-FFF2-40B4-BE49-F238E27FC236}">
                <a16:creationId xmlns:a16="http://schemas.microsoft.com/office/drawing/2014/main" id="{94A4D0B3-BE65-46EA-8257-DBC9EA850A33}"/>
              </a:ext>
            </a:extLst>
          </p:cNvPr>
          <p:cNvSpPr>
            <a:spLocks noGrp="1"/>
          </p:cNvSpPr>
          <p:nvPr/>
        </p:nvSpPr>
        <p:spPr>
          <a:xfrm>
            <a:off x="1645920" y="2715768"/>
            <a:ext cx="2468880" cy="320040"/>
          </a:xfrm>
          <a:prstGeom prst="rect">
            <a:avLst/>
          </a:prstGeom>
          <a:noFill/>
        </p:spPr>
        <p:txBody>
          <a:bodyPr wrap="square" lIns="0" tIns="0" rIns="0" bIns="0" anchor="ctr"/>
          <a:lstStyle/>
          <a:p>
            <a:pPr marL="0" indent="0">
              <a:buNone/>
            </a:pPr>
            <a:r>
              <a:rPr sz="1200" b="1">
                <a:solidFill>
                  <a:srgbClr val="2F5D53"/>
                </a:solidFill>
                <a:latin typeface="Calibri"/>
                <a:ea typeface="Calibri"/>
                <a:cs typeface="Calibri"/>
              </a:rPr>
              <a:t>bestätigt</a:t>
            </a:r>
          </a:p>
        </p:txBody>
      </p:sp>
      <p:sp>
        <p:nvSpPr>
          <p:cNvPr id="17" name="Text 14">
            <a:extLst>
              <a:ext uri="{FF2B5EF4-FFF2-40B4-BE49-F238E27FC236}">
                <a16:creationId xmlns:a16="http://schemas.microsoft.com/office/drawing/2014/main" id="{594A29C3-39F3-4A52-8565-81ED46916069}"/>
              </a:ext>
            </a:extLst>
          </p:cNvPr>
          <p:cNvSpPr>
            <a:spLocks noGrp="1"/>
          </p:cNvSpPr>
          <p:nvPr/>
        </p:nvSpPr>
        <p:spPr>
          <a:xfrm>
            <a:off x="1645920" y="3008376"/>
            <a:ext cx="8778240" cy="45720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Streamlit-App macht Methodik zugänglich — vollständige Erklärungsebene mit Methodik-Seite.</a:t>
            </a:r>
          </a:p>
        </p:txBody>
      </p:sp>
      <p:sp>
        <p:nvSpPr>
          <p:cNvPr id="18" name="Shape 15">
            <a:extLst>
              <a:ext uri="{FF2B5EF4-FFF2-40B4-BE49-F238E27FC236}">
                <a16:creationId xmlns:a16="http://schemas.microsoft.com/office/drawing/2014/main" id="{1D917E17-99B5-486C-8FB3-0B0AD6E9032E}"/>
              </a:ext>
            </a:extLst>
          </p:cNvPr>
          <p:cNvSpPr>
            <a:spLocks noGrp="1"/>
          </p:cNvSpPr>
          <p:nvPr/>
        </p:nvSpPr>
        <p:spPr>
          <a:xfrm>
            <a:off x="640080" y="3657600"/>
            <a:ext cx="10881360" cy="914400"/>
          </a:xfrm>
          <a:prstGeom prst="roundRect">
            <a:avLst>
              <a:gd name="adj" fmla="val 6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Shape 16">
            <a:extLst>
              <a:ext uri="{FF2B5EF4-FFF2-40B4-BE49-F238E27FC236}">
                <a16:creationId xmlns:a16="http://schemas.microsoft.com/office/drawing/2014/main" id="{D99517D1-7EA8-497D-8404-2D525E59CA26}"/>
              </a:ext>
            </a:extLst>
          </p:cNvPr>
          <p:cNvSpPr>
            <a:spLocks noGrp="1"/>
          </p:cNvSpPr>
          <p:nvPr/>
        </p:nvSpPr>
        <p:spPr>
          <a:xfrm>
            <a:off x="868680" y="3831336"/>
            <a:ext cx="566928" cy="566928"/>
          </a:xfrm>
          <a:prstGeom prst="ellipse">
            <a:avLst/>
          </a:prstGeom>
          <a:solidFill>
            <a:srgbClr val="A97C1E"/>
          </a:solidFill>
        </p:spPr>
        <p:txBody>
          <a:bodyPr/>
          <a:lstStyle/>
          <a:p>
            <a:endParaRPr/>
          </a:p>
        </p:txBody>
      </p:sp>
      <p:sp>
        <p:nvSpPr>
          <p:cNvPr id="20" name="Text 17">
            <a:extLst>
              <a:ext uri="{FF2B5EF4-FFF2-40B4-BE49-F238E27FC236}">
                <a16:creationId xmlns:a16="http://schemas.microsoft.com/office/drawing/2014/main" id="{AF868B08-D9E5-4EC2-A9C2-32B70A313078}"/>
              </a:ext>
            </a:extLst>
          </p:cNvPr>
          <p:cNvSpPr>
            <a:spLocks noGrp="1"/>
          </p:cNvSpPr>
          <p:nvPr/>
        </p:nvSpPr>
        <p:spPr>
          <a:xfrm>
            <a:off x="868680" y="3831336"/>
            <a:ext cx="566928" cy="566928"/>
          </a:xfrm>
          <a:prstGeom prst="rect">
            <a:avLst/>
          </a:prstGeom>
          <a:noFill/>
        </p:spPr>
        <p:txBody>
          <a:bodyPr wrap="square" lIns="0" tIns="0" rIns="0" bIns="0" anchor="ctr"/>
          <a:lstStyle/>
          <a:p>
            <a:pPr marL="0" indent="0" algn="ctr">
              <a:buNone/>
            </a:pPr>
            <a:r>
              <a:rPr sz="1300" b="1">
                <a:solidFill>
                  <a:srgbClr val="FFFFFF"/>
                </a:solidFill>
                <a:latin typeface="Cambria"/>
                <a:ea typeface="Cambria"/>
                <a:cs typeface="Cambria"/>
              </a:rPr>
              <a:t>H3</a:t>
            </a:r>
          </a:p>
        </p:txBody>
      </p:sp>
      <p:sp>
        <p:nvSpPr>
          <p:cNvPr id="21" name="Text 18">
            <a:extLst>
              <a:ext uri="{FF2B5EF4-FFF2-40B4-BE49-F238E27FC236}">
                <a16:creationId xmlns:a16="http://schemas.microsoft.com/office/drawing/2014/main" id="{DCDE220E-69EC-472E-B521-533D7AF5C928}"/>
              </a:ext>
            </a:extLst>
          </p:cNvPr>
          <p:cNvSpPr>
            <a:spLocks noGrp="1"/>
          </p:cNvSpPr>
          <p:nvPr/>
        </p:nvSpPr>
        <p:spPr>
          <a:xfrm>
            <a:off x="1645920" y="3767328"/>
            <a:ext cx="2468880" cy="32004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teilweise bestätigt</a:t>
            </a:r>
          </a:p>
        </p:txBody>
      </p:sp>
      <p:sp>
        <p:nvSpPr>
          <p:cNvPr id="22" name="Text 19">
            <a:extLst>
              <a:ext uri="{FF2B5EF4-FFF2-40B4-BE49-F238E27FC236}">
                <a16:creationId xmlns:a16="http://schemas.microsoft.com/office/drawing/2014/main" id="{6D52E6BF-0332-4E8A-A804-E8A63EFEB70C}"/>
              </a:ext>
            </a:extLst>
          </p:cNvPr>
          <p:cNvSpPr>
            <a:spLocks noGrp="1"/>
          </p:cNvSpPr>
          <p:nvPr/>
        </p:nvSpPr>
        <p:spPr>
          <a:xfrm>
            <a:off x="1645920" y="4059936"/>
            <a:ext cx="8778240" cy="45720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ML-Signal + Indikatoren + Portfolio-Tools bieten Mehrwert — formale Nutzerstudie fehlt.</a:t>
            </a:r>
          </a:p>
        </p:txBody>
      </p:sp>
      <p:sp>
        <p:nvSpPr>
          <p:cNvPr id="23" name="Text 20">
            <a:extLst>
              <a:ext uri="{FF2B5EF4-FFF2-40B4-BE49-F238E27FC236}">
                <a16:creationId xmlns:a16="http://schemas.microsoft.com/office/drawing/2014/main" id="{75BBB220-8A71-4A84-A528-5C1DA651D40F}"/>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4" name="Text 21">
            <a:extLst>
              <a:ext uri="{FF2B5EF4-FFF2-40B4-BE49-F238E27FC236}">
                <a16:creationId xmlns:a16="http://schemas.microsoft.com/office/drawing/2014/main" id="{A9ECFC7E-80C4-44D5-A84E-707EAA6ACBCA}"/>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22</a:t>
            </a:r>
          </a:p>
        </p:txBody>
      </p:sp>
    </p:spTree>
    <p:extLst>
      <p:ext uri="{BB962C8B-B14F-4D97-AF65-F5344CB8AC3E}">
        <p14:creationId xmlns:p14="http://schemas.microsoft.com/office/powerpoint/2010/main" val="3883009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102EAC2-B659-4240-98BC-DE4096B4E402}"/>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4"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2E9DB39A-9F7C-49F6-B1F3-C05538E8B85F}"/>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ABSCHNITT 9 · C — CONCLUDE</a:t>
            </a:r>
          </a:p>
        </p:txBody>
      </p:sp>
      <p:sp>
        <p:nvSpPr>
          <p:cNvPr id="5" name="Text 2">
            <a:extLst>
              <a:ext uri="{FF2B5EF4-FFF2-40B4-BE49-F238E27FC236}">
                <a16:creationId xmlns:a16="http://schemas.microsoft.com/office/drawing/2014/main" id="{91845987-4583-4943-ADE0-52671AA9D328}"/>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Grenzen des Projekts</a:t>
            </a:r>
          </a:p>
        </p:txBody>
      </p:sp>
      <p:sp>
        <p:nvSpPr>
          <p:cNvPr id="6" name="Shape 3">
            <a:extLst>
              <a:ext uri="{FF2B5EF4-FFF2-40B4-BE49-F238E27FC236}">
                <a16:creationId xmlns:a16="http://schemas.microsoft.com/office/drawing/2014/main" id="{BBD33B0D-B848-4E6D-AFAD-46A29E8156A0}"/>
              </a:ext>
            </a:extLst>
          </p:cNvPr>
          <p:cNvSpPr>
            <a:spLocks noGrp="1"/>
          </p:cNvSpPr>
          <p:nvPr/>
        </p:nvSpPr>
        <p:spPr>
          <a:xfrm>
            <a:off x="640080" y="1508760"/>
            <a:ext cx="5257800" cy="1371600"/>
          </a:xfrm>
          <a:prstGeom prst="roundRect">
            <a:avLst>
              <a:gd name="adj" fmla="val 4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C33B44DA-335C-4684-A92F-54BF987F2149}"/>
              </a:ext>
            </a:extLst>
          </p:cNvPr>
          <p:cNvSpPr>
            <a:spLocks noGrp="1"/>
          </p:cNvSpPr>
          <p:nvPr/>
        </p:nvSpPr>
        <p:spPr>
          <a:xfrm>
            <a:off x="868680" y="1673352"/>
            <a:ext cx="4800600" cy="411480"/>
          </a:xfrm>
          <a:prstGeom prst="rect">
            <a:avLst/>
          </a:prstGeom>
          <a:noFill/>
        </p:spPr>
        <p:txBody>
          <a:bodyPr wrap="square" lIns="0" tIns="0" rIns="0" bIns="0" anchor="ctr"/>
          <a:lstStyle/>
          <a:p>
            <a:pPr marL="0" indent="0">
              <a:buNone/>
            </a:pPr>
            <a:r>
              <a:rPr sz="1400" b="1">
                <a:solidFill>
                  <a:srgbClr val="A83C30"/>
                </a:solidFill>
                <a:latin typeface="Cambria"/>
                <a:ea typeface="Cambria"/>
                <a:cs typeface="Cambria"/>
              </a:rPr>
              <a:t>Keine exogenen Faktoren</a:t>
            </a:r>
          </a:p>
        </p:txBody>
      </p:sp>
      <p:sp>
        <p:nvSpPr>
          <p:cNvPr id="8" name="Text 5">
            <a:extLst>
              <a:ext uri="{FF2B5EF4-FFF2-40B4-BE49-F238E27FC236}">
                <a16:creationId xmlns:a16="http://schemas.microsoft.com/office/drawing/2014/main" id="{BFB177C3-3283-45FA-BDA0-71A2A1A818B8}"/>
              </a:ext>
            </a:extLst>
          </p:cNvPr>
          <p:cNvSpPr>
            <a:spLocks noGrp="1"/>
          </p:cNvSpPr>
          <p:nvPr/>
        </p:nvSpPr>
        <p:spPr>
          <a:xfrm>
            <a:off x="868680" y="2103120"/>
            <a:ext cx="4800600" cy="68580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Makrodaten, Zentralbank-Entscheidungen, Geopolitik fließen nicht ein</a:t>
            </a:r>
          </a:p>
        </p:txBody>
      </p:sp>
      <p:sp>
        <p:nvSpPr>
          <p:cNvPr id="9" name="Shape 6">
            <a:extLst>
              <a:ext uri="{FF2B5EF4-FFF2-40B4-BE49-F238E27FC236}">
                <a16:creationId xmlns:a16="http://schemas.microsoft.com/office/drawing/2014/main" id="{3D775455-952D-4BD1-8FF4-D8DF98AF1195}"/>
              </a:ext>
            </a:extLst>
          </p:cNvPr>
          <p:cNvSpPr>
            <a:spLocks noGrp="1"/>
          </p:cNvSpPr>
          <p:nvPr/>
        </p:nvSpPr>
        <p:spPr>
          <a:xfrm>
            <a:off x="6263640" y="1508760"/>
            <a:ext cx="5257800" cy="1371600"/>
          </a:xfrm>
          <a:prstGeom prst="roundRect">
            <a:avLst>
              <a:gd name="adj" fmla="val 4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CDDBB3D5-6A04-4A87-9C62-1D41DBD6CDD5}"/>
              </a:ext>
            </a:extLst>
          </p:cNvPr>
          <p:cNvSpPr>
            <a:spLocks noGrp="1"/>
          </p:cNvSpPr>
          <p:nvPr/>
        </p:nvSpPr>
        <p:spPr>
          <a:xfrm>
            <a:off x="6492240" y="1673352"/>
            <a:ext cx="4800600" cy="411480"/>
          </a:xfrm>
          <a:prstGeom prst="rect">
            <a:avLst/>
          </a:prstGeom>
          <a:noFill/>
        </p:spPr>
        <p:txBody>
          <a:bodyPr wrap="square" lIns="0" tIns="0" rIns="0" bIns="0" anchor="ctr"/>
          <a:lstStyle/>
          <a:p>
            <a:pPr marL="0" indent="0">
              <a:buNone/>
            </a:pPr>
            <a:r>
              <a:rPr sz="1400" b="1">
                <a:solidFill>
                  <a:srgbClr val="A83C30"/>
                </a:solidFill>
                <a:latin typeface="Cambria"/>
                <a:ea typeface="Cambria"/>
                <a:cs typeface="Cambria"/>
              </a:rPr>
              <a:t>Kein Sentiment im Modell</a:t>
            </a:r>
          </a:p>
        </p:txBody>
      </p:sp>
      <p:sp>
        <p:nvSpPr>
          <p:cNvPr id="11" name="Text 8">
            <a:extLst>
              <a:ext uri="{FF2B5EF4-FFF2-40B4-BE49-F238E27FC236}">
                <a16:creationId xmlns:a16="http://schemas.microsoft.com/office/drawing/2014/main" id="{631A7D5D-10E6-4563-A745-B38355C31C3D}"/>
              </a:ext>
            </a:extLst>
          </p:cNvPr>
          <p:cNvSpPr>
            <a:spLocks noGrp="1"/>
          </p:cNvSpPr>
          <p:nvPr/>
        </p:nvSpPr>
        <p:spPr>
          <a:xfrm>
            <a:off x="6492240" y="2103120"/>
            <a:ext cx="4800600" cy="68580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Nachrichten werden angezeigt, aber nicht als ML-Feature genutzt</a:t>
            </a:r>
          </a:p>
        </p:txBody>
      </p:sp>
      <p:sp>
        <p:nvSpPr>
          <p:cNvPr id="12" name="Shape 9">
            <a:extLst>
              <a:ext uri="{FF2B5EF4-FFF2-40B4-BE49-F238E27FC236}">
                <a16:creationId xmlns:a16="http://schemas.microsoft.com/office/drawing/2014/main" id="{F8691486-8D2D-428E-AE94-04D15B2047E6}"/>
              </a:ext>
            </a:extLst>
          </p:cNvPr>
          <p:cNvSpPr>
            <a:spLocks noGrp="1"/>
          </p:cNvSpPr>
          <p:nvPr/>
        </p:nvSpPr>
        <p:spPr>
          <a:xfrm>
            <a:off x="640080" y="3108960"/>
            <a:ext cx="5257800" cy="1371600"/>
          </a:xfrm>
          <a:prstGeom prst="roundRect">
            <a:avLst>
              <a:gd name="adj" fmla="val 4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EBB55BEC-19B9-4A71-9558-6C961FC38315}"/>
              </a:ext>
            </a:extLst>
          </p:cNvPr>
          <p:cNvSpPr>
            <a:spLocks noGrp="1"/>
          </p:cNvSpPr>
          <p:nvPr/>
        </p:nvSpPr>
        <p:spPr>
          <a:xfrm>
            <a:off x="868680" y="3273552"/>
            <a:ext cx="4800600" cy="411480"/>
          </a:xfrm>
          <a:prstGeom prst="rect">
            <a:avLst/>
          </a:prstGeom>
          <a:noFill/>
        </p:spPr>
        <p:txBody>
          <a:bodyPr wrap="square" lIns="0" tIns="0" rIns="0" bIns="0" anchor="ctr"/>
          <a:lstStyle/>
          <a:p>
            <a:pPr marL="0" indent="0">
              <a:buNone/>
            </a:pPr>
            <a:r>
              <a:rPr sz="1400" b="1">
                <a:solidFill>
                  <a:srgbClr val="A83C30"/>
                </a:solidFill>
                <a:latin typeface="Cambria"/>
                <a:ea typeface="Cambria"/>
                <a:cs typeface="Cambria"/>
              </a:rPr>
              <a:t>Statisches Modell</a:t>
            </a:r>
          </a:p>
        </p:txBody>
      </p:sp>
      <p:sp>
        <p:nvSpPr>
          <p:cNvPr id="14" name="Text 11">
            <a:extLst>
              <a:ext uri="{FF2B5EF4-FFF2-40B4-BE49-F238E27FC236}">
                <a16:creationId xmlns:a16="http://schemas.microsoft.com/office/drawing/2014/main" id="{EDC54609-D0CA-4102-9E37-A2D57B047FC1}"/>
              </a:ext>
            </a:extLst>
          </p:cNvPr>
          <p:cNvSpPr>
            <a:spLocks noGrp="1"/>
          </p:cNvSpPr>
          <p:nvPr/>
        </p:nvSpPr>
        <p:spPr>
          <a:xfrm>
            <a:off x="868680" y="3703320"/>
            <a:ext cx="4800600" cy="68580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Kein automatisches Nachtraining bei neuen Daten</a:t>
            </a:r>
          </a:p>
        </p:txBody>
      </p:sp>
      <p:sp>
        <p:nvSpPr>
          <p:cNvPr id="15" name="Shape 12">
            <a:extLst>
              <a:ext uri="{FF2B5EF4-FFF2-40B4-BE49-F238E27FC236}">
                <a16:creationId xmlns:a16="http://schemas.microsoft.com/office/drawing/2014/main" id="{7E8E7ACB-710D-406F-A307-0591EC1BDB21}"/>
              </a:ext>
            </a:extLst>
          </p:cNvPr>
          <p:cNvSpPr>
            <a:spLocks noGrp="1"/>
          </p:cNvSpPr>
          <p:nvPr/>
        </p:nvSpPr>
        <p:spPr>
          <a:xfrm>
            <a:off x="6263640" y="3108960"/>
            <a:ext cx="5257800" cy="1371600"/>
          </a:xfrm>
          <a:prstGeom prst="roundRect">
            <a:avLst>
              <a:gd name="adj" fmla="val 40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6" name="Text 13">
            <a:extLst>
              <a:ext uri="{FF2B5EF4-FFF2-40B4-BE49-F238E27FC236}">
                <a16:creationId xmlns:a16="http://schemas.microsoft.com/office/drawing/2014/main" id="{9D9C809A-6B1E-4901-A97E-BF740630AB2F}"/>
              </a:ext>
            </a:extLst>
          </p:cNvPr>
          <p:cNvSpPr>
            <a:spLocks noGrp="1"/>
          </p:cNvSpPr>
          <p:nvPr/>
        </p:nvSpPr>
        <p:spPr>
          <a:xfrm>
            <a:off x="6492240" y="3273552"/>
            <a:ext cx="4800600" cy="411480"/>
          </a:xfrm>
          <a:prstGeom prst="rect">
            <a:avLst/>
          </a:prstGeom>
          <a:noFill/>
        </p:spPr>
        <p:txBody>
          <a:bodyPr wrap="square" lIns="0" tIns="0" rIns="0" bIns="0" anchor="ctr"/>
          <a:lstStyle/>
          <a:p>
            <a:pPr marL="0" indent="0">
              <a:buNone/>
            </a:pPr>
            <a:r>
              <a:rPr sz="1400" b="1">
                <a:solidFill>
                  <a:srgbClr val="A83C30"/>
                </a:solidFill>
                <a:latin typeface="Cambria"/>
                <a:ea typeface="Cambria"/>
                <a:cs typeface="Cambria"/>
              </a:rPr>
              <a:t>Historie ≠ Zukunft</a:t>
            </a:r>
          </a:p>
        </p:txBody>
      </p:sp>
      <p:sp>
        <p:nvSpPr>
          <p:cNvPr id="17" name="Text 14">
            <a:extLst>
              <a:ext uri="{FF2B5EF4-FFF2-40B4-BE49-F238E27FC236}">
                <a16:creationId xmlns:a16="http://schemas.microsoft.com/office/drawing/2014/main" id="{542BB2FF-C55F-4C3A-A2AF-D877F699313A}"/>
              </a:ext>
            </a:extLst>
          </p:cNvPr>
          <p:cNvSpPr>
            <a:spLocks noGrp="1"/>
          </p:cNvSpPr>
          <p:nvPr/>
        </p:nvSpPr>
        <p:spPr>
          <a:xfrm>
            <a:off x="6492240" y="3703320"/>
            <a:ext cx="4800600" cy="685800"/>
          </a:xfrm>
          <a:prstGeom prst="rect">
            <a:avLst/>
          </a:prstGeom>
          <a:noFill/>
        </p:spPr>
        <p:txBody>
          <a:bodyPr wrap="square" lIns="0" tIns="0" rIns="0" bIns="0" anchor="ctr"/>
          <a:lstStyle/>
          <a:p>
            <a:pPr marL="0" indent="0">
              <a:buNone/>
            </a:pPr>
            <a:r>
              <a:rPr sz="1200">
                <a:solidFill>
                  <a:srgbClr val="5B6259"/>
                </a:solidFill>
                <a:latin typeface="Calibri"/>
                <a:ea typeface="Calibri"/>
                <a:cs typeface="Calibri"/>
              </a:rPr>
              <a:t>Gilt für jedes Finanzmodell der Welt</a:t>
            </a:r>
          </a:p>
        </p:txBody>
      </p:sp>
      <p:sp>
        <p:nvSpPr>
          <p:cNvPr id="18" name="Shape 15">
            <a:extLst>
              <a:ext uri="{FF2B5EF4-FFF2-40B4-BE49-F238E27FC236}">
                <a16:creationId xmlns:a16="http://schemas.microsoft.com/office/drawing/2014/main" id="{F5CAC2DA-281B-4C53-B4AE-7C9CE9C8FFDD}"/>
              </a:ext>
            </a:extLst>
          </p:cNvPr>
          <p:cNvSpPr>
            <a:spLocks noGrp="1"/>
          </p:cNvSpPr>
          <p:nvPr/>
        </p:nvSpPr>
        <p:spPr>
          <a:xfrm>
            <a:off x="640080" y="4846320"/>
            <a:ext cx="10881360" cy="1463040"/>
          </a:xfrm>
          <a:prstGeom prst="roundRect">
            <a:avLst>
              <a:gd name="adj" fmla="val 3750"/>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FB5F0DCA-C177-4570-8792-B78A2E3A93C9}"/>
              </a:ext>
            </a:extLst>
          </p:cNvPr>
          <p:cNvSpPr>
            <a:spLocks noGrp="1"/>
          </p:cNvSpPr>
          <p:nvPr/>
        </p:nvSpPr>
        <p:spPr>
          <a:xfrm>
            <a:off x="914400" y="4846320"/>
            <a:ext cx="10332720" cy="1463040"/>
          </a:xfrm>
          <a:prstGeom prst="rect">
            <a:avLst/>
          </a:prstGeom>
          <a:noFill/>
        </p:spPr>
        <p:txBody>
          <a:bodyPr wrap="square" lIns="0" tIns="0" rIns="0" bIns="0" anchor="ctr"/>
          <a:lstStyle/>
          <a:p>
            <a:pPr marL="0" indent="0">
              <a:buNone/>
            </a:pPr>
            <a:r>
              <a:rPr sz="1600" b="1" i="1">
                <a:solidFill>
                  <a:srgbClr val="2F5D53"/>
                </a:solidFill>
                <a:latin typeface="Cambria"/>
                <a:ea typeface="Cambria"/>
                <a:cs typeface="Cambria"/>
              </a:rPr>
              <a:t>Diese Grenzen sind kein Versagen des Projekts. Sie sind der ehrliche Abschluss eines wissenschaftlichen Projekts, das genau weiß, was es kann — und was nicht.</a:t>
            </a:r>
          </a:p>
        </p:txBody>
      </p:sp>
      <p:sp>
        <p:nvSpPr>
          <p:cNvPr id="20" name="Text 17">
            <a:extLst>
              <a:ext uri="{FF2B5EF4-FFF2-40B4-BE49-F238E27FC236}">
                <a16:creationId xmlns:a16="http://schemas.microsoft.com/office/drawing/2014/main" id="{99BA94CF-C1CA-40DE-A63E-2AF8DE8AC1F5}"/>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1" name="Text 18">
            <a:extLst>
              <a:ext uri="{FF2B5EF4-FFF2-40B4-BE49-F238E27FC236}">
                <a16:creationId xmlns:a16="http://schemas.microsoft.com/office/drawing/2014/main" id="{9CC33699-2BF9-4981-98A4-8DA3C4868D35}"/>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23</a:t>
            </a:r>
          </a:p>
        </p:txBody>
      </p:sp>
    </p:spTree>
    <p:extLst>
      <p:ext uri="{BB962C8B-B14F-4D97-AF65-F5344CB8AC3E}">
        <p14:creationId xmlns:p14="http://schemas.microsoft.com/office/powerpoint/2010/main" val="9662165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033443-BEB1-4179-B556-4B38D93ED2EF}"/>
              </a:ext>
            </a:extLst>
          </p:cNvPr>
          <p:cNvSpPr>
            <a:spLocks noGrp="1"/>
          </p:cNvSpPr>
          <p:nvPr/>
        </p:nvSpPr>
        <p:spPr>
          <a:xfrm>
            <a:off x="548640" y="475488"/>
            <a:ext cx="566928" cy="566928"/>
          </a:xfrm>
          <a:prstGeom prst="ellipse">
            <a:avLst/>
          </a:prstGeom>
          <a:solidFill>
            <a:srgbClr val="23302A"/>
          </a:solidFill>
        </p:spPr>
        <p:txBody>
          <a:bodyPr/>
          <a:lstStyle/>
          <a:p>
            <a:endParaRPr/>
          </a:p>
        </p:txBody>
      </p:sp>
      <p:pic>
        <p:nvPicPr>
          <p:cNvPr id="22"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363C340B-D3F1-4C79-80E7-4F51BC2A62DB}"/>
              </a:ext>
            </a:extLst>
          </p:cNvPr>
          <p:cNvSpPr>
            <a:spLocks noGrp="1"/>
          </p:cNvSpPr>
          <p:nvPr/>
        </p:nvSpPr>
        <p:spPr>
          <a:xfrm>
            <a:off x="1234440" y="512064"/>
            <a:ext cx="9144000" cy="548640"/>
          </a:xfrm>
          <a:prstGeom prst="rect">
            <a:avLst/>
          </a:prstGeom>
          <a:noFill/>
        </p:spPr>
        <p:txBody>
          <a:bodyPr wrap="square" lIns="0" tIns="0" rIns="0" bIns="0" anchor="ctr"/>
          <a:lstStyle/>
          <a:p>
            <a:pPr marL="0" indent="0">
              <a:buNone/>
            </a:pPr>
            <a:r>
              <a:rPr sz="2800" b="1">
                <a:solidFill>
                  <a:srgbClr val="F4F5F0"/>
                </a:solidFill>
                <a:latin typeface="Cambria"/>
                <a:ea typeface="Cambria"/>
                <a:cs typeface="Cambria"/>
              </a:rPr>
              <a:t>Fazit — Was bleibt</a:t>
            </a:r>
          </a:p>
        </p:txBody>
      </p:sp>
      <p:sp>
        <p:nvSpPr>
          <p:cNvPr id="5" name="Shape 2">
            <a:extLst>
              <a:ext uri="{FF2B5EF4-FFF2-40B4-BE49-F238E27FC236}">
                <a16:creationId xmlns:a16="http://schemas.microsoft.com/office/drawing/2014/main" id="{E490BEB6-2886-425C-B3DC-6C94ED6E3969}"/>
              </a:ext>
            </a:extLst>
          </p:cNvPr>
          <p:cNvSpPr>
            <a:spLocks noGrp="1"/>
          </p:cNvSpPr>
          <p:nvPr/>
        </p:nvSpPr>
        <p:spPr>
          <a:xfrm>
            <a:off x="10555834" y="457200"/>
            <a:ext cx="1175918" cy="329184"/>
          </a:xfrm>
          <a:prstGeom prst="roundRect">
            <a:avLst>
              <a:gd name="adj" fmla="val 22222"/>
            </a:avLst>
          </a:prstGeom>
          <a:solidFill>
            <a:srgbClr val="E4EBE7"/>
          </a:solidFill>
        </p:spPr>
        <p:txBody>
          <a:bodyPr/>
          <a:lstStyle/>
          <a:p>
            <a:endParaRPr/>
          </a:p>
        </p:txBody>
      </p:sp>
      <p:sp>
        <p:nvSpPr>
          <p:cNvPr id="6" name="Text 3">
            <a:extLst>
              <a:ext uri="{FF2B5EF4-FFF2-40B4-BE49-F238E27FC236}">
                <a16:creationId xmlns:a16="http://schemas.microsoft.com/office/drawing/2014/main" id="{ACB626EC-259A-479A-B2F1-77DE511454A8}"/>
              </a:ext>
            </a:extLst>
          </p:cNvPr>
          <p:cNvSpPr>
            <a:spLocks noGrp="1"/>
          </p:cNvSpPr>
          <p:nvPr/>
        </p:nvSpPr>
        <p:spPr>
          <a:xfrm>
            <a:off x="10555834" y="457200"/>
            <a:ext cx="1175918" cy="329184"/>
          </a:xfrm>
          <a:prstGeom prst="rect">
            <a:avLst/>
          </a:prstGeom>
          <a:noFill/>
        </p:spPr>
        <p:txBody>
          <a:bodyPr wrap="square" lIns="0" tIns="0" rIns="0" bIns="0" anchor="ctr"/>
          <a:lstStyle/>
          <a:p>
            <a:pPr marL="0" indent="0" algn="ctr">
              <a:buNone/>
            </a:pPr>
            <a:r>
              <a:rPr sz="1100" b="1">
                <a:solidFill>
                  <a:srgbClr val="2F5D53"/>
                </a:solidFill>
                <a:latin typeface="Calibri"/>
                <a:ea typeface="Calibri"/>
                <a:cs typeface="Calibri"/>
              </a:rPr>
              <a:t>1,5 Min</a:t>
            </a:r>
          </a:p>
        </p:txBody>
      </p:sp>
      <p:sp>
        <p:nvSpPr>
          <p:cNvPr id="7" name="Text 4">
            <a:extLst>
              <a:ext uri="{FF2B5EF4-FFF2-40B4-BE49-F238E27FC236}">
                <a16:creationId xmlns:a16="http://schemas.microsoft.com/office/drawing/2014/main" id="{941815B2-DE55-42A8-B80B-D3BE79D5A212}"/>
              </a:ext>
            </a:extLst>
          </p:cNvPr>
          <p:cNvSpPr>
            <a:spLocks noGrp="1"/>
          </p:cNvSpPr>
          <p:nvPr/>
        </p:nvSpPr>
        <p:spPr>
          <a:xfrm>
            <a:off x="822960" y="1508760"/>
            <a:ext cx="10515600" cy="1371600"/>
          </a:xfrm>
          <a:prstGeom prst="rect">
            <a:avLst/>
          </a:prstGeom>
          <a:noFill/>
        </p:spPr>
        <p:txBody>
          <a:bodyPr wrap="square" lIns="0" tIns="0" rIns="0" bIns="0" anchor="ctr"/>
          <a:lstStyle/>
          <a:p>
            <a:pPr marL="0" indent="0">
              <a:buNone/>
            </a:pPr>
            <a:r>
              <a:rPr sz="2200" i="1">
                <a:solidFill>
                  <a:srgbClr val="F4F5F0"/>
                </a:solidFill>
                <a:latin typeface="Cambria"/>
                <a:ea typeface="Cambria"/>
                <a:cs typeface="Cambria"/>
              </a:rPr>
              <a:t>„Ein ehrliches Modell, das im Out-of-Time-Test kaum besser als Zufall ist, ist wissenschaftlich wertvoller als ein beeindruckender Wert mit Zukunftswissen.“</a:t>
            </a:r>
          </a:p>
        </p:txBody>
      </p:sp>
      <p:sp>
        <p:nvSpPr>
          <p:cNvPr id="8" name="Shape 5">
            <a:extLst>
              <a:ext uri="{FF2B5EF4-FFF2-40B4-BE49-F238E27FC236}">
                <a16:creationId xmlns:a16="http://schemas.microsoft.com/office/drawing/2014/main" id="{D151EA31-2DCB-4A1C-8407-8D5718ADCEA1}"/>
              </a:ext>
            </a:extLst>
          </p:cNvPr>
          <p:cNvSpPr>
            <a:spLocks noGrp="1"/>
          </p:cNvSpPr>
          <p:nvPr/>
        </p:nvSpPr>
        <p:spPr>
          <a:xfrm>
            <a:off x="822960" y="3200400"/>
            <a:ext cx="3429000" cy="1371600"/>
          </a:xfrm>
          <a:prstGeom prst="roundRect">
            <a:avLst>
              <a:gd name="adj" fmla="val 4667"/>
            </a:avLst>
          </a:prstGeom>
          <a:solidFill>
            <a:srgbClr val="171A15"/>
          </a:solidFill>
          <a:ln w="9525">
            <a:solidFill>
              <a:srgbClr val="2A332A"/>
            </a:solidFill>
            <a:prstDash val="solid"/>
          </a:ln>
        </p:spPr>
        <p:txBody>
          <a:bodyPr/>
          <a:lstStyle/>
          <a:p>
            <a:endParaRPr/>
          </a:p>
        </p:txBody>
      </p:sp>
      <p:sp>
        <p:nvSpPr>
          <p:cNvPr id="9" name="Text 6">
            <a:extLst>
              <a:ext uri="{FF2B5EF4-FFF2-40B4-BE49-F238E27FC236}">
                <a16:creationId xmlns:a16="http://schemas.microsoft.com/office/drawing/2014/main" id="{D3F22549-70D0-47AE-8FD1-711DD17CCCF3}"/>
              </a:ext>
            </a:extLst>
          </p:cNvPr>
          <p:cNvSpPr>
            <a:spLocks noGrp="1"/>
          </p:cNvSpPr>
          <p:nvPr/>
        </p:nvSpPr>
        <p:spPr>
          <a:xfrm>
            <a:off x="1005840" y="3337560"/>
            <a:ext cx="3063240" cy="548640"/>
          </a:xfrm>
          <a:prstGeom prst="rect">
            <a:avLst/>
          </a:prstGeom>
          <a:noFill/>
        </p:spPr>
        <p:txBody>
          <a:bodyPr wrap="square" lIns="0" tIns="0" rIns="0" bIns="0" anchor="ctr"/>
          <a:lstStyle/>
          <a:p>
            <a:pPr marL="0" indent="0">
              <a:buNone/>
            </a:pPr>
            <a:r>
              <a:rPr sz="1500" b="1">
                <a:solidFill>
                  <a:srgbClr val="C79A3C"/>
                </a:solidFill>
                <a:latin typeface="Cambria"/>
                <a:ea typeface="Cambria"/>
                <a:cs typeface="Cambria"/>
              </a:rPr>
              <a:t>Modulare Architektur</a:t>
            </a:r>
          </a:p>
        </p:txBody>
      </p:sp>
      <p:sp>
        <p:nvSpPr>
          <p:cNvPr id="10" name="Text 7">
            <a:extLst>
              <a:ext uri="{FF2B5EF4-FFF2-40B4-BE49-F238E27FC236}">
                <a16:creationId xmlns:a16="http://schemas.microsoft.com/office/drawing/2014/main" id="{84C9AF30-6C2D-45E4-A02D-A2BF17C7B3D5}"/>
              </a:ext>
            </a:extLst>
          </p:cNvPr>
          <p:cNvSpPr>
            <a:spLocks noGrp="1"/>
          </p:cNvSpPr>
          <p:nvPr/>
        </p:nvSpPr>
        <p:spPr>
          <a:xfrm>
            <a:off x="1005840" y="3931920"/>
            <a:ext cx="3063240" cy="548640"/>
          </a:xfrm>
          <a:prstGeom prst="rect">
            <a:avLst/>
          </a:prstGeom>
          <a:noFill/>
        </p:spPr>
        <p:txBody>
          <a:bodyPr wrap="square" lIns="0" tIns="0" rIns="0" bIns="0" anchor="ctr"/>
          <a:lstStyle/>
          <a:p>
            <a:pPr marL="0" indent="0">
              <a:buNone/>
            </a:pPr>
            <a:r>
              <a:rPr sz="1100">
                <a:solidFill>
                  <a:srgbClr val="9FC2B4"/>
                </a:solidFill>
                <a:latin typeface="Calibri"/>
                <a:ea typeface="Calibri"/>
                <a:cs typeface="Calibri"/>
              </a:rPr>
              <a:t>statt Monolith — 20+ fachlich getrennte Module</a:t>
            </a:r>
          </a:p>
        </p:txBody>
      </p:sp>
      <p:sp>
        <p:nvSpPr>
          <p:cNvPr id="11" name="Shape 8">
            <a:extLst>
              <a:ext uri="{FF2B5EF4-FFF2-40B4-BE49-F238E27FC236}">
                <a16:creationId xmlns:a16="http://schemas.microsoft.com/office/drawing/2014/main" id="{11977144-C794-4D81-A241-29815D1F1804}"/>
              </a:ext>
            </a:extLst>
          </p:cNvPr>
          <p:cNvSpPr>
            <a:spLocks noGrp="1"/>
          </p:cNvSpPr>
          <p:nvPr/>
        </p:nvSpPr>
        <p:spPr>
          <a:xfrm>
            <a:off x="4544568" y="3200400"/>
            <a:ext cx="3429000" cy="1371600"/>
          </a:xfrm>
          <a:prstGeom prst="roundRect">
            <a:avLst>
              <a:gd name="adj" fmla="val 4667"/>
            </a:avLst>
          </a:prstGeom>
          <a:solidFill>
            <a:srgbClr val="171A15"/>
          </a:solidFill>
          <a:ln w="9525">
            <a:solidFill>
              <a:srgbClr val="2A332A"/>
            </a:solidFill>
            <a:prstDash val="solid"/>
          </a:ln>
        </p:spPr>
        <p:txBody>
          <a:bodyPr/>
          <a:lstStyle/>
          <a:p>
            <a:endParaRPr/>
          </a:p>
        </p:txBody>
      </p:sp>
      <p:sp>
        <p:nvSpPr>
          <p:cNvPr id="12" name="Text 9">
            <a:extLst>
              <a:ext uri="{FF2B5EF4-FFF2-40B4-BE49-F238E27FC236}">
                <a16:creationId xmlns:a16="http://schemas.microsoft.com/office/drawing/2014/main" id="{FCB1AB52-A295-4675-A53C-9FE43AF4DFCF}"/>
              </a:ext>
            </a:extLst>
          </p:cNvPr>
          <p:cNvSpPr>
            <a:spLocks noGrp="1"/>
          </p:cNvSpPr>
          <p:nvPr/>
        </p:nvSpPr>
        <p:spPr>
          <a:xfrm>
            <a:off x="4727448" y="3337560"/>
            <a:ext cx="3063240" cy="548640"/>
          </a:xfrm>
          <a:prstGeom prst="rect">
            <a:avLst/>
          </a:prstGeom>
          <a:noFill/>
        </p:spPr>
        <p:txBody>
          <a:bodyPr wrap="square" lIns="0" tIns="0" rIns="0" bIns="0" anchor="ctr"/>
          <a:lstStyle/>
          <a:p>
            <a:pPr marL="0" indent="0">
              <a:buNone/>
            </a:pPr>
            <a:r>
              <a:rPr sz="2200" b="1">
                <a:solidFill>
                  <a:srgbClr val="C79A3C"/>
                </a:solidFill>
                <a:latin typeface="Cambria"/>
                <a:ea typeface="Cambria"/>
                <a:cs typeface="Cambria"/>
              </a:rPr>
              <a:t>8</a:t>
            </a:r>
          </a:p>
        </p:txBody>
      </p:sp>
      <p:sp>
        <p:nvSpPr>
          <p:cNvPr id="13" name="Text 10">
            <a:extLst>
              <a:ext uri="{FF2B5EF4-FFF2-40B4-BE49-F238E27FC236}">
                <a16:creationId xmlns:a16="http://schemas.microsoft.com/office/drawing/2014/main" id="{14C48D43-A728-40C5-9B2B-D8416CB8A711}"/>
              </a:ext>
            </a:extLst>
          </p:cNvPr>
          <p:cNvSpPr>
            <a:spLocks noGrp="1"/>
          </p:cNvSpPr>
          <p:nvPr/>
        </p:nvSpPr>
        <p:spPr>
          <a:xfrm>
            <a:off x="4727448" y="3931920"/>
            <a:ext cx="3063240" cy="548640"/>
          </a:xfrm>
          <a:prstGeom prst="rect">
            <a:avLst/>
          </a:prstGeom>
          <a:noFill/>
        </p:spPr>
        <p:txBody>
          <a:bodyPr wrap="square" lIns="0" tIns="0" rIns="0" bIns="0" anchor="ctr"/>
          <a:lstStyle/>
          <a:p>
            <a:pPr marL="0" indent="0">
              <a:buNone/>
            </a:pPr>
            <a:r>
              <a:rPr sz="1100">
                <a:solidFill>
                  <a:srgbClr val="9FC2B4"/>
                </a:solidFill>
                <a:latin typeface="Calibri"/>
                <a:ea typeface="Calibri"/>
                <a:cs typeface="Calibri"/>
              </a:rPr>
              <a:t>vollständig kommentierte Jupyter-Notebooks</a:t>
            </a:r>
          </a:p>
        </p:txBody>
      </p:sp>
      <p:sp>
        <p:nvSpPr>
          <p:cNvPr id="14" name="Shape 11">
            <a:extLst>
              <a:ext uri="{FF2B5EF4-FFF2-40B4-BE49-F238E27FC236}">
                <a16:creationId xmlns:a16="http://schemas.microsoft.com/office/drawing/2014/main" id="{8D7C52B2-FCE3-4901-B415-5F1F3977854B}"/>
              </a:ext>
            </a:extLst>
          </p:cNvPr>
          <p:cNvSpPr>
            <a:spLocks noGrp="1"/>
          </p:cNvSpPr>
          <p:nvPr/>
        </p:nvSpPr>
        <p:spPr>
          <a:xfrm>
            <a:off x="8266176" y="3200400"/>
            <a:ext cx="3429000" cy="1371600"/>
          </a:xfrm>
          <a:prstGeom prst="roundRect">
            <a:avLst>
              <a:gd name="adj" fmla="val 4667"/>
            </a:avLst>
          </a:prstGeom>
          <a:solidFill>
            <a:srgbClr val="171A15"/>
          </a:solidFill>
          <a:ln w="9525">
            <a:solidFill>
              <a:srgbClr val="2A332A"/>
            </a:solidFill>
            <a:prstDash val="solid"/>
          </a:ln>
        </p:spPr>
        <p:txBody>
          <a:bodyPr/>
          <a:lstStyle/>
          <a:p>
            <a:endParaRPr/>
          </a:p>
        </p:txBody>
      </p:sp>
      <p:sp>
        <p:nvSpPr>
          <p:cNvPr id="15" name="Text 12">
            <a:extLst>
              <a:ext uri="{FF2B5EF4-FFF2-40B4-BE49-F238E27FC236}">
                <a16:creationId xmlns:a16="http://schemas.microsoft.com/office/drawing/2014/main" id="{189219A1-8FE8-495A-ADFF-94545F515145}"/>
              </a:ext>
            </a:extLst>
          </p:cNvPr>
          <p:cNvSpPr>
            <a:spLocks noGrp="1"/>
          </p:cNvSpPr>
          <p:nvPr/>
        </p:nvSpPr>
        <p:spPr>
          <a:xfrm>
            <a:off x="8449056" y="3337560"/>
            <a:ext cx="3063240" cy="548640"/>
          </a:xfrm>
          <a:prstGeom prst="rect">
            <a:avLst/>
          </a:prstGeom>
          <a:noFill/>
        </p:spPr>
        <p:txBody>
          <a:bodyPr wrap="square" lIns="0" tIns="0" rIns="0" bIns="0" anchor="ctr"/>
          <a:lstStyle/>
          <a:p>
            <a:pPr marL="0" indent="0">
              <a:buNone/>
            </a:pPr>
            <a:r>
              <a:rPr sz="1500" b="1">
                <a:solidFill>
                  <a:srgbClr val="C79A3C"/>
                </a:solidFill>
                <a:latin typeface="Cambria"/>
                <a:ea typeface="Cambria"/>
                <a:cs typeface="Cambria"/>
              </a:rPr>
              <a:t>51,9 % / 0,519</a:t>
            </a:r>
          </a:p>
        </p:txBody>
      </p:sp>
      <p:sp>
        <p:nvSpPr>
          <p:cNvPr id="16" name="Text 13">
            <a:extLst>
              <a:ext uri="{FF2B5EF4-FFF2-40B4-BE49-F238E27FC236}">
                <a16:creationId xmlns:a16="http://schemas.microsoft.com/office/drawing/2014/main" id="{7BDF3CD1-FB52-42A9-9698-92F189AD1307}"/>
              </a:ext>
            </a:extLst>
          </p:cNvPr>
          <p:cNvSpPr>
            <a:spLocks noGrp="1"/>
          </p:cNvSpPr>
          <p:nvPr/>
        </p:nvSpPr>
        <p:spPr>
          <a:xfrm>
            <a:off x="8449056" y="3931920"/>
            <a:ext cx="3063240" cy="548640"/>
          </a:xfrm>
          <a:prstGeom prst="rect">
            <a:avLst/>
          </a:prstGeom>
          <a:noFill/>
        </p:spPr>
        <p:txBody>
          <a:bodyPr wrap="square" lIns="0" tIns="0" rIns="0" bIns="0" anchor="ctr"/>
          <a:lstStyle/>
          <a:p>
            <a:pPr marL="0" indent="0">
              <a:buNone/>
            </a:pPr>
            <a:r>
              <a:rPr sz="1100">
                <a:solidFill>
                  <a:srgbClr val="9FC2B4"/>
                </a:solidFill>
                <a:latin typeface="Calibri"/>
                <a:ea typeface="Calibri"/>
                <a:cs typeface="Calibri"/>
              </a:rPr>
              <a:t>Accuracy / ROC-AUC, out-of-time</a:t>
            </a:r>
          </a:p>
        </p:txBody>
      </p:sp>
      <p:sp>
        <p:nvSpPr>
          <p:cNvPr id="17" name="Text 14">
            <a:extLst>
              <a:ext uri="{FF2B5EF4-FFF2-40B4-BE49-F238E27FC236}">
                <a16:creationId xmlns:a16="http://schemas.microsoft.com/office/drawing/2014/main" id="{01290F13-B0A6-490A-8D6E-8733E0336509}"/>
              </a:ext>
            </a:extLst>
          </p:cNvPr>
          <p:cNvSpPr>
            <a:spLocks noGrp="1"/>
          </p:cNvSpPr>
          <p:nvPr/>
        </p:nvSpPr>
        <p:spPr>
          <a:xfrm>
            <a:off x="822960" y="4892040"/>
            <a:ext cx="10515600" cy="914400"/>
          </a:xfrm>
          <a:prstGeom prst="rect">
            <a:avLst/>
          </a:prstGeom>
          <a:noFill/>
        </p:spPr>
        <p:txBody>
          <a:bodyPr wrap="square" lIns="0" tIns="0" rIns="0" bIns="0" anchor="ctr"/>
          <a:lstStyle/>
          <a:p>
            <a:pPr marL="0" indent="0">
              <a:buNone/>
            </a:pPr>
            <a:r>
              <a:rPr sz="1400">
                <a:solidFill>
                  <a:srgbClr val="9FC2B4"/>
                </a:solidFill>
                <a:latin typeface="Calibri"/>
                <a:ea typeface="Calibri"/>
                <a:cs typeface="Calibri"/>
              </a:rPr>
              <a:t>Der größere Impact: Moderne AI beschleunigt Entwicklung und Erklärung. Wissenschaftliche Qualität entsteht aber wie früher durch saubere Fragen, zeitliche Trennung, Baselines, reproduzierbare Tests und das offene Benennen von Grenzen.</a:t>
            </a:r>
          </a:p>
        </p:txBody>
      </p:sp>
      <p:sp>
        <p:nvSpPr>
          <p:cNvPr id="18" name="Text 15">
            <a:extLst>
              <a:ext uri="{FF2B5EF4-FFF2-40B4-BE49-F238E27FC236}">
                <a16:creationId xmlns:a16="http://schemas.microsoft.com/office/drawing/2014/main" id="{AF73C157-0804-4C1A-AACB-7DD749E0C079}"/>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9AA398"/>
                </a:solidFill>
                <a:latin typeface="Calibri"/>
                <a:ea typeface="Calibri"/>
                <a:cs typeface="Calibri"/>
              </a:rPr>
              <a:t>WealthScope AI</a:t>
            </a:r>
          </a:p>
        </p:txBody>
      </p:sp>
      <p:sp>
        <p:nvSpPr>
          <p:cNvPr id="19" name="Text 16">
            <a:extLst>
              <a:ext uri="{FF2B5EF4-FFF2-40B4-BE49-F238E27FC236}">
                <a16:creationId xmlns:a16="http://schemas.microsoft.com/office/drawing/2014/main" id="{72C2819F-9C03-4D70-AC7B-F40420847ADD}"/>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9AA398"/>
                </a:solidFill>
                <a:latin typeface="Calibri"/>
                <a:ea typeface="Calibri"/>
                <a:cs typeface="Calibri"/>
              </a:rPr>
              <a:t>24</a:t>
            </a:r>
          </a:p>
        </p:txBody>
      </p:sp>
    </p:spTree>
    <p:extLst>
      <p:ext uri="{BB962C8B-B14F-4D97-AF65-F5344CB8AC3E}">
        <p14:creationId xmlns:p14="http://schemas.microsoft.com/office/powerpoint/2010/main" val="3716577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8BD4E23-4D41-41D0-87AC-C06BD1205794}"/>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30"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0AEA87C7-BD64-480E-BF3E-3B676A027129}"/>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FAZIT &amp; AUSBLICK</a:t>
            </a:r>
          </a:p>
        </p:txBody>
      </p:sp>
      <p:sp>
        <p:nvSpPr>
          <p:cNvPr id="5" name="Text 2">
            <a:extLst>
              <a:ext uri="{FF2B5EF4-FFF2-40B4-BE49-F238E27FC236}">
                <a16:creationId xmlns:a16="http://schemas.microsoft.com/office/drawing/2014/main" id="{6D1E9D35-689D-4FFA-88E0-C15C8EF07E39}"/>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Wie geht es weiter?</a:t>
            </a:r>
          </a:p>
        </p:txBody>
      </p:sp>
      <p:sp>
        <p:nvSpPr>
          <p:cNvPr id="6" name="Shape 3">
            <a:extLst>
              <a:ext uri="{FF2B5EF4-FFF2-40B4-BE49-F238E27FC236}">
                <a16:creationId xmlns:a16="http://schemas.microsoft.com/office/drawing/2014/main" id="{29241A27-53DA-4E5E-9610-BC3CE71A66E4}"/>
              </a:ext>
            </a:extLst>
          </p:cNvPr>
          <p:cNvSpPr>
            <a:spLocks noGrp="1"/>
          </p:cNvSpPr>
          <p:nvPr/>
        </p:nvSpPr>
        <p:spPr>
          <a:xfrm>
            <a:off x="640080" y="1554480"/>
            <a:ext cx="502920" cy="502920"/>
          </a:xfrm>
          <a:prstGeom prst="ellipse">
            <a:avLst/>
          </a:prstGeom>
          <a:solidFill>
            <a:srgbClr val="E4EBE7"/>
          </a:solidFill>
        </p:spPr>
        <p:txBody>
          <a:bodyPr/>
          <a:lstStyle/>
          <a:p>
            <a:endParaRPr/>
          </a:p>
        </p:txBody>
      </p:sp>
      <p:sp>
        <p:nvSpPr>
          <p:cNvPr id="7" name="Text 4">
            <a:extLst>
              <a:ext uri="{FF2B5EF4-FFF2-40B4-BE49-F238E27FC236}">
                <a16:creationId xmlns:a16="http://schemas.microsoft.com/office/drawing/2014/main" id="{3D01F9F8-C430-4E0F-AE5F-F28FEF810C1C}"/>
              </a:ext>
            </a:extLst>
          </p:cNvPr>
          <p:cNvSpPr>
            <a:spLocks noGrp="1"/>
          </p:cNvSpPr>
          <p:nvPr/>
        </p:nvSpPr>
        <p:spPr>
          <a:xfrm>
            <a:off x="640080" y="1554480"/>
            <a:ext cx="502920" cy="502920"/>
          </a:xfrm>
          <a:prstGeom prst="rect">
            <a:avLst/>
          </a:prstGeom>
          <a:noFill/>
        </p:spPr>
        <p:txBody>
          <a:bodyPr wrap="square" lIns="0" tIns="0" rIns="0" bIns="0" anchor="ctr"/>
          <a:lstStyle/>
          <a:p>
            <a:pPr marL="0" indent="0" algn="ctr">
              <a:buNone/>
            </a:pPr>
            <a:r>
              <a:rPr sz="1500" b="1">
                <a:solidFill>
                  <a:srgbClr val="2F5D53"/>
                </a:solidFill>
                <a:latin typeface="Cambria"/>
                <a:ea typeface="Cambria"/>
                <a:cs typeface="Cambria"/>
              </a:rPr>
              <a:t>1</a:t>
            </a:r>
          </a:p>
        </p:txBody>
      </p:sp>
      <p:sp>
        <p:nvSpPr>
          <p:cNvPr id="8" name="Shape 5">
            <a:extLst>
              <a:ext uri="{FF2B5EF4-FFF2-40B4-BE49-F238E27FC236}">
                <a16:creationId xmlns:a16="http://schemas.microsoft.com/office/drawing/2014/main" id="{71820620-49E3-4905-9723-CCB22C4C8115}"/>
              </a:ext>
            </a:extLst>
          </p:cNvPr>
          <p:cNvSpPr>
            <a:spLocks noGrp="1"/>
          </p:cNvSpPr>
          <p:nvPr/>
        </p:nvSpPr>
        <p:spPr>
          <a:xfrm>
            <a:off x="1325880" y="1508760"/>
            <a:ext cx="10195560" cy="822960"/>
          </a:xfrm>
          <a:prstGeom prst="roundRect">
            <a:avLst>
              <a:gd name="adj" fmla="val 6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6A7348F-2877-4B9C-A851-4ADFF89E6344}"/>
              </a:ext>
            </a:extLst>
          </p:cNvPr>
          <p:cNvSpPr>
            <a:spLocks noGrp="1"/>
          </p:cNvSpPr>
          <p:nvPr/>
        </p:nvSpPr>
        <p:spPr>
          <a:xfrm>
            <a:off x="1554480" y="1508760"/>
            <a:ext cx="3291840" cy="822960"/>
          </a:xfrm>
          <a:prstGeom prst="rect">
            <a:avLst/>
          </a:prstGeom>
          <a:noFill/>
        </p:spPr>
        <p:txBody>
          <a:bodyPr wrap="square" lIns="0" tIns="0" rIns="0" bIns="0" anchor="ctr"/>
          <a:lstStyle/>
          <a:p>
            <a:pPr marL="0" indent="0">
              <a:buNone/>
            </a:pPr>
            <a:r>
              <a:rPr sz="1350" b="1">
                <a:solidFill>
                  <a:srgbClr val="171A17"/>
                </a:solidFill>
                <a:latin typeface="Cambria"/>
                <a:ea typeface="Cambria"/>
                <a:cs typeface="Cambria"/>
              </a:rPr>
              <a:t>Online Learning</a:t>
            </a:r>
          </a:p>
        </p:txBody>
      </p:sp>
      <p:sp>
        <p:nvSpPr>
          <p:cNvPr id="10" name="Text 7">
            <a:extLst>
              <a:ext uri="{FF2B5EF4-FFF2-40B4-BE49-F238E27FC236}">
                <a16:creationId xmlns:a16="http://schemas.microsoft.com/office/drawing/2014/main" id="{36B26387-BFD7-486A-8475-2358757661A5}"/>
              </a:ext>
            </a:extLst>
          </p:cNvPr>
          <p:cNvSpPr>
            <a:spLocks noGrp="1"/>
          </p:cNvSpPr>
          <p:nvPr/>
        </p:nvSpPr>
        <p:spPr>
          <a:xfrm>
            <a:off x="4937760" y="1508760"/>
            <a:ext cx="6309360" cy="82296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Modell automatisch mit neuen Daten aktualisieren</a:t>
            </a:r>
          </a:p>
        </p:txBody>
      </p:sp>
      <p:sp>
        <p:nvSpPr>
          <p:cNvPr id="11" name="Shape 8">
            <a:extLst>
              <a:ext uri="{FF2B5EF4-FFF2-40B4-BE49-F238E27FC236}">
                <a16:creationId xmlns:a16="http://schemas.microsoft.com/office/drawing/2014/main" id="{00DF4C47-42C7-4A70-AC14-630F4430423B}"/>
              </a:ext>
            </a:extLst>
          </p:cNvPr>
          <p:cNvSpPr>
            <a:spLocks noGrp="1"/>
          </p:cNvSpPr>
          <p:nvPr/>
        </p:nvSpPr>
        <p:spPr>
          <a:xfrm>
            <a:off x="640080" y="2606040"/>
            <a:ext cx="502920" cy="502920"/>
          </a:xfrm>
          <a:prstGeom prst="ellipse">
            <a:avLst/>
          </a:prstGeom>
          <a:solidFill>
            <a:srgbClr val="E4EBE7"/>
          </a:solidFill>
        </p:spPr>
        <p:txBody>
          <a:bodyPr/>
          <a:lstStyle/>
          <a:p>
            <a:endParaRPr/>
          </a:p>
        </p:txBody>
      </p:sp>
      <p:sp>
        <p:nvSpPr>
          <p:cNvPr id="12" name="Text 9">
            <a:extLst>
              <a:ext uri="{FF2B5EF4-FFF2-40B4-BE49-F238E27FC236}">
                <a16:creationId xmlns:a16="http://schemas.microsoft.com/office/drawing/2014/main" id="{1B1B397C-6B52-4828-B8F4-3994DA3CEB9D}"/>
              </a:ext>
            </a:extLst>
          </p:cNvPr>
          <p:cNvSpPr>
            <a:spLocks noGrp="1"/>
          </p:cNvSpPr>
          <p:nvPr/>
        </p:nvSpPr>
        <p:spPr>
          <a:xfrm>
            <a:off x="640080" y="2606040"/>
            <a:ext cx="502920" cy="502920"/>
          </a:xfrm>
          <a:prstGeom prst="rect">
            <a:avLst/>
          </a:prstGeom>
          <a:noFill/>
        </p:spPr>
        <p:txBody>
          <a:bodyPr wrap="square" lIns="0" tIns="0" rIns="0" bIns="0" anchor="ctr"/>
          <a:lstStyle/>
          <a:p>
            <a:pPr marL="0" indent="0" algn="ctr">
              <a:buNone/>
            </a:pPr>
            <a:r>
              <a:rPr sz="1500" b="1">
                <a:solidFill>
                  <a:srgbClr val="2F5D53"/>
                </a:solidFill>
                <a:latin typeface="Cambria"/>
                <a:ea typeface="Cambria"/>
                <a:cs typeface="Cambria"/>
              </a:rPr>
              <a:t>2</a:t>
            </a:r>
          </a:p>
        </p:txBody>
      </p:sp>
      <p:sp>
        <p:nvSpPr>
          <p:cNvPr id="13" name="Shape 10">
            <a:extLst>
              <a:ext uri="{FF2B5EF4-FFF2-40B4-BE49-F238E27FC236}">
                <a16:creationId xmlns:a16="http://schemas.microsoft.com/office/drawing/2014/main" id="{F48E2E6C-8681-4C37-ACAB-23697A149434}"/>
              </a:ext>
            </a:extLst>
          </p:cNvPr>
          <p:cNvSpPr>
            <a:spLocks noGrp="1"/>
          </p:cNvSpPr>
          <p:nvPr/>
        </p:nvSpPr>
        <p:spPr>
          <a:xfrm>
            <a:off x="1325880" y="2560320"/>
            <a:ext cx="10195560" cy="822960"/>
          </a:xfrm>
          <a:prstGeom prst="roundRect">
            <a:avLst>
              <a:gd name="adj" fmla="val 6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4" name="Text 11">
            <a:extLst>
              <a:ext uri="{FF2B5EF4-FFF2-40B4-BE49-F238E27FC236}">
                <a16:creationId xmlns:a16="http://schemas.microsoft.com/office/drawing/2014/main" id="{D0E3A632-C039-4C9D-AE8D-075D2B651E8C}"/>
              </a:ext>
            </a:extLst>
          </p:cNvPr>
          <p:cNvSpPr>
            <a:spLocks noGrp="1"/>
          </p:cNvSpPr>
          <p:nvPr/>
        </p:nvSpPr>
        <p:spPr>
          <a:xfrm>
            <a:off x="1554480" y="2560320"/>
            <a:ext cx="3291840" cy="822960"/>
          </a:xfrm>
          <a:prstGeom prst="rect">
            <a:avLst/>
          </a:prstGeom>
          <a:noFill/>
        </p:spPr>
        <p:txBody>
          <a:bodyPr wrap="square" lIns="0" tIns="0" rIns="0" bIns="0" anchor="ctr"/>
          <a:lstStyle/>
          <a:p>
            <a:pPr marL="0" indent="0">
              <a:buNone/>
            </a:pPr>
            <a:r>
              <a:rPr sz="1350" b="1">
                <a:solidFill>
                  <a:srgbClr val="171A17"/>
                </a:solidFill>
                <a:latin typeface="Cambria"/>
                <a:ea typeface="Cambria"/>
                <a:cs typeface="Cambria"/>
              </a:rPr>
              <a:t>Sentiment-Integration</a:t>
            </a:r>
          </a:p>
        </p:txBody>
      </p:sp>
      <p:sp>
        <p:nvSpPr>
          <p:cNvPr id="15" name="Text 12">
            <a:extLst>
              <a:ext uri="{FF2B5EF4-FFF2-40B4-BE49-F238E27FC236}">
                <a16:creationId xmlns:a16="http://schemas.microsoft.com/office/drawing/2014/main" id="{3F7FFB92-5426-4EB1-B71B-2D20CCC74F08}"/>
              </a:ext>
            </a:extLst>
          </p:cNvPr>
          <p:cNvSpPr>
            <a:spLocks noGrp="1"/>
          </p:cNvSpPr>
          <p:nvPr/>
        </p:nvSpPr>
        <p:spPr>
          <a:xfrm>
            <a:off x="4937760" y="2560320"/>
            <a:ext cx="6309360" cy="82296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Nachrichten-Tonalität als weiteres ML-Feature</a:t>
            </a:r>
          </a:p>
        </p:txBody>
      </p:sp>
      <p:sp>
        <p:nvSpPr>
          <p:cNvPr id="16" name="Shape 13">
            <a:extLst>
              <a:ext uri="{FF2B5EF4-FFF2-40B4-BE49-F238E27FC236}">
                <a16:creationId xmlns:a16="http://schemas.microsoft.com/office/drawing/2014/main" id="{70030B0B-309B-4464-95F6-FA908922B241}"/>
              </a:ext>
            </a:extLst>
          </p:cNvPr>
          <p:cNvSpPr>
            <a:spLocks noGrp="1"/>
          </p:cNvSpPr>
          <p:nvPr/>
        </p:nvSpPr>
        <p:spPr>
          <a:xfrm>
            <a:off x="640080" y="3657600"/>
            <a:ext cx="502920" cy="502920"/>
          </a:xfrm>
          <a:prstGeom prst="ellipse">
            <a:avLst/>
          </a:prstGeom>
          <a:solidFill>
            <a:srgbClr val="E4EBE7"/>
          </a:solidFill>
        </p:spPr>
        <p:txBody>
          <a:bodyPr/>
          <a:lstStyle/>
          <a:p>
            <a:endParaRPr/>
          </a:p>
        </p:txBody>
      </p:sp>
      <p:sp>
        <p:nvSpPr>
          <p:cNvPr id="17" name="Text 14">
            <a:extLst>
              <a:ext uri="{FF2B5EF4-FFF2-40B4-BE49-F238E27FC236}">
                <a16:creationId xmlns:a16="http://schemas.microsoft.com/office/drawing/2014/main" id="{9CDF3568-ED1B-41A7-AB24-E11A1B7C531B}"/>
              </a:ext>
            </a:extLst>
          </p:cNvPr>
          <p:cNvSpPr>
            <a:spLocks noGrp="1"/>
          </p:cNvSpPr>
          <p:nvPr/>
        </p:nvSpPr>
        <p:spPr>
          <a:xfrm>
            <a:off x="640080" y="3657600"/>
            <a:ext cx="502920" cy="502920"/>
          </a:xfrm>
          <a:prstGeom prst="rect">
            <a:avLst/>
          </a:prstGeom>
          <a:noFill/>
        </p:spPr>
        <p:txBody>
          <a:bodyPr wrap="square" lIns="0" tIns="0" rIns="0" bIns="0" anchor="ctr"/>
          <a:lstStyle/>
          <a:p>
            <a:pPr marL="0" indent="0" algn="ctr">
              <a:buNone/>
            </a:pPr>
            <a:r>
              <a:rPr sz="1500" b="1">
                <a:solidFill>
                  <a:srgbClr val="2F5D53"/>
                </a:solidFill>
                <a:latin typeface="Cambria"/>
                <a:ea typeface="Cambria"/>
                <a:cs typeface="Cambria"/>
              </a:rPr>
              <a:t>3</a:t>
            </a:r>
          </a:p>
        </p:txBody>
      </p:sp>
      <p:sp>
        <p:nvSpPr>
          <p:cNvPr id="18" name="Shape 15">
            <a:extLst>
              <a:ext uri="{FF2B5EF4-FFF2-40B4-BE49-F238E27FC236}">
                <a16:creationId xmlns:a16="http://schemas.microsoft.com/office/drawing/2014/main" id="{551831E2-97E5-4980-AFCF-05EAA75684B4}"/>
              </a:ext>
            </a:extLst>
          </p:cNvPr>
          <p:cNvSpPr>
            <a:spLocks noGrp="1"/>
          </p:cNvSpPr>
          <p:nvPr/>
        </p:nvSpPr>
        <p:spPr>
          <a:xfrm>
            <a:off x="1325880" y="3611880"/>
            <a:ext cx="10195560" cy="822960"/>
          </a:xfrm>
          <a:prstGeom prst="roundRect">
            <a:avLst>
              <a:gd name="adj" fmla="val 6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9" name="Text 16">
            <a:extLst>
              <a:ext uri="{FF2B5EF4-FFF2-40B4-BE49-F238E27FC236}">
                <a16:creationId xmlns:a16="http://schemas.microsoft.com/office/drawing/2014/main" id="{5C3B6F90-6C77-4ADA-A63E-96E431F2546B}"/>
              </a:ext>
            </a:extLst>
          </p:cNvPr>
          <p:cNvSpPr>
            <a:spLocks noGrp="1"/>
          </p:cNvSpPr>
          <p:nvPr/>
        </p:nvSpPr>
        <p:spPr>
          <a:xfrm>
            <a:off x="1554480" y="3611880"/>
            <a:ext cx="3291840" cy="822960"/>
          </a:xfrm>
          <a:prstGeom prst="rect">
            <a:avLst/>
          </a:prstGeom>
          <a:noFill/>
        </p:spPr>
        <p:txBody>
          <a:bodyPr wrap="square" lIns="0" tIns="0" rIns="0" bIns="0" anchor="ctr"/>
          <a:lstStyle/>
          <a:p>
            <a:pPr marL="0" indent="0">
              <a:buNone/>
            </a:pPr>
            <a:r>
              <a:rPr sz="1350" b="1">
                <a:solidFill>
                  <a:srgbClr val="171A17"/>
                </a:solidFill>
                <a:latin typeface="Cambria"/>
                <a:ea typeface="Cambria"/>
                <a:cs typeface="Cambria"/>
              </a:rPr>
              <a:t>Multiklassen-Klassifikation</a:t>
            </a:r>
          </a:p>
        </p:txBody>
      </p:sp>
      <p:sp>
        <p:nvSpPr>
          <p:cNvPr id="20" name="Text 17">
            <a:extLst>
              <a:ext uri="{FF2B5EF4-FFF2-40B4-BE49-F238E27FC236}">
                <a16:creationId xmlns:a16="http://schemas.microsoft.com/office/drawing/2014/main" id="{B59D7E76-1F6C-4A7F-9E9E-218C74AE13C1}"/>
              </a:ext>
            </a:extLst>
          </p:cNvPr>
          <p:cNvSpPr>
            <a:spLocks noGrp="1"/>
          </p:cNvSpPr>
          <p:nvPr/>
        </p:nvSpPr>
        <p:spPr>
          <a:xfrm>
            <a:off x="4937760" y="3611880"/>
            <a:ext cx="6309360" cy="82296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Nicht nur auf/ab, sondern stark / mäßig / neutral</a:t>
            </a:r>
          </a:p>
        </p:txBody>
      </p:sp>
      <p:sp>
        <p:nvSpPr>
          <p:cNvPr id="21" name="Shape 18">
            <a:extLst>
              <a:ext uri="{FF2B5EF4-FFF2-40B4-BE49-F238E27FC236}">
                <a16:creationId xmlns:a16="http://schemas.microsoft.com/office/drawing/2014/main" id="{494A8665-D660-4E4A-9F6C-FEBF194A1592}"/>
              </a:ext>
            </a:extLst>
          </p:cNvPr>
          <p:cNvSpPr>
            <a:spLocks noGrp="1"/>
          </p:cNvSpPr>
          <p:nvPr/>
        </p:nvSpPr>
        <p:spPr>
          <a:xfrm>
            <a:off x="640080" y="4709160"/>
            <a:ext cx="502920" cy="502920"/>
          </a:xfrm>
          <a:prstGeom prst="ellipse">
            <a:avLst/>
          </a:prstGeom>
          <a:solidFill>
            <a:srgbClr val="E4EBE7"/>
          </a:solidFill>
        </p:spPr>
        <p:txBody>
          <a:bodyPr/>
          <a:lstStyle/>
          <a:p>
            <a:endParaRPr/>
          </a:p>
        </p:txBody>
      </p:sp>
      <p:sp>
        <p:nvSpPr>
          <p:cNvPr id="22" name="Text 19">
            <a:extLst>
              <a:ext uri="{FF2B5EF4-FFF2-40B4-BE49-F238E27FC236}">
                <a16:creationId xmlns:a16="http://schemas.microsoft.com/office/drawing/2014/main" id="{4F5DE8FD-B3A2-4B18-8438-A61D623B04E4}"/>
              </a:ext>
            </a:extLst>
          </p:cNvPr>
          <p:cNvSpPr>
            <a:spLocks noGrp="1"/>
          </p:cNvSpPr>
          <p:nvPr/>
        </p:nvSpPr>
        <p:spPr>
          <a:xfrm>
            <a:off x="640080" y="4709160"/>
            <a:ext cx="502920" cy="502920"/>
          </a:xfrm>
          <a:prstGeom prst="rect">
            <a:avLst/>
          </a:prstGeom>
          <a:noFill/>
        </p:spPr>
        <p:txBody>
          <a:bodyPr wrap="square" lIns="0" tIns="0" rIns="0" bIns="0" anchor="ctr"/>
          <a:lstStyle/>
          <a:p>
            <a:pPr marL="0" indent="0" algn="ctr">
              <a:buNone/>
            </a:pPr>
            <a:r>
              <a:rPr sz="1500" b="1">
                <a:solidFill>
                  <a:srgbClr val="2F5D53"/>
                </a:solidFill>
                <a:latin typeface="Cambria"/>
                <a:ea typeface="Cambria"/>
                <a:cs typeface="Cambria"/>
              </a:rPr>
              <a:t>4</a:t>
            </a:r>
          </a:p>
        </p:txBody>
      </p:sp>
      <p:sp>
        <p:nvSpPr>
          <p:cNvPr id="23" name="Shape 20">
            <a:extLst>
              <a:ext uri="{FF2B5EF4-FFF2-40B4-BE49-F238E27FC236}">
                <a16:creationId xmlns:a16="http://schemas.microsoft.com/office/drawing/2014/main" id="{CEE8584E-DBD6-4C72-886B-37ADFBBA6C31}"/>
              </a:ext>
            </a:extLst>
          </p:cNvPr>
          <p:cNvSpPr>
            <a:spLocks noGrp="1"/>
          </p:cNvSpPr>
          <p:nvPr/>
        </p:nvSpPr>
        <p:spPr>
          <a:xfrm>
            <a:off x="1325880" y="4663440"/>
            <a:ext cx="10195560" cy="822960"/>
          </a:xfrm>
          <a:prstGeom prst="roundRect">
            <a:avLst>
              <a:gd name="adj" fmla="val 6667"/>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24" name="Text 21">
            <a:extLst>
              <a:ext uri="{FF2B5EF4-FFF2-40B4-BE49-F238E27FC236}">
                <a16:creationId xmlns:a16="http://schemas.microsoft.com/office/drawing/2014/main" id="{E1D58D96-3614-4E13-850B-7DDBD0A47508}"/>
              </a:ext>
            </a:extLst>
          </p:cNvPr>
          <p:cNvSpPr>
            <a:spLocks noGrp="1"/>
          </p:cNvSpPr>
          <p:nvPr/>
        </p:nvSpPr>
        <p:spPr>
          <a:xfrm>
            <a:off x="1554480" y="4663440"/>
            <a:ext cx="3291840" cy="822960"/>
          </a:xfrm>
          <a:prstGeom prst="rect">
            <a:avLst/>
          </a:prstGeom>
          <a:noFill/>
        </p:spPr>
        <p:txBody>
          <a:bodyPr wrap="square" lIns="0" tIns="0" rIns="0" bIns="0" anchor="ctr"/>
          <a:lstStyle/>
          <a:p>
            <a:pPr marL="0" indent="0">
              <a:buNone/>
            </a:pPr>
            <a:r>
              <a:rPr sz="1350" b="1">
                <a:solidFill>
                  <a:srgbClr val="171A17"/>
                </a:solidFill>
                <a:latin typeface="Cambria"/>
                <a:ea typeface="Cambria"/>
                <a:cs typeface="Cambria"/>
              </a:rPr>
              <a:t>Erweiterte Backtesting-Engine</a:t>
            </a:r>
          </a:p>
        </p:txBody>
      </p:sp>
      <p:sp>
        <p:nvSpPr>
          <p:cNvPr id="25" name="Text 22">
            <a:extLst>
              <a:ext uri="{FF2B5EF4-FFF2-40B4-BE49-F238E27FC236}">
                <a16:creationId xmlns:a16="http://schemas.microsoft.com/office/drawing/2014/main" id="{A4E5FFA1-A3D7-4F7C-AB22-4393ED1DF65A}"/>
              </a:ext>
            </a:extLst>
          </p:cNvPr>
          <p:cNvSpPr>
            <a:spLocks noGrp="1"/>
          </p:cNvSpPr>
          <p:nvPr/>
        </p:nvSpPr>
        <p:spPr>
          <a:xfrm>
            <a:off x="4937760" y="4663440"/>
            <a:ext cx="6309360" cy="82296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Simulierte Handelsstrategien auf historischen Daten</a:t>
            </a:r>
          </a:p>
        </p:txBody>
      </p:sp>
      <p:sp>
        <p:nvSpPr>
          <p:cNvPr id="26" name="Text 23">
            <a:extLst>
              <a:ext uri="{FF2B5EF4-FFF2-40B4-BE49-F238E27FC236}">
                <a16:creationId xmlns:a16="http://schemas.microsoft.com/office/drawing/2014/main" id="{5E59E08A-FE3E-4DD2-A5C0-E870A81B641E}"/>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27" name="Text 24">
            <a:extLst>
              <a:ext uri="{FF2B5EF4-FFF2-40B4-BE49-F238E27FC236}">
                <a16:creationId xmlns:a16="http://schemas.microsoft.com/office/drawing/2014/main" id="{2954CAD4-4972-400F-9794-2ED1A9D15337}"/>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25</a:t>
            </a:r>
          </a:p>
        </p:txBody>
      </p:sp>
    </p:spTree>
    <p:extLst>
      <p:ext uri="{BB962C8B-B14F-4D97-AF65-F5344CB8AC3E}">
        <p14:creationId xmlns:p14="http://schemas.microsoft.com/office/powerpoint/2010/main" val="802900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AA0154-00AE-4C08-A28D-A13E556B454D}"/>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0"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2D6340D6-9582-428B-A4CE-E031D4BEEA4C}"/>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WISSENSCHAFTLICHE GRUNDLAGE</a:t>
            </a:r>
          </a:p>
        </p:txBody>
      </p:sp>
      <p:sp>
        <p:nvSpPr>
          <p:cNvPr id="5" name="Text 2">
            <a:extLst>
              <a:ext uri="{FF2B5EF4-FFF2-40B4-BE49-F238E27FC236}">
                <a16:creationId xmlns:a16="http://schemas.microsoft.com/office/drawing/2014/main" id="{B041A19C-B310-4F32-B748-ADC294613794}"/>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Quellen &amp; Kursbezug</a:t>
            </a:r>
          </a:p>
        </p:txBody>
      </p:sp>
      <p:sp>
        <p:nvSpPr>
          <p:cNvPr id="6" name="Shape 3">
            <a:extLst>
              <a:ext uri="{FF2B5EF4-FFF2-40B4-BE49-F238E27FC236}">
                <a16:creationId xmlns:a16="http://schemas.microsoft.com/office/drawing/2014/main" id="{272ABBF1-4131-40DD-B64B-449F788CEA27}"/>
              </a:ext>
            </a:extLst>
          </p:cNvPr>
          <p:cNvSpPr>
            <a:spLocks noGrp="1"/>
          </p:cNvSpPr>
          <p:nvPr/>
        </p:nvSpPr>
        <p:spPr>
          <a:xfrm>
            <a:off x="640080" y="1463040"/>
            <a:ext cx="5440680" cy="4709160"/>
          </a:xfrm>
          <a:prstGeom prst="roundRect">
            <a:avLst>
              <a:gd name="adj" fmla="val 1165"/>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C14FF5C5-3694-4101-9A5F-A076CC867710}"/>
              </a:ext>
            </a:extLst>
          </p:cNvPr>
          <p:cNvSpPr>
            <a:spLocks noGrp="1"/>
          </p:cNvSpPr>
          <p:nvPr/>
        </p:nvSpPr>
        <p:spPr>
          <a:xfrm>
            <a:off x="868680" y="1627632"/>
            <a:ext cx="4983480" cy="365760"/>
          </a:xfrm>
          <a:prstGeom prst="rect">
            <a:avLst/>
          </a:prstGeom>
          <a:noFill/>
        </p:spPr>
        <p:txBody>
          <a:bodyPr wrap="square" lIns="0" tIns="0" rIns="0" bIns="0" anchor="ctr"/>
          <a:lstStyle/>
          <a:p>
            <a:pPr marL="0" indent="0">
              <a:buNone/>
            </a:pPr>
            <a:r>
              <a:rPr sz="1500" b="1">
                <a:solidFill>
                  <a:srgbClr val="2F5D53"/>
                </a:solidFill>
                <a:latin typeface="Cambria"/>
                <a:ea typeface="Cambria"/>
                <a:cs typeface="Cambria"/>
              </a:rPr>
              <a:t>Kursbuch &amp; Kursbezug</a:t>
            </a:r>
          </a:p>
        </p:txBody>
      </p:sp>
      <p:sp>
        <p:nvSpPr>
          <p:cNvPr id="8" name="Text 5">
            <a:extLst>
              <a:ext uri="{FF2B5EF4-FFF2-40B4-BE49-F238E27FC236}">
                <a16:creationId xmlns:a16="http://schemas.microsoft.com/office/drawing/2014/main" id="{917AC661-04B3-4942-8556-DCEAE5592CAD}"/>
              </a:ext>
            </a:extLst>
          </p:cNvPr>
          <p:cNvSpPr>
            <a:spLocks noGrp="1"/>
          </p:cNvSpPr>
          <p:nvPr/>
        </p:nvSpPr>
        <p:spPr>
          <a:xfrm>
            <a:off x="868680" y="2057400"/>
            <a:ext cx="4983480" cy="914400"/>
          </a:xfrm>
          <a:prstGeom prst="rect">
            <a:avLst/>
          </a:prstGeom>
          <a:noFill/>
        </p:spPr>
        <p:txBody>
          <a:bodyPr wrap="square" lIns="0" tIns="0" rIns="0" bIns="0" anchor="ctr"/>
          <a:lstStyle/>
          <a:p>
            <a:pPr marL="0" indent="0">
              <a:buNone/>
            </a:pPr>
            <a:r>
              <a:rPr sz="1250" b="1">
                <a:solidFill>
                  <a:srgbClr val="171A17"/>
                </a:solidFill>
                <a:latin typeface="Calibri"/>
                <a:ea typeface="Calibri"/>
                <a:cs typeface="Calibri"/>
              </a:rPr>
              <a:t>Géron, A.: </a:t>
            </a:r>
            <a:r>
              <a:rPr sz="1250">
                <a:solidFill>
                  <a:srgbClr val="171A17"/>
                </a:solidFill>
                <a:latin typeface="Calibri"/>
                <a:ea typeface="Calibri"/>
                <a:cs typeface="Calibri"/>
              </a:rPr>
              <a:t>Praxiseinstieg Machine Learning mit Scikit-Learn, Keras &amp; TensorFlow (Kap. 1–9). O’Reilly — das Kurslehrbuch.</a:t>
            </a:r>
          </a:p>
        </p:txBody>
      </p:sp>
      <p:sp>
        <p:nvSpPr>
          <p:cNvPr id="9" name="Text 6">
            <a:extLst>
              <a:ext uri="{FF2B5EF4-FFF2-40B4-BE49-F238E27FC236}">
                <a16:creationId xmlns:a16="http://schemas.microsoft.com/office/drawing/2014/main" id="{84D28387-D473-43E5-86B6-160D9E68BD17}"/>
              </a:ext>
            </a:extLst>
          </p:cNvPr>
          <p:cNvSpPr>
            <a:spLocks noGrp="1"/>
          </p:cNvSpPr>
          <p:nvPr/>
        </p:nvSpPr>
        <p:spPr>
          <a:xfrm>
            <a:off x="868680" y="2971800"/>
            <a:ext cx="4983480" cy="822960"/>
          </a:xfrm>
          <a:prstGeom prst="rect">
            <a:avLst/>
          </a:prstGeom>
          <a:noFill/>
        </p:spPr>
        <p:txBody>
          <a:bodyPr wrap="square" lIns="0" tIns="0" rIns="0" bIns="0" anchor="ctr"/>
          <a:lstStyle/>
          <a:p>
            <a:pPr marL="0" indent="0">
              <a:buNone/>
            </a:pPr>
            <a:r>
              <a:rPr sz="1150" i="1">
                <a:solidFill>
                  <a:srgbClr val="5B6259"/>
                </a:solidFill>
                <a:latin typeface="Calibri"/>
                <a:ea typeface="Calibri"/>
                <a:cs typeface="Calibri"/>
              </a:rPr>
              <a:t>Daraus im Projekt: Klassifikationsmetriken, Pipeline, Linear SVM, Decision Tree, Random Forest, Konfusionsmatrix, ROC und zeitliche Validierung.</a:t>
            </a:r>
          </a:p>
        </p:txBody>
      </p:sp>
      <p:sp>
        <p:nvSpPr>
          <p:cNvPr id="10" name="Text 7">
            <a:extLst>
              <a:ext uri="{FF2B5EF4-FFF2-40B4-BE49-F238E27FC236}">
                <a16:creationId xmlns:a16="http://schemas.microsoft.com/office/drawing/2014/main" id="{D3BFA50F-580D-46A5-B549-B91B774168C8}"/>
              </a:ext>
            </a:extLst>
          </p:cNvPr>
          <p:cNvSpPr>
            <a:spLocks noGrp="1"/>
          </p:cNvSpPr>
          <p:nvPr/>
        </p:nvSpPr>
        <p:spPr>
          <a:xfrm>
            <a:off x="868680" y="3840480"/>
            <a:ext cx="4983480" cy="320040"/>
          </a:xfrm>
          <a:prstGeom prst="rect">
            <a:avLst/>
          </a:prstGeom>
          <a:noFill/>
        </p:spPr>
        <p:txBody>
          <a:bodyPr wrap="square" lIns="0" tIns="0" rIns="0" bIns="0" anchor="ctr"/>
          <a:lstStyle/>
          <a:p>
            <a:pPr marL="0" indent="0">
              <a:buNone/>
            </a:pPr>
            <a:r>
              <a:rPr sz="1200" b="1">
                <a:solidFill>
                  <a:srgbClr val="2F5D53"/>
                </a:solidFill>
                <a:latin typeface="Calibri"/>
                <a:ea typeface="Calibri"/>
                <a:cs typeface="Calibri"/>
              </a:rPr>
              <a:t>Direkter Kursbezug:</a:t>
            </a:r>
          </a:p>
        </p:txBody>
      </p:sp>
      <p:sp>
        <p:nvSpPr>
          <p:cNvPr id="11" name="Text 8">
            <a:extLst>
              <a:ext uri="{FF2B5EF4-FFF2-40B4-BE49-F238E27FC236}">
                <a16:creationId xmlns:a16="http://schemas.microsoft.com/office/drawing/2014/main" id="{9B0F9CD2-30B3-43B6-A261-3927DD5C4DAE}"/>
              </a:ext>
            </a:extLst>
          </p:cNvPr>
          <p:cNvSpPr>
            <a:spLocks noGrp="1"/>
          </p:cNvSpPr>
          <p:nvPr/>
        </p:nvSpPr>
        <p:spPr>
          <a:xfrm>
            <a:off x="868680" y="4206240"/>
            <a:ext cx="4983480" cy="1828800"/>
          </a:xfrm>
          <a:prstGeom prst="rect">
            <a:avLst/>
          </a:prstGeom>
          <a:noFill/>
        </p:spPr>
        <p:txBody>
          <a:bodyPr wrap="square" lIns="0" tIns="0" rIns="0" bIns="0" anchor="t"/>
          <a:lstStyle/>
          <a:p>
            <a:pPr marL="228600" indent="-228600">
              <a:spcAft>
                <a:spcPts val="800"/>
              </a:spcAft>
              <a:buSzPct val="100000"/>
              <a:buChar char="▪"/>
            </a:pPr>
            <a:r>
              <a:rPr sz="1150">
                <a:solidFill>
                  <a:srgbClr val="171A17"/>
                </a:solidFill>
                <a:latin typeface="Calibri"/>
                <a:ea typeface="Calibri"/>
                <a:cs typeface="Calibri"/>
              </a:rPr>
              <a:t>Kap. 1 &amp; 3 — ML-Grundlagen, Klassifikation und Metriken</a:t>
            </a:r>
          </a:p>
          <a:p>
            <a:pPr marL="228600" indent="-228600">
              <a:spcAft>
                <a:spcPts val="800"/>
              </a:spcAft>
              <a:buSzPct val="100000"/>
              <a:buChar char="▪"/>
            </a:pPr>
            <a:r>
              <a:rPr sz="1150">
                <a:solidFill>
                  <a:srgbClr val="171A17"/>
                </a:solidFill>
                <a:latin typeface="Calibri"/>
                <a:ea typeface="Calibri"/>
                <a:cs typeface="Calibri"/>
              </a:rPr>
              <a:t>Kap. 4 &amp; 5 — Training, Lernkurven und Support Vector Machines</a:t>
            </a:r>
          </a:p>
          <a:p>
            <a:pPr marL="228600" indent="-228600">
              <a:spcAft>
                <a:spcPts val="800"/>
              </a:spcAft>
              <a:buSzPct val="100000"/>
              <a:buChar char="▪"/>
            </a:pPr>
            <a:r>
              <a:rPr sz="1150">
                <a:solidFill>
                  <a:srgbClr val="171A17"/>
                </a:solidFill>
                <a:latin typeface="Calibri"/>
                <a:ea typeface="Calibri"/>
                <a:cs typeface="Calibri"/>
              </a:rPr>
              <a:t>Kap. 6 &amp; 7 — Entscheidungsbäume und Random Forests</a:t>
            </a:r>
          </a:p>
          <a:p>
            <a:pPr marL="228600" indent="-228600">
              <a:spcAft>
                <a:spcPts val="800"/>
              </a:spcAft>
              <a:buSzPct val="100000"/>
              <a:buChar char="▪"/>
            </a:pPr>
            <a:r>
              <a:rPr sz="1150">
                <a:solidFill>
                  <a:srgbClr val="171A17"/>
                </a:solidFill>
                <a:latin typeface="Calibri"/>
                <a:ea typeface="Calibri"/>
                <a:cs typeface="Calibri"/>
              </a:rPr>
              <a:t>QUA³CK — Datenphase, Prozess und nachvollziehbare Dokumentation</a:t>
            </a:r>
          </a:p>
        </p:txBody>
      </p:sp>
      <p:sp>
        <p:nvSpPr>
          <p:cNvPr id="12" name="Shape 9">
            <a:extLst>
              <a:ext uri="{FF2B5EF4-FFF2-40B4-BE49-F238E27FC236}">
                <a16:creationId xmlns:a16="http://schemas.microsoft.com/office/drawing/2014/main" id="{E98A374B-F249-473A-BED4-26CED55609CB}"/>
              </a:ext>
            </a:extLst>
          </p:cNvPr>
          <p:cNvSpPr>
            <a:spLocks noGrp="1"/>
          </p:cNvSpPr>
          <p:nvPr/>
        </p:nvSpPr>
        <p:spPr>
          <a:xfrm>
            <a:off x="6263640" y="1463040"/>
            <a:ext cx="5285232" cy="4709160"/>
          </a:xfrm>
          <a:prstGeom prst="roundRect">
            <a:avLst>
              <a:gd name="adj" fmla="val 1165"/>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BF48B089-CDB5-454E-B52B-6E13477FB19F}"/>
              </a:ext>
            </a:extLst>
          </p:cNvPr>
          <p:cNvSpPr>
            <a:spLocks noGrp="1"/>
          </p:cNvSpPr>
          <p:nvPr/>
        </p:nvSpPr>
        <p:spPr>
          <a:xfrm>
            <a:off x="6492240" y="1627632"/>
            <a:ext cx="4846320" cy="365760"/>
          </a:xfrm>
          <a:prstGeom prst="rect">
            <a:avLst/>
          </a:prstGeom>
          <a:noFill/>
        </p:spPr>
        <p:txBody>
          <a:bodyPr wrap="square" lIns="0" tIns="0" rIns="0" bIns="0" anchor="ctr"/>
          <a:lstStyle/>
          <a:p>
            <a:pPr marL="0" indent="0">
              <a:buNone/>
            </a:pPr>
            <a:r>
              <a:rPr sz="1500" b="1">
                <a:solidFill>
                  <a:srgbClr val="2F5D53"/>
                </a:solidFill>
                <a:latin typeface="Cambria"/>
                <a:ea typeface="Cambria"/>
                <a:cs typeface="Cambria"/>
              </a:rPr>
              <a:t>Wissenschaftliche Quellen &amp; Daten</a:t>
            </a:r>
          </a:p>
        </p:txBody>
      </p:sp>
      <p:sp>
        <p:nvSpPr>
          <p:cNvPr id="14" name="Text 11">
            <a:extLst>
              <a:ext uri="{FF2B5EF4-FFF2-40B4-BE49-F238E27FC236}">
                <a16:creationId xmlns:a16="http://schemas.microsoft.com/office/drawing/2014/main" id="{AE02F7A7-0025-464D-B50E-D9DE5ED09993}"/>
              </a:ext>
            </a:extLst>
          </p:cNvPr>
          <p:cNvSpPr>
            <a:spLocks noGrp="1"/>
          </p:cNvSpPr>
          <p:nvPr/>
        </p:nvSpPr>
        <p:spPr>
          <a:xfrm>
            <a:off x="6492240" y="2103120"/>
            <a:ext cx="4846320" cy="2926080"/>
          </a:xfrm>
          <a:prstGeom prst="rect">
            <a:avLst/>
          </a:prstGeom>
          <a:noFill/>
        </p:spPr>
        <p:txBody>
          <a:bodyPr wrap="square" lIns="0" tIns="0" rIns="0" bIns="0" anchor="t"/>
          <a:lstStyle/>
          <a:p>
            <a:pPr marL="228600" indent="-228600">
              <a:spcAft>
                <a:spcPts val="1100"/>
              </a:spcAft>
              <a:buSzPct val="100000"/>
              <a:buChar char="▪"/>
            </a:pPr>
            <a:r>
              <a:rPr sz="1200">
                <a:solidFill>
                  <a:srgbClr val="171A17"/>
                </a:solidFill>
                <a:latin typeface="Calibri"/>
                <a:ea typeface="Calibri"/>
                <a:cs typeface="Calibri"/>
              </a:rPr>
              <a:t>Fama, E. (1970): Efficient Capital Markets. J. of Finance 25(2).</a:t>
            </a:r>
          </a:p>
          <a:p>
            <a:pPr marL="228600" indent="-228600">
              <a:spcAft>
                <a:spcPts val="1100"/>
              </a:spcAft>
              <a:buSzPct val="100000"/>
              <a:buChar char="▪"/>
            </a:pPr>
            <a:r>
              <a:rPr sz="1200">
                <a:solidFill>
                  <a:srgbClr val="171A17"/>
                </a:solidFill>
                <a:latin typeface="Calibri"/>
                <a:ea typeface="Calibri"/>
                <a:cs typeface="Calibri"/>
              </a:rPr>
              <a:t>Lundberg &amp; Lee (2017): A Unified Approach to Interpreting Model Predictions (SHAP). NeurIPS.</a:t>
            </a:r>
          </a:p>
          <a:p>
            <a:pPr marL="228600" indent="-228600">
              <a:spcAft>
                <a:spcPts val="1100"/>
              </a:spcAft>
              <a:buSzPct val="100000"/>
              <a:buChar char="▪"/>
            </a:pPr>
            <a:r>
              <a:rPr sz="1200">
                <a:solidFill>
                  <a:srgbClr val="171A17"/>
                </a:solidFill>
                <a:latin typeface="Calibri"/>
                <a:ea typeface="Calibri"/>
                <a:cs typeface="Calibri"/>
              </a:rPr>
              <a:t>Li et al. (2024): Comparison of Imputation Methods. BMC Med. Research Methodology.</a:t>
            </a:r>
          </a:p>
          <a:p>
            <a:pPr marL="228600" indent="-228600">
              <a:spcAft>
                <a:spcPts val="1100"/>
              </a:spcAft>
              <a:buSzPct val="100000"/>
              <a:buChar char="▪"/>
            </a:pPr>
            <a:r>
              <a:rPr sz="1200">
                <a:solidFill>
                  <a:srgbClr val="171A17"/>
                </a:solidFill>
                <a:latin typeface="Calibri"/>
                <a:ea typeface="Calibri"/>
                <a:cs typeface="Calibri"/>
              </a:rPr>
              <a:t>Pinheiro et al. (2025): The Impact of Feature Scaling in ML. arXiv:2506.08274.</a:t>
            </a:r>
          </a:p>
          <a:p>
            <a:pPr marL="228600" indent="-228600">
              <a:spcAft>
                <a:spcPts val="1100"/>
              </a:spcAft>
              <a:buSzPct val="100000"/>
              <a:buChar char="▪"/>
            </a:pPr>
            <a:r>
              <a:rPr sz="1200">
                <a:solidFill>
                  <a:srgbClr val="171A17"/>
                </a:solidFill>
                <a:latin typeface="Calibri"/>
                <a:ea typeface="Calibri"/>
                <a:cs typeface="Calibri"/>
              </a:rPr>
              <a:t>Stock et al. (2021): QUA³CK — A ML Development Process. KIT ITIV.</a:t>
            </a:r>
          </a:p>
        </p:txBody>
      </p:sp>
      <p:sp>
        <p:nvSpPr>
          <p:cNvPr id="15" name="Text 12">
            <a:extLst>
              <a:ext uri="{FF2B5EF4-FFF2-40B4-BE49-F238E27FC236}">
                <a16:creationId xmlns:a16="http://schemas.microsoft.com/office/drawing/2014/main" id="{3AB70197-A9F5-459C-AD82-B3DE208454B7}"/>
              </a:ext>
            </a:extLst>
          </p:cNvPr>
          <p:cNvSpPr>
            <a:spLocks noGrp="1"/>
          </p:cNvSpPr>
          <p:nvPr/>
        </p:nvSpPr>
        <p:spPr>
          <a:xfrm>
            <a:off x="6492240" y="5257800"/>
            <a:ext cx="4846320" cy="822960"/>
          </a:xfrm>
          <a:prstGeom prst="rect">
            <a:avLst/>
          </a:prstGeom>
          <a:noFill/>
        </p:spPr>
        <p:txBody>
          <a:bodyPr wrap="square" lIns="0" tIns="0" rIns="0" bIns="0" anchor="t"/>
          <a:lstStyle/>
          <a:p>
            <a:pPr marL="0" indent="0">
              <a:buNone/>
            </a:pPr>
            <a:r>
              <a:rPr sz="1150" b="1">
                <a:solidFill>
                  <a:srgbClr val="A97C1E"/>
                </a:solidFill>
                <a:latin typeface="Calibri"/>
                <a:ea typeface="Calibri"/>
                <a:cs typeface="Calibri"/>
              </a:rPr>
              <a:t>Datenbasis: </a:t>
            </a:r>
            <a:r>
              <a:rPr sz="1150">
                <a:solidFill>
                  <a:srgbClr val="171A17"/>
                </a:solidFill>
                <a:latin typeface="Calibri"/>
                <a:ea typeface="Calibri"/>
                <a:cs typeface="Calibri"/>
              </a:rPr>
              <a:t>Kaggle „US Stocks &amp; ETFs“ (B. Marjanovic), CC0 Public Domain — 192.119 Zeilen, 26 Ticker, 1962–2017.</a:t>
            </a:r>
          </a:p>
        </p:txBody>
      </p:sp>
      <p:sp>
        <p:nvSpPr>
          <p:cNvPr id="16" name="Text 13">
            <a:extLst>
              <a:ext uri="{FF2B5EF4-FFF2-40B4-BE49-F238E27FC236}">
                <a16:creationId xmlns:a16="http://schemas.microsoft.com/office/drawing/2014/main" id="{D27DA589-470E-4E92-B786-CE3C6B08D5BD}"/>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7" name="Text 14">
            <a:extLst>
              <a:ext uri="{FF2B5EF4-FFF2-40B4-BE49-F238E27FC236}">
                <a16:creationId xmlns:a16="http://schemas.microsoft.com/office/drawing/2014/main" id="{B4665CFD-2173-4340-A22F-FCF37C49D30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26</a:t>
            </a:r>
          </a:p>
        </p:txBody>
      </p:sp>
    </p:spTree>
    <p:extLst>
      <p:ext uri="{BB962C8B-B14F-4D97-AF65-F5344CB8AC3E}">
        <p14:creationId xmlns:p14="http://schemas.microsoft.com/office/powerpoint/2010/main" val="10423217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130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83BA25-D34F-4256-B4CB-7BCF95F866E5}"/>
              </a:ext>
            </a:extLst>
          </p:cNvPr>
          <p:cNvSpPr>
            <a:spLocks noGrp="1"/>
          </p:cNvSpPr>
          <p:nvPr/>
        </p:nvSpPr>
        <p:spPr>
          <a:xfrm>
            <a:off x="914400" y="0"/>
            <a:ext cx="0" cy="6858000"/>
          </a:xfrm>
          <a:prstGeom prst="line">
            <a:avLst/>
          </a:prstGeom>
          <a:noFill/>
          <a:ln w="6350">
            <a:solidFill>
              <a:srgbClr val="1C221C"/>
            </a:solidFill>
            <a:prstDash val="solid"/>
          </a:ln>
        </p:spPr>
        <p:txBody>
          <a:bodyPr/>
          <a:lstStyle/>
          <a:p>
            <a:endParaRPr/>
          </a:p>
        </p:txBody>
      </p:sp>
      <p:sp>
        <p:nvSpPr>
          <p:cNvPr id="3" name="Shape 1">
            <a:extLst>
              <a:ext uri="{FF2B5EF4-FFF2-40B4-BE49-F238E27FC236}">
                <a16:creationId xmlns:a16="http://schemas.microsoft.com/office/drawing/2014/main" id="{725900C5-875F-4EF1-9426-216609A92684}"/>
              </a:ext>
            </a:extLst>
          </p:cNvPr>
          <p:cNvSpPr>
            <a:spLocks noGrp="1"/>
          </p:cNvSpPr>
          <p:nvPr/>
        </p:nvSpPr>
        <p:spPr>
          <a:xfrm>
            <a:off x="1828800" y="0"/>
            <a:ext cx="0" cy="6858000"/>
          </a:xfrm>
          <a:prstGeom prst="line">
            <a:avLst/>
          </a:prstGeom>
          <a:noFill/>
          <a:ln w="6350">
            <a:solidFill>
              <a:srgbClr val="1C221C"/>
            </a:solidFill>
            <a:prstDash val="solid"/>
          </a:ln>
        </p:spPr>
        <p:txBody>
          <a:bodyPr/>
          <a:lstStyle/>
          <a:p>
            <a:endParaRPr/>
          </a:p>
        </p:txBody>
      </p:sp>
      <p:sp>
        <p:nvSpPr>
          <p:cNvPr id="4" name="Shape 2">
            <a:extLst>
              <a:ext uri="{FF2B5EF4-FFF2-40B4-BE49-F238E27FC236}">
                <a16:creationId xmlns:a16="http://schemas.microsoft.com/office/drawing/2014/main" id="{4BC3AB9B-30E3-4777-BE64-1740495470A2}"/>
              </a:ext>
            </a:extLst>
          </p:cNvPr>
          <p:cNvSpPr>
            <a:spLocks noGrp="1"/>
          </p:cNvSpPr>
          <p:nvPr/>
        </p:nvSpPr>
        <p:spPr>
          <a:xfrm>
            <a:off x="2743200" y="0"/>
            <a:ext cx="0" cy="6858000"/>
          </a:xfrm>
          <a:prstGeom prst="line">
            <a:avLst/>
          </a:prstGeom>
          <a:noFill/>
          <a:ln w="6350">
            <a:solidFill>
              <a:srgbClr val="1C221C"/>
            </a:solidFill>
            <a:prstDash val="solid"/>
          </a:ln>
        </p:spPr>
        <p:txBody>
          <a:bodyPr/>
          <a:lstStyle/>
          <a:p>
            <a:endParaRPr/>
          </a:p>
        </p:txBody>
      </p:sp>
      <p:sp>
        <p:nvSpPr>
          <p:cNvPr id="5" name="Shape 3">
            <a:extLst>
              <a:ext uri="{FF2B5EF4-FFF2-40B4-BE49-F238E27FC236}">
                <a16:creationId xmlns:a16="http://schemas.microsoft.com/office/drawing/2014/main" id="{4E89674B-1D1F-41F0-A086-008C8F108031}"/>
              </a:ext>
            </a:extLst>
          </p:cNvPr>
          <p:cNvSpPr>
            <a:spLocks noGrp="1"/>
          </p:cNvSpPr>
          <p:nvPr/>
        </p:nvSpPr>
        <p:spPr>
          <a:xfrm>
            <a:off x="3657600" y="0"/>
            <a:ext cx="0" cy="6858000"/>
          </a:xfrm>
          <a:prstGeom prst="line">
            <a:avLst/>
          </a:prstGeom>
          <a:noFill/>
          <a:ln w="6350">
            <a:solidFill>
              <a:srgbClr val="1C221C"/>
            </a:solidFill>
            <a:prstDash val="solid"/>
          </a:ln>
        </p:spPr>
        <p:txBody>
          <a:bodyPr/>
          <a:lstStyle/>
          <a:p>
            <a:endParaRPr/>
          </a:p>
        </p:txBody>
      </p:sp>
      <p:sp>
        <p:nvSpPr>
          <p:cNvPr id="6" name="Shape 4">
            <a:extLst>
              <a:ext uri="{FF2B5EF4-FFF2-40B4-BE49-F238E27FC236}">
                <a16:creationId xmlns:a16="http://schemas.microsoft.com/office/drawing/2014/main" id="{F2C12127-5F42-43A9-A1B0-6E9BD3B31F1C}"/>
              </a:ext>
            </a:extLst>
          </p:cNvPr>
          <p:cNvSpPr>
            <a:spLocks noGrp="1"/>
          </p:cNvSpPr>
          <p:nvPr/>
        </p:nvSpPr>
        <p:spPr>
          <a:xfrm>
            <a:off x="4572000" y="0"/>
            <a:ext cx="0" cy="6858000"/>
          </a:xfrm>
          <a:prstGeom prst="line">
            <a:avLst/>
          </a:prstGeom>
          <a:noFill/>
          <a:ln w="6350">
            <a:solidFill>
              <a:srgbClr val="1C221C"/>
            </a:solidFill>
            <a:prstDash val="solid"/>
          </a:ln>
        </p:spPr>
        <p:txBody>
          <a:bodyPr/>
          <a:lstStyle/>
          <a:p>
            <a:endParaRPr/>
          </a:p>
        </p:txBody>
      </p:sp>
      <p:sp>
        <p:nvSpPr>
          <p:cNvPr id="7" name="Shape 5">
            <a:extLst>
              <a:ext uri="{FF2B5EF4-FFF2-40B4-BE49-F238E27FC236}">
                <a16:creationId xmlns:a16="http://schemas.microsoft.com/office/drawing/2014/main" id="{D0ABD94B-E6F5-4575-A4EA-773060503840}"/>
              </a:ext>
            </a:extLst>
          </p:cNvPr>
          <p:cNvSpPr>
            <a:spLocks noGrp="1"/>
          </p:cNvSpPr>
          <p:nvPr/>
        </p:nvSpPr>
        <p:spPr>
          <a:xfrm>
            <a:off x="5486400" y="0"/>
            <a:ext cx="0" cy="6858000"/>
          </a:xfrm>
          <a:prstGeom prst="line">
            <a:avLst/>
          </a:prstGeom>
          <a:noFill/>
          <a:ln w="6350">
            <a:solidFill>
              <a:srgbClr val="1C221C"/>
            </a:solidFill>
            <a:prstDash val="solid"/>
          </a:ln>
        </p:spPr>
        <p:txBody>
          <a:bodyPr/>
          <a:lstStyle/>
          <a:p>
            <a:endParaRPr/>
          </a:p>
        </p:txBody>
      </p:sp>
      <p:sp>
        <p:nvSpPr>
          <p:cNvPr id="8" name="Shape 6">
            <a:extLst>
              <a:ext uri="{FF2B5EF4-FFF2-40B4-BE49-F238E27FC236}">
                <a16:creationId xmlns:a16="http://schemas.microsoft.com/office/drawing/2014/main" id="{081087F4-2B5E-4D5E-9AD7-9352D080286E}"/>
              </a:ext>
            </a:extLst>
          </p:cNvPr>
          <p:cNvSpPr>
            <a:spLocks noGrp="1"/>
          </p:cNvSpPr>
          <p:nvPr/>
        </p:nvSpPr>
        <p:spPr>
          <a:xfrm>
            <a:off x="6400800" y="0"/>
            <a:ext cx="0" cy="6858000"/>
          </a:xfrm>
          <a:prstGeom prst="line">
            <a:avLst/>
          </a:prstGeom>
          <a:noFill/>
          <a:ln w="6350">
            <a:solidFill>
              <a:srgbClr val="1C221C"/>
            </a:solidFill>
            <a:prstDash val="solid"/>
          </a:ln>
        </p:spPr>
        <p:txBody>
          <a:bodyPr/>
          <a:lstStyle/>
          <a:p>
            <a:endParaRPr/>
          </a:p>
        </p:txBody>
      </p:sp>
      <p:sp>
        <p:nvSpPr>
          <p:cNvPr id="9" name="Shape 7">
            <a:extLst>
              <a:ext uri="{FF2B5EF4-FFF2-40B4-BE49-F238E27FC236}">
                <a16:creationId xmlns:a16="http://schemas.microsoft.com/office/drawing/2014/main" id="{1882D830-4416-4421-94AE-5576F35BE018}"/>
              </a:ext>
            </a:extLst>
          </p:cNvPr>
          <p:cNvSpPr>
            <a:spLocks noGrp="1"/>
          </p:cNvSpPr>
          <p:nvPr/>
        </p:nvSpPr>
        <p:spPr>
          <a:xfrm>
            <a:off x="7315200" y="0"/>
            <a:ext cx="0" cy="6858000"/>
          </a:xfrm>
          <a:prstGeom prst="line">
            <a:avLst/>
          </a:prstGeom>
          <a:noFill/>
          <a:ln w="6350">
            <a:solidFill>
              <a:srgbClr val="1C221C"/>
            </a:solidFill>
            <a:prstDash val="solid"/>
          </a:ln>
        </p:spPr>
        <p:txBody>
          <a:bodyPr/>
          <a:lstStyle/>
          <a:p>
            <a:endParaRPr/>
          </a:p>
        </p:txBody>
      </p:sp>
      <p:sp>
        <p:nvSpPr>
          <p:cNvPr id="10" name="Shape 8">
            <a:extLst>
              <a:ext uri="{FF2B5EF4-FFF2-40B4-BE49-F238E27FC236}">
                <a16:creationId xmlns:a16="http://schemas.microsoft.com/office/drawing/2014/main" id="{1321A3F5-68C5-4E6E-8903-58DFD4A669F0}"/>
              </a:ext>
            </a:extLst>
          </p:cNvPr>
          <p:cNvSpPr>
            <a:spLocks noGrp="1"/>
          </p:cNvSpPr>
          <p:nvPr/>
        </p:nvSpPr>
        <p:spPr>
          <a:xfrm>
            <a:off x="8229600" y="0"/>
            <a:ext cx="0" cy="6858000"/>
          </a:xfrm>
          <a:prstGeom prst="line">
            <a:avLst/>
          </a:prstGeom>
          <a:noFill/>
          <a:ln w="6350">
            <a:solidFill>
              <a:srgbClr val="1C221C"/>
            </a:solidFill>
            <a:prstDash val="solid"/>
          </a:ln>
        </p:spPr>
        <p:txBody>
          <a:bodyPr/>
          <a:lstStyle/>
          <a:p>
            <a:endParaRPr/>
          </a:p>
        </p:txBody>
      </p:sp>
      <p:sp>
        <p:nvSpPr>
          <p:cNvPr id="11" name="Shape 9">
            <a:extLst>
              <a:ext uri="{FF2B5EF4-FFF2-40B4-BE49-F238E27FC236}">
                <a16:creationId xmlns:a16="http://schemas.microsoft.com/office/drawing/2014/main" id="{236E4465-5750-462B-9959-11BF135DEC88}"/>
              </a:ext>
            </a:extLst>
          </p:cNvPr>
          <p:cNvSpPr>
            <a:spLocks noGrp="1"/>
          </p:cNvSpPr>
          <p:nvPr/>
        </p:nvSpPr>
        <p:spPr>
          <a:xfrm>
            <a:off x="9144000" y="0"/>
            <a:ext cx="0" cy="6858000"/>
          </a:xfrm>
          <a:prstGeom prst="line">
            <a:avLst/>
          </a:prstGeom>
          <a:noFill/>
          <a:ln w="6350">
            <a:solidFill>
              <a:srgbClr val="1C221C"/>
            </a:solidFill>
            <a:prstDash val="solid"/>
          </a:ln>
        </p:spPr>
        <p:txBody>
          <a:bodyPr/>
          <a:lstStyle/>
          <a:p>
            <a:endParaRPr/>
          </a:p>
        </p:txBody>
      </p:sp>
      <p:sp>
        <p:nvSpPr>
          <p:cNvPr id="12" name="Shape 10">
            <a:extLst>
              <a:ext uri="{FF2B5EF4-FFF2-40B4-BE49-F238E27FC236}">
                <a16:creationId xmlns:a16="http://schemas.microsoft.com/office/drawing/2014/main" id="{21894109-835C-44B6-8502-4F50179FC1A5}"/>
              </a:ext>
            </a:extLst>
          </p:cNvPr>
          <p:cNvSpPr>
            <a:spLocks noGrp="1"/>
          </p:cNvSpPr>
          <p:nvPr/>
        </p:nvSpPr>
        <p:spPr>
          <a:xfrm>
            <a:off x="10058400" y="0"/>
            <a:ext cx="0" cy="6858000"/>
          </a:xfrm>
          <a:prstGeom prst="line">
            <a:avLst/>
          </a:prstGeom>
          <a:noFill/>
          <a:ln w="6350">
            <a:solidFill>
              <a:srgbClr val="1C221C"/>
            </a:solidFill>
            <a:prstDash val="solid"/>
          </a:ln>
        </p:spPr>
        <p:txBody>
          <a:bodyPr/>
          <a:lstStyle/>
          <a:p>
            <a:endParaRPr/>
          </a:p>
        </p:txBody>
      </p:sp>
      <p:sp>
        <p:nvSpPr>
          <p:cNvPr id="13" name="Shape 11">
            <a:extLst>
              <a:ext uri="{FF2B5EF4-FFF2-40B4-BE49-F238E27FC236}">
                <a16:creationId xmlns:a16="http://schemas.microsoft.com/office/drawing/2014/main" id="{F71C2AD2-00D2-4FCC-A4BD-67FC0F87179C}"/>
              </a:ext>
            </a:extLst>
          </p:cNvPr>
          <p:cNvSpPr>
            <a:spLocks noGrp="1"/>
          </p:cNvSpPr>
          <p:nvPr/>
        </p:nvSpPr>
        <p:spPr>
          <a:xfrm>
            <a:off x="10972800" y="0"/>
            <a:ext cx="0" cy="6858000"/>
          </a:xfrm>
          <a:prstGeom prst="line">
            <a:avLst/>
          </a:prstGeom>
          <a:noFill/>
          <a:ln w="6350">
            <a:solidFill>
              <a:srgbClr val="1C221C"/>
            </a:solidFill>
            <a:prstDash val="solid"/>
          </a:ln>
        </p:spPr>
        <p:txBody>
          <a:bodyPr/>
          <a:lstStyle/>
          <a:p>
            <a:endParaRPr/>
          </a:p>
        </p:txBody>
      </p:sp>
      <p:sp>
        <p:nvSpPr>
          <p:cNvPr id="14" name="Shape 12">
            <a:extLst>
              <a:ext uri="{FF2B5EF4-FFF2-40B4-BE49-F238E27FC236}">
                <a16:creationId xmlns:a16="http://schemas.microsoft.com/office/drawing/2014/main" id="{2ABF1DFF-612E-44E7-B663-BCE1849F223E}"/>
              </a:ext>
            </a:extLst>
          </p:cNvPr>
          <p:cNvSpPr>
            <a:spLocks noGrp="1"/>
          </p:cNvSpPr>
          <p:nvPr/>
        </p:nvSpPr>
        <p:spPr>
          <a:xfrm>
            <a:off x="11887200" y="0"/>
            <a:ext cx="0" cy="6858000"/>
          </a:xfrm>
          <a:prstGeom prst="line">
            <a:avLst/>
          </a:prstGeom>
          <a:noFill/>
          <a:ln w="6350">
            <a:solidFill>
              <a:srgbClr val="1C221C"/>
            </a:solidFill>
            <a:prstDash val="solid"/>
          </a:ln>
        </p:spPr>
        <p:txBody>
          <a:bodyPr/>
          <a:lstStyle/>
          <a:p>
            <a:endParaRPr/>
          </a:p>
        </p:txBody>
      </p:sp>
      <p:sp>
        <p:nvSpPr>
          <p:cNvPr id="15" name="Shape 13">
            <a:extLst>
              <a:ext uri="{FF2B5EF4-FFF2-40B4-BE49-F238E27FC236}">
                <a16:creationId xmlns:a16="http://schemas.microsoft.com/office/drawing/2014/main" id="{3460C38E-EA31-4CB2-AF3A-7AC629F713CB}"/>
              </a:ext>
            </a:extLst>
          </p:cNvPr>
          <p:cNvSpPr>
            <a:spLocks noGrp="1"/>
          </p:cNvSpPr>
          <p:nvPr/>
        </p:nvSpPr>
        <p:spPr>
          <a:xfrm>
            <a:off x="5682996" y="1965960"/>
            <a:ext cx="822960" cy="822960"/>
          </a:xfrm>
          <a:prstGeom prst="ellipse">
            <a:avLst/>
          </a:prstGeom>
          <a:solidFill>
            <a:srgbClr val="23302A"/>
          </a:solidFill>
        </p:spPr>
        <p:txBody>
          <a:bodyPr/>
          <a:lstStyle/>
          <a:p>
            <a:endParaRPr/>
          </a:p>
        </p:txBody>
      </p:sp>
      <p:pic>
        <p:nvPicPr>
          <p:cNvPr id="35" name="Image 0"/>
          <p:cNvPicPr>
            <a:picLocks noChangeAspect="1"/>
          </p:cNvPicPr>
          <p:nvPr/>
        </p:nvPicPr>
        <p:blipFill>
          <a:blip r:embed="rId3"/>
          <a:stretch>
            <a:fillRect/>
          </a:stretch>
        </p:blipFill>
        <p:spPr>
          <a:xfrm>
            <a:off x="5773522" y="2056486"/>
            <a:ext cx="641909" cy="641909"/>
          </a:xfrm>
          <a:prstGeom prst="rect">
            <a:avLst/>
          </a:prstGeom>
        </p:spPr>
      </p:pic>
      <p:sp>
        <p:nvSpPr>
          <p:cNvPr id="17" name="Text 14">
            <a:extLst>
              <a:ext uri="{FF2B5EF4-FFF2-40B4-BE49-F238E27FC236}">
                <a16:creationId xmlns:a16="http://schemas.microsoft.com/office/drawing/2014/main" id="{63C5551C-79CE-41FE-A7F1-171C167971B4}"/>
              </a:ext>
            </a:extLst>
          </p:cNvPr>
          <p:cNvSpPr>
            <a:spLocks noGrp="1"/>
          </p:cNvSpPr>
          <p:nvPr/>
        </p:nvSpPr>
        <p:spPr>
          <a:xfrm>
            <a:off x="822960" y="3063240"/>
            <a:ext cx="10515600" cy="822960"/>
          </a:xfrm>
          <a:prstGeom prst="rect">
            <a:avLst/>
          </a:prstGeom>
          <a:noFill/>
        </p:spPr>
        <p:txBody>
          <a:bodyPr wrap="square" lIns="0" tIns="0" rIns="0" bIns="0" anchor="ctr"/>
          <a:lstStyle/>
          <a:p>
            <a:pPr marL="0" indent="0" algn="ctr">
              <a:buNone/>
            </a:pPr>
            <a:r>
              <a:rPr sz="3200" b="1">
                <a:solidFill>
                  <a:srgbClr val="F4F5F0"/>
                </a:solidFill>
                <a:latin typeface="Cambria"/>
                <a:ea typeface="Cambria"/>
                <a:cs typeface="Cambria"/>
              </a:rPr>
              <a:t>Vielen Dank für eure Aufmerksamkeit.</a:t>
            </a:r>
          </a:p>
        </p:txBody>
      </p:sp>
      <p:sp>
        <p:nvSpPr>
          <p:cNvPr id="18" name="Text 15">
            <a:extLst>
              <a:ext uri="{FF2B5EF4-FFF2-40B4-BE49-F238E27FC236}">
                <a16:creationId xmlns:a16="http://schemas.microsoft.com/office/drawing/2014/main" id="{86F3D208-4D5F-445E-8DA2-0A89212881AF}"/>
              </a:ext>
            </a:extLst>
          </p:cNvPr>
          <p:cNvSpPr>
            <a:spLocks noGrp="1"/>
          </p:cNvSpPr>
          <p:nvPr/>
        </p:nvSpPr>
        <p:spPr>
          <a:xfrm>
            <a:off x="822960" y="3886200"/>
            <a:ext cx="10515600" cy="457200"/>
          </a:xfrm>
          <a:prstGeom prst="rect">
            <a:avLst/>
          </a:prstGeom>
          <a:noFill/>
        </p:spPr>
        <p:txBody>
          <a:bodyPr wrap="square" lIns="0" tIns="0" rIns="0" bIns="0" anchor="ctr"/>
          <a:lstStyle/>
          <a:p>
            <a:pPr marL="0" indent="0" algn="ctr">
              <a:buNone/>
            </a:pPr>
            <a:r>
              <a:rPr sz="1700">
                <a:solidFill>
                  <a:srgbClr val="9FC2B4"/>
                </a:solidFill>
                <a:latin typeface="Calibri"/>
                <a:ea typeface="Calibri"/>
                <a:cs typeface="Calibri"/>
              </a:rPr>
              <a:t>Ich freue mich auf eure Fragen.</a:t>
            </a:r>
          </a:p>
        </p:txBody>
      </p:sp>
      <p:sp>
        <p:nvSpPr>
          <p:cNvPr id="19" name="Text 16">
            <a:extLst>
              <a:ext uri="{FF2B5EF4-FFF2-40B4-BE49-F238E27FC236}">
                <a16:creationId xmlns:a16="http://schemas.microsoft.com/office/drawing/2014/main" id="{2F2BB0FD-2D43-4F8A-9DC6-B42DFCF21055}"/>
              </a:ext>
            </a:extLst>
          </p:cNvPr>
          <p:cNvSpPr>
            <a:spLocks noGrp="1"/>
          </p:cNvSpPr>
          <p:nvPr/>
        </p:nvSpPr>
        <p:spPr>
          <a:xfrm>
            <a:off x="822960" y="6035040"/>
            <a:ext cx="10515600" cy="365760"/>
          </a:xfrm>
          <a:prstGeom prst="rect">
            <a:avLst/>
          </a:prstGeom>
          <a:noFill/>
        </p:spPr>
        <p:txBody>
          <a:bodyPr wrap="square" lIns="0" tIns="0" rIns="0" bIns="0" anchor="ctr"/>
          <a:lstStyle/>
          <a:p>
            <a:pPr marL="0" indent="0" algn="ctr">
              <a:buNone/>
            </a:pPr>
            <a:r>
              <a:rPr sz="1150">
                <a:solidFill>
                  <a:srgbClr val="6E7A6C"/>
                </a:solidFill>
                <a:latin typeface="Calibri"/>
                <a:ea typeface="Calibri"/>
                <a:cs typeface="Calibri"/>
              </a:rPr>
              <a:t>Soufiane Fedan  ·  fedan.soufiane@gmail.com  ·  IU Internationale Hochschule Frankfurt</a:t>
            </a:r>
          </a:p>
        </p:txBody>
      </p:sp>
    </p:spTree>
    <p:extLst>
      <p:ext uri="{BB962C8B-B14F-4D97-AF65-F5344CB8AC3E}">
        <p14:creationId xmlns:p14="http://schemas.microsoft.com/office/powerpoint/2010/main" val="15632337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A587FD0-FB40-45DA-9297-8366A7F5DE2E}"/>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2"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305D8D52-1CAB-43A6-B89D-943AC10A9FC5}"/>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ANHANG · BACKUP — NICHT VORLESEN</a:t>
            </a:r>
          </a:p>
        </p:txBody>
      </p:sp>
      <p:sp>
        <p:nvSpPr>
          <p:cNvPr id="5" name="Text 2">
            <a:extLst>
              <a:ext uri="{FF2B5EF4-FFF2-40B4-BE49-F238E27FC236}">
                <a16:creationId xmlns:a16="http://schemas.microsoft.com/office/drawing/2014/main" id="{32F1E016-D859-419F-AAA5-03D7AFBC1465}"/>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Mögliche Prüferfragen</a:t>
            </a:r>
          </a:p>
        </p:txBody>
      </p:sp>
      <p:sp>
        <p:nvSpPr>
          <p:cNvPr id="6" name="Shape 3">
            <a:extLst>
              <a:ext uri="{FF2B5EF4-FFF2-40B4-BE49-F238E27FC236}">
                <a16:creationId xmlns:a16="http://schemas.microsoft.com/office/drawing/2014/main" id="{C5C3D197-E726-435D-A2AA-FC8C845374DD}"/>
              </a:ext>
            </a:extLst>
          </p:cNvPr>
          <p:cNvSpPr>
            <a:spLocks noGrp="1"/>
          </p:cNvSpPr>
          <p:nvPr/>
        </p:nvSpPr>
        <p:spPr>
          <a:xfrm>
            <a:off x="640080" y="1508760"/>
            <a:ext cx="5257800" cy="2148840"/>
          </a:xfrm>
          <a:prstGeom prst="roundRect">
            <a:avLst>
              <a:gd name="adj" fmla="val 255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85FB5963-A66F-47B4-BA4D-56793AB3A02A}"/>
              </a:ext>
            </a:extLst>
          </p:cNvPr>
          <p:cNvSpPr>
            <a:spLocks noGrp="1"/>
          </p:cNvSpPr>
          <p:nvPr/>
        </p:nvSpPr>
        <p:spPr>
          <a:xfrm>
            <a:off x="868680" y="1691640"/>
            <a:ext cx="4800600" cy="6400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Warum nur ROC-AUC 0,519?</a:t>
            </a:r>
          </a:p>
        </p:txBody>
      </p:sp>
      <p:sp>
        <p:nvSpPr>
          <p:cNvPr id="8" name="Text 5">
            <a:extLst>
              <a:ext uri="{FF2B5EF4-FFF2-40B4-BE49-F238E27FC236}">
                <a16:creationId xmlns:a16="http://schemas.microsoft.com/office/drawing/2014/main" id="{93CA1BB6-5486-490C-8F05-331E2835FA4F}"/>
              </a:ext>
            </a:extLst>
          </p:cNvPr>
          <p:cNvSpPr>
            <a:spLocks noGrp="1"/>
          </p:cNvSpPr>
          <p:nvPr/>
        </p:nvSpPr>
        <p:spPr>
          <a:xfrm>
            <a:off x="868680" y="2377440"/>
            <a:ext cx="4800600" cy="11430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Der zeitlich unangetastete Test entfernt Zukunftswissen. Mit historischen Kursmerkmalen bleibt gemäß EMH nur ein sehr schwaches Signal — genau das zeigt AUC 0,519.</a:t>
            </a:r>
          </a:p>
        </p:txBody>
      </p:sp>
      <p:sp>
        <p:nvSpPr>
          <p:cNvPr id="9" name="Shape 6">
            <a:extLst>
              <a:ext uri="{FF2B5EF4-FFF2-40B4-BE49-F238E27FC236}">
                <a16:creationId xmlns:a16="http://schemas.microsoft.com/office/drawing/2014/main" id="{5652798D-B4BA-4EDE-A426-28B2E50CD2F6}"/>
              </a:ext>
            </a:extLst>
          </p:cNvPr>
          <p:cNvSpPr>
            <a:spLocks noGrp="1"/>
          </p:cNvSpPr>
          <p:nvPr/>
        </p:nvSpPr>
        <p:spPr>
          <a:xfrm>
            <a:off x="6263640" y="1508760"/>
            <a:ext cx="5257800" cy="2148840"/>
          </a:xfrm>
          <a:prstGeom prst="roundRect">
            <a:avLst>
              <a:gd name="adj" fmla="val 255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7">
            <a:extLst>
              <a:ext uri="{FF2B5EF4-FFF2-40B4-BE49-F238E27FC236}">
                <a16:creationId xmlns:a16="http://schemas.microsoft.com/office/drawing/2014/main" id="{C84292EC-C8B6-46AD-BFAE-9DAAEB141235}"/>
              </a:ext>
            </a:extLst>
          </p:cNvPr>
          <p:cNvSpPr>
            <a:spLocks noGrp="1"/>
          </p:cNvSpPr>
          <p:nvPr/>
        </p:nvSpPr>
        <p:spPr>
          <a:xfrm>
            <a:off x="6492240" y="1691640"/>
            <a:ext cx="4800600" cy="6400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Was ist Data Leakage und wie verhindert?</a:t>
            </a:r>
          </a:p>
        </p:txBody>
      </p:sp>
      <p:sp>
        <p:nvSpPr>
          <p:cNvPr id="11" name="Text 8">
            <a:extLst>
              <a:ext uri="{FF2B5EF4-FFF2-40B4-BE49-F238E27FC236}">
                <a16:creationId xmlns:a16="http://schemas.microsoft.com/office/drawing/2014/main" id="{1EDEEAF4-750B-4064-B37B-973EAC559264}"/>
              </a:ext>
            </a:extLst>
          </p:cNvPr>
          <p:cNvSpPr>
            <a:spLocks noGrp="1"/>
          </p:cNvSpPr>
          <p:nvPr/>
        </p:nvSpPr>
        <p:spPr>
          <a:xfrm>
            <a:off x="6492240" y="2377440"/>
            <a:ext cx="4800600" cy="11430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Zeitordnung, 20 Handelstage Sperrzone und Pipeline: Imputer/Scaler werden ausschließlich im jeweiligen Trainingsfenster gefittet.</a:t>
            </a:r>
          </a:p>
        </p:txBody>
      </p:sp>
      <p:sp>
        <p:nvSpPr>
          <p:cNvPr id="12" name="Shape 9">
            <a:extLst>
              <a:ext uri="{FF2B5EF4-FFF2-40B4-BE49-F238E27FC236}">
                <a16:creationId xmlns:a16="http://schemas.microsoft.com/office/drawing/2014/main" id="{7F2CE460-BB2C-4E61-AA25-C7B915068614}"/>
              </a:ext>
            </a:extLst>
          </p:cNvPr>
          <p:cNvSpPr>
            <a:spLocks noGrp="1"/>
          </p:cNvSpPr>
          <p:nvPr/>
        </p:nvSpPr>
        <p:spPr>
          <a:xfrm>
            <a:off x="640080" y="3886200"/>
            <a:ext cx="5257800" cy="2148840"/>
          </a:xfrm>
          <a:prstGeom prst="roundRect">
            <a:avLst>
              <a:gd name="adj" fmla="val 255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E8EDD687-63F5-4E39-965E-E9B5A9EF249C}"/>
              </a:ext>
            </a:extLst>
          </p:cNvPr>
          <p:cNvSpPr>
            <a:spLocks noGrp="1"/>
          </p:cNvSpPr>
          <p:nvPr/>
        </p:nvSpPr>
        <p:spPr>
          <a:xfrm>
            <a:off x="868680" y="4069080"/>
            <a:ext cx="4800600" cy="6400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Warum binäre Klassifikation statt Regression?</a:t>
            </a:r>
          </a:p>
        </p:txBody>
      </p:sp>
      <p:sp>
        <p:nvSpPr>
          <p:cNvPr id="14" name="Text 11">
            <a:extLst>
              <a:ext uri="{FF2B5EF4-FFF2-40B4-BE49-F238E27FC236}">
                <a16:creationId xmlns:a16="http://schemas.microsoft.com/office/drawing/2014/main" id="{EF8A23E4-D5E6-4AA7-812E-7A13516B6CD8}"/>
              </a:ext>
            </a:extLst>
          </p:cNvPr>
          <p:cNvSpPr>
            <a:spLocks noGrp="1"/>
          </p:cNvSpPr>
          <p:nvPr/>
        </p:nvSpPr>
        <p:spPr>
          <a:xfrm>
            <a:off x="868680" y="4754880"/>
            <a:ext cx="4800600" cy="11430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Richtungsvorhersage ist bei effizienten Märkten die realistischere, robustere Fragestellung.</a:t>
            </a:r>
          </a:p>
        </p:txBody>
      </p:sp>
      <p:sp>
        <p:nvSpPr>
          <p:cNvPr id="15" name="Shape 12">
            <a:extLst>
              <a:ext uri="{FF2B5EF4-FFF2-40B4-BE49-F238E27FC236}">
                <a16:creationId xmlns:a16="http://schemas.microsoft.com/office/drawing/2014/main" id="{9327410E-68C5-41BB-8820-F8EFD159C4EB}"/>
              </a:ext>
            </a:extLst>
          </p:cNvPr>
          <p:cNvSpPr>
            <a:spLocks noGrp="1"/>
          </p:cNvSpPr>
          <p:nvPr/>
        </p:nvSpPr>
        <p:spPr>
          <a:xfrm>
            <a:off x="6263640" y="3886200"/>
            <a:ext cx="5257800" cy="2148840"/>
          </a:xfrm>
          <a:prstGeom prst="roundRect">
            <a:avLst>
              <a:gd name="adj" fmla="val 255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6" name="Text 13">
            <a:extLst>
              <a:ext uri="{FF2B5EF4-FFF2-40B4-BE49-F238E27FC236}">
                <a16:creationId xmlns:a16="http://schemas.microsoft.com/office/drawing/2014/main" id="{58225CD4-BE7E-4CD5-89F2-D7FBE6149BA3}"/>
              </a:ext>
            </a:extLst>
          </p:cNvPr>
          <p:cNvSpPr>
            <a:spLocks noGrp="1"/>
          </p:cNvSpPr>
          <p:nvPr/>
        </p:nvSpPr>
        <p:spPr>
          <a:xfrm>
            <a:off x="6492240" y="4069080"/>
            <a:ext cx="4800600" cy="640080"/>
          </a:xfrm>
          <a:prstGeom prst="rect">
            <a:avLst/>
          </a:prstGeom>
          <a:noFill/>
        </p:spPr>
        <p:txBody>
          <a:bodyPr wrap="square" lIns="0" tIns="0" rIns="0" bIns="0" anchor="ctr"/>
          <a:lstStyle/>
          <a:p>
            <a:pPr marL="0" indent="0">
              <a:buNone/>
            </a:pPr>
            <a:r>
              <a:rPr sz="1350" b="1">
                <a:solidFill>
                  <a:srgbClr val="2F5D53"/>
                </a:solidFill>
                <a:latin typeface="Cambria"/>
                <a:ea typeface="Cambria"/>
                <a:cs typeface="Cambria"/>
              </a:rPr>
              <a:t>Warum Random Forest statt neuronales Netz?</a:t>
            </a:r>
          </a:p>
        </p:txBody>
      </p:sp>
      <p:sp>
        <p:nvSpPr>
          <p:cNvPr id="17" name="Text 14">
            <a:extLst>
              <a:ext uri="{FF2B5EF4-FFF2-40B4-BE49-F238E27FC236}">
                <a16:creationId xmlns:a16="http://schemas.microsoft.com/office/drawing/2014/main" id="{FB1254E6-A06A-4DFF-BBC6-D023920F6455}"/>
              </a:ext>
            </a:extLst>
          </p:cNvPr>
          <p:cNvSpPr>
            <a:spLocks noGrp="1"/>
          </p:cNvSpPr>
          <p:nvPr/>
        </p:nvSpPr>
        <p:spPr>
          <a:xfrm>
            <a:off x="6492240" y="4754880"/>
            <a:ext cx="4800600" cy="1143000"/>
          </a:xfrm>
          <a:prstGeom prst="rect">
            <a:avLst/>
          </a:prstGeom>
          <a:noFill/>
        </p:spPr>
        <p:txBody>
          <a:bodyPr wrap="square" lIns="0" tIns="0" rIns="0" bIns="0" anchor="ctr"/>
          <a:lstStyle/>
          <a:p>
            <a:pPr marL="0" indent="0">
              <a:buNone/>
            </a:pPr>
            <a:r>
              <a:rPr sz="1150">
                <a:solidFill>
                  <a:srgbClr val="5B6259"/>
                </a:solidFill>
                <a:latin typeface="Calibri"/>
                <a:ea typeface="Calibri"/>
                <a:cs typeface="Calibri"/>
              </a:rPr>
              <a:t>Fünf Modelle wurden bewusst verglichen. Der Random Forest ergänzt Nichtlinearität und Erklärbarkeit; kein Modell erzeugt jedoch ein belastbares Signal.</a:t>
            </a:r>
          </a:p>
        </p:txBody>
      </p:sp>
      <p:sp>
        <p:nvSpPr>
          <p:cNvPr id="18" name="Text 15">
            <a:extLst>
              <a:ext uri="{FF2B5EF4-FFF2-40B4-BE49-F238E27FC236}">
                <a16:creationId xmlns:a16="http://schemas.microsoft.com/office/drawing/2014/main" id="{3820FD1F-6067-437B-A8C7-BB75D5F1323F}"/>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9" name="Text 16">
            <a:extLst>
              <a:ext uri="{FF2B5EF4-FFF2-40B4-BE49-F238E27FC236}">
                <a16:creationId xmlns:a16="http://schemas.microsoft.com/office/drawing/2014/main" id="{D57F3102-6939-4AA4-BA07-55C7F4EAF1EF}"/>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28</a:t>
            </a:r>
          </a:p>
        </p:txBody>
      </p:sp>
    </p:spTree>
    <p:extLst>
      <p:ext uri="{BB962C8B-B14F-4D97-AF65-F5344CB8AC3E}">
        <p14:creationId xmlns:p14="http://schemas.microsoft.com/office/powerpoint/2010/main" val="13777877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3E1539-065F-4C62-A710-4DA973E2502B}"/>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0"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764EA9A4-0CF4-4114-9ED2-D170A3CB7087}"/>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ANHANG · BELEGFOLIE</a:t>
            </a:r>
          </a:p>
        </p:txBody>
      </p:sp>
      <p:sp>
        <p:nvSpPr>
          <p:cNvPr id="5" name="Text 2">
            <a:extLst>
              <a:ext uri="{FF2B5EF4-FFF2-40B4-BE49-F238E27FC236}">
                <a16:creationId xmlns:a16="http://schemas.microsoft.com/office/drawing/2014/main" id="{7B0C502B-915A-4206-ACA9-2D06BA546E54}"/>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Konfusionsmatrix &amp; ROC-Kurve</a:t>
            </a:r>
          </a:p>
        </p:txBody>
      </p:sp>
      <p:sp>
        <p:nvSpPr>
          <p:cNvPr id="6" name="Shape 3">
            <a:extLst>
              <a:ext uri="{FF2B5EF4-FFF2-40B4-BE49-F238E27FC236}">
                <a16:creationId xmlns:a16="http://schemas.microsoft.com/office/drawing/2014/main" id="{0434311A-2C48-4E49-B111-3F4B7F5E0D92}"/>
              </a:ext>
            </a:extLst>
          </p:cNvPr>
          <p:cNvSpPr>
            <a:spLocks noGrp="1"/>
          </p:cNvSpPr>
          <p:nvPr/>
        </p:nvSpPr>
        <p:spPr>
          <a:xfrm>
            <a:off x="640080" y="1417320"/>
            <a:ext cx="3977640" cy="3703320"/>
          </a:xfrm>
          <a:prstGeom prst="roundRect">
            <a:avLst>
              <a:gd name="adj" fmla="val 1481"/>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Shape 4">
            <a:extLst>
              <a:ext uri="{FF2B5EF4-FFF2-40B4-BE49-F238E27FC236}">
                <a16:creationId xmlns:a16="http://schemas.microsoft.com/office/drawing/2014/main" id="{5D102716-F9F0-4E73-8DE7-8885AEC44935}"/>
              </a:ext>
            </a:extLst>
          </p:cNvPr>
          <p:cNvSpPr>
            <a:spLocks noGrp="1"/>
          </p:cNvSpPr>
          <p:nvPr/>
        </p:nvSpPr>
        <p:spPr>
          <a:xfrm>
            <a:off x="4800600" y="1417320"/>
            <a:ext cx="6720840" cy="3703320"/>
          </a:xfrm>
          <a:prstGeom prst="roundRect">
            <a:avLst>
              <a:gd name="adj" fmla="val 1481"/>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Shape 5">
            <a:extLst>
              <a:ext uri="{FF2B5EF4-FFF2-40B4-BE49-F238E27FC236}">
                <a16:creationId xmlns:a16="http://schemas.microsoft.com/office/drawing/2014/main" id="{510C8A32-6BCF-4406-AB63-331D4832A311}"/>
              </a:ext>
            </a:extLst>
          </p:cNvPr>
          <p:cNvSpPr>
            <a:spLocks noGrp="1"/>
          </p:cNvSpPr>
          <p:nvPr/>
        </p:nvSpPr>
        <p:spPr>
          <a:xfrm>
            <a:off x="640080" y="5303520"/>
            <a:ext cx="10881360" cy="1188720"/>
          </a:xfrm>
          <a:prstGeom prst="roundRect">
            <a:avLst>
              <a:gd name="adj" fmla="val 4615"/>
            </a:avLst>
          </a:prstGeom>
          <a:solidFill>
            <a:srgbClr val="F3E7C9"/>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1" name="Text 6">
            <a:extLst>
              <a:ext uri="{FF2B5EF4-FFF2-40B4-BE49-F238E27FC236}">
                <a16:creationId xmlns:a16="http://schemas.microsoft.com/office/drawing/2014/main" id="{E180616C-C9A8-4193-93AC-FF9B4DAEAE05}"/>
              </a:ext>
            </a:extLst>
          </p:cNvPr>
          <p:cNvSpPr>
            <a:spLocks noGrp="1"/>
          </p:cNvSpPr>
          <p:nvPr/>
        </p:nvSpPr>
        <p:spPr>
          <a:xfrm>
            <a:off x="914400" y="5303520"/>
            <a:ext cx="10332720" cy="1188720"/>
          </a:xfrm>
          <a:prstGeom prst="rect">
            <a:avLst/>
          </a:prstGeom>
          <a:noFill/>
        </p:spPr>
        <p:txBody>
          <a:bodyPr wrap="square" lIns="0" tIns="0" rIns="0" bIns="0" anchor="ctr"/>
          <a:lstStyle/>
          <a:p>
            <a:pPr marL="0" indent="0">
              <a:buNone/>
            </a:pPr>
            <a:r>
              <a:rPr sz="1300">
                <a:solidFill>
                  <a:srgbClr val="A97C1E"/>
                </a:solidFill>
                <a:latin typeface="Calibri"/>
                <a:ea typeface="Calibri"/>
                <a:cs typeface="Calibri"/>
              </a:rPr>
              <a:t>Im Test-Set sind 59,1 % der Beobachtungen bullish. Deshalb ist Accuracy allein irreführend: 51,9 % liegt unter der Majority-Baseline. ROC-AUC 0,519 und Balanced Accuracy 0,513 zeigen nur ein sehr schwaches Trennsignal.</a:t>
            </a:r>
          </a:p>
        </p:txBody>
      </p:sp>
      <p:sp>
        <p:nvSpPr>
          <p:cNvPr id="12" name="Text 7">
            <a:extLst>
              <a:ext uri="{FF2B5EF4-FFF2-40B4-BE49-F238E27FC236}">
                <a16:creationId xmlns:a16="http://schemas.microsoft.com/office/drawing/2014/main" id="{8BF74722-5E70-40FF-9156-C86980B863A5}"/>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3" name="Text 8">
            <a:extLst>
              <a:ext uri="{FF2B5EF4-FFF2-40B4-BE49-F238E27FC236}">
                <a16:creationId xmlns:a16="http://schemas.microsoft.com/office/drawing/2014/main" id="{39020686-78EE-4A5D-B197-7DD6DAEF96E9}"/>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29</a:t>
            </a:r>
          </a:p>
        </p:txBody>
      </p:sp>
      <p:pic>
        <p:nvPicPr>
          <p:cNvPr id="29" name="Grafik 28"/>
          <p:cNvPicPr>
            <a:picLocks noChangeAspect="1"/>
          </p:cNvPicPr>
          <p:nvPr/>
        </p:nvPicPr>
        <p:blipFill>
          <a:blip r:embed="rId4"/>
          <a:stretch/>
        </p:blipFill>
        <p:spPr>
          <a:xfrm>
            <a:off x="804672" y="1572768"/>
            <a:ext cx="3648456" cy="3383280"/>
          </a:xfrm>
          <a:prstGeom prst="rect">
            <a:avLst/>
          </a:prstGeom>
        </p:spPr>
      </p:pic>
      <p:pic>
        <p:nvPicPr>
          <p:cNvPr id="30" name="Grafik 29"/>
          <p:cNvPicPr>
            <a:picLocks noChangeAspect="1"/>
          </p:cNvPicPr>
          <p:nvPr/>
        </p:nvPicPr>
        <p:blipFill>
          <a:blip r:embed="rId5"/>
          <a:stretch/>
        </p:blipFill>
        <p:spPr>
          <a:xfrm>
            <a:off x="4965192" y="1737360"/>
            <a:ext cx="6391656" cy="3063240"/>
          </a:xfrm>
          <a:prstGeom prst="rect">
            <a:avLst/>
          </a:prstGeom>
        </p:spPr>
      </p:pic>
    </p:spTree>
    <p:extLst>
      <p:ext uri="{BB962C8B-B14F-4D97-AF65-F5344CB8AC3E}">
        <p14:creationId xmlns:p14="http://schemas.microsoft.com/office/powerpoint/2010/main" val="11381244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529819-7BE1-49B7-8B36-C172890D9244}"/>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6"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A066E11D-7DDB-4C85-83BC-633E2AFB0F20}"/>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ANHANG · BELEGFOLIE</a:t>
            </a:r>
          </a:p>
        </p:txBody>
      </p:sp>
      <p:sp>
        <p:nvSpPr>
          <p:cNvPr id="5" name="Text 2">
            <a:extLst>
              <a:ext uri="{FF2B5EF4-FFF2-40B4-BE49-F238E27FC236}">
                <a16:creationId xmlns:a16="http://schemas.microsoft.com/office/drawing/2014/main" id="{5D915B26-4D09-42E3-8370-6557AA00B9C4}"/>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Die Lernkurve — Bias oder Varianz?</a:t>
            </a:r>
          </a:p>
        </p:txBody>
      </p:sp>
      <p:sp>
        <p:nvSpPr>
          <p:cNvPr id="6" name="Shape 3">
            <a:extLst>
              <a:ext uri="{FF2B5EF4-FFF2-40B4-BE49-F238E27FC236}">
                <a16:creationId xmlns:a16="http://schemas.microsoft.com/office/drawing/2014/main" id="{71AFD5FA-48D1-44BF-ADFC-C0A00820B15A}"/>
              </a:ext>
            </a:extLst>
          </p:cNvPr>
          <p:cNvSpPr>
            <a:spLocks noGrp="1"/>
          </p:cNvSpPr>
          <p:nvPr/>
        </p:nvSpPr>
        <p:spPr>
          <a:xfrm>
            <a:off x="640080" y="1417320"/>
            <a:ext cx="6949440" cy="4160520"/>
          </a:xfrm>
          <a:prstGeom prst="roundRect">
            <a:avLst>
              <a:gd name="adj" fmla="val 1319"/>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8" name="Shape 4">
            <a:extLst>
              <a:ext uri="{FF2B5EF4-FFF2-40B4-BE49-F238E27FC236}">
                <a16:creationId xmlns:a16="http://schemas.microsoft.com/office/drawing/2014/main" id="{EAFF23F6-DA1F-406B-B7CA-B1C49F227E16}"/>
              </a:ext>
            </a:extLst>
          </p:cNvPr>
          <p:cNvSpPr>
            <a:spLocks noGrp="1"/>
          </p:cNvSpPr>
          <p:nvPr/>
        </p:nvSpPr>
        <p:spPr>
          <a:xfrm>
            <a:off x="7818120" y="1417320"/>
            <a:ext cx="3730752" cy="4160520"/>
          </a:xfrm>
          <a:prstGeom prst="roundRect">
            <a:avLst>
              <a:gd name="adj" fmla="val 1471"/>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9" name="Text 5">
            <a:extLst>
              <a:ext uri="{FF2B5EF4-FFF2-40B4-BE49-F238E27FC236}">
                <a16:creationId xmlns:a16="http://schemas.microsoft.com/office/drawing/2014/main" id="{6FD7EA84-6C65-4D07-8A13-168B32099970}"/>
              </a:ext>
            </a:extLst>
          </p:cNvPr>
          <p:cNvSpPr>
            <a:spLocks noGrp="1"/>
          </p:cNvSpPr>
          <p:nvPr/>
        </p:nvSpPr>
        <p:spPr>
          <a:xfrm>
            <a:off x="8046720" y="1600200"/>
            <a:ext cx="3291840" cy="365760"/>
          </a:xfrm>
          <a:prstGeom prst="rect">
            <a:avLst/>
          </a:prstGeom>
          <a:noFill/>
        </p:spPr>
        <p:txBody>
          <a:bodyPr wrap="square" lIns="0" tIns="0" rIns="0" bIns="0" anchor="ctr"/>
          <a:lstStyle/>
          <a:p>
            <a:pPr marL="0" indent="0">
              <a:buNone/>
            </a:pPr>
            <a:r>
              <a:rPr sz="1400" b="1">
                <a:solidFill>
                  <a:srgbClr val="2F5D53"/>
                </a:solidFill>
                <a:latin typeface="Cambria"/>
                <a:ea typeface="Cambria"/>
                <a:cs typeface="Cambria"/>
              </a:rPr>
              <a:t>Was zeigt das?</a:t>
            </a:r>
          </a:p>
        </p:txBody>
      </p:sp>
      <p:sp>
        <p:nvSpPr>
          <p:cNvPr id="10" name="Text 6">
            <a:extLst>
              <a:ext uri="{FF2B5EF4-FFF2-40B4-BE49-F238E27FC236}">
                <a16:creationId xmlns:a16="http://schemas.microsoft.com/office/drawing/2014/main" id="{AE8C91B4-3019-489C-9C54-3299EC1DB23A}"/>
              </a:ext>
            </a:extLst>
          </p:cNvPr>
          <p:cNvSpPr>
            <a:spLocks noGrp="1"/>
          </p:cNvSpPr>
          <p:nvPr/>
        </p:nvSpPr>
        <p:spPr>
          <a:xfrm>
            <a:off x="8046720" y="2011680"/>
            <a:ext cx="3291840" cy="3383280"/>
          </a:xfrm>
          <a:prstGeom prst="rect">
            <a:avLst/>
          </a:prstGeom>
          <a:noFill/>
        </p:spPr>
        <p:txBody>
          <a:bodyPr wrap="square" lIns="0" tIns="0" rIns="0" bIns="0" anchor="t"/>
          <a:lstStyle/>
          <a:p>
            <a:pPr marL="228600" indent="-228600">
              <a:spcAft>
                <a:spcPts val="1000"/>
              </a:spcAft>
              <a:buSzPct val="100000"/>
              <a:buChar char="▪"/>
            </a:pPr>
            <a:r>
              <a:rPr sz="1200">
                <a:solidFill>
                  <a:srgbClr val="171A17"/>
                </a:solidFill>
                <a:latin typeface="Calibri"/>
                <a:ea typeface="Calibri"/>
                <a:cs typeface="Calibri"/>
              </a:rPr>
              <a:t>Deutliche Lücke: Train 0,637 vs. Val 0,525 — Overfitting</a:t>
            </a:r>
          </a:p>
          <a:p>
            <a:pPr marL="228600" indent="-228600">
              <a:spcAft>
                <a:spcPts val="1000"/>
              </a:spcAft>
              <a:buSzPct val="100000"/>
              <a:buChar char="▪"/>
            </a:pPr>
            <a:r>
              <a:rPr sz="1200">
                <a:solidFill>
                  <a:srgbClr val="171A17"/>
                </a:solidFill>
                <a:latin typeface="Calibri"/>
                <a:ea typeface="Calibri"/>
                <a:cs typeface="Calibri"/>
              </a:rPr>
              <a:t>Aber: Train fällt, Validierung bleibt flach bei ~0,51</a:t>
            </a:r>
          </a:p>
          <a:p>
            <a:pPr marL="228600" indent="-228600">
              <a:spcAft>
                <a:spcPts val="1000"/>
              </a:spcAft>
              <a:buSzPct val="100000"/>
              <a:buChar char="▪"/>
            </a:pPr>
            <a:r>
              <a:rPr sz="1200">
                <a:solidFill>
                  <a:srgbClr val="171A17"/>
                </a:solidFill>
                <a:latin typeface="Calibri"/>
                <a:ea typeface="Calibri"/>
                <a:cs typeface="Calibri"/>
              </a:rPr>
              <a:t>Weder mehr Daten noch mehr Regularisierung heben den Test-AUC</a:t>
            </a:r>
          </a:p>
          <a:p>
            <a:pPr marL="228600" indent="-228600">
              <a:spcAft>
                <a:spcPts val="1000"/>
              </a:spcAft>
              <a:buSzPct val="100000"/>
              <a:buChar char="▪"/>
            </a:pPr>
            <a:r>
              <a:rPr sz="1200">
                <a:solidFill>
                  <a:srgbClr val="171A17"/>
                </a:solidFill>
                <a:latin typeface="Calibri"/>
                <a:ea typeface="Calibri"/>
                <a:cs typeface="Calibri"/>
              </a:rPr>
              <a:t>Das Modell lernt Rauschen — konsistent mit der EMH</a:t>
            </a:r>
          </a:p>
        </p:txBody>
      </p:sp>
      <p:sp>
        <p:nvSpPr>
          <p:cNvPr id="11" name="Text 7">
            <a:extLst>
              <a:ext uri="{FF2B5EF4-FFF2-40B4-BE49-F238E27FC236}">
                <a16:creationId xmlns:a16="http://schemas.microsoft.com/office/drawing/2014/main" id="{8812ACD3-C366-4834-8457-24ABF6C5CC4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2" name="Text 8">
            <a:extLst>
              <a:ext uri="{FF2B5EF4-FFF2-40B4-BE49-F238E27FC236}">
                <a16:creationId xmlns:a16="http://schemas.microsoft.com/office/drawing/2014/main" id="{D4337686-86DC-4085-A3D2-A8EF4599C91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30</a:t>
            </a:r>
          </a:p>
        </p:txBody>
      </p:sp>
      <p:pic>
        <p:nvPicPr>
          <p:cNvPr id="25" name="Grafik 24"/>
          <p:cNvPicPr>
            <a:picLocks noChangeAspect="1"/>
          </p:cNvPicPr>
          <p:nvPr/>
        </p:nvPicPr>
        <p:blipFill>
          <a:blip r:embed="rId5"/>
          <a:stretch/>
        </p:blipFill>
        <p:spPr>
          <a:xfrm>
            <a:off x="822960" y="1600200"/>
            <a:ext cx="6583680" cy="3794760"/>
          </a:xfrm>
          <a:prstGeom prst="rect">
            <a:avLst/>
          </a:prstGeom>
        </p:spPr>
      </p:pic>
    </p:spTree>
    <p:extLst>
      <p:ext uri="{BB962C8B-B14F-4D97-AF65-F5344CB8AC3E}">
        <p14:creationId xmlns:p14="http://schemas.microsoft.com/office/powerpoint/2010/main" val="12740705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50EFE91-D2A0-4A28-99E3-CCAE416C9837}"/>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2"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B62A018C-FC3B-4218-8BAB-B6FA98B11951}"/>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ANHANG · BELEGFOLIE</a:t>
            </a:r>
          </a:p>
        </p:txBody>
      </p:sp>
      <p:sp>
        <p:nvSpPr>
          <p:cNvPr id="5" name="Text 2">
            <a:extLst>
              <a:ext uri="{FF2B5EF4-FFF2-40B4-BE49-F238E27FC236}">
                <a16:creationId xmlns:a16="http://schemas.microsoft.com/office/drawing/2014/main" id="{FDAA3A20-F89C-4EC8-9647-B3A635F84A8B}"/>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Erklärbarkeit — warum das Modell so entscheidet</a:t>
            </a:r>
          </a:p>
        </p:txBody>
      </p:sp>
      <p:sp>
        <p:nvSpPr>
          <p:cNvPr id="6" name="Shape 3">
            <a:extLst>
              <a:ext uri="{FF2B5EF4-FFF2-40B4-BE49-F238E27FC236}">
                <a16:creationId xmlns:a16="http://schemas.microsoft.com/office/drawing/2014/main" id="{9C85E511-FEA5-441D-B20E-543CB559C8A8}"/>
              </a:ext>
            </a:extLst>
          </p:cNvPr>
          <p:cNvSpPr>
            <a:spLocks noGrp="1"/>
          </p:cNvSpPr>
          <p:nvPr/>
        </p:nvSpPr>
        <p:spPr>
          <a:xfrm>
            <a:off x="640080" y="1463040"/>
            <a:ext cx="5440680" cy="3429000"/>
          </a:xfrm>
          <a:prstGeom prst="roundRect">
            <a:avLst>
              <a:gd name="adj" fmla="val 16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CFAC290F-9272-4755-8F1E-E471FA3C55A5}"/>
              </a:ext>
            </a:extLst>
          </p:cNvPr>
          <p:cNvSpPr>
            <a:spLocks noGrp="1"/>
          </p:cNvSpPr>
          <p:nvPr/>
        </p:nvSpPr>
        <p:spPr>
          <a:xfrm>
            <a:off x="822960" y="1572768"/>
            <a:ext cx="5074920" cy="365760"/>
          </a:xfrm>
          <a:prstGeom prst="rect">
            <a:avLst/>
          </a:prstGeom>
          <a:noFill/>
        </p:spPr>
        <p:txBody>
          <a:bodyPr wrap="square" lIns="0" tIns="0" rIns="0" bIns="0" anchor="ctr"/>
          <a:lstStyle/>
          <a:p>
            <a:pPr marL="0" indent="0">
              <a:buNone/>
            </a:pPr>
            <a:r>
              <a:rPr sz="1250" b="1">
                <a:solidFill>
                  <a:srgbClr val="2F5D53"/>
                </a:solidFill>
                <a:latin typeface="Cambria"/>
                <a:ea typeface="Cambria"/>
                <a:cs typeface="Cambria"/>
              </a:rPr>
              <a:t>RandomForest Feature Importance (Gini)</a:t>
            </a:r>
          </a:p>
        </p:txBody>
      </p:sp>
      <p:sp>
        <p:nvSpPr>
          <p:cNvPr id="9" name="Shape 5">
            <a:extLst>
              <a:ext uri="{FF2B5EF4-FFF2-40B4-BE49-F238E27FC236}">
                <a16:creationId xmlns:a16="http://schemas.microsoft.com/office/drawing/2014/main" id="{664C3EC2-7A5B-493F-A2C5-5419982D7498}"/>
              </a:ext>
            </a:extLst>
          </p:cNvPr>
          <p:cNvSpPr>
            <a:spLocks noGrp="1"/>
          </p:cNvSpPr>
          <p:nvPr/>
        </p:nvSpPr>
        <p:spPr>
          <a:xfrm>
            <a:off x="6263640" y="1463040"/>
            <a:ext cx="5285232" cy="3429000"/>
          </a:xfrm>
          <a:prstGeom prst="roundRect">
            <a:avLst>
              <a:gd name="adj" fmla="val 1600"/>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6">
            <a:extLst>
              <a:ext uri="{FF2B5EF4-FFF2-40B4-BE49-F238E27FC236}">
                <a16:creationId xmlns:a16="http://schemas.microsoft.com/office/drawing/2014/main" id="{0D990502-014F-4B9C-92AD-5D3FE1B7F149}"/>
              </a:ext>
            </a:extLst>
          </p:cNvPr>
          <p:cNvSpPr>
            <a:spLocks noGrp="1"/>
          </p:cNvSpPr>
          <p:nvPr/>
        </p:nvSpPr>
        <p:spPr>
          <a:xfrm>
            <a:off x="6446520" y="1572768"/>
            <a:ext cx="4937760" cy="365760"/>
          </a:xfrm>
          <a:prstGeom prst="rect">
            <a:avLst/>
          </a:prstGeom>
          <a:noFill/>
        </p:spPr>
        <p:txBody>
          <a:bodyPr wrap="square" lIns="0" tIns="0" rIns="0" bIns="0" anchor="ctr"/>
          <a:lstStyle/>
          <a:p>
            <a:pPr marL="0" indent="0">
              <a:buNone/>
            </a:pPr>
            <a:r>
              <a:rPr sz="1250" b="1">
                <a:solidFill>
                  <a:srgbClr val="2F5D53"/>
                </a:solidFill>
                <a:latin typeface="Cambria"/>
                <a:ea typeface="Cambria"/>
                <a:cs typeface="Cambria"/>
              </a:rPr>
              <a:t>SHAP — mittlerer Beitrag je Feature</a:t>
            </a:r>
          </a:p>
        </p:txBody>
      </p:sp>
      <p:sp>
        <p:nvSpPr>
          <p:cNvPr id="12" name="Shape 7">
            <a:extLst>
              <a:ext uri="{FF2B5EF4-FFF2-40B4-BE49-F238E27FC236}">
                <a16:creationId xmlns:a16="http://schemas.microsoft.com/office/drawing/2014/main" id="{249A89D1-D52C-4939-AB8C-0F98ED3E3F7D}"/>
              </a:ext>
            </a:extLst>
          </p:cNvPr>
          <p:cNvSpPr>
            <a:spLocks noGrp="1"/>
          </p:cNvSpPr>
          <p:nvPr/>
        </p:nvSpPr>
        <p:spPr>
          <a:xfrm>
            <a:off x="640080" y="5120640"/>
            <a:ext cx="10908792" cy="1051560"/>
          </a:xfrm>
          <a:prstGeom prst="roundRect">
            <a:avLst>
              <a:gd name="adj" fmla="val 5217"/>
            </a:avLst>
          </a:prstGeom>
          <a:solidFill>
            <a:srgbClr val="E4EBE7"/>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3" name="Text 8">
            <a:extLst>
              <a:ext uri="{FF2B5EF4-FFF2-40B4-BE49-F238E27FC236}">
                <a16:creationId xmlns:a16="http://schemas.microsoft.com/office/drawing/2014/main" id="{7DCF7A58-C1FC-4478-AC7C-3258B7EE18F6}"/>
              </a:ext>
            </a:extLst>
          </p:cNvPr>
          <p:cNvSpPr>
            <a:spLocks noGrp="1"/>
          </p:cNvSpPr>
          <p:nvPr/>
        </p:nvSpPr>
        <p:spPr>
          <a:xfrm>
            <a:off x="914400" y="5120640"/>
            <a:ext cx="10360152" cy="1051560"/>
          </a:xfrm>
          <a:prstGeom prst="rect">
            <a:avLst/>
          </a:prstGeom>
          <a:noFill/>
        </p:spPr>
        <p:txBody>
          <a:bodyPr wrap="square" lIns="0" tIns="0" rIns="0" bIns="0" anchor="ctr"/>
          <a:lstStyle/>
          <a:p>
            <a:pPr marL="0" indent="0">
              <a:buNone/>
            </a:pPr>
            <a:r>
              <a:rPr sz="1300" b="1">
                <a:solidFill>
                  <a:srgbClr val="2F5D53"/>
                </a:solidFill>
                <a:latin typeface="Calibri"/>
                <a:ea typeface="Calibri"/>
                <a:cs typeface="Calibri"/>
              </a:rPr>
              <a:t>Erklärbarkeit ohne Übertreibung: Drawdown und Volatilität prägen das Modell stärker als reine Renditen. Feature Importance und SHAP erklären Entscheidungen — sie beweisen jedoch weder Kausalität noch wirtschaftlichen Mehrwert.</a:t>
            </a:r>
          </a:p>
        </p:txBody>
      </p:sp>
      <p:sp>
        <p:nvSpPr>
          <p:cNvPr id="14" name="Text 9">
            <a:extLst>
              <a:ext uri="{FF2B5EF4-FFF2-40B4-BE49-F238E27FC236}">
                <a16:creationId xmlns:a16="http://schemas.microsoft.com/office/drawing/2014/main" id="{B93EAF32-5DD0-47BE-9B66-4D257F851365}"/>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5" name="Text 10">
            <a:extLst>
              <a:ext uri="{FF2B5EF4-FFF2-40B4-BE49-F238E27FC236}">
                <a16:creationId xmlns:a16="http://schemas.microsoft.com/office/drawing/2014/main" id="{B7E33B85-D58F-4227-BA4C-A6991F0AED51}"/>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31</a:t>
            </a:r>
          </a:p>
        </p:txBody>
      </p:sp>
      <p:pic>
        <p:nvPicPr>
          <p:cNvPr id="33" name="Grafik 32"/>
          <p:cNvPicPr>
            <a:picLocks noChangeAspect="1"/>
          </p:cNvPicPr>
          <p:nvPr/>
        </p:nvPicPr>
        <p:blipFill>
          <a:blip r:embed="rId4"/>
          <a:stretch/>
        </p:blipFill>
        <p:spPr>
          <a:xfrm>
            <a:off x="804672" y="1965960"/>
            <a:ext cx="5111496" cy="2788920"/>
          </a:xfrm>
          <a:prstGeom prst="rect">
            <a:avLst/>
          </a:prstGeom>
        </p:spPr>
      </p:pic>
      <p:pic>
        <p:nvPicPr>
          <p:cNvPr id="34" name="Grafik 33"/>
          <p:cNvPicPr>
            <a:picLocks noChangeAspect="1"/>
          </p:cNvPicPr>
          <p:nvPr/>
        </p:nvPicPr>
        <p:blipFill>
          <a:blip r:embed="rId5"/>
          <a:stretch/>
        </p:blipFill>
        <p:spPr>
          <a:xfrm>
            <a:off x="6428232" y="1965960"/>
            <a:ext cx="4956048" cy="2788920"/>
          </a:xfrm>
          <a:prstGeom prst="rect">
            <a:avLst/>
          </a:prstGeom>
        </p:spPr>
      </p:pic>
    </p:spTree>
    <p:extLst>
      <p:ext uri="{BB962C8B-B14F-4D97-AF65-F5344CB8AC3E}">
        <p14:creationId xmlns:p14="http://schemas.microsoft.com/office/powerpoint/2010/main" val="3355464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09B728A-53DA-4049-B269-EF76ED72744E}"/>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4"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003B0AA4-76C1-4848-BA29-95256D944CE6}"/>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MARKTANALYSE (1/2)</a:t>
            </a:r>
          </a:p>
        </p:txBody>
      </p:sp>
      <p:sp>
        <p:nvSpPr>
          <p:cNvPr id="5" name="Text 2">
            <a:extLst>
              <a:ext uri="{FF2B5EF4-FFF2-40B4-BE49-F238E27FC236}">
                <a16:creationId xmlns:a16="http://schemas.microsoft.com/office/drawing/2014/main" id="{1C9322EF-508D-4A4A-A15A-DF532B8066E1}"/>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Kursverlauf &amp; gleitende Durchschnitte</a:t>
            </a:r>
          </a:p>
        </p:txBody>
      </p:sp>
      <p:sp>
        <p:nvSpPr>
          <p:cNvPr id="6" name="Shape 3">
            <a:extLst>
              <a:ext uri="{FF2B5EF4-FFF2-40B4-BE49-F238E27FC236}">
                <a16:creationId xmlns:a16="http://schemas.microsoft.com/office/drawing/2014/main" id="{7AACECBF-1058-4EBD-AD57-67C6424C312F}"/>
              </a:ext>
            </a:extLst>
          </p:cNvPr>
          <p:cNvSpPr>
            <a:spLocks noGrp="1"/>
          </p:cNvSpPr>
          <p:nvPr/>
        </p:nvSpPr>
        <p:spPr>
          <a:xfrm>
            <a:off x="640080" y="1463040"/>
            <a:ext cx="1090879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pic>
        <p:nvPicPr>
          <p:cNvPr id="18" name="Image 1"/>
          <p:cNvPicPr>
            <a:picLocks noChangeAspect="1"/>
          </p:cNvPicPr>
          <p:nvPr/>
        </p:nvPicPr>
        <p:blipFill>
          <a:blip r:embed="rId4"/>
          <a:srcRect/>
          <a:stretch/>
        </p:blipFill>
        <p:spPr>
          <a:xfrm>
            <a:off x="914400" y="1691640"/>
            <a:ext cx="10360152" cy="3886200"/>
          </a:xfrm>
          <a:prstGeom prst="rect">
            <a:avLst/>
          </a:prstGeom>
        </p:spPr>
      </p:pic>
      <p:sp>
        <p:nvSpPr>
          <p:cNvPr id="8" name="Text 4">
            <a:extLst>
              <a:ext uri="{FF2B5EF4-FFF2-40B4-BE49-F238E27FC236}">
                <a16:creationId xmlns:a16="http://schemas.microsoft.com/office/drawing/2014/main" id="{4DF9EA70-6E16-4A2E-9102-A1493D824EA6}"/>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SPY über 1 Jahr — Schlusskurs mit MA-20/50/200. Der Kurs liegt über allen drei Durchschnitten: ein intakter Aufwärtstrend, der den hohen Trend-Score speist.</a:t>
            </a:r>
          </a:p>
        </p:txBody>
      </p:sp>
      <p:sp>
        <p:nvSpPr>
          <p:cNvPr id="9" name="Text 5">
            <a:extLst>
              <a:ext uri="{FF2B5EF4-FFF2-40B4-BE49-F238E27FC236}">
                <a16:creationId xmlns:a16="http://schemas.microsoft.com/office/drawing/2014/main" id="{B9B1C810-C108-47A1-976D-A5915078372D}"/>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0" name="Text 6">
            <a:extLst>
              <a:ext uri="{FF2B5EF4-FFF2-40B4-BE49-F238E27FC236}">
                <a16:creationId xmlns:a16="http://schemas.microsoft.com/office/drawing/2014/main" id="{6F3D0751-D78D-4A33-8967-5D15319630CE}"/>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32</a:t>
            </a:r>
          </a:p>
        </p:txBody>
      </p:sp>
    </p:spTree>
    <p:extLst>
      <p:ext uri="{BB962C8B-B14F-4D97-AF65-F5344CB8AC3E}">
        <p14:creationId xmlns:p14="http://schemas.microsoft.com/office/powerpoint/2010/main" val="20132853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DB55693-A5B3-4601-8EA4-B77DAB3E7AE5}"/>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1"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80143323-EC4F-4299-9170-531A396C2992}"/>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MARKTANALYSE (2/2)</a:t>
            </a:r>
          </a:p>
        </p:txBody>
      </p:sp>
      <p:sp>
        <p:nvSpPr>
          <p:cNvPr id="5" name="Text 2">
            <a:extLst>
              <a:ext uri="{FF2B5EF4-FFF2-40B4-BE49-F238E27FC236}">
                <a16:creationId xmlns:a16="http://schemas.microsoft.com/office/drawing/2014/main" id="{E5CBD860-5EF7-40D8-B16D-91346405F291}"/>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Candlestick &amp; Drawdown</a:t>
            </a:r>
          </a:p>
        </p:txBody>
      </p:sp>
      <p:sp>
        <p:nvSpPr>
          <p:cNvPr id="6" name="Shape 3">
            <a:extLst>
              <a:ext uri="{FF2B5EF4-FFF2-40B4-BE49-F238E27FC236}">
                <a16:creationId xmlns:a16="http://schemas.microsoft.com/office/drawing/2014/main" id="{42C0805B-8EB8-48C0-B0A7-9613A662B116}"/>
              </a:ext>
            </a:extLst>
          </p:cNvPr>
          <p:cNvSpPr>
            <a:spLocks noGrp="1"/>
          </p:cNvSpPr>
          <p:nvPr/>
        </p:nvSpPr>
        <p:spPr>
          <a:xfrm>
            <a:off x="640080" y="1463040"/>
            <a:ext cx="5440680"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F0302B53-66D1-4FFE-BD3D-1A17BB55EF10}"/>
              </a:ext>
            </a:extLst>
          </p:cNvPr>
          <p:cNvSpPr>
            <a:spLocks noGrp="1"/>
          </p:cNvSpPr>
          <p:nvPr/>
        </p:nvSpPr>
        <p:spPr>
          <a:xfrm>
            <a:off x="868680" y="1600200"/>
            <a:ext cx="4983480"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Candlestick (OHLC)</a:t>
            </a:r>
          </a:p>
        </p:txBody>
      </p:sp>
      <p:sp>
        <p:nvSpPr>
          <p:cNvPr id="9" name="Shape 5">
            <a:extLst>
              <a:ext uri="{FF2B5EF4-FFF2-40B4-BE49-F238E27FC236}">
                <a16:creationId xmlns:a16="http://schemas.microsoft.com/office/drawing/2014/main" id="{AE915D49-DD65-4EA3-A076-0384F2DB9FBC}"/>
              </a:ext>
            </a:extLst>
          </p:cNvPr>
          <p:cNvSpPr>
            <a:spLocks noGrp="1"/>
          </p:cNvSpPr>
          <p:nvPr/>
        </p:nvSpPr>
        <p:spPr>
          <a:xfrm>
            <a:off x="6263640" y="1463040"/>
            <a:ext cx="528523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6">
            <a:extLst>
              <a:ext uri="{FF2B5EF4-FFF2-40B4-BE49-F238E27FC236}">
                <a16:creationId xmlns:a16="http://schemas.microsoft.com/office/drawing/2014/main" id="{A1651DF3-0F99-4A8A-B669-D278497C0B30}"/>
              </a:ext>
            </a:extLst>
          </p:cNvPr>
          <p:cNvSpPr>
            <a:spLocks noGrp="1"/>
          </p:cNvSpPr>
          <p:nvPr/>
        </p:nvSpPr>
        <p:spPr>
          <a:xfrm>
            <a:off x="6492240" y="1600200"/>
            <a:ext cx="4828032"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Drawdown vom Allzeithoch</a:t>
            </a:r>
          </a:p>
        </p:txBody>
      </p:sp>
      <p:sp>
        <p:nvSpPr>
          <p:cNvPr id="12" name="Text 7">
            <a:extLst>
              <a:ext uri="{FF2B5EF4-FFF2-40B4-BE49-F238E27FC236}">
                <a16:creationId xmlns:a16="http://schemas.microsoft.com/office/drawing/2014/main" id="{76CD63AF-AAE6-4A84-80BD-4DB32B740D11}"/>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Candlesticks zeigen die Tagesspannen; der Drawdown-Chart misst den Abstand zum letzten Hoch — Grundlage des Risiko-Scores.</a:t>
            </a:r>
          </a:p>
        </p:txBody>
      </p:sp>
      <p:sp>
        <p:nvSpPr>
          <p:cNvPr id="13" name="Text 8">
            <a:extLst>
              <a:ext uri="{FF2B5EF4-FFF2-40B4-BE49-F238E27FC236}">
                <a16:creationId xmlns:a16="http://schemas.microsoft.com/office/drawing/2014/main" id="{3AB98062-344B-4870-BF63-A1800D93A3D2}"/>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4" name="Text 9">
            <a:extLst>
              <a:ext uri="{FF2B5EF4-FFF2-40B4-BE49-F238E27FC236}">
                <a16:creationId xmlns:a16="http://schemas.microsoft.com/office/drawing/2014/main" id="{EDD30F57-BD74-42E7-A31A-87B363A65B5E}"/>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33</a:t>
            </a:r>
          </a:p>
        </p:txBody>
      </p:sp>
      <p:pic>
        <p:nvPicPr>
          <p:cNvPr id="31" name="Grafik 30"/>
          <p:cNvPicPr>
            <a:picLocks noChangeAspect="1"/>
          </p:cNvPicPr>
          <p:nvPr/>
        </p:nvPicPr>
        <p:blipFill>
          <a:blip r:embed="rId4"/>
          <a:stretch/>
        </p:blipFill>
        <p:spPr>
          <a:xfrm>
            <a:off x="804672" y="2011680"/>
            <a:ext cx="5111496" cy="3611880"/>
          </a:xfrm>
          <a:prstGeom prst="rect">
            <a:avLst/>
          </a:prstGeom>
        </p:spPr>
      </p:pic>
      <p:pic>
        <p:nvPicPr>
          <p:cNvPr id="32" name="Grafik 31"/>
          <p:cNvPicPr>
            <a:picLocks noChangeAspect="1"/>
          </p:cNvPicPr>
          <p:nvPr/>
        </p:nvPicPr>
        <p:blipFill>
          <a:blip r:embed="rId5"/>
          <a:stretch/>
        </p:blipFill>
        <p:spPr>
          <a:xfrm>
            <a:off x="6428232" y="2011680"/>
            <a:ext cx="4956048" cy="3611880"/>
          </a:xfrm>
          <a:prstGeom prst="rect">
            <a:avLst/>
          </a:prstGeom>
        </p:spPr>
      </p:pic>
    </p:spTree>
    <p:extLst>
      <p:ext uri="{BB962C8B-B14F-4D97-AF65-F5344CB8AC3E}">
        <p14:creationId xmlns:p14="http://schemas.microsoft.com/office/powerpoint/2010/main" val="7966563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82BF9-C240-4391-B9F8-ACBF898C8046}"/>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1"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8C2CC047-2DC2-4145-972D-EE45AF42D638}"/>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ML-INSIGHTS (1/2)</a:t>
            </a:r>
          </a:p>
        </p:txBody>
      </p:sp>
      <p:sp>
        <p:nvSpPr>
          <p:cNvPr id="5" name="Text 2">
            <a:extLst>
              <a:ext uri="{FF2B5EF4-FFF2-40B4-BE49-F238E27FC236}">
                <a16:creationId xmlns:a16="http://schemas.microsoft.com/office/drawing/2014/main" id="{E683BD3B-E122-4A4D-8A60-3A06F89B9C8B}"/>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Modellvergleich &amp; Fehleranalyse</a:t>
            </a:r>
          </a:p>
        </p:txBody>
      </p:sp>
      <p:sp>
        <p:nvSpPr>
          <p:cNvPr id="6" name="Shape 3">
            <a:extLst>
              <a:ext uri="{FF2B5EF4-FFF2-40B4-BE49-F238E27FC236}">
                <a16:creationId xmlns:a16="http://schemas.microsoft.com/office/drawing/2014/main" id="{A226ECB7-B7A6-4DBC-8357-EEB0A340FF8D}"/>
              </a:ext>
            </a:extLst>
          </p:cNvPr>
          <p:cNvSpPr>
            <a:spLocks noGrp="1"/>
          </p:cNvSpPr>
          <p:nvPr/>
        </p:nvSpPr>
        <p:spPr>
          <a:xfrm>
            <a:off x="640080" y="1463040"/>
            <a:ext cx="5806440"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11028B2E-E553-453F-AED4-1DB892793B41}"/>
              </a:ext>
            </a:extLst>
          </p:cNvPr>
          <p:cNvSpPr>
            <a:spLocks noGrp="1"/>
          </p:cNvSpPr>
          <p:nvPr/>
        </p:nvSpPr>
        <p:spPr>
          <a:xfrm>
            <a:off x="868680" y="1600200"/>
            <a:ext cx="5349240"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Fünf Modellgenerationen im Zeitvergleich</a:t>
            </a:r>
          </a:p>
        </p:txBody>
      </p:sp>
      <p:sp>
        <p:nvSpPr>
          <p:cNvPr id="9" name="Shape 5">
            <a:extLst>
              <a:ext uri="{FF2B5EF4-FFF2-40B4-BE49-F238E27FC236}">
                <a16:creationId xmlns:a16="http://schemas.microsoft.com/office/drawing/2014/main" id="{A1ABA957-5846-4F4A-8AD6-2058781226CD}"/>
              </a:ext>
            </a:extLst>
          </p:cNvPr>
          <p:cNvSpPr>
            <a:spLocks noGrp="1"/>
          </p:cNvSpPr>
          <p:nvPr/>
        </p:nvSpPr>
        <p:spPr>
          <a:xfrm>
            <a:off x="6629400" y="1463040"/>
            <a:ext cx="491947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6">
            <a:extLst>
              <a:ext uri="{FF2B5EF4-FFF2-40B4-BE49-F238E27FC236}">
                <a16:creationId xmlns:a16="http://schemas.microsoft.com/office/drawing/2014/main" id="{CB6529CB-4B82-422B-A886-32731BE3E300}"/>
              </a:ext>
            </a:extLst>
          </p:cNvPr>
          <p:cNvSpPr>
            <a:spLocks noGrp="1"/>
          </p:cNvSpPr>
          <p:nvPr/>
        </p:nvSpPr>
        <p:spPr>
          <a:xfrm>
            <a:off x="6858000" y="1600200"/>
            <a:ext cx="4462272"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Fehleranalyse im Out-of-Time-Test</a:t>
            </a:r>
          </a:p>
        </p:txBody>
      </p:sp>
      <p:sp>
        <p:nvSpPr>
          <p:cNvPr id="12" name="Text 7">
            <a:extLst>
              <a:ext uri="{FF2B5EF4-FFF2-40B4-BE49-F238E27FC236}">
                <a16:creationId xmlns:a16="http://schemas.microsoft.com/office/drawing/2014/main" id="{EBA93FEB-BFE8-470D-B772-DEEAC24C8855}"/>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Links: Baseline, lineare Modelle und Baumverfahren unter identischen Zeitfenstern. Rechts: Accuracy unter Majority-Baseline, AUC 0,519 — transparent statt beschönigt.</a:t>
            </a:r>
          </a:p>
        </p:txBody>
      </p:sp>
      <p:sp>
        <p:nvSpPr>
          <p:cNvPr id="13" name="Text 8">
            <a:extLst>
              <a:ext uri="{FF2B5EF4-FFF2-40B4-BE49-F238E27FC236}">
                <a16:creationId xmlns:a16="http://schemas.microsoft.com/office/drawing/2014/main" id="{8F45BC9C-9107-4D40-9F8E-08152A6A1044}"/>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4" name="Text 9">
            <a:extLst>
              <a:ext uri="{FF2B5EF4-FFF2-40B4-BE49-F238E27FC236}">
                <a16:creationId xmlns:a16="http://schemas.microsoft.com/office/drawing/2014/main" id="{45DB778A-52C3-476C-9BED-DCB8838EC00F}"/>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34</a:t>
            </a:r>
          </a:p>
        </p:txBody>
      </p:sp>
      <p:pic>
        <p:nvPicPr>
          <p:cNvPr id="31" name="Grafik 30"/>
          <p:cNvPicPr>
            <a:picLocks noChangeAspect="1"/>
          </p:cNvPicPr>
          <p:nvPr/>
        </p:nvPicPr>
        <p:blipFill>
          <a:blip r:embed="rId4"/>
          <a:stretch/>
        </p:blipFill>
        <p:spPr>
          <a:xfrm>
            <a:off x="804672" y="2011680"/>
            <a:ext cx="5477256" cy="3611880"/>
          </a:xfrm>
          <a:prstGeom prst="rect">
            <a:avLst/>
          </a:prstGeom>
        </p:spPr>
      </p:pic>
      <p:pic>
        <p:nvPicPr>
          <p:cNvPr id="32" name="Grafik 31"/>
          <p:cNvPicPr>
            <a:picLocks noChangeAspect="1"/>
          </p:cNvPicPr>
          <p:nvPr/>
        </p:nvPicPr>
        <p:blipFill>
          <a:blip r:embed="rId5"/>
          <a:stretch/>
        </p:blipFill>
        <p:spPr>
          <a:xfrm>
            <a:off x="6793992" y="2011680"/>
            <a:ext cx="4590288" cy="3611880"/>
          </a:xfrm>
          <a:prstGeom prst="rect">
            <a:avLst/>
          </a:prstGeom>
        </p:spPr>
      </p:pic>
    </p:spTree>
    <p:extLst>
      <p:ext uri="{BB962C8B-B14F-4D97-AF65-F5344CB8AC3E}">
        <p14:creationId xmlns:p14="http://schemas.microsoft.com/office/powerpoint/2010/main" val="1372440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D8ED307-A734-4902-9EDC-BAC1C4248E80}"/>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21"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E2C4E55A-330B-4A14-96CB-227E0ED0EF83}"/>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ML-INSIGHTS (2/2)</a:t>
            </a:r>
          </a:p>
        </p:txBody>
      </p:sp>
      <p:sp>
        <p:nvSpPr>
          <p:cNvPr id="5" name="Text 2">
            <a:extLst>
              <a:ext uri="{FF2B5EF4-FFF2-40B4-BE49-F238E27FC236}">
                <a16:creationId xmlns:a16="http://schemas.microsoft.com/office/drawing/2014/main" id="{993462AB-18FC-42E2-9234-D0AB06C6E7D3}"/>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Lernkurve &amp; Erklärbarkeit</a:t>
            </a:r>
          </a:p>
        </p:txBody>
      </p:sp>
      <p:sp>
        <p:nvSpPr>
          <p:cNvPr id="6" name="Shape 3">
            <a:extLst>
              <a:ext uri="{FF2B5EF4-FFF2-40B4-BE49-F238E27FC236}">
                <a16:creationId xmlns:a16="http://schemas.microsoft.com/office/drawing/2014/main" id="{E054AA91-A60F-4C0B-9B93-52086C27D03F}"/>
              </a:ext>
            </a:extLst>
          </p:cNvPr>
          <p:cNvSpPr>
            <a:spLocks noGrp="1"/>
          </p:cNvSpPr>
          <p:nvPr/>
        </p:nvSpPr>
        <p:spPr>
          <a:xfrm>
            <a:off x="640080" y="1463040"/>
            <a:ext cx="5806440"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7" name="Text 4">
            <a:extLst>
              <a:ext uri="{FF2B5EF4-FFF2-40B4-BE49-F238E27FC236}">
                <a16:creationId xmlns:a16="http://schemas.microsoft.com/office/drawing/2014/main" id="{40BDB9CE-FF3E-4ACA-8721-84DC3702B0BF}"/>
              </a:ext>
            </a:extLst>
          </p:cNvPr>
          <p:cNvSpPr>
            <a:spLocks noGrp="1"/>
          </p:cNvSpPr>
          <p:nvPr/>
        </p:nvSpPr>
        <p:spPr>
          <a:xfrm>
            <a:off x="868680" y="1600200"/>
            <a:ext cx="5349240"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Lernkurve im zeitlichen Test</a:t>
            </a:r>
          </a:p>
        </p:txBody>
      </p:sp>
      <p:sp>
        <p:nvSpPr>
          <p:cNvPr id="9" name="Shape 5">
            <a:extLst>
              <a:ext uri="{FF2B5EF4-FFF2-40B4-BE49-F238E27FC236}">
                <a16:creationId xmlns:a16="http://schemas.microsoft.com/office/drawing/2014/main" id="{75B1B386-5F53-4D91-8E45-68B6ED3A542B}"/>
              </a:ext>
            </a:extLst>
          </p:cNvPr>
          <p:cNvSpPr>
            <a:spLocks noGrp="1"/>
          </p:cNvSpPr>
          <p:nvPr/>
        </p:nvSpPr>
        <p:spPr>
          <a:xfrm>
            <a:off x="6629400" y="1463040"/>
            <a:ext cx="491947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sp>
        <p:nvSpPr>
          <p:cNvPr id="10" name="Text 6">
            <a:extLst>
              <a:ext uri="{FF2B5EF4-FFF2-40B4-BE49-F238E27FC236}">
                <a16:creationId xmlns:a16="http://schemas.microsoft.com/office/drawing/2014/main" id="{A8E76E90-904A-4579-B522-D2B3AC70A6F5}"/>
              </a:ext>
            </a:extLst>
          </p:cNvPr>
          <p:cNvSpPr>
            <a:spLocks noGrp="1"/>
          </p:cNvSpPr>
          <p:nvPr/>
        </p:nvSpPr>
        <p:spPr>
          <a:xfrm>
            <a:off x="6858000" y="1600200"/>
            <a:ext cx="4462272" cy="320040"/>
          </a:xfrm>
          <a:prstGeom prst="rect">
            <a:avLst/>
          </a:prstGeom>
          <a:noFill/>
        </p:spPr>
        <p:txBody>
          <a:bodyPr wrap="square" lIns="0" tIns="0" rIns="0" bIns="0" anchor="ctr"/>
          <a:lstStyle/>
          <a:p>
            <a:pPr marL="0" indent="0">
              <a:buNone/>
            </a:pPr>
            <a:r>
              <a:rPr sz="1300" b="1">
                <a:solidFill>
                  <a:srgbClr val="2F5D53"/>
                </a:solidFill>
                <a:latin typeface="Cambria"/>
                <a:ea typeface="Cambria"/>
                <a:cs typeface="Cambria"/>
              </a:rPr>
              <a:t>Erklärbarkeit: Feature Importance</a:t>
            </a:r>
          </a:p>
        </p:txBody>
      </p:sp>
      <p:sp>
        <p:nvSpPr>
          <p:cNvPr id="12" name="Text 7">
            <a:extLst>
              <a:ext uri="{FF2B5EF4-FFF2-40B4-BE49-F238E27FC236}">
                <a16:creationId xmlns:a16="http://schemas.microsoft.com/office/drawing/2014/main" id="{51DB279A-5EC5-4EB3-85E7-803CAA1879C9}"/>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Links: mehr Daten schließen die Lücke nur begrenzt. Rechts: Erklärbarkeit zeigt, welche Variablen das schwache Signal treiben — ohne Kausalität zu behaupten.</a:t>
            </a:r>
          </a:p>
        </p:txBody>
      </p:sp>
      <p:sp>
        <p:nvSpPr>
          <p:cNvPr id="13" name="Text 8">
            <a:extLst>
              <a:ext uri="{FF2B5EF4-FFF2-40B4-BE49-F238E27FC236}">
                <a16:creationId xmlns:a16="http://schemas.microsoft.com/office/drawing/2014/main" id="{DC68181A-A6EC-44AE-9CD4-2AD14096D349}"/>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4" name="Text 9">
            <a:extLst>
              <a:ext uri="{FF2B5EF4-FFF2-40B4-BE49-F238E27FC236}">
                <a16:creationId xmlns:a16="http://schemas.microsoft.com/office/drawing/2014/main" id="{7A80C603-4F40-4A5B-A1D4-191BC54F0B2E}"/>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35</a:t>
            </a:r>
          </a:p>
        </p:txBody>
      </p:sp>
      <p:pic>
        <p:nvPicPr>
          <p:cNvPr id="31" name="Grafik 30"/>
          <p:cNvPicPr>
            <a:picLocks noChangeAspect="1"/>
          </p:cNvPicPr>
          <p:nvPr/>
        </p:nvPicPr>
        <p:blipFill>
          <a:blip r:embed="rId4"/>
          <a:stretch/>
        </p:blipFill>
        <p:spPr>
          <a:xfrm>
            <a:off x="804672" y="2011680"/>
            <a:ext cx="5477256" cy="3611880"/>
          </a:xfrm>
          <a:prstGeom prst="rect">
            <a:avLst/>
          </a:prstGeom>
        </p:spPr>
      </p:pic>
      <p:pic>
        <p:nvPicPr>
          <p:cNvPr id="32" name="Grafik 31"/>
          <p:cNvPicPr>
            <a:picLocks noChangeAspect="1"/>
          </p:cNvPicPr>
          <p:nvPr/>
        </p:nvPicPr>
        <p:blipFill>
          <a:blip r:embed="rId5"/>
          <a:stretch/>
        </p:blipFill>
        <p:spPr>
          <a:xfrm>
            <a:off x="6793992" y="2011680"/>
            <a:ext cx="4590288" cy="3611880"/>
          </a:xfrm>
          <a:prstGeom prst="rect">
            <a:avLst/>
          </a:prstGeom>
        </p:spPr>
      </p:pic>
    </p:spTree>
    <p:extLst>
      <p:ext uri="{BB962C8B-B14F-4D97-AF65-F5344CB8AC3E}">
        <p14:creationId xmlns:p14="http://schemas.microsoft.com/office/powerpoint/2010/main" val="1814370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92F8049-F17F-45E0-86C9-A958BAC9AF98}"/>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4"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83997BDE-BBF0-4A43-B272-AEAC3AFDFF67}"/>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LIVE-DEMO (1/2)</a:t>
            </a:r>
          </a:p>
        </p:txBody>
      </p:sp>
      <p:sp>
        <p:nvSpPr>
          <p:cNvPr id="5" name="Text 2">
            <a:extLst>
              <a:ext uri="{FF2B5EF4-FFF2-40B4-BE49-F238E27FC236}">
                <a16:creationId xmlns:a16="http://schemas.microsoft.com/office/drawing/2014/main" id="{D592C5F6-673E-4833-AB7B-AA3E23DE515E}"/>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Kapital-Kompass</a:t>
            </a:r>
          </a:p>
        </p:txBody>
      </p:sp>
      <p:sp>
        <p:nvSpPr>
          <p:cNvPr id="6" name="Shape 3">
            <a:extLst>
              <a:ext uri="{FF2B5EF4-FFF2-40B4-BE49-F238E27FC236}">
                <a16:creationId xmlns:a16="http://schemas.microsoft.com/office/drawing/2014/main" id="{01A5B663-9C96-44DE-9593-EE4C8110C49C}"/>
              </a:ext>
            </a:extLst>
          </p:cNvPr>
          <p:cNvSpPr>
            <a:spLocks noGrp="1"/>
          </p:cNvSpPr>
          <p:nvPr/>
        </p:nvSpPr>
        <p:spPr>
          <a:xfrm>
            <a:off x="1417320" y="1463040"/>
            <a:ext cx="935431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pic>
        <p:nvPicPr>
          <p:cNvPr id="18" name="Image 1"/>
          <p:cNvPicPr>
            <a:picLocks noChangeAspect="1"/>
          </p:cNvPicPr>
          <p:nvPr/>
        </p:nvPicPr>
        <p:blipFill>
          <a:blip r:embed="rId4"/>
          <a:srcRect/>
          <a:stretch/>
        </p:blipFill>
        <p:spPr>
          <a:xfrm>
            <a:off x="1600200" y="1645920"/>
            <a:ext cx="8988552" cy="3977640"/>
          </a:xfrm>
          <a:prstGeom prst="rect">
            <a:avLst/>
          </a:prstGeom>
        </p:spPr>
      </p:pic>
      <p:sp>
        <p:nvSpPr>
          <p:cNvPr id="8" name="Text 4">
            <a:extLst>
              <a:ext uri="{FF2B5EF4-FFF2-40B4-BE49-F238E27FC236}">
                <a16:creationId xmlns:a16="http://schemas.microsoft.com/office/drawing/2014/main" id="{FDDF4124-4D5E-4EFB-85E7-F127B445B789}"/>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Aus Kapital, Risiko-Toleranz und Stop-Loss-Distanz berechnet die App live Risikobetrag und maximale Positionsgröße — passend zur Volatilitätsklasse der Aktie.</a:t>
            </a:r>
          </a:p>
        </p:txBody>
      </p:sp>
      <p:sp>
        <p:nvSpPr>
          <p:cNvPr id="9" name="Text 5">
            <a:extLst>
              <a:ext uri="{FF2B5EF4-FFF2-40B4-BE49-F238E27FC236}">
                <a16:creationId xmlns:a16="http://schemas.microsoft.com/office/drawing/2014/main" id="{33192543-2E14-426B-B36B-B3EB424CFB41}"/>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0" name="Text 6">
            <a:extLst>
              <a:ext uri="{FF2B5EF4-FFF2-40B4-BE49-F238E27FC236}">
                <a16:creationId xmlns:a16="http://schemas.microsoft.com/office/drawing/2014/main" id="{AF435F20-B804-4FED-A10E-501934BEE73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36</a:t>
            </a:r>
          </a:p>
        </p:txBody>
      </p:sp>
    </p:spTree>
    <p:extLst>
      <p:ext uri="{BB962C8B-B14F-4D97-AF65-F5344CB8AC3E}">
        <p14:creationId xmlns:p14="http://schemas.microsoft.com/office/powerpoint/2010/main" val="16586759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D08F13E-32C5-46D4-A431-4C6FEA732826}"/>
              </a:ext>
            </a:extLst>
          </p:cNvPr>
          <p:cNvSpPr>
            <a:spLocks noGrp="1"/>
          </p:cNvSpPr>
          <p:nvPr/>
        </p:nvSpPr>
        <p:spPr>
          <a:xfrm>
            <a:off x="548640" y="475488"/>
            <a:ext cx="566928" cy="566928"/>
          </a:xfrm>
          <a:prstGeom prst="ellipse">
            <a:avLst/>
          </a:prstGeom>
          <a:solidFill>
            <a:srgbClr val="E4EBE7"/>
          </a:solidFill>
        </p:spPr>
        <p:txBody>
          <a:bodyPr/>
          <a:lstStyle/>
          <a:p>
            <a:endParaRPr/>
          </a:p>
        </p:txBody>
      </p:sp>
      <p:pic>
        <p:nvPicPr>
          <p:cNvPr id="14" name="Image 0"/>
          <p:cNvPicPr>
            <a:picLocks noChangeAspect="1"/>
          </p:cNvPicPr>
          <p:nvPr/>
        </p:nvPicPr>
        <p:blipFill>
          <a:blip r:embed="rId3"/>
          <a:stretch>
            <a:fillRect/>
          </a:stretch>
        </p:blipFill>
        <p:spPr>
          <a:xfrm>
            <a:off x="611002" y="537850"/>
            <a:ext cx="442204" cy="442204"/>
          </a:xfrm>
          <a:prstGeom prst="rect">
            <a:avLst/>
          </a:prstGeom>
        </p:spPr>
      </p:pic>
      <p:sp>
        <p:nvSpPr>
          <p:cNvPr id="4" name="Text 1">
            <a:extLst>
              <a:ext uri="{FF2B5EF4-FFF2-40B4-BE49-F238E27FC236}">
                <a16:creationId xmlns:a16="http://schemas.microsoft.com/office/drawing/2014/main" id="{15898D62-15A1-43C0-A7C9-8E16B611AB5E}"/>
              </a:ext>
            </a:extLst>
          </p:cNvPr>
          <p:cNvSpPr>
            <a:spLocks noGrp="1"/>
          </p:cNvSpPr>
          <p:nvPr/>
        </p:nvSpPr>
        <p:spPr>
          <a:xfrm>
            <a:off x="1234440" y="457200"/>
            <a:ext cx="8229600" cy="274320"/>
          </a:xfrm>
          <a:prstGeom prst="rect">
            <a:avLst/>
          </a:prstGeom>
          <a:noFill/>
        </p:spPr>
        <p:txBody>
          <a:bodyPr wrap="square" lIns="0" tIns="0" rIns="0" bIns="0" anchor="ctr"/>
          <a:lstStyle/>
          <a:p>
            <a:pPr marL="0" indent="0">
              <a:buNone/>
            </a:pPr>
            <a:r>
              <a:rPr sz="1200" b="1">
                <a:solidFill>
                  <a:srgbClr val="A97C1E"/>
                </a:solidFill>
                <a:latin typeface="Calibri"/>
                <a:ea typeface="Calibri"/>
                <a:cs typeface="Calibri"/>
              </a:rPr>
              <a:t>BACKUP · LIVE-DEMO (2/2)</a:t>
            </a:r>
          </a:p>
        </p:txBody>
      </p:sp>
      <p:sp>
        <p:nvSpPr>
          <p:cNvPr id="5" name="Text 2">
            <a:extLst>
              <a:ext uri="{FF2B5EF4-FFF2-40B4-BE49-F238E27FC236}">
                <a16:creationId xmlns:a16="http://schemas.microsoft.com/office/drawing/2014/main" id="{EC31A3C4-6B60-4108-8657-B30E82C5AB92}"/>
              </a:ext>
            </a:extLst>
          </p:cNvPr>
          <p:cNvSpPr>
            <a:spLocks noGrp="1"/>
          </p:cNvSpPr>
          <p:nvPr/>
        </p:nvSpPr>
        <p:spPr>
          <a:xfrm>
            <a:off x="1234440" y="713232"/>
            <a:ext cx="8686800" cy="502920"/>
          </a:xfrm>
          <a:prstGeom prst="rect">
            <a:avLst/>
          </a:prstGeom>
          <a:noFill/>
        </p:spPr>
        <p:txBody>
          <a:bodyPr wrap="square" lIns="0" tIns="0" rIns="0" bIns="0" anchor="ctr"/>
          <a:lstStyle/>
          <a:p>
            <a:pPr marL="0" indent="0">
              <a:buNone/>
            </a:pPr>
            <a:r>
              <a:rPr sz="2800" b="1">
                <a:solidFill>
                  <a:srgbClr val="171A17"/>
                </a:solidFill>
                <a:latin typeface="Cambria"/>
                <a:ea typeface="Cambria"/>
                <a:cs typeface="Cambria"/>
              </a:rPr>
              <a:t>Portfolio-Simulator</a:t>
            </a:r>
          </a:p>
        </p:txBody>
      </p:sp>
      <p:sp>
        <p:nvSpPr>
          <p:cNvPr id="6" name="Shape 3">
            <a:extLst>
              <a:ext uri="{FF2B5EF4-FFF2-40B4-BE49-F238E27FC236}">
                <a16:creationId xmlns:a16="http://schemas.microsoft.com/office/drawing/2014/main" id="{5922443F-4428-4E26-A0E0-139703307951}"/>
              </a:ext>
            </a:extLst>
          </p:cNvPr>
          <p:cNvSpPr>
            <a:spLocks noGrp="1"/>
          </p:cNvSpPr>
          <p:nvPr/>
        </p:nvSpPr>
        <p:spPr>
          <a:xfrm>
            <a:off x="1417320" y="1463040"/>
            <a:ext cx="9354312" cy="4343400"/>
          </a:xfrm>
          <a:prstGeom prst="roundRect">
            <a:avLst>
              <a:gd name="adj" fmla="val 1263"/>
            </a:avLst>
          </a:prstGeom>
          <a:solidFill>
            <a:srgbClr val="FFFFFF"/>
          </a:solidFill>
          <a:ln w="9525">
            <a:solidFill>
              <a:srgbClr val="DDE2DA"/>
            </a:solidFill>
            <a:prstDash val="solid"/>
          </a:ln>
          <a:effectLst>
            <a:outerShdw blurRad="101600" dist="38100" dir="5400000" algn="bl" rotWithShape="0">
              <a:srgbClr val="000000">
                <a:alpha val="12000"/>
              </a:srgbClr>
            </a:outerShdw>
          </a:effectLst>
        </p:spPr>
        <p:txBody>
          <a:bodyPr/>
          <a:lstStyle/>
          <a:p>
            <a:endParaRPr/>
          </a:p>
        </p:txBody>
      </p:sp>
      <p:pic>
        <p:nvPicPr>
          <p:cNvPr id="18" name="Image 1"/>
          <p:cNvPicPr>
            <a:picLocks noChangeAspect="1"/>
          </p:cNvPicPr>
          <p:nvPr/>
        </p:nvPicPr>
        <p:blipFill>
          <a:blip r:embed="rId4"/>
          <a:srcRect/>
          <a:stretch/>
        </p:blipFill>
        <p:spPr>
          <a:xfrm>
            <a:off x="1600200" y="1645920"/>
            <a:ext cx="8988552" cy="3977640"/>
          </a:xfrm>
          <a:prstGeom prst="rect">
            <a:avLst/>
          </a:prstGeom>
        </p:spPr>
      </p:pic>
      <p:sp>
        <p:nvSpPr>
          <p:cNvPr id="8" name="Text 4">
            <a:extLst>
              <a:ext uri="{FF2B5EF4-FFF2-40B4-BE49-F238E27FC236}">
                <a16:creationId xmlns:a16="http://schemas.microsoft.com/office/drawing/2014/main" id="{3EEB41A6-2EF2-4D22-8B2E-51ACD8A537A5}"/>
              </a:ext>
            </a:extLst>
          </p:cNvPr>
          <p:cNvSpPr>
            <a:spLocks noGrp="1"/>
          </p:cNvSpPr>
          <p:nvPr/>
        </p:nvSpPr>
        <p:spPr>
          <a:xfrm>
            <a:off x="640080" y="5989320"/>
            <a:ext cx="10908792" cy="548640"/>
          </a:xfrm>
          <a:prstGeom prst="rect">
            <a:avLst/>
          </a:prstGeom>
          <a:noFill/>
        </p:spPr>
        <p:txBody>
          <a:bodyPr wrap="square" lIns="0" tIns="0" rIns="0" bIns="0" anchor="ctr"/>
          <a:lstStyle/>
          <a:p>
            <a:pPr marL="0" indent="0">
              <a:buNone/>
            </a:pPr>
            <a:r>
              <a:rPr sz="1250">
                <a:solidFill>
                  <a:srgbClr val="5B6259"/>
                </a:solidFill>
                <a:latin typeface="Calibri"/>
                <a:ea typeface="Calibri"/>
                <a:cs typeface="Calibri"/>
              </a:rPr>
              <a:t>Kapital wird über mehrere Titel verteilt; die Allokation ist live editierbar. Tortendiagramm und Herfindahl-Index zeigen sofort die Konzentration.</a:t>
            </a:r>
          </a:p>
        </p:txBody>
      </p:sp>
      <p:sp>
        <p:nvSpPr>
          <p:cNvPr id="9" name="Text 5">
            <a:extLst>
              <a:ext uri="{FF2B5EF4-FFF2-40B4-BE49-F238E27FC236}">
                <a16:creationId xmlns:a16="http://schemas.microsoft.com/office/drawing/2014/main" id="{9B083E29-EDC4-4DB9-9641-EC7230252FA3}"/>
              </a:ext>
            </a:extLst>
          </p:cNvPr>
          <p:cNvSpPr>
            <a:spLocks noGrp="1"/>
          </p:cNvSpPr>
          <p:nvPr/>
        </p:nvSpPr>
        <p:spPr>
          <a:xfrm>
            <a:off x="548640" y="6473952"/>
            <a:ext cx="3657600" cy="274320"/>
          </a:xfrm>
          <a:prstGeom prst="rect">
            <a:avLst/>
          </a:prstGeom>
          <a:noFill/>
        </p:spPr>
        <p:txBody>
          <a:bodyPr wrap="square" lIns="0" tIns="0" rIns="0" bIns="0" anchor="ctr"/>
          <a:lstStyle/>
          <a:p>
            <a:pPr marL="0" indent="0" algn="l">
              <a:buNone/>
            </a:pPr>
            <a:r>
              <a:rPr sz="900">
                <a:solidFill>
                  <a:srgbClr val="5B6259"/>
                </a:solidFill>
                <a:latin typeface="Calibri"/>
                <a:ea typeface="Calibri"/>
                <a:cs typeface="Calibri"/>
              </a:rPr>
              <a:t>WealthScope AI</a:t>
            </a:r>
          </a:p>
        </p:txBody>
      </p:sp>
      <p:sp>
        <p:nvSpPr>
          <p:cNvPr id="10" name="Text 6">
            <a:extLst>
              <a:ext uri="{FF2B5EF4-FFF2-40B4-BE49-F238E27FC236}">
                <a16:creationId xmlns:a16="http://schemas.microsoft.com/office/drawing/2014/main" id="{C77CFFCA-7AB6-4682-8366-138359817592}"/>
              </a:ext>
            </a:extLst>
          </p:cNvPr>
          <p:cNvSpPr>
            <a:spLocks noGrp="1"/>
          </p:cNvSpPr>
          <p:nvPr/>
        </p:nvSpPr>
        <p:spPr>
          <a:xfrm>
            <a:off x="11274552" y="6473952"/>
            <a:ext cx="365760" cy="274320"/>
          </a:xfrm>
          <a:prstGeom prst="rect">
            <a:avLst/>
          </a:prstGeom>
          <a:noFill/>
        </p:spPr>
        <p:txBody>
          <a:bodyPr wrap="square" lIns="0" tIns="0" rIns="0" bIns="0" anchor="ctr"/>
          <a:lstStyle/>
          <a:p>
            <a:pPr marL="0" indent="0" algn="r">
              <a:buNone/>
            </a:pPr>
            <a:r>
              <a:rPr sz="900">
                <a:solidFill>
                  <a:srgbClr val="5B6259"/>
                </a:solidFill>
                <a:latin typeface="Calibri"/>
                <a:ea typeface="Calibri"/>
                <a:cs typeface="Calibri"/>
              </a:rPr>
              <a:t>37</a:t>
            </a:r>
          </a:p>
        </p:txBody>
      </p:sp>
    </p:spTree>
    <p:extLst>
      <p:ext uri="{BB962C8B-B14F-4D97-AF65-F5344CB8AC3E}">
        <p14:creationId xmlns:p14="http://schemas.microsoft.com/office/powerpoint/2010/main" val="1773650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9047</Words>
  <Application>Microsoft Macintosh PowerPoint</Application>
  <DocSecurity>0</DocSecurity>
  <PresentationFormat>Breitbild</PresentationFormat>
  <Paragraphs>849</Paragraphs>
  <Slides>36</Slides>
  <Notes>36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36</vt:i4>
      </vt:variant>
    </vt:vector>
  </HeadingPairs>
  <TitlesOfParts>
    <vt:vector size="40"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Soufiane Fedan</cp:lastModifiedBy>
  <cp:revision>1</cp:revision>
  <dcterms:created xsi:type="dcterms:W3CDTF">2026-07-26T15:14:41Z</dcterms:created>
  <dcterms:modified xsi:type="dcterms:W3CDTF">2026-07-30T07:51:00Z</dcterms:modified>
</cp:coreProperties>
</file>